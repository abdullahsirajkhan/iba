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6858000" cx="9144000"/>
  <p:notesSz cx="9144000" cy="6858000"/>
  <p:embeddedFontLst>
    <p:embeddedFont>
      <p:font typeface="Arial Black"/>
      <p:regular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gddi7dVLLXZqCwqGee9ruYm8Pv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45924E9-E410-4282-AAEC-E2309510B529}">
  <a:tblStyle styleId="{F45924E9-E410-4282-AAEC-E2309510B52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2A2A0530-4B65-4393-8818-EA0FCC1BB81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ArialBlack-regular.fntdata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29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12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" name="Google Shape;25;p129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0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" name="Google Shape;31;p130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" name="Google Shape;32;p13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2dd1eea4539_0_9:notes"/>
          <p:cNvSpPr/>
          <p:nvPr>
            <p:ph idx="2" type="sldImg"/>
          </p:nvPr>
        </p:nvSpPr>
        <p:spPr>
          <a:xfrm>
            <a:off x="2857500" y="514350"/>
            <a:ext cx="3429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" name="Google Shape;39;g2dd1eea4539_0_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g2dd1eea4539_0_9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34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134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" name="Google Shape;49;p13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5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135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" name="Google Shape;57;p13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1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4" name="Google Shape;64;p141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" name="Google Shape;65;p14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2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142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" name="Google Shape;73;p14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dd1eea4539_0_44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" name="Google Shape;85;g2dd1eea4539_0_44:notes"/>
          <p:cNvSpPr/>
          <p:nvPr>
            <p:ph idx="2" type="sldImg"/>
          </p:nvPr>
        </p:nvSpPr>
        <p:spPr>
          <a:xfrm>
            <a:off x="2857500" y="514350"/>
            <a:ext cx="3429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g2dd1eea4539_0_4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dd1eea4539_0_26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g2dd1eea4539_0_26:notes"/>
          <p:cNvSpPr/>
          <p:nvPr>
            <p:ph idx="2" type="sldImg"/>
          </p:nvPr>
        </p:nvSpPr>
        <p:spPr>
          <a:xfrm>
            <a:off x="2857500" y="514350"/>
            <a:ext cx="3429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6" name="Google Shape;96;g2dd1eea4539_0_2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dd1eea4539_0_37:notes"/>
          <p:cNvSpPr/>
          <p:nvPr>
            <p:ph idx="2" type="sldImg"/>
          </p:nvPr>
        </p:nvSpPr>
        <p:spPr>
          <a:xfrm>
            <a:off x="2857500" y="514350"/>
            <a:ext cx="3429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dd1eea4539_0_3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2dd1eea4539_0_37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dd1eea4539_0_16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4" name="Google Shape;114;g2dd1eea4539_0_16:notes"/>
          <p:cNvSpPr/>
          <p:nvPr>
            <p:ph idx="2" type="sldImg"/>
          </p:nvPr>
        </p:nvSpPr>
        <p:spPr>
          <a:xfrm>
            <a:off x="2857500" y="514350"/>
            <a:ext cx="3429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" name="Google Shape;115;g2dd1eea4539_0_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dd1eea4539_0_65:notes"/>
          <p:cNvSpPr/>
          <p:nvPr>
            <p:ph idx="2" type="sldImg"/>
          </p:nvPr>
        </p:nvSpPr>
        <p:spPr>
          <a:xfrm>
            <a:off x="2857500" y="514350"/>
            <a:ext cx="3429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dd1eea4539_0_6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2dd1eea4539_0_65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dd1eea4539_0_72:notes"/>
          <p:cNvSpPr/>
          <p:nvPr>
            <p:ph idx="2" type="sldImg"/>
          </p:nvPr>
        </p:nvSpPr>
        <p:spPr>
          <a:xfrm>
            <a:off x="2857500" y="514350"/>
            <a:ext cx="3429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dd1eea4539_0_7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2dd1eea4539_0_72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dd1eea4539_0_81:notes"/>
          <p:cNvSpPr/>
          <p:nvPr>
            <p:ph idx="2" type="sldImg"/>
          </p:nvPr>
        </p:nvSpPr>
        <p:spPr>
          <a:xfrm>
            <a:off x="2857500" y="514350"/>
            <a:ext cx="3429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dd1eea4539_0_8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2dd1eea4539_0_81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dd1eea4539_0_88:notes"/>
          <p:cNvSpPr/>
          <p:nvPr>
            <p:ph idx="2" type="sldImg"/>
          </p:nvPr>
        </p:nvSpPr>
        <p:spPr>
          <a:xfrm>
            <a:off x="2857500" y="514350"/>
            <a:ext cx="3429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dd1eea4539_0_8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2dd1eea4539_0_88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3cdaf1b309_0_5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1" name="Google Shape;161;g33cdaf1b309_0_5:notes"/>
          <p:cNvSpPr/>
          <p:nvPr>
            <p:ph idx="2" type="sldImg"/>
          </p:nvPr>
        </p:nvSpPr>
        <p:spPr>
          <a:xfrm>
            <a:off x="2857500" y="514350"/>
            <a:ext cx="3429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" name="Google Shape;162;g33cdaf1b309_0_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dd1eea4539_0_97:notes"/>
          <p:cNvSpPr/>
          <p:nvPr>
            <p:ph idx="2" type="sldImg"/>
          </p:nvPr>
        </p:nvSpPr>
        <p:spPr>
          <a:xfrm>
            <a:off x="2857500" y="514350"/>
            <a:ext cx="3429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dd1eea4539_0_9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2dd1eea4539_0_97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63"/>
          <p:cNvSpPr/>
          <p:nvPr/>
        </p:nvSpPr>
        <p:spPr>
          <a:xfrm>
            <a:off x="154744" y="126608"/>
            <a:ext cx="8820443" cy="6594867"/>
          </a:xfrm>
          <a:prstGeom prst="roundRect">
            <a:avLst>
              <a:gd fmla="val 16667" name="adj"/>
            </a:avLst>
          </a:prstGeom>
          <a:solidFill>
            <a:srgbClr val="EEAA0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64"/>
          <p:cNvSpPr txBox="1"/>
          <p:nvPr>
            <p:ph idx="1" type="body"/>
          </p:nvPr>
        </p:nvSpPr>
        <p:spPr>
          <a:xfrm>
            <a:off x="628650" y="1181686"/>
            <a:ext cx="7886700" cy="49952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16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164"/>
          <p:cNvSpPr/>
          <p:nvPr/>
        </p:nvSpPr>
        <p:spPr>
          <a:xfrm>
            <a:off x="166255" y="6356354"/>
            <a:ext cx="8811489" cy="337610"/>
          </a:xfrm>
          <a:prstGeom prst="roundRect">
            <a:avLst>
              <a:gd fmla="val 16667" name="adj"/>
            </a:avLst>
          </a:prstGeom>
          <a:solidFill>
            <a:srgbClr val="EEAA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64"/>
          <p:cNvSpPr/>
          <p:nvPr/>
        </p:nvSpPr>
        <p:spPr>
          <a:xfrm>
            <a:off x="166255" y="148248"/>
            <a:ext cx="8811490" cy="689952"/>
          </a:xfrm>
          <a:prstGeom prst="roundRect">
            <a:avLst>
              <a:gd fmla="val 16667" name="adj"/>
            </a:avLst>
          </a:prstGeom>
          <a:solidFill>
            <a:srgbClr val="EEAA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64"/>
          <p:cNvSpPr txBox="1"/>
          <p:nvPr>
            <p:ph idx="12" type="sldNum"/>
          </p:nvPr>
        </p:nvSpPr>
        <p:spPr>
          <a:xfrm>
            <a:off x="247650" y="6324600"/>
            <a:ext cx="7493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164"/>
          <p:cNvSpPr txBox="1"/>
          <p:nvPr/>
        </p:nvSpPr>
        <p:spPr>
          <a:xfrm>
            <a:off x="895351" y="6369051"/>
            <a:ext cx="4057649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Digital Design &amp; Computer Architecture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64"/>
          <p:cNvSpPr txBox="1"/>
          <p:nvPr/>
        </p:nvSpPr>
        <p:spPr>
          <a:xfrm>
            <a:off x="5004954" y="6369050"/>
            <a:ext cx="2691246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Microarchitecture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6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29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Chapter 7: Microarchitecture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29"/>
          <p:cNvSpPr txBox="1"/>
          <p:nvPr/>
        </p:nvSpPr>
        <p:spPr>
          <a:xfrm>
            <a:off x="0" y="2438400"/>
            <a:ext cx="91440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Pipelined   Performance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0"/>
          <p:cNvSpPr txBox="1"/>
          <p:nvPr/>
        </p:nvSpPr>
        <p:spPr>
          <a:xfrm>
            <a:off x="457200" y="152400"/>
            <a:ext cx="8382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Pipelined Processor Performance Example</a:t>
            </a:r>
            <a:endParaRPr b="0" i="0" sz="36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" name="Google Shape;35;p130"/>
          <p:cNvSpPr txBox="1"/>
          <p:nvPr>
            <p:ph idx="12" type="sldNum"/>
          </p:nvPr>
        </p:nvSpPr>
        <p:spPr>
          <a:xfrm>
            <a:off x="247650" y="6324600"/>
            <a:ext cx="7493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" name="Google Shape;36;p130"/>
          <p:cNvSpPr/>
          <p:nvPr/>
        </p:nvSpPr>
        <p:spPr>
          <a:xfrm>
            <a:off x="304800" y="990600"/>
            <a:ext cx="8534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SPECINT2000 benchmark: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–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25% loads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–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10% stores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–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13% branches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–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52% R-type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–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40% of loads used by next instruction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–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50% of branches mispredicted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libri"/>
              <a:buChar char="•"/>
            </a:pPr>
            <a:r>
              <a:rPr b="1" i="0" lang="en-US" sz="24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What is the average CPI?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(Ideally it’s 1, but…)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marR="0" rtl="0" algn="just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–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CPI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–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Load CPI = 1 when not stalling, 2 when stalling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So,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CPI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lw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0.6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x 1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+ 0.4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x 2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1.4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–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Branch CPI = 1 when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branch not taken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3 when mispredic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So,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CPI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beq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0.5 x 1  + 0.5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x 3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r>
              <a:t/>
            </a:r>
            <a:endParaRPr b="1" i="0" sz="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just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Average CPI =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(0.25)(1.4) + (0.1)(1) + (0.13)(2) + (0.52)(1)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= </a:t>
            </a:r>
            <a:r>
              <a:rPr b="1" i="0" lang="en-US" sz="24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1.23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g2dd1eea4539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5850" y="2443301"/>
            <a:ext cx="5372351" cy="358995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g2dd1eea4539_0_9"/>
          <p:cNvSpPr txBox="1"/>
          <p:nvPr>
            <p:ph idx="1" type="body"/>
          </p:nvPr>
        </p:nvSpPr>
        <p:spPr>
          <a:xfrm>
            <a:off x="133350" y="1181675"/>
            <a:ext cx="8900400" cy="4995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700"/>
              <a:t>Branch CPI = % of correctly predicted </a:t>
            </a:r>
            <a:r>
              <a:rPr lang="en-US" sz="2700"/>
              <a:t>branches</a:t>
            </a:r>
            <a:r>
              <a:rPr lang="en-US" sz="2700"/>
              <a:t> x 1cc </a:t>
            </a:r>
            <a:endParaRPr sz="2700"/>
          </a:p>
          <a:p>
            <a:pPr indent="0" lvl="0" marL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700"/>
              <a:t>                      + % of mispredicted branches x 3cc</a:t>
            </a:r>
            <a:endParaRPr sz="2700"/>
          </a:p>
          <a:p>
            <a:pPr indent="0" lvl="0" marL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700"/>
              <a:t>			  = 0.5 x 1 + 0.5 x 3</a:t>
            </a:r>
            <a:endParaRPr sz="2700"/>
          </a:p>
          <a:p>
            <a:pPr indent="0" lvl="0" marL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800"/>
              <a:t>Branch CPI = 2</a:t>
            </a:r>
            <a:endParaRPr sz="2800"/>
          </a:p>
        </p:txBody>
      </p:sp>
      <p:sp>
        <p:nvSpPr>
          <p:cNvPr id="44" name="Google Shape;44;g2dd1eea4539_0_9"/>
          <p:cNvSpPr txBox="1"/>
          <p:nvPr>
            <p:ph idx="12" type="sldNum"/>
          </p:nvPr>
        </p:nvSpPr>
        <p:spPr>
          <a:xfrm>
            <a:off x="247650" y="6324600"/>
            <a:ext cx="749400" cy="35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g2dd1eea4539_0_9"/>
          <p:cNvSpPr txBox="1"/>
          <p:nvPr/>
        </p:nvSpPr>
        <p:spPr>
          <a:xfrm>
            <a:off x="457200" y="152400"/>
            <a:ext cx="838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Branch CPI Calculation</a:t>
            </a:r>
            <a:endParaRPr b="0" i="0" sz="36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4"/>
          <p:cNvSpPr txBox="1"/>
          <p:nvPr/>
        </p:nvSpPr>
        <p:spPr>
          <a:xfrm>
            <a:off x="457200" y="68759"/>
            <a:ext cx="8382000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Pipelined Performance Example</a:t>
            </a:r>
            <a:endParaRPr b="0" i="0" sz="4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2" name="Google Shape;52;p134"/>
          <p:cNvSpPr txBox="1"/>
          <p:nvPr>
            <p:ph idx="12" type="sldNum"/>
          </p:nvPr>
        </p:nvSpPr>
        <p:spPr>
          <a:xfrm>
            <a:off x="247650" y="6324600"/>
            <a:ext cx="7493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" name="Google Shape;53;p134"/>
          <p:cNvSpPr/>
          <p:nvPr/>
        </p:nvSpPr>
        <p:spPr>
          <a:xfrm>
            <a:off x="685800" y="990600"/>
            <a:ext cx="80010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with 100 billion instructions</a:t>
            </a:r>
            <a:endParaRPr b="0" i="1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</a:t>
            </a:r>
            <a:r>
              <a:rPr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Execution Time</a:t>
            </a: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=(# instructions) × CPI × </a:t>
            </a:r>
            <a:r>
              <a:rPr b="0" i="1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1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        	</a:t>
            </a: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(100 × 10</a:t>
            </a:r>
            <a:r>
              <a:rPr b="0" baseline="3000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)(1.23)(350  × 10</a:t>
            </a:r>
            <a:r>
              <a:rPr b="0" baseline="3000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-12</a:t>
            </a: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      	</a:t>
            </a:r>
            <a:r>
              <a:rPr b="1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r>
              <a:rPr b="1" i="0" lang="en-US" sz="30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43 seconds</a:t>
            </a:r>
            <a:endParaRPr b="1" i="1" sz="30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5"/>
          <p:cNvSpPr txBox="1"/>
          <p:nvPr/>
        </p:nvSpPr>
        <p:spPr>
          <a:xfrm>
            <a:off x="457200" y="68759"/>
            <a:ext cx="8382000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Processor Performance Comparison</a:t>
            </a:r>
            <a:endParaRPr b="0" i="0" sz="4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0" name="Google Shape;60;p135"/>
          <p:cNvSpPr txBox="1"/>
          <p:nvPr>
            <p:ph idx="12" type="sldNum"/>
          </p:nvPr>
        </p:nvSpPr>
        <p:spPr>
          <a:xfrm>
            <a:off x="247650" y="6324600"/>
            <a:ext cx="7493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61" name="Google Shape;61;p135"/>
          <p:cNvGraphicFramePr/>
          <p:nvPr/>
        </p:nvGraphicFramePr>
        <p:xfrm>
          <a:off x="723900" y="1219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{F45924E9-E410-4282-AAEC-E2309510B529}</a:tableStyleId>
              </a:tblPr>
              <a:tblGrid>
                <a:gridCol w="1981200"/>
                <a:gridCol w="1925450"/>
                <a:gridCol w="3941950"/>
              </a:tblGrid>
              <a:tr h="116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Processor</a:t>
                      </a:r>
                      <a:endParaRPr sz="1400" u="none" cap="none" strike="noStrike"/>
                    </a:p>
                  </a:txBody>
                  <a:tcPr marT="45725" marB="45725" marR="91450" marL="91450" anchor="b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Execution Time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(seconds)</a:t>
                      </a:r>
                      <a:endParaRPr sz="1400" u="none" cap="none" strike="noStrike"/>
                    </a:p>
                  </a:txBody>
                  <a:tcPr marT="45725" marB="45725" marR="91450" marL="914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Speedup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(single-cycle as baseline)</a:t>
                      </a:r>
                      <a:endParaRPr sz="1400" u="none" cap="none" strike="noStrike"/>
                    </a:p>
                  </a:txBody>
                  <a:tcPr marT="45725" marB="45725" marR="91450" marL="914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</a:tr>
              <a:tr h="60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Single-cycle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Multicycle</a:t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Pipelined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1"/>
          <p:cNvSpPr txBox="1"/>
          <p:nvPr/>
        </p:nvSpPr>
        <p:spPr>
          <a:xfrm>
            <a:off x="457200" y="68759"/>
            <a:ext cx="8382000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Branch Prediction</a:t>
            </a:r>
            <a:endParaRPr b="0" i="0" sz="4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8" name="Google Shape;68;p141"/>
          <p:cNvSpPr txBox="1"/>
          <p:nvPr>
            <p:ph idx="12" type="sldNum"/>
          </p:nvPr>
        </p:nvSpPr>
        <p:spPr>
          <a:xfrm>
            <a:off x="247650" y="6324600"/>
            <a:ext cx="7493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" name="Google Shape;69;p141"/>
          <p:cNvSpPr txBox="1"/>
          <p:nvPr/>
        </p:nvSpPr>
        <p:spPr>
          <a:xfrm>
            <a:off x="609600" y="990600"/>
            <a:ext cx="8229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Ideal pipelined processor: CPI =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Branch misprediction increases CPI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70C0"/>
              </a:buClr>
              <a:buSzPts val="3200"/>
              <a:buFont typeface="Arial"/>
              <a:buChar char="•"/>
            </a:pPr>
            <a:r>
              <a:rPr b="1" i="0" lang="en-US" sz="3200" u="non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Static branch prediction: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 direction of branch (forward or backward)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backward, predict taken    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Unrealistic</a:t>
            </a:r>
            <a:r>
              <a:rPr b="0" i="0" lang="en-US" sz="2800" u="non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Else, predict not taken          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Unrealistic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r>
              <a:rPr b="0" i="0" lang="en-US" sz="2800" u="non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70C0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Dynamic branch prediction: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Keep 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history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last several hundred (or thousand) branches in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branch target buffer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record: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Branch destination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Whether branch was taken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2"/>
          <p:cNvSpPr txBox="1"/>
          <p:nvPr/>
        </p:nvSpPr>
        <p:spPr>
          <a:xfrm>
            <a:off x="381000" y="144959"/>
            <a:ext cx="8382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3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CPI Calculation Without Branch Prediction</a:t>
            </a:r>
            <a:endParaRPr b="0" i="0" sz="37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6" name="Google Shape;76;p142"/>
          <p:cNvSpPr txBox="1"/>
          <p:nvPr>
            <p:ph idx="12" type="sldNum"/>
          </p:nvPr>
        </p:nvSpPr>
        <p:spPr>
          <a:xfrm>
            <a:off x="247650" y="6324600"/>
            <a:ext cx="7493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p142"/>
          <p:cNvSpPr txBox="1"/>
          <p:nvPr>
            <p:ph idx="1" type="body"/>
          </p:nvPr>
        </p:nvSpPr>
        <p:spPr>
          <a:xfrm>
            <a:off x="133350" y="3696275"/>
            <a:ext cx="8900400" cy="1962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700"/>
              <a:t>Branch CPI = % of correctly predicted branches x 1cc </a:t>
            </a:r>
            <a:endParaRPr sz="2700"/>
          </a:p>
          <a:p>
            <a:pPr indent="0" lvl="0" marL="0" rtl="0" algn="just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700"/>
              <a:t>                      + % of mispredicted branches x 3cc</a:t>
            </a:r>
            <a:endParaRPr sz="2700"/>
          </a:p>
          <a:p>
            <a:pPr indent="0" lvl="0" marL="0" rtl="0" algn="just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700"/>
              <a:t>			  = 1/7 x 1 + 6/7 x 3</a:t>
            </a:r>
            <a:endParaRPr sz="2700"/>
          </a:p>
          <a:p>
            <a:pPr indent="0" lvl="0" marL="0" rtl="0" algn="just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700"/>
              <a:t>Branch CPI = </a:t>
            </a:r>
            <a:r>
              <a:rPr b="1" lang="en-US" sz="2700">
                <a:solidFill>
                  <a:srgbClr val="9900FF"/>
                </a:solidFill>
              </a:rPr>
              <a:t>2.71</a:t>
            </a:r>
            <a:endParaRPr b="1" sz="2700">
              <a:solidFill>
                <a:srgbClr val="9900FF"/>
              </a:solidFill>
            </a:endParaRPr>
          </a:p>
        </p:txBody>
      </p:sp>
      <p:pic>
        <p:nvPicPr>
          <p:cNvPr id="78" name="Google Shape;78;p1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929050"/>
            <a:ext cx="8461461" cy="265235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42"/>
          <p:cNvSpPr/>
          <p:nvPr/>
        </p:nvSpPr>
        <p:spPr>
          <a:xfrm>
            <a:off x="3365325" y="2059500"/>
            <a:ext cx="5248500" cy="1172100"/>
          </a:xfrm>
          <a:prstGeom prst="rect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" name="Google Shape;80;p142"/>
          <p:cNvCxnSpPr>
            <a:stCxn id="79" idx="3"/>
          </p:cNvCxnSpPr>
          <p:nvPr/>
        </p:nvCxnSpPr>
        <p:spPr>
          <a:xfrm flipH="1">
            <a:off x="7144125" y="2645550"/>
            <a:ext cx="1469700" cy="170580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" name="Google Shape;81;p142"/>
          <p:cNvSpPr/>
          <p:nvPr/>
        </p:nvSpPr>
        <p:spPr>
          <a:xfrm>
            <a:off x="3347825" y="3231600"/>
            <a:ext cx="5248500" cy="279900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" name="Google Shape;82;p142"/>
          <p:cNvCxnSpPr>
            <a:stCxn id="81" idx="1"/>
          </p:cNvCxnSpPr>
          <p:nvPr/>
        </p:nvCxnSpPr>
        <p:spPr>
          <a:xfrm>
            <a:off x="3347825" y="3371550"/>
            <a:ext cx="542400" cy="384900"/>
          </a:xfrm>
          <a:prstGeom prst="straightConnector1">
            <a:avLst/>
          </a:pr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dd1eea4539_0_44"/>
          <p:cNvSpPr txBox="1"/>
          <p:nvPr/>
        </p:nvSpPr>
        <p:spPr>
          <a:xfrm>
            <a:off x="457200" y="68759"/>
            <a:ext cx="838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Dynamic 1-bit Branch Prediction</a:t>
            </a:r>
            <a:endParaRPr b="0" i="0" sz="4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9" name="Google Shape;89;g2dd1eea4539_0_44"/>
          <p:cNvSpPr txBox="1"/>
          <p:nvPr>
            <p:ph idx="12" type="sldNum"/>
          </p:nvPr>
        </p:nvSpPr>
        <p:spPr>
          <a:xfrm>
            <a:off x="247650" y="6324600"/>
            <a:ext cx="7494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" name="Google Shape;90;g2dd1eea4539_0_44"/>
          <p:cNvSpPr txBox="1"/>
          <p:nvPr/>
        </p:nvSpPr>
        <p:spPr>
          <a:xfrm>
            <a:off x="609600" y="990600"/>
            <a:ext cx="8229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1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b="0" i="0" lang="en-US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1-bit branch predictor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Char char="•"/>
            </a:pPr>
            <a:r>
              <a:rPr lang="en-US" sz="27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Starting State: Branch not Taken</a:t>
            </a:r>
            <a:endParaRPr sz="27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Char char="•"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Loop 1 is transient as state changing is settling down. Loop 2 onwards is the one more deterministic for CPI calculation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1" name="Google Shape;91;g2dd1eea4539_0_44"/>
          <p:cNvGraphicFramePr/>
          <p:nvPr/>
        </p:nvGraphicFramePr>
        <p:xfrm>
          <a:off x="265150" y="308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{2A2A0530-4B65-4393-8818-EA0FCC1BB81A}</a:tableStyleId>
              </a:tblPr>
              <a:tblGrid>
                <a:gridCol w="1430700"/>
              </a:tblGrid>
              <a:tr h="281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addi s0,zero,1</a:t>
                      </a:r>
                      <a:endParaRPr b="1" sz="1300"/>
                    </a:p>
                  </a:txBody>
                  <a:tcPr marT="19050" marB="19050" marR="28575" marL="28575" anchor="b">
                    <a:lnL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1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addi s1,zero,1</a:t>
                      </a:r>
                      <a:endParaRPr b="1" sz="1300"/>
                    </a:p>
                  </a:txBody>
                  <a:tcPr marT="19050" marB="19050" marR="28575" marL="28575" anchor="b">
                    <a:lnL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1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addi t0,zero, 128</a:t>
                      </a:r>
                      <a:endParaRPr b="1" sz="1300"/>
                    </a:p>
                  </a:txBody>
                  <a:tcPr marT="19050" marB="19050" marR="28575" marL="28575" anchor="b">
                    <a:lnL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1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19050" marB="19050" marR="28575" marL="28575" anchor="b">
                    <a:lnL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1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while:</a:t>
                      </a:r>
                      <a:endParaRPr b="1" sz="1300"/>
                    </a:p>
                  </a:txBody>
                  <a:tcPr marT="19050" marB="19050" marR="28575" marL="28575" anchor="b">
                    <a:lnL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1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slli s0,s0,1</a:t>
                      </a:r>
                      <a:endParaRPr b="1" sz="1300"/>
                    </a:p>
                  </a:txBody>
                  <a:tcPr marT="19050" marB="19050" marR="28575" marL="28575" anchor="b">
                    <a:lnL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1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addi, s1,s1,1</a:t>
                      </a:r>
                      <a:endParaRPr b="1" sz="1300"/>
                    </a:p>
                  </a:txBody>
                  <a:tcPr marT="19050" marB="19050" marR="28575" marL="28575" anchor="b">
                    <a:lnL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1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bne s0,t0,while</a:t>
                      </a:r>
                      <a:endParaRPr b="1" sz="1300"/>
                    </a:p>
                  </a:txBody>
                  <a:tcPr marT="19050" marB="19050" marR="28575" marL="28575" anchor="b">
                    <a:lnL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1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19050" marB="19050" marR="28575" marL="28575" anchor="b">
                    <a:lnL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1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sub ...</a:t>
                      </a:r>
                      <a:endParaRPr b="1" sz="1300"/>
                    </a:p>
                  </a:txBody>
                  <a:tcPr marT="19050" marB="19050" marR="28575" marL="28575" anchor="b">
                    <a:lnL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1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sub ...</a:t>
                      </a:r>
                      <a:endParaRPr b="1" sz="1300"/>
                    </a:p>
                  </a:txBody>
                  <a:tcPr marT="19050" marB="19050" marR="28575" marL="28575" anchor="b">
                    <a:lnL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92" name="Google Shape;92;g2dd1eea4539_0_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1242" y="3095077"/>
            <a:ext cx="7316559" cy="312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d1eea4539_0_26"/>
          <p:cNvSpPr txBox="1"/>
          <p:nvPr/>
        </p:nvSpPr>
        <p:spPr>
          <a:xfrm>
            <a:off x="457200" y="68759"/>
            <a:ext cx="838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Dynamic 1-bit Branch Prediction</a:t>
            </a:r>
            <a:endParaRPr b="0" i="0" sz="4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9" name="Google Shape;99;g2dd1eea4539_0_26"/>
          <p:cNvSpPr txBox="1"/>
          <p:nvPr>
            <p:ph idx="12" type="sldNum"/>
          </p:nvPr>
        </p:nvSpPr>
        <p:spPr>
          <a:xfrm>
            <a:off x="247650" y="6324600"/>
            <a:ext cx="7494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" name="Google Shape;100;g2dd1eea4539_0_26"/>
          <p:cNvSpPr txBox="1"/>
          <p:nvPr/>
        </p:nvSpPr>
        <p:spPr>
          <a:xfrm>
            <a:off x="609600" y="990600"/>
            <a:ext cx="8229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1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b="0" i="0" lang="en-US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1-bit branch predictor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Char char="•"/>
            </a:pPr>
            <a:r>
              <a:rPr lang="en-US" sz="27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Starting State: Branch Taken</a:t>
            </a:r>
            <a:endParaRPr sz="27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Char char="•"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Loop 1 is transient as state changing is settling down. Loop 2 onwards is the one more deterministic for CPI calculation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1" name="Google Shape;101;g2dd1eea4539_0_26"/>
          <p:cNvGraphicFramePr/>
          <p:nvPr/>
        </p:nvGraphicFramePr>
        <p:xfrm>
          <a:off x="265150" y="308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{2A2A0530-4B65-4393-8818-EA0FCC1BB81A}</a:tableStyleId>
              </a:tblPr>
              <a:tblGrid>
                <a:gridCol w="1430700"/>
              </a:tblGrid>
              <a:tr h="281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addi s0,zero,1</a:t>
                      </a:r>
                      <a:endParaRPr b="1" sz="1300"/>
                    </a:p>
                  </a:txBody>
                  <a:tcPr marT="19050" marB="19050" marR="28575" marL="28575" anchor="b">
                    <a:lnL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1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addi s1,zero,1</a:t>
                      </a:r>
                      <a:endParaRPr b="1" sz="1300"/>
                    </a:p>
                  </a:txBody>
                  <a:tcPr marT="19050" marB="19050" marR="28575" marL="28575" anchor="b">
                    <a:lnL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1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addi t0,zero, 128</a:t>
                      </a:r>
                      <a:endParaRPr b="1" sz="1300"/>
                    </a:p>
                  </a:txBody>
                  <a:tcPr marT="19050" marB="19050" marR="28575" marL="28575" anchor="b">
                    <a:lnL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1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19050" marB="19050" marR="28575" marL="28575" anchor="b">
                    <a:lnL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1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while:</a:t>
                      </a:r>
                      <a:endParaRPr b="1" sz="1300"/>
                    </a:p>
                  </a:txBody>
                  <a:tcPr marT="19050" marB="19050" marR="28575" marL="28575" anchor="b">
                    <a:lnL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1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slli s0,s0,1</a:t>
                      </a:r>
                      <a:endParaRPr b="1" sz="1300"/>
                    </a:p>
                  </a:txBody>
                  <a:tcPr marT="19050" marB="19050" marR="28575" marL="28575" anchor="b">
                    <a:lnL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1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addi, s1,s1,1</a:t>
                      </a:r>
                      <a:endParaRPr b="1" sz="1300"/>
                    </a:p>
                  </a:txBody>
                  <a:tcPr marT="19050" marB="19050" marR="28575" marL="28575" anchor="b">
                    <a:lnL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1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bne s0,t0,while</a:t>
                      </a:r>
                      <a:endParaRPr b="1" sz="1300"/>
                    </a:p>
                  </a:txBody>
                  <a:tcPr marT="19050" marB="19050" marR="28575" marL="28575" anchor="b">
                    <a:lnL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1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19050" marB="19050" marR="28575" marL="28575" anchor="b">
                    <a:lnL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1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sub ...</a:t>
                      </a:r>
                      <a:endParaRPr b="1" sz="1300"/>
                    </a:p>
                  </a:txBody>
                  <a:tcPr marT="19050" marB="19050" marR="28575" marL="28575" anchor="b">
                    <a:lnL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1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sub ...</a:t>
                      </a:r>
                      <a:endParaRPr b="1" sz="1300"/>
                    </a:p>
                  </a:txBody>
                  <a:tcPr marT="19050" marB="19050" marR="28575" marL="28575" anchor="b">
                    <a:lnL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02" name="Google Shape;102;g2dd1eea4539_0_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5850" y="3108915"/>
            <a:ext cx="6970425" cy="301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g2dd1eea4539_0_26"/>
          <p:cNvSpPr/>
          <p:nvPr/>
        </p:nvSpPr>
        <p:spPr>
          <a:xfrm>
            <a:off x="2438075" y="3942750"/>
            <a:ext cx="6140700" cy="157500"/>
          </a:xfrm>
          <a:prstGeom prst="rect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dd1eea4539_0_37"/>
          <p:cNvSpPr txBox="1"/>
          <p:nvPr>
            <p:ph idx="1" type="body"/>
          </p:nvPr>
        </p:nvSpPr>
        <p:spPr>
          <a:xfrm>
            <a:off x="133350" y="1181675"/>
            <a:ext cx="8900400" cy="4995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1150" lvl="0" marL="342900" rtl="0" algn="l">
              <a:spcBef>
                <a:spcPts val="0"/>
              </a:spcBef>
              <a:spcAft>
                <a:spcPts val="0"/>
              </a:spcAft>
              <a:buSzPts val="2700"/>
              <a:buFont typeface="Calibri"/>
              <a:buChar char="•"/>
            </a:pPr>
            <a:r>
              <a:rPr lang="en-US" sz="2700"/>
              <a:t>Let's</a:t>
            </a:r>
            <a:r>
              <a:rPr lang="en-US" sz="2700"/>
              <a:t> consider stable loops ie Loop 2 onwards</a:t>
            </a:r>
            <a:endParaRPr sz="2700"/>
          </a:p>
          <a:p>
            <a:pPr indent="-311150" lvl="0" marL="342900" rtl="0" algn="l">
              <a:spcBef>
                <a:spcPts val="0"/>
              </a:spcBef>
              <a:spcAft>
                <a:spcPts val="0"/>
              </a:spcAft>
              <a:buSzPts val="2700"/>
              <a:buChar char="•"/>
            </a:pPr>
            <a:r>
              <a:rPr lang="en-US" sz="2700"/>
              <a:t>Any starting state in Loop 1 will not affect</a:t>
            </a:r>
            <a:endParaRPr sz="2700"/>
          </a:p>
          <a:p>
            <a:pPr indent="0" lvl="0" marL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800"/>
              <a:t>Branch CPI = % of mispredicted branches x 3cc</a:t>
            </a:r>
            <a:endParaRPr sz="2800"/>
          </a:p>
          <a:p>
            <a:pPr indent="0" lvl="0" marL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800"/>
              <a:t>				+ </a:t>
            </a:r>
            <a:r>
              <a:rPr b="1" lang="en-US" sz="2800"/>
              <a:t>% of correctly predicted branches x 1cc</a:t>
            </a:r>
            <a:endParaRPr b="1" sz="2800"/>
          </a:p>
          <a:p>
            <a:pPr indent="0" lvl="0" marL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800"/>
              <a:t>			  </a:t>
            </a:r>
            <a:endParaRPr sz="2800"/>
          </a:p>
          <a:p>
            <a:pPr indent="0" lvl="0" marL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800"/>
              <a:t>Branch CPI = 2/7 x 3cc + 5/7 x 1</a:t>
            </a:r>
            <a:endParaRPr sz="2800"/>
          </a:p>
          <a:p>
            <a:pPr indent="0" lvl="0" marL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800"/>
              <a:t>			   = </a:t>
            </a:r>
            <a:r>
              <a:rPr b="1" lang="en-US" sz="2800">
                <a:solidFill>
                  <a:srgbClr val="9900FF"/>
                </a:solidFill>
              </a:rPr>
              <a:t>1.57</a:t>
            </a:r>
            <a:endParaRPr b="1" sz="2800">
              <a:solidFill>
                <a:srgbClr val="9900FF"/>
              </a:solidFill>
            </a:endParaRPr>
          </a:p>
        </p:txBody>
      </p:sp>
      <p:sp>
        <p:nvSpPr>
          <p:cNvPr id="110" name="Google Shape;110;g2dd1eea4539_0_37"/>
          <p:cNvSpPr txBox="1"/>
          <p:nvPr>
            <p:ph idx="12" type="sldNum"/>
          </p:nvPr>
        </p:nvSpPr>
        <p:spPr>
          <a:xfrm>
            <a:off x="247650" y="6324600"/>
            <a:ext cx="749400" cy="35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1" name="Google Shape;111;g2dd1eea4539_0_37"/>
          <p:cNvSpPr txBox="1"/>
          <p:nvPr/>
        </p:nvSpPr>
        <p:spPr>
          <a:xfrm>
            <a:off x="457200" y="152400"/>
            <a:ext cx="838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CPI Calculation with 1-bit Branch Prediction</a:t>
            </a:r>
            <a:endParaRPr b="0" i="0" sz="36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dd1eea4539_0_16"/>
          <p:cNvSpPr txBox="1"/>
          <p:nvPr/>
        </p:nvSpPr>
        <p:spPr>
          <a:xfrm>
            <a:off x="457200" y="68759"/>
            <a:ext cx="838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Dynamic 2-bit Branch Prediction</a:t>
            </a:r>
            <a:endParaRPr b="0" i="0" sz="4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8" name="Google Shape;118;g2dd1eea4539_0_16"/>
          <p:cNvSpPr txBox="1"/>
          <p:nvPr>
            <p:ph idx="12" type="sldNum"/>
          </p:nvPr>
        </p:nvSpPr>
        <p:spPr>
          <a:xfrm>
            <a:off x="247650" y="6324600"/>
            <a:ext cx="7494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9" name="Google Shape;119;g2dd1eea4539_0_16"/>
          <p:cNvSpPr txBox="1"/>
          <p:nvPr/>
        </p:nvSpPr>
        <p:spPr>
          <a:xfrm>
            <a:off x="609600" y="990600"/>
            <a:ext cx="8229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2-bit branch predictor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•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Starting State: Weakly Not Taken or Weakly Taken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0" name="Google Shape;120;g2dd1eea4539_0_16"/>
          <p:cNvGraphicFramePr/>
          <p:nvPr/>
        </p:nvGraphicFramePr>
        <p:xfrm>
          <a:off x="265150" y="232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{2A2A0530-4B65-4393-8818-EA0FCC1BB81A}</a:tableStyleId>
              </a:tblPr>
              <a:tblGrid>
                <a:gridCol w="1430700"/>
              </a:tblGrid>
              <a:tr h="281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addi s0,zero,1</a:t>
                      </a:r>
                      <a:endParaRPr b="1" sz="1300"/>
                    </a:p>
                  </a:txBody>
                  <a:tcPr marT="19050" marB="19050" marR="28575" marL="28575" anchor="b">
                    <a:lnL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1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addi s1,zero,1</a:t>
                      </a:r>
                      <a:endParaRPr b="1" sz="1300"/>
                    </a:p>
                  </a:txBody>
                  <a:tcPr marT="19050" marB="19050" marR="28575" marL="28575" anchor="b">
                    <a:lnL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1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addi t0,zero, 128</a:t>
                      </a:r>
                      <a:endParaRPr b="1" sz="1300"/>
                    </a:p>
                  </a:txBody>
                  <a:tcPr marT="19050" marB="19050" marR="28575" marL="28575" anchor="b">
                    <a:lnL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1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19050" marB="19050" marR="28575" marL="28575" anchor="b">
                    <a:lnL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1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while:</a:t>
                      </a:r>
                      <a:endParaRPr b="1" sz="1300"/>
                    </a:p>
                  </a:txBody>
                  <a:tcPr marT="19050" marB="19050" marR="28575" marL="28575" anchor="b">
                    <a:lnL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1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slli s0,s0,1</a:t>
                      </a:r>
                      <a:endParaRPr b="1" sz="1300"/>
                    </a:p>
                  </a:txBody>
                  <a:tcPr marT="19050" marB="19050" marR="28575" marL="28575" anchor="b">
                    <a:lnL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1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addi, s1,s1,1</a:t>
                      </a:r>
                      <a:endParaRPr b="1" sz="1300"/>
                    </a:p>
                  </a:txBody>
                  <a:tcPr marT="19050" marB="19050" marR="28575" marL="28575" anchor="b">
                    <a:lnL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1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bne s0,t0,while</a:t>
                      </a:r>
                      <a:endParaRPr b="1" sz="1300"/>
                    </a:p>
                  </a:txBody>
                  <a:tcPr marT="19050" marB="19050" marR="28575" marL="28575" anchor="b">
                    <a:lnL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1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19050" marB="19050" marR="28575" marL="28575" anchor="b">
                    <a:lnL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1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sub ...</a:t>
                      </a:r>
                      <a:endParaRPr b="1" sz="1300"/>
                    </a:p>
                  </a:txBody>
                  <a:tcPr marT="19050" marB="19050" marR="28575" marL="28575" anchor="b">
                    <a:lnL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1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sub ...</a:t>
                      </a:r>
                      <a:endParaRPr b="1" sz="1300"/>
                    </a:p>
                  </a:txBody>
                  <a:tcPr marT="19050" marB="19050" marR="28575" marL="28575" anchor="b">
                    <a:lnL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4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21" name="Google Shape;121;g2dd1eea4539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2503" y="2292175"/>
            <a:ext cx="7529476" cy="328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g2dd1eea4539_0_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0600" y="2080376"/>
            <a:ext cx="8028000" cy="348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dd1eea4539_0_65"/>
          <p:cNvSpPr txBox="1"/>
          <p:nvPr>
            <p:ph idx="1" type="body"/>
          </p:nvPr>
        </p:nvSpPr>
        <p:spPr>
          <a:xfrm>
            <a:off x="133350" y="1181675"/>
            <a:ext cx="8900400" cy="4995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1150" lvl="0" marL="342900" rtl="0" algn="l">
              <a:spcBef>
                <a:spcPts val="0"/>
              </a:spcBef>
              <a:spcAft>
                <a:spcPts val="0"/>
              </a:spcAft>
              <a:buSzPts val="2700"/>
              <a:buFont typeface="Calibri"/>
              <a:buChar char="•"/>
            </a:pPr>
            <a:r>
              <a:rPr lang="en-US" sz="2700"/>
              <a:t>Let's</a:t>
            </a:r>
            <a:r>
              <a:rPr lang="en-US" sz="2700"/>
              <a:t> consider stable loops ie Loop 2 onwards</a:t>
            </a:r>
            <a:endParaRPr sz="2700"/>
          </a:p>
          <a:p>
            <a:pPr indent="-311150" lvl="0" marL="342900" rtl="0" algn="l">
              <a:spcBef>
                <a:spcPts val="0"/>
              </a:spcBef>
              <a:spcAft>
                <a:spcPts val="0"/>
              </a:spcAft>
              <a:buSzPts val="2700"/>
              <a:buChar char="•"/>
            </a:pPr>
            <a:r>
              <a:rPr lang="en-US" sz="2700"/>
              <a:t>Any starting state in Loop 1 will not affect</a:t>
            </a:r>
            <a:endParaRPr sz="2700"/>
          </a:p>
          <a:p>
            <a:pPr indent="0" lvl="0" marL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800"/>
              <a:t>Branch CPI = % of mispredicted branches x 3cc</a:t>
            </a:r>
            <a:endParaRPr sz="2800"/>
          </a:p>
          <a:p>
            <a:pPr indent="0" lvl="0" marL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800"/>
              <a:t>				+ </a:t>
            </a:r>
            <a:r>
              <a:rPr b="1" lang="en-US" sz="2800"/>
              <a:t>% of correctly predicted branches x 1cc</a:t>
            </a:r>
            <a:endParaRPr b="1" sz="2800"/>
          </a:p>
          <a:p>
            <a:pPr indent="0" lvl="0" marL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800"/>
              <a:t>			  </a:t>
            </a:r>
            <a:endParaRPr sz="2800"/>
          </a:p>
          <a:p>
            <a:pPr indent="0" lvl="0" marL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800"/>
              <a:t>Branch CPI = 1/7 x 3cc + 6/7 x 1</a:t>
            </a:r>
            <a:endParaRPr sz="2800"/>
          </a:p>
          <a:p>
            <a:pPr indent="0" lvl="0" marL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800"/>
              <a:t>			   = </a:t>
            </a:r>
            <a:r>
              <a:rPr b="1" lang="en-US" sz="2800">
                <a:solidFill>
                  <a:srgbClr val="9900FF"/>
                </a:solidFill>
              </a:rPr>
              <a:t>1.28</a:t>
            </a:r>
            <a:endParaRPr b="1" sz="2800">
              <a:solidFill>
                <a:srgbClr val="9900FF"/>
              </a:solidFill>
            </a:endParaRPr>
          </a:p>
        </p:txBody>
      </p:sp>
      <p:sp>
        <p:nvSpPr>
          <p:cNvPr id="129" name="Google Shape;129;g2dd1eea4539_0_65"/>
          <p:cNvSpPr txBox="1"/>
          <p:nvPr>
            <p:ph idx="12" type="sldNum"/>
          </p:nvPr>
        </p:nvSpPr>
        <p:spPr>
          <a:xfrm>
            <a:off x="247650" y="6324600"/>
            <a:ext cx="749400" cy="35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" name="Google Shape;130;g2dd1eea4539_0_65"/>
          <p:cNvSpPr txBox="1"/>
          <p:nvPr/>
        </p:nvSpPr>
        <p:spPr>
          <a:xfrm>
            <a:off x="457200" y="152400"/>
            <a:ext cx="838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CPI Calculation with 2-bit Branch Prediction</a:t>
            </a:r>
            <a:endParaRPr b="0" i="0" sz="36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dd1eea4539_0_72"/>
          <p:cNvSpPr txBox="1"/>
          <p:nvPr>
            <p:ph idx="1" type="body"/>
          </p:nvPr>
        </p:nvSpPr>
        <p:spPr>
          <a:xfrm>
            <a:off x="0" y="1181675"/>
            <a:ext cx="9144000" cy="539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700"/>
              <a:t>Total CPI =</a:t>
            </a:r>
            <a:endParaRPr sz="2700"/>
          </a:p>
          <a:p>
            <a:pPr indent="0" lvl="0" marL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100"/>
              <a:t>% of R/I-Type Instr. x CPI of R-Type Instr. + % of B-Type Instr. x CPI of B-Type Instr.</a:t>
            </a:r>
            <a:endParaRPr b="1" sz="2100"/>
          </a:p>
          <a:p>
            <a:pPr indent="0" lvl="0" marL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1800"/>
              <a:t>% of R/I-Type Instr. = </a:t>
            </a:r>
            <a:r>
              <a:rPr b="1" lang="en-US" sz="1800" u="sng"/>
              <a:t>                         </a:t>
            </a:r>
            <a:r>
              <a:rPr b="1" lang="en-US" sz="2800" u="sng"/>
              <a:t>[</a:t>
            </a:r>
            <a:r>
              <a:rPr b="1" lang="en-US" sz="1800" u="sng"/>
              <a:t> 2 x (3 addi+2 sub) + 2 x 7 x (1 slli + 1 addi) </a:t>
            </a:r>
            <a:r>
              <a:rPr b="1" lang="en-US" sz="2800" u="sng"/>
              <a:t>]</a:t>
            </a:r>
            <a:r>
              <a:rPr b="1" lang="en-US" sz="1800" u="sng"/>
              <a:t>______</a:t>
            </a:r>
            <a:endParaRPr b="1" sz="2800" u="sng"/>
          </a:p>
          <a:p>
            <a:pPr indent="0" lvl="0" marL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800"/>
              <a:t>                       </a:t>
            </a:r>
            <a:r>
              <a:rPr b="1" lang="en-US" sz="2800"/>
              <a:t>[</a:t>
            </a:r>
            <a:r>
              <a:rPr b="1" lang="en-US" sz="1800"/>
              <a:t> 2 x (3 addi+2 sub) + 2 x 7 x (1 slli + 1 addi) </a:t>
            </a:r>
            <a:r>
              <a:rPr b="1" lang="en-US" sz="2800"/>
              <a:t>]</a:t>
            </a:r>
            <a:r>
              <a:rPr b="1" lang="en-US" sz="1800"/>
              <a:t> + </a:t>
            </a:r>
            <a:r>
              <a:rPr b="1" lang="en-US" sz="2800"/>
              <a:t>[</a:t>
            </a:r>
            <a:r>
              <a:rPr b="1" lang="en-US" sz="1800"/>
              <a:t> 2 x 7 x (1 bne)</a:t>
            </a:r>
            <a:r>
              <a:rPr b="1" lang="en-US" sz="2800"/>
              <a:t>]</a:t>
            </a:r>
            <a:endParaRPr b="1" sz="2800"/>
          </a:p>
          <a:p>
            <a:pPr indent="0" lvl="0" marL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1" sz="2800"/>
          </a:p>
          <a:p>
            <a:pPr indent="0" lvl="0" marL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/>
              <a:t>                                 = 38/(38+14)=0.73</a:t>
            </a:r>
            <a:endParaRPr b="1" sz="1800"/>
          </a:p>
          <a:p>
            <a:pPr indent="0" lvl="0" marL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/>
              <a:t>% of B-Type Instr. = </a:t>
            </a:r>
            <a:r>
              <a:rPr b="1" lang="en-US" sz="2800" u="sng"/>
              <a:t>                                [</a:t>
            </a:r>
            <a:r>
              <a:rPr b="1" lang="en-US" sz="1800" u="sng"/>
              <a:t> 2 x 7 x (1 bne)</a:t>
            </a:r>
            <a:r>
              <a:rPr b="1" lang="en-US" sz="2800" u="sng"/>
              <a:t>]___________</a:t>
            </a:r>
            <a:endParaRPr b="1" sz="2800" u="sng"/>
          </a:p>
          <a:p>
            <a:pPr indent="0" lvl="0" marL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/>
              <a:t>                       [</a:t>
            </a:r>
            <a:r>
              <a:rPr b="1" lang="en-US" sz="1800"/>
              <a:t> 2 x (3 addi+2 sub) + 2 x 7 x (1 slli + 1 addi) </a:t>
            </a:r>
            <a:r>
              <a:rPr b="1" lang="en-US" sz="2800"/>
              <a:t>]</a:t>
            </a:r>
            <a:r>
              <a:rPr b="1" lang="en-US" sz="1800"/>
              <a:t> + </a:t>
            </a:r>
            <a:r>
              <a:rPr b="1" lang="en-US" sz="2800"/>
              <a:t>[</a:t>
            </a:r>
            <a:r>
              <a:rPr b="1" lang="en-US" sz="1800"/>
              <a:t> 2 x 7 x (1 bne)</a:t>
            </a:r>
            <a:r>
              <a:rPr b="1" lang="en-US" sz="2800"/>
              <a:t>]</a:t>
            </a:r>
            <a:endParaRPr b="1" sz="2800"/>
          </a:p>
          <a:p>
            <a:pPr indent="0" lvl="0" marL="91440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700"/>
              <a:t>          </a:t>
            </a:r>
            <a:r>
              <a:rPr b="1" lang="en-US" sz="1800"/>
              <a:t>= 14/(38+14)=0.269</a:t>
            </a:r>
            <a:endParaRPr sz="2700"/>
          </a:p>
          <a:p>
            <a:pPr indent="0" lvl="0" marL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/>
              <a:t>Total CPI =</a:t>
            </a:r>
            <a:endParaRPr sz="2700"/>
          </a:p>
          <a:p>
            <a:pPr indent="0" lvl="0" marL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/>
              <a:t>% of R/I-Type Instr. x CPI of R/I-Type Instr. + % of B-Type Instr. x CPI of B-Type Instr.</a:t>
            </a:r>
            <a:endParaRPr b="1" sz="1800"/>
          </a:p>
          <a:p>
            <a:pPr indent="0" lvl="0" marL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/>
              <a:t>0.73 x 1 + 0.269 x 1.28=</a:t>
            </a:r>
            <a:r>
              <a:rPr b="1" lang="en-US" sz="2400">
                <a:solidFill>
                  <a:srgbClr val="0000FF"/>
                </a:solidFill>
              </a:rPr>
              <a:t>1.1</a:t>
            </a:r>
            <a:endParaRPr b="1" sz="2400">
              <a:solidFill>
                <a:srgbClr val="0000FF"/>
              </a:solidFill>
            </a:endParaRPr>
          </a:p>
        </p:txBody>
      </p:sp>
      <p:sp>
        <p:nvSpPr>
          <p:cNvPr id="137" name="Google Shape;137;g2dd1eea4539_0_72"/>
          <p:cNvSpPr txBox="1"/>
          <p:nvPr>
            <p:ph idx="12" type="sldNum"/>
          </p:nvPr>
        </p:nvSpPr>
        <p:spPr>
          <a:xfrm>
            <a:off x="247650" y="6324600"/>
            <a:ext cx="749400" cy="35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8" name="Google Shape;138;g2dd1eea4539_0_72"/>
          <p:cNvSpPr txBox="1"/>
          <p:nvPr/>
        </p:nvSpPr>
        <p:spPr>
          <a:xfrm>
            <a:off x="423022" y="264453"/>
            <a:ext cx="8382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2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Total CPI</a:t>
            </a:r>
            <a:r>
              <a:rPr lang="en-US" sz="2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for do-while loop with 2-bit Branch Prediction</a:t>
            </a:r>
            <a:endParaRPr b="0" i="0" sz="25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9" name="Google Shape;139;g2dd1eea4539_0_72"/>
          <p:cNvSpPr txBox="1"/>
          <p:nvPr/>
        </p:nvSpPr>
        <p:spPr>
          <a:xfrm>
            <a:off x="2050125" y="2852450"/>
            <a:ext cx="61212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                                      L     I                                                L    I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g2dd1eea4539_0_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4421" y="4225800"/>
            <a:ext cx="1031075" cy="20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dd1eea4539_0_81"/>
          <p:cNvSpPr txBox="1"/>
          <p:nvPr>
            <p:ph idx="1" type="body"/>
          </p:nvPr>
        </p:nvSpPr>
        <p:spPr>
          <a:xfrm>
            <a:off x="0" y="1181675"/>
            <a:ext cx="9144000" cy="4995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700"/>
              <a:t>Total CPI =</a:t>
            </a:r>
            <a:endParaRPr sz="2700"/>
          </a:p>
          <a:p>
            <a:pPr indent="0" lvl="0" marL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100"/>
              <a:t>% of R/I-Type Instr. x CPI of R-Type Instr. + % of B-Type Instr. x CPI of B-Type Instr.</a:t>
            </a:r>
            <a:endParaRPr b="1" sz="2100"/>
          </a:p>
          <a:p>
            <a:pPr indent="0" lvl="0" marL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1800"/>
              <a:t>% of R/I-Type Instr. = </a:t>
            </a:r>
            <a:r>
              <a:rPr b="1" lang="en-US" sz="1800" u="sng"/>
              <a:t>                         </a:t>
            </a:r>
            <a:r>
              <a:rPr b="1" lang="en-US" sz="2800" u="sng"/>
              <a:t>[</a:t>
            </a:r>
            <a:r>
              <a:rPr b="1" lang="en-US" sz="1800" u="sng"/>
              <a:t> 2 x (3 addi+2 sub) + 2 x 7 x (1 slli + 1 addi) </a:t>
            </a:r>
            <a:r>
              <a:rPr b="1" lang="en-US" sz="2800" u="sng"/>
              <a:t>]</a:t>
            </a:r>
            <a:r>
              <a:rPr b="1" lang="en-US" sz="1800" u="sng"/>
              <a:t>______</a:t>
            </a:r>
            <a:endParaRPr b="1" sz="2800" u="sng"/>
          </a:p>
          <a:p>
            <a:pPr indent="0" lvl="0" marL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800"/>
              <a:t>                       [</a:t>
            </a:r>
            <a:r>
              <a:rPr b="1" lang="en-US" sz="1800"/>
              <a:t> 2 x (3 addi+2 sub) + 2 x 7 x (1 slli + 1 addi) </a:t>
            </a:r>
            <a:r>
              <a:rPr b="1" lang="en-US" sz="2800"/>
              <a:t>]</a:t>
            </a:r>
            <a:r>
              <a:rPr b="1" lang="en-US" sz="1800"/>
              <a:t> + </a:t>
            </a:r>
            <a:r>
              <a:rPr b="1" lang="en-US" sz="2800"/>
              <a:t>[</a:t>
            </a:r>
            <a:r>
              <a:rPr b="1" lang="en-US" sz="1800"/>
              <a:t> 2 x 7 x (1 bne)</a:t>
            </a:r>
            <a:r>
              <a:rPr b="1" lang="en-US" sz="2800"/>
              <a:t>]</a:t>
            </a:r>
            <a:endParaRPr b="1" sz="2800"/>
          </a:p>
          <a:p>
            <a:pPr indent="0" lvl="0" marL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1" sz="2800"/>
          </a:p>
          <a:p>
            <a:pPr indent="0" lvl="0" marL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1800"/>
              <a:t>% of B-Type Instr. = </a:t>
            </a:r>
            <a:r>
              <a:rPr b="1" lang="en-US" sz="2800" u="sng"/>
              <a:t>                                [</a:t>
            </a:r>
            <a:r>
              <a:rPr b="1" lang="en-US" sz="1800" u="sng"/>
              <a:t> 2 x 7 x (1 bne)</a:t>
            </a:r>
            <a:r>
              <a:rPr b="1" lang="en-US" sz="2800" u="sng"/>
              <a:t>]___________</a:t>
            </a:r>
            <a:endParaRPr b="1" sz="2800" u="sng"/>
          </a:p>
          <a:p>
            <a:pPr indent="0" lvl="0" marL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800"/>
              <a:t>                       [</a:t>
            </a:r>
            <a:r>
              <a:rPr b="1" lang="en-US" sz="1800"/>
              <a:t> 2 x (3 add+2 sub) + 2 x 7 x (1 slli + 1 addi) </a:t>
            </a:r>
            <a:r>
              <a:rPr b="1" lang="en-US" sz="2800"/>
              <a:t>]</a:t>
            </a:r>
            <a:r>
              <a:rPr b="1" lang="en-US" sz="1800"/>
              <a:t> + </a:t>
            </a:r>
            <a:r>
              <a:rPr b="1" lang="en-US" sz="2800"/>
              <a:t>[</a:t>
            </a:r>
            <a:r>
              <a:rPr b="1" lang="en-US" sz="1800"/>
              <a:t> 2 x 7 x (1 bne)</a:t>
            </a:r>
            <a:r>
              <a:rPr b="1" lang="en-US" sz="2800"/>
              <a:t>]</a:t>
            </a:r>
            <a:endParaRPr b="1" sz="2800"/>
          </a:p>
          <a:p>
            <a:pPr indent="0" lvl="0" marL="91440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700"/>
              <a:t>     </a:t>
            </a:r>
            <a:endParaRPr sz="2700"/>
          </a:p>
          <a:p>
            <a:pPr indent="0" lvl="0" marL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500"/>
              <a:t>Total CPI =</a:t>
            </a:r>
            <a:endParaRPr sz="2500"/>
          </a:p>
          <a:p>
            <a:pPr indent="0" lvl="0" marL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1900"/>
              <a:t>% of R/I-Type Instr. x CPI of R/I-Type Instr. + % of B-Type Instr. x CPI of B-Type Instr.</a:t>
            </a:r>
            <a:endParaRPr b="1" sz="1900"/>
          </a:p>
          <a:p>
            <a:pPr indent="0" lvl="0" marL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/>
              <a:t>0.73 x 1 + 0.269 x 1.57=</a:t>
            </a:r>
            <a:r>
              <a:rPr b="1" lang="en-US" sz="2600">
                <a:solidFill>
                  <a:srgbClr val="0000FF"/>
                </a:solidFill>
              </a:rPr>
              <a:t>1.19</a:t>
            </a:r>
            <a:endParaRPr b="1" sz="2600">
              <a:solidFill>
                <a:srgbClr val="0000FF"/>
              </a:solidFill>
            </a:endParaRPr>
          </a:p>
        </p:txBody>
      </p:sp>
      <p:sp>
        <p:nvSpPr>
          <p:cNvPr id="147" name="Google Shape;147;g2dd1eea4539_0_81"/>
          <p:cNvSpPr txBox="1"/>
          <p:nvPr>
            <p:ph idx="12" type="sldNum"/>
          </p:nvPr>
        </p:nvSpPr>
        <p:spPr>
          <a:xfrm>
            <a:off x="247650" y="6324600"/>
            <a:ext cx="749400" cy="35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8" name="Google Shape;148;g2dd1eea4539_0_81"/>
          <p:cNvSpPr txBox="1"/>
          <p:nvPr/>
        </p:nvSpPr>
        <p:spPr>
          <a:xfrm>
            <a:off x="423022" y="264453"/>
            <a:ext cx="8382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2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Total CPI</a:t>
            </a:r>
            <a:r>
              <a:rPr lang="en-US" sz="2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for do-while loop with 1-bit Branch Prediction</a:t>
            </a:r>
            <a:endParaRPr b="0" i="0" sz="25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9" name="Google Shape;149;g2dd1eea4539_0_81"/>
          <p:cNvSpPr txBox="1"/>
          <p:nvPr/>
        </p:nvSpPr>
        <p:spPr>
          <a:xfrm>
            <a:off x="2050125" y="2852450"/>
            <a:ext cx="61212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                                      L     I                                                L    I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dd1eea4539_0_88"/>
          <p:cNvSpPr txBox="1"/>
          <p:nvPr>
            <p:ph idx="1" type="body"/>
          </p:nvPr>
        </p:nvSpPr>
        <p:spPr>
          <a:xfrm>
            <a:off x="0" y="1181675"/>
            <a:ext cx="9144000" cy="4995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700"/>
              <a:t>Total CPI =</a:t>
            </a:r>
            <a:endParaRPr sz="2700"/>
          </a:p>
          <a:p>
            <a:pPr indent="0" lvl="0" marL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100"/>
              <a:t>% of R/I-Type Instr. x CPI of R-Type Instr. + % of B-Type Instr. x CPI of B-Type Instr.</a:t>
            </a:r>
            <a:endParaRPr b="1" sz="2100"/>
          </a:p>
          <a:p>
            <a:pPr indent="0" lvl="0" marL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1800"/>
              <a:t>% of R/I-Type Instr. = </a:t>
            </a:r>
            <a:r>
              <a:rPr b="1" lang="en-US" sz="1800" u="sng"/>
              <a:t>                         </a:t>
            </a:r>
            <a:r>
              <a:rPr b="1" lang="en-US" sz="2800" u="sng"/>
              <a:t>[</a:t>
            </a:r>
            <a:r>
              <a:rPr b="1" lang="en-US" sz="1800" u="sng"/>
              <a:t> 2 x (3 add+2 sub) + 2 x 7 x (1 slli + 1 addi) </a:t>
            </a:r>
            <a:r>
              <a:rPr b="1" lang="en-US" sz="2800" u="sng"/>
              <a:t>]</a:t>
            </a:r>
            <a:r>
              <a:rPr b="1" lang="en-US" sz="1800" u="sng"/>
              <a:t>______</a:t>
            </a:r>
            <a:endParaRPr b="1" sz="2800" u="sng"/>
          </a:p>
          <a:p>
            <a:pPr indent="0" lvl="0" marL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800"/>
              <a:t>                       [</a:t>
            </a:r>
            <a:r>
              <a:rPr b="1" lang="en-US" sz="1800"/>
              <a:t> 2 x (3 add+2 sub) + 2 x 7 x (1 slli + 1 addi) </a:t>
            </a:r>
            <a:r>
              <a:rPr b="1" lang="en-US" sz="2800"/>
              <a:t>]</a:t>
            </a:r>
            <a:r>
              <a:rPr b="1" lang="en-US" sz="1800"/>
              <a:t> + </a:t>
            </a:r>
            <a:r>
              <a:rPr b="1" lang="en-US" sz="2800"/>
              <a:t>[</a:t>
            </a:r>
            <a:r>
              <a:rPr b="1" lang="en-US" sz="1800"/>
              <a:t> 2 x 7 x (1 bne)</a:t>
            </a:r>
            <a:r>
              <a:rPr b="1" lang="en-US" sz="2800"/>
              <a:t>]</a:t>
            </a:r>
            <a:endParaRPr b="1" sz="2800"/>
          </a:p>
          <a:p>
            <a:pPr indent="0" lvl="0" marL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1" sz="2800"/>
          </a:p>
          <a:p>
            <a:pPr indent="0" lvl="0" marL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1800"/>
              <a:t>% of B-Type Instr. = </a:t>
            </a:r>
            <a:r>
              <a:rPr b="1" lang="en-US" sz="2800" u="sng"/>
              <a:t>                                [</a:t>
            </a:r>
            <a:r>
              <a:rPr b="1" lang="en-US" sz="1800" u="sng"/>
              <a:t> 2 x 7 x (1 bne)</a:t>
            </a:r>
            <a:r>
              <a:rPr b="1" lang="en-US" sz="2800" u="sng"/>
              <a:t>]___________</a:t>
            </a:r>
            <a:endParaRPr b="1" sz="2800" u="sng"/>
          </a:p>
          <a:p>
            <a:pPr indent="0" lvl="0" marL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800"/>
              <a:t>                       [</a:t>
            </a:r>
            <a:r>
              <a:rPr b="1" lang="en-US" sz="1800"/>
              <a:t> 2 x (3 add+2 sub) + 2 x 7 x (1 slli + 1 addi) </a:t>
            </a:r>
            <a:r>
              <a:rPr b="1" lang="en-US" sz="2800"/>
              <a:t>]</a:t>
            </a:r>
            <a:r>
              <a:rPr b="1" lang="en-US" sz="1800"/>
              <a:t> + </a:t>
            </a:r>
            <a:r>
              <a:rPr b="1" lang="en-US" sz="2800"/>
              <a:t>[</a:t>
            </a:r>
            <a:r>
              <a:rPr b="1" lang="en-US" sz="1800"/>
              <a:t> 2 x 7 x (1 bne)</a:t>
            </a:r>
            <a:r>
              <a:rPr b="1" lang="en-US" sz="2800"/>
              <a:t>]</a:t>
            </a:r>
            <a:endParaRPr b="1" sz="2800"/>
          </a:p>
          <a:p>
            <a:pPr indent="0" lvl="0" marL="91440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700"/>
              <a:t>     </a:t>
            </a:r>
            <a:endParaRPr sz="2700"/>
          </a:p>
          <a:p>
            <a:pPr indent="0" lvl="0" marL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700"/>
              <a:t>Total CPI =</a:t>
            </a:r>
            <a:endParaRPr sz="2700"/>
          </a:p>
          <a:p>
            <a:pPr indent="0" lvl="0" marL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100"/>
              <a:t>% of R/I-Type Instr. x CPI of R/I-Type Instr. + % of B-Type Instr. x CPI of B-Type Instr.</a:t>
            </a:r>
            <a:endParaRPr b="1" sz="2100"/>
          </a:p>
          <a:p>
            <a:pPr indent="0" lvl="0" marL="0" rtl="0" algn="just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800"/>
              <a:t>0.73 x 1 + 0.269 x 2.71=</a:t>
            </a:r>
            <a:r>
              <a:rPr b="1" lang="en-US" sz="2800">
                <a:solidFill>
                  <a:srgbClr val="0000FF"/>
                </a:solidFill>
              </a:rPr>
              <a:t>1.53</a:t>
            </a:r>
            <a:endParaRPr b="1" sz="2800">
              <a:solidFill>
                <a:srgbClr val="0000FF"/>
              </a:solidFill>
            </a:endParaRPr>
          </a:p>
        </p:txBody>
      </p:sp>
      <p:sp>
        <p:nvSpPr>
          <p:cNvPr id="156" name="Google Shape;156;g2dd1eea4539_0_88"/>
          <p:cNvSpPr txBox="1"/>
          <p:nvPr>
            <p:ph idx="12" type="sldNum"/>
          </p:nvPr>
        </p:nvSpPr>
        <p:spPr>
          <a:xfrm>
            <a:off x="247650" y="6324600"/>
            <a:ext cx="749400" cy="35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7" name="Google Shape;157;g2dd1eea4539_0_88"/>
          <p:cNvSpPr txBox="1"/>
          <p:nvPr/>
        </p:nvSpPr>
        <p:spPr>
          <a:xfrm>
            <a:off x="423022" y="264453"/>
            <a:ext cx="8382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2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Total CPI for do-while loop without Branch Prediction</a:t>
            </a:r>
            <a:endParaRPr b="0" i="0" sz="25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8" name="Google Shape;158;g2dd1eea4539_0_88"/>
          <p:cNvSpPr txBox="1"/>
          <p:nvPr/>
        </p:nvSpPr>
        <p:spPr>
          <a:xfrm>
            <a:off x="2050125" y="2852450"/>
            <a:ext cx="61212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                                      L     I                                                L    I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3cdaf1b309_0_5"/>
          <p:cNvSpPr txBox="1"/>
          <p:nvPr/>
        </p:nvSpPr>
        <p:spPr>
          <a:xfrm>
            <a:off x="457200" y="68759"/>
            <a:ext cx="838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Pipelined Performance Example</a:t>
            </a:r>
            <a:endParaRPr b="0" i="0" sz="4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5" name="Google Shape;165;g33cdaf1b309_0_5"/>
          <p:cNvSpPr txBox="1"/>
          <p:nvPr>
            <p:ph idx="12" type="sldNum"/>
          </p:nvPr>
        </p:nvSpPr>
        <p:spPr>
          <a:xfrm>
            <a:off x="247650" y="6324600"/>
            <a:ext cx="7494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6" name="Google Shape;166;g33cdaf1b309_0_5"/>
          <p:cNvSpPr/>
          <p:nvPr/>
        </p:nvSpPr>
        <p:spPr>
          <a:xfrm>
            <a:off x="685800" y="1066800"/>
            <a:ext cx="80010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with </a:t>
            </a: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52</a:t>
            </a: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instructions</a:t>
            </a:r>
            <a:endParaRPr b="0" i="1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</a:t>
            </a:r>
            <a:r>
              <a:rPr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Execution Time</a:t>
            </a: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=(# instructions) × CPI × </a:t>
            </a:r>
            <a:r>
              <a:rPr b="0" i="1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        	</a:t>
            </a: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(</a:t>
            </a: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52</a:t>
            </a: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)(</a:t>
            </a: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1.53</a:t>
            </a: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)(350  × 10</a:t>
            </a:r>
            <a:r>
              <a:rPr b="0" baseline="3000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-12</a:t>
            </a: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      	</a:t>
            </a:r>
            <a:r>
              <a:rPr b="1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2</a:t>
            </a: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7.84</a:t>
            </a:r>
            <a:r>
              <a:rPr b="1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</a:t>
            </a: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 seconds</a:t>
            </a:r>
            <a:endParaRPr b="1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Execution Time=(# instructions) × CPI × </a:t>
            </a:r>
            <a:r>
              <a:rPr i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i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500">
              <a:solidFill>
                <a:schemeClr val="dk1"/>
              </a:solidFill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i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        	</a:t>
            </a: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(52)(1.19)(350  × 10</a:t>
            </a:r>
            <a:r>
              <a:rPr baseline="30000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-12</a:t>
            </a: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500">
              <a:solidFill>
                <a:schemeClr val="dk1"/>
              </a:solidFill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      	</a:t>
            </a: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21.65 nano seconds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Execution Time=(# instructions) × CPI × </a:t>
            </a:r>
            <a:r>
              <a:rPr i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i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500">
              <a:solidFill>
                <a:schemeClr val="dk1"/>
              </a:solidFill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i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        	</a:t>
            </a: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(52)(1.1)(350  × 10</a:t>
            </a:r>
            <a:r>
              <a:rPr baseline="30000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-12</a:t>
            </a: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      	</a:t>
            </a: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20.02 nano seconds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3cdaf1b309_0_5"/>
          <p:cNvSpPr txBox="1"/>
          <p:nvPr/>
        </p:nvSpPr>
        <p:spPr>
          <a:xfrm>
            <a:off x="631650" y="1461727"/>
            <a:ext cx="24438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without BP</a:t>
            </a:r>
            <a:endParaRPr sz="27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33cdaf1b309_0_5"/>
          <p:cNvSpPr txBox="1"/>
          <p:nvPr/>
        </p:nvSpPr>
        <p:spPr>
          <a:xfrm>
            <a:off x="631650" y="2970623"/>
            <a:ext cx="31614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1-bit BP</a:t>
            </a:r>
            <a:endParaRPr sz="27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3cdaf1b309_0_5"/>
          <p:cNvSpPr txBox="1"/>
          <p:nvPr/>
        </p:nvSpPr>
        <p:spPr>
          <a:xfrm>
            <a:off x="631650" y="4464075"/>
            <a:ext cx="24438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2-bit BP</a:t>
            </a:r>
            <a:endParaRPr sz="27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dd1eea4539_0_97"/>
          <p:cNvSpPr txBox="1"/>
          <p:nvPr>
            <p:ph idx="12" type="sldNum"/>
          </p:nvPr>
        </p:nvSpPr>
        <p:spPr>
          <a:xfrm>
            <a:off x="247650" y="6324600"/>
            <a:ext cx="749400" cy="35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6" name="Google Shape;176;g2dd1eea4539_0_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6975" y="1383950"/>
            <a:ext cx="6282025" cy="409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2012-08-07T04:56:47Z</dcterms:created>
  <dc:creator>sharris</dc:creator>
</cp:coreProperties>
</file>