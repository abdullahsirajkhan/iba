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30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7668E3-D350-4BF1-AE51-18115A54ADB6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62.png"/><Relationship Id="rId21" Type="http://schemas.openxmlformats.org/officeDocument/2006/relationships/image" Target="../media/image81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5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4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3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image" Target="../media/image86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dirty="0"/>
              <a:t>Boolean Algebra and Logic Gates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Presentation 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49702" y="1182327"/>
            <a:ext cx="7550948" cy="5242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3000"/>
              </a:spcBef>
            </a:pPr>
            <a:r>
              <a:rPr lang="en-US" altLang="en-US" kern="0" dirty="0" smtClean="0"/>
              <a:t>Boolean Algebra</a:t>
            </a:r>
          </a:p>
          <a:p>
            <a:pPr>
              <a:spcBef>
                <a:spcPts val="3000"/>
              </a:spcBef>
            </a:pPr>
            <a:r>
              <a:rPr lang="en-US" altLang="en-US" kern="0" dirty="0" smtClean="0"/>
              <a:t>Boolean Functions and Truth Tables</a:t>
            </a:r>
          </a:p>
          <a:p>
            <a:pPr>
              <a:spcBef>
                <a:spcPts val="3000"/>
              </a:spcBef>
            </a:pPr>
            <a:r>
              <a:rPr lang="en-US" altLang="en-US" kern="0" dirty="0" err="1" smtClean="0"/>
              <a:t>DeMorgan's</a:t>
            </a:r>
            <a:r>
              <a:rPr lang="en-US" altLang="en-US" kern="0" dirty="0" smtClean="0"/>
              <a:t> Theorem</a:t>
            </a:r>
          </a:p>
          <a:p>
            <a:pPr>
              <a:spcBef>
                <a:spcPts val="3000"/>
              </a:spcBef>
            </a:pPr>
            <a:r>
              <a:rPr lang="en-US" altLang="en-US" kern="0" dirty="0"/>
              <a:t>Algebraic </a:t>
            </a:r>
            <a:r>
              <a:rPr lang="en-US" altLang="en-US" kern="0" dirty="0" smtClean="0"/>
              <a:t>manipulation and expression simplification</a:t>
            </a:r>
            <a:endParaRPr lang="en-US" altLang="en-US" kern="0" dirty="0"/>
          </a:p>
          <a:p>
            <a:pPr>
              <a:spcBef>
                <a:spcPts val="3000"/>
              </a:spcBef>
            </a:pPr>
            <a:r>
              <a:rPr lang="en-US" altLang="en-US" kern="0" dirty="0" smtClean="0"/>
              <a:t>Logic gates and logic diagrams</a:t>
            </a:r>
          </a:p>
          <a:p>
            <a:pPr>
              <a:spcBef>
                <a:spcPts val="3000"/>
              </a:spcBef>
            </a:pPr>
            <a:r>
              <a:rPr lang="en-US" altLang="en-US" kern="0" dirty="0" smtClean="0"/>
              <a:t>Minterms and Maxterms</a:t>
            </a:r>
          </a:p>
          <a:p>
            <a:pPr>
              <a:spcBef>
                <a:spcPts val="3000"/>
              </a:spcBef>
            </a:pPr>
            <a:r>
              <a:rPr lang="en-US" altLang="en-US" kern="0" dirty="0" smtClean="0"/>
              <a:t>Sum-Of-Products and Product-Of-Sums</a:t>
            </a:r>
          </a:p>
        </p:txBody>
      </p:sp>
    </p:spTree>
    <p:extLst>
      <p:ext uri="{BB962C8B-B14F-4D97-AF65-F5344CB8AC3E}">
        <p14:creationId xmlns:p14="http://schemas.microsoft.com/office/powerpoint/2010/main" val="321616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Boolean Algebra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9083" y="1009507"/>
                <a:ext cx="8698657" cy="547266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Introduced by George Boole in 1854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Two-valued Boolean algebra is also called switching algebra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A set of two values: </a:t>
                </a:r>
                <a:r>
                  <a:rPr lang="en-US" sz="2000" i="1" dirty="0" smtClean="0"/>
                  <a:t>B</a:t>
                </a:r>
                <a:r>
                  <a:rPr lang="en-US" sz="2000" dirty="0" smtClean="0"/>
                  <a:t> = {0, 1}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Three basic operations: </a:t>
                </a:r>
                <a:r>
                  <a:rPr lang="en-US" sz="2000" b="1" dirty="0" smtClean="0"/>
                  <a:t>AND</a:t>
                </a:r>
                <a:r>
                  <a:rPr lang="en-US" sz="2000" dirty="0" smtClean="0"/>
                  <a:t>, </a:t>
                </a:r>
                <a:r>
                  <a:rPr lang="en-US" sz="2000" b="1" dirty="0" smtClean="0"/>
                  <a:t>OR</a:t>
                </a:r>
                <a:r>
                  <a:rPr lang="en-US" sz="2000" dirty="0" smtClean="0"/>
                  <a:t>, and </a:t>
                </a:r>
                <a:r>
                  <a:rPr lang="en-US" sz="2000" b="1" dirty="0" smtClean="0"/>
                  <a:t>NOT</a:t>
                </a:r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The </a:t>
                </a:r>
                <a:r>
                  <a:rPr lang="en-US" sz="2000" b="1" dirty="0" smtClean="0"/>
                  <a:t>AND</a:t>
                </a:r>
                <a:r>
                  <a:rPr lang="en-US" sz="2000" dirty="0" smtClean="0"/>
                  <a:t> operator is denoted by a dot (</a:t>
                </a:r>
                <a:r>
                  <a:rPr lang="en-US" sz="20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000" dirty="0" smtClean="0">
                    <a:cs typeface="Consolas" panose="020B0609020204030204" pitchFamily="49" charset="0"/>
                  </a:rPr>
                  <a:t>)</a:t>
                </a:r>
              </a:p>
              <a:p>
                <a:pPr lvl="1"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𝑥</m:t>
                    </m:r>
                    <m:r>
                      <a:rPr lang="en-US" sz="1800" i="1" dirty="0">
                        <a:latin typeface="Cambria Math"/>
                      </a:rPr>
                      <m:t>·</m:t>
                    </m:r>
                    <m:r>
                      <a:rPr lang="en-US" sz="18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1800" dirty="0"/>
                  <a:t> 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𝑥𝑦</m:t>
                    </m:r>
                  </m:oMath>
                </a14:m>
                <a:r>
                  <a:rPr lang="en-US" sz="1800" dirty="0" smtClean="0"/>
                  <a:t> is read: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dirty="0" smtClean="0"/>
                  <a:t> </a:t>
                </a:r>
                <a:r>
                  <a:rPr lang="en-US" sz="1800" b="1" dirty="0" smtClean="0"/>
                  <a:t>AND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sz="1800" i="1" dirty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The </a:t>
                </a:r>
                <a:r>
                  <a:rPr lang="en-US" sz="2000" b="1" dirty="0" smtClean="0"/>
                  <a:t>OR</a:t>
                </a:r>
                <a:r>
                  <a:rPr lang="en-US" sz="2000" dirty="0" smtClean="0"/>
                  <a:t> operator is denoted by a plus (</a:t>
                </a:r>
                <a:r>
                  <a:rPr lang="en-US" sz="20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en-US" sz="2000" dirty="0" smtClean="0"/>
                  <a:t>)</a:t>
                </a:r>
              </a:p>
              <a:p>
                <a:pPr lvl="1"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  <m:r>
                      <a:rPr lang="en-US" sz="1800" i="1" dirty="0" smtClean="0">
                        <a:latin typeface="Cambria Math"/>
                      </a:rPr>
                      <m:t>+</m:t>
                    </m:r>
                    <m:r>
                      <a:rPr lang="en-US" sz="18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1800" dirty="0" smtClean="0"/>
                  <a:t> is read: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1800" dirty="0" smtClean="0"/>
                  <a:t> </a:t>
                </a:r>
                <a:r>
                  <a:rPr lang="en-US" sz="1800" b="1" dirty="0" smtClean="0"/>
                  <a:t>OR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𝑦</m:t>
                    </m:r>
                  </m:oMath>
                </a14:m>
                <a:endParaRPr lang="en-US" sz="1800" dirty="0" smtClean="0"/>
              </a:p>
              <a:p>
                <a:pPr>
                  <a:spcBef>
                    <a:spcPts val="1500"/>
                  </a:spcBef>
                </a:pPr>
                <a:r>
                  <a:rPr lang="en-US" sz="2000" dirty="0" smtClean="0"/>
                  <a:t>The </a:t>
                </a:r>
                <a:r>
                  <a:rPr lang="en-US" sz="2000" b="1" dirty="0" smtClean="0"/>
                  <a:t>NOT</a:t>
                </a:r>
                <a:r>
                  <a:rPr lang="en-US" sz="2000" dirty="0" smtClean="0"/>
                  <a:t> operator is denoted by (</a:t>
                </a:r>
                <a:r>
                  <a:rPr lang="en-US" sz="2000" b="1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'</a:t>
                </a:r>
                <a:r>
                  <a:rPr lang="en-US" sz="2000" dirty="0" smtClean="0"/>
                  <a:t>) or an overbar (</a:t>
                </a:r>
                <a:r>
                  <a:rPr lang="en-US" altLang="en-US" sz="2000" b="1" dirty="0" smtClean="0">
                    <a:cs typeface="Times New Roman" pitchFamily="18" charset="0"/>
                  </a:rPr>
                  <a:t>¯</a:t>
                </a:r>
                <a:r>
                  <a:rPr lang="en-US" sz="2000" dirty="0" smtClean="0"/>
                  <a:t>).</a:t>
                </a:r>
              </a:p>
              <a:p>
                <a:pPr lvl="1"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sz="1800" dirty="0" smtClean="0"/>
                  <a:t> or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 dirty="0" smtClean="0">
                            <a:latin typeface="Cambria Math"/>
                          </a:rPr>
                        </m:ctrlPr>
                      </m:bar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z="1800" dirty="0" smtClean="0"/>
                  <a:t> is the complement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083" y="1009507"/>
                <a:ext cx="8698657" cy="5472665"/>
              </a:xfrm>
              <a:blipFill rotWithShape="1">
                <a:blip r:embed="rId2"/>
                <a:stretch>
                  <a:fillRect l="-631" t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80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Postulates of Boolean Algebra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9594" y="951901"/>
                <a:ext cx="8550539" cy="5587879"/>
              </a:xfrm>
            </p:spPr>
            <p:txBody>
              <a:bodyPr>
                <a:normAutofit/>
              </a:bodyPr>
              <a:lstStyle/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1.	Closure: the result of any Boolean operation is in </a:t>
                </a:r>
                <a:r>
                  <a:rPr lang="en-US" sz="2400" i="1" dirty="0" smtClean="0"/>
                  <a:t>B</a:t>
                </a:r>
                <a:r>
                  <a:rPr lang="en-US" sz="2400" dirty="0" smtClean="0"/>
                  <a:t> = {0, 1}</a:t>
                </a:r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2.	Identity element with respect to </a:t>
                </a:r>
                <a:r>
                  <a:rPr 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en-US" sz="2400" dirty="0" smtClean="0"/>
                  <a:t> is 0: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+0=0+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2400" dirty="0" smtClean="0"/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	Identity element with respect to </a:t>
                </a:r>
                <a:r>
                  <a:rPr 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400" dirty="0" smtClean="0"/>
                  <a:t> is 1: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smtClean="0">
                        <a:latin typeface="Cambria Math"/>
                      </a:rPr>
                      <m:t>1=1</m:t>
                    </m:r>
                    <m:r>
                      <a:rPr lang="en-US" sz="2400" i="1" dirty="0" smtClean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2400" dirty="0" smtClean="0"/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3.	Commutative with respect to +: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</m:oMath>
                </a14:m>
                <a:endParaRPr lang="en-US" sz="2400" dirty="0" smtClean="0"/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	Commutative </a:t>
                </a:r>
                <a:r>
                  <a:rPr lang="en-US" sz="2400" dirty="0"/>
                  <a:t>with respect to </a:t>
                </a:r>
                <a:r>
                  <a:rPr 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400" dirty="0" smtClean="0"/>
                  <a:t>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err="1" smtClean="0">
                        <a:latin typeface="Cambria Math"/>
                        <a:cs typeface="Consolas" panose="020B0609020204030204" pitchFamily="49" charset="0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  <a:cs typeface="Consolas" panose="020B0609020204030204" pitchFamily="49" charset="0"/>
                      </a:rPr>
                      <m:t> = </m:t>
                    </m:r>
                    <m:r>
                      <a:rPr lang="en-US" sz="2400" i="1" dirty="0" err="1" smtClean="0">
                        <a:latin typeface="Cambria Math"/>
                        <a:cs typeface="Consolas" panose="020B0609020204030204" pitchFamily="49" charset="0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err="1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</m:oMath>
                </a14:m>
                <a:endParaRPr lang="en-US" sz="2400" dirty="0"/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>
                    <a:cs typeface="Times New Roman" panose="02020603050405020304" pitchFamily="18" charset="0"/>
                  </a:rPr>
                  <a:t>4.	</a:t>
                </a:r>
                <a:r>
                  <a:rPr 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400" dirty="0" smtClean="0"/>
                  <a:t> is distributive over +: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)=(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)+(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 smtClean="0"/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	+ is distributive over </a:t>
                </a:r>
                <a:r>
                  <a:rPr 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400" dirty="0" smtClean="0"/>
                  <a:t>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+(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)=(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  <m:r>
                      <a:rPr lang="en-US" sz="2400" i="1" dirty="0" smtClean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 smtClean="0"/>
              </a:p>
              <a:p>
                <a:pPr marL="357188" indent="-357188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sz="2400" dirty="0" smtClean="0"/>
                  <a:t>5.	For every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 smtClean="0"/>
                  <a:t> in B, there exists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 in B (called complement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 smtClean="0"/>
                  <a:t>) such that: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′=1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  <a:cs typeface="Consolas" panose="020B0609020204030204" pitchFamily="49" charset="0"/>
                      </a:rPr>
                      <m:t>·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′=0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9594" y="951901"/>
                <a:ext cx="8550539" cy="5587879"/>
              </a:xfrm>
              <a:blipFill rotWithShape="1">
                <a:blip r:embed="rId2"/>
                <a:stretch>
                  <a:fillRect l="-1141" t="-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98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AND, OR, and NOT Operators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51900"/>
                <a:ext cx="8229600" cy="224667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800" dirty="0" smtClean="0"/>
                  <a:t>The following tables define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𝑥</m:t>
                    </m:r>
                    <m:r>
                      <a:rPr lang="en-US" sz="2800" i="1" dirty="0" smtClean="0">
                        <a:latin typeface="Cambria Math"/>
                      </a:rPr>
                      <m:t>·</m:t>
                    </m:r>
                    <m:r>
                      <a:rPr lang="en-US" sz="28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800" dirty="0" smtClean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𝑥</m:t>
                    </m:r>
                    <m:r>
                      <a:rPr lang="en-US" sz="2800" i="1" dirty="0" smtClean="0">
                        <a:latin typeface="Cambria Math"/>
                      </a:rPr>
                      <m:t>+</m:t>
                    </m:r>
                    <m:r>
                      <a:rPr lang="en-US" sz="28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800" dirty="0" smtClean="0"/>
                  <a:t>,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𝑥</m:t>
                    </m:r>
                    <m:r>
                      <a:rPr lang="en-US" sz="28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800" dirty="0" smtClean="0"/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𝑥</m:t>
                    </m:r>
                    <m:r>
                      <a:rPr lang="en-US" sz="2800" i="1" dirty="0" smtClean="0">
                        <a:latin typeface="Cambria Math"/>
                      </a:rPr>
                      <m:t>·</m:t>
                    </m:r>
                    <m:r>
                      <a:rPr lang="en-US" sz="28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800" dirty="0" smtClean="0"/>
                  <a:t> is the </a:t>
                </a:r>
                <a:r>
                  <a:rPr lang="en-US" sz="2800" b="1" dirty="0" smtClean="0"/>
                  <a:t>AND</a:t>
                </a:r>
                <a:r>
                  <a:rPr lang="en-US" sz="2800" dirty="0" smtClean="0"/>
                  <a:t> operator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𝑥</m:t>
                    </m:r>
                    <m:r>
                      <a:rPr lang="en-US" sz="2800" i="1" dirty="0">
                        <a:latin typeface="Cambria Math"/>
                      </a:rPr>
                      <m:t>+</m:t>
                    </m:r>
                    <m:r>
                      <a:rPr lang="en-US" sz="2800" i="1" dirty="0">
                        <a:latin typeface="Cambria Math"/>
                      </a:rPr>
                      <m:t>𝑦</m:t>
                    </m:r>
                    <m:r>
                      <a:rPr lang="en-US" sz="28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is the </a:t>
                </a:r>
                <a:r>
                  <a:rPr lang="en-US" sz="2800" b="1" dirty="0" smtClean="0"/>
                  <a:t>OR</a:t>
                </a:r>
                <a:r>
                  <a:rPr lang="en-US" sz="2800" dirty="0" smtClean="0"/>
                  <a:t> operator</a:t>
                </a:r>
              </a:p>
              <a:p>
                <a:pPr>
                  <a:spcBef>
                    <a:spcPts val="1500"/>
                  </a:spcBef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𝑥</m:t>
                    </m:r>
                    <m:r>
                      <a:rPr lang="en-US" sz="2800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800" dirty="0" smtClean="0"/>
                  <a:t> is the </a:t>
                </a:r>
                <a:r>
                  <a:rPr lang="en-US" sz="2800" b="1" dirty="0" smtClean="0"/>
                  <a:t>NOT</a:t>
                </a:r>
                <a:r>
                  <a:rPr lang="en-US" sz="2800" dirty="0" smtClean="0"/>
                  <a:t> operator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51900"/>
                <a:ext cx="8229600" cy="2246672"/>
              </a:xfrm>
              <a:blipFill rotWithShape="1">
                <a:blip r:embed="rId2"/>
                <a:stretch>
                  <a:fillRect l="-1259" t="-2439" b="-1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085155"/>
              </p:ext>
            </p:extLst>
          </p:nvPr>
        </p:nvGraphicFramePr>
        <p:xfrm>
          <a:off x="827546" y="3429002"/>
          <a:ext cx="2246673" cy="26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13"/>
                <a:gridCol w="962860"/>
              </a:tblGrid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x·y</a:t>
                      </a:r>
                      <a:endParaRPr lang="en-U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273200"/>
              </p:ext>
            </p:extLst>
          </p:nvPr>
        </p:nvGraphicFramePr>
        <p:xfrm>
          <a:off x="3650289" y="3429000"/>
          <a:ext cx="2246673" cy="263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13"/>
                <a:gridCol w="962860"/>
              </a:tblGrid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x+y</a:t>
                      </a:r>
                      <a:endParaRPr lang="en-U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27753"/>
              </p:ext>
            </p:extLst>
          </p:nvPr>
        </p:nvGraphicFramePr>
        <p:xfrm>
          <a:off x="6473032" y="3428998"/>
          <a:ext cx="1785817" cy="157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712"/>
                <a:gridCol w="864105"/>
              </a:tblGrid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x'</a:t>
                      </a:r>
                      <a:endParaRPr lang="en-U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5263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69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Boolean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296" y="836685"/>
                <a:ext cx="8368855" cy="564548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Boolean functions are described by expressions that consist of: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Boolean variables, such as: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, etc.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Boolean constants: 0 and 1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Boolean operators: AND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000" dirty="0" smtClean="0"/>
                  <a:t>), OR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en-US" sz="2000" dirty="0" smtClean="0"/>
                  <a:t>), NOT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'</a:t>
                </a:r>
                <a:r>
                  <a:rPr lang="en-US" sz="2000" dirty="0" smtClean="0"/>
                  <a:t>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Parentheses, which can be nested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Example: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𝑓</m:t>
                    </m:r>
                    <m:r>
                      <a:rPr lang="en-US" sz="2400" b="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4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/>
                          </a:rPr>
                          <m:t>𝑦</m:t>
                        </m:r>
                        <m:r>
                          <a:rPr lang="en-US" sz="2400" i="1" dirty="0" err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dirty="0" err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i="1" dirty="0" err="1">
                                <a:latin typeface="Cambria Math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 dirty="0" err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 dirty="0" err="1"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endParaRPr lang="en-US" sz="2400" i="1" dirty="0" smtClean="0">
                  <a:latin typeface="Cambria Math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The dot operator is implicit and need not be written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Operator precedence: to avoid ambiguity in expressions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Expressions within parentheses should be evaluated first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The NOT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'</a:t>
                </a:r>
                <a:r>
                  <a:rPr lang="en-US" sz="2000" dirty="0" smtClean="0"/>
                  <a:t>) operator should be evaluated second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The AND (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000" dirty="0" smtClean="0"/>
                  <a:t>) operator should be evaluated third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 smtClean="0"/>
                  <a:t>The OR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en-US" sz="2000" dirty="0" smtClean="0"/>
                  <a:t>) operator should be evaluated last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296" y="836685"/>
                <a:ext cx="8368855" cy="5645486"/>
              </a:xfrm>
              <a:blipFill rotWithShape="1">
                <a:blip r:embed="rId2"/>
                <a:stretch>
                  <a:fillRect l="-1020" t="-864" r="-73" b="-1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64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Truth Table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5" y="836685"/>
                <a:ext cx="8667638" cy="207385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A truth table can represent a Boolean function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List all possible combinations of 0's and 1's assigned to variables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If </a:t>
                </a:r>
                <a:r>
                  <a:rPr lang="en-US" sz="2400" i="1" dirty="0" smtClean="0"/>
                  <a:t>n</a:t>
                </a:r>
                <a:r>
                  <a:rPr lang="en-US" sz="2400" dirty="0" smtClean="0"/>
                  <a:t> variables then 2</a:t>
                </a:r>
                <a:r>
                  <a:rPr lang="en-US" sz="2400" i="1" baseline="30000" dirty="0" smtClean="0"/>
                  <a:t>n</a:t>
                </a:r>
                <a:r>
                  <a:rPr lang="en-US" sz="2400" dirty="0" smtClean="0"/>
                  <a:t> rows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Example: Truth table for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𝑓</m:t>
                    </m:r>
                    <m:r>
                      <a:rPr lang="en-US" sz="2400" b="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𝑧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5" y="836685"/>
                <a:ext cx="8667638" cy="2073852"/>
              </a:xfrm>
              <a:blipFill rotWithShape="1">
                <a:blip r:embed="rId2"/>
                <a:stretch>
                  <a:fillRect l="-914" t="-2353" b="-3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722678"/>
              </p:ext>
            </p:extLst>
          </p:nvPr>
        </p:nvGraphicFramePr>
        <p:xfrm>
          <a:off x="796526" y="2968147"/>
          <a:ext cx="609748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679"/>
                <a:gridCol w="678625"/>
                <a:gridCol w="862105"/>
                <a:gridCol w="679990"/>
                <a:gridCol w="850811"/>
                <a:gridCol w="1595271"/>
              </a:tblGrid>
              <a:tr h="3598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 y  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y'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xy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x'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x'z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xy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'+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x'z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0  0  1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0  1  1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1  0  0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1  0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1  1  0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584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1  1  1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59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DeMorgan's</a:t>
            </a:r>
            <a:r>
              <a:rPr lang="en-US" dirty="0" smtClean="0"/>
              <a:t> 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7118" y="951899"/>
                <a:ext cx="3398813" cy="126735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  <a:tabLst>
                    <a:tab pos="3943350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)′ = 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 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tabLst>
                    <a:tab pos="3943350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)′ = 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 + 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7118" y="951899"/>
                <a:ext cx="3398813" cy="1267354"/>
              </a:xfrm>
              <a:blipFill rotWithShape="1">
                <a:blip r:embed="rId2"/>
                <a:stretch>
                  <a:fillRect l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92322"/>
              </p:ext>
            </p:extLst>
          </p:nvPr>
        </p:nvGraphicFramePr>
        <p:xfrm>
          <a:off x="539510" y="2276860"/>
          <a:ext cx="8064984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4"/>
                <a:gridCol w="576070"/>
                <a:gridCol w="576070"/>
                <a:gridCol w="576070"/>
                <a:gridCol w="748891"/>
                <a:gridCol w="1036926"/>
                <a:gridCol w="864105"/>
                <a:gridCol w="806498"/>
                <a:gridCol w="1031164"/>
                <a:gridCol w="12731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x+y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x+y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x'</a:t>
                      </a:r>
                      <a:r>
                        <a:rPr lang="en-US" sz="2000" baseline="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(x y)'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x'+ y'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41572" y="1009508"/>
            <a:ext cx="2995564" cy="10369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dirty="0" smtClean="0"/>
              <a:t>Can be verified</a:t>
            </a:r>
          </a:p>
          <a:p>
            <a:pPr algn="ctr">
              <a:lnSpc>
                <a:spcPct val="120000"/>
              </a:lnSpc>
            </a:pPr>
            <a:r>
              <a:rPr lang="en-US" sz="2400" dirty="0" smtClean="0"/>
              <a:t>Using a Truth Table</a:t>
            </a:r>
            <a:endParaRPr lang="en-US" sz="24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592682" y="2299423"/>
            <a:ext cx="1901031" cy="2385577"/>
            <a:chOff x="3592681" y="2449681"/>
            <a:chExt cx="1901031" cy="2385577"/>
          </a:xfrm>
        </p:grpSpPr>
        <p:sp>
          <p:nvSpPr>
            <p:cNvPr id="6" name="Rounded Rectangle 5"/>
            <p:cNvSpPr/>
            <p:nvPr/>
          </p:nvSpPr>
          <p:spPr>
            <a:xfrm>
              <a:off x="3592681" y="2449681"/>
              <a:ext cx="1036926" cy="1958638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629607" y="2449681"/>
              <a:ext cx="864105" cy="1958638"/>
            </a:xfrm>
            <a:prstGeom prst="roundRect">
              <a:avLst/>
            </a:prstGeom>
            <a:noFill/>
            <a:ln>
              <a:solidFill>
                <a:srgbClr val="0000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84857" y="4465926"/>
              <a:ext cx="1034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000099"/>
                  </a:solidFill>
                </a:rPr>
                <a:t>Identical</a:t>
              </a:r>
              <a:endParaRPr lang="en-US" b="1" dirty="0">
                <a:solidFill>
                  <a:srgbClr val="000099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300211" y="2299423"/>
            <a:ext cx="2304280" cy="2385577"/>
            <a:chOff x="6300210" y="2449681"/>
            <a:chExt cx="2304280" cy="2385577"/>
          </a:xfrm>
        </p:grpSpPr>
        <p:sp>
          <p:nvSpPr>
            <p:cNvPr id="8" name="Rounded Rectangle 7"/>
            <p:cNvSpPr/>
            <p:nvPr/>
          </p:nvSpPr>
          <p:spPr>
            <a:xfrm>
              <a:off x="6300210" y="2449681"/>
              <a:ext cx="1036926" cy="1958638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337136" y="2449681"/>
              <a:ext cx="1267354" cy="1958638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61066" y="4465926"/>
              <a:ext cx="1034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008000"/>
                  </a:solidFill>
                </a:rPr>
                <a:t>Identical</a:t>
              </a:r>
              <a:endParaRPr lang="en-US" b="1" dirty="0">
                <a:solidFill>
                  <a:srgbClr val="008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 bwMode="auto">
              <a:xfrm>
                <a:off x="597117" y="4753963"/>
                <a:ext cx="5760700" cy="1785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ts val="1200"/>
                  </a:spcBef>
                  <a:tabLst>
                    <a:tab pos="3943350" algn="l"/>
                  </a:tabLst>
                </a:pPr>
                <a:r>
                  <a:rPr lang="en-US" sz="2000" kern="0" dirty="0" smtClean="0"/>
                  <a:t>Generalized </a:t>
                </a:r>
                <a:r>
                  <a:rPr lang="en-US" sz="2000" kern="0" dirty="0" err="1" smtClean="0"/>
                  <a:t>DeMorgan's</a:t>
                </a:r>
                <a:r>
                  <a:rPr lang="en-US" sz="2000" kern="0" dirty="0" smtClean="0"/>
                  <a:t> Theorem: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tabLst>
                    <a:tab pos="394335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kern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kern="0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kern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kern="0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kern="0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kern="0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kern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kern="0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kern="0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kern="0" smtClean="0">
                                <a:latin typeface="Cambria Math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sz="2000" b="0" i="1" kern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kern="0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kern="0" smtClea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kern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kern="0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2000" b="0" i="1" kern="0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000" b="0" i="1" kern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kern="0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000" b="0" i="1" kern="0" smtClea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2000" b="0" i="1" kern="0" smtClean="0">
                        <a:latin typeface="Cambria Math"/>
                        <a:ea typeface="Cambria Math"/>
                      </a:rPr>
                      <m:t>∙</m:t>
                    </m:r>
                    <m:sSubSup>
                      <m:sSubSupPr>
                        <m:ctrlPr>
                          <a:rPr lang="en-US" sz="2000" b="0" i="1" kern="0" smtClean="0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2000" b="0" i="1" kern="0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kern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  <m:sup>
                        <m:r>
                          <a:rPr lang="en-US" sz="2000" b="0" i="1" kern="0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bSup>
                    <m:r>
                      <a:rPr lang="en-US" sz="2000" b="0" i="1" kern="0" smtClean="0">
                        <a:latin typeface="Cambria Math"/>
                        <a:ea typeface="Cambria Math"/>
                      </a:rPr>
                      <m:t>∙ ⋯ ∙ </m:t>
                    </m:r>
                    <m:sSubSup>
                      <m:sSubSupPr>
                        <m:ctrlPr>
                          <a:rPr lang="en-US" sz="2000" b="0" i="1" kern="0" smtClean="0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2000" b="0" i="1" kern="0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 kern="0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  <m:sup>
                        <m:r>
                          <a:rPr lang="en-US" sz="2000" b="0" i="1" kern="0" smtClea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bSup>
                  </m:oMath>
                </a14:m>
                <a:endParaRPr lang="en-US" sz="2000" i="1" kern="0" dirty="0" smtClean="0">
                  <a:latin typeface="Cambria Math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tabLst>
                    <a:tab pos="394335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ker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ker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ker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ker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kern="0" smtClean="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sz="2000" i="1" ker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ker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 kern="0" smtClean="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r>
                              <a:rPr lang="en-US" sz="2000" i="1" kern="0">
                                <a:latin typeface="Cambria Math"/>
                              </a:rPr>
                              <m:t>…</m:t>
                            </m:r>
                            <m:r>
                              <a:rPr lang="en-US" sz="2000" i="1" kern="0" smtClean="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sz="2000" i="1" ker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 ker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kern="0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 ker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ker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2000" i="1" ker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000" i="1" ker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 ker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000" i="1" kern="0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en-US" sz="2000" b="0" i="1" kern="0" smtClean="0">
                        <a:latin typeface="Cambria Math"/>
                        <a:ea typeface="Cambria Math"/>
                      </a:rPr>
                      <m:t>+</m:t>
                    </m:r>
                    <m:sSubSup>
                      <m:sSubSupPr>
                        <m:ctrlPr>
                          <a:rPr lang="en-US" sz="2000" i="1" kern="0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2000" i="1" ker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 ker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  <m:sup>
                        <m:r>
                          <a:rPr lang="en-US" sz="2000" i="1" ker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bSup>
                    <m:r>
                      <a:rPr lang="en-US" sz="2000" b="0" i="1" kern="0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i="1" kern="0">
                        <a:latin typeface="Cambria Math"/>
                        <a:ea typeface="Cambria Math"/>
                      </a:rPr>
                      <m:t> ⋯</m:t>
                    </m:r>
                    <m:r>
                      <a:rPr lang="en-US" sz="2000" b="0" i="1" kern="0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i="1" kern="0">
                        <a:latin typeface="Cambria Math"/>
                        <a:ea typeface="Cambria Math"/>
                      </a:rPr>
                      <m:t> </m:t>
                    </m:r>
                    <m:sSubSup>
                      <m:sSubSupPr>
                        <m:ctrlPr>
                          <a:rPr lang="en-US" sz="2000" i="1" kern="0">
                            <a:latin typeface="Cambria Math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2000" i="1" ker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 ker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  <m:sup>
                        <m:r>
                          <a:rPr lang="en-US" sz="2000" i="1" kern="0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bSup>
                  </m:oMath>
                </a14:m>
                <a:endParaRPr lang="en-US" sz="2000" i="1" kern="0" dirty="0">
                  <a:latin typeface="Cambria Math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tabLst>
                    <a:tab pos="3943350" algn="l"/>
                  </a:tabLst>
                </a:pPr>
                <a:endParaRPr lang="en-US" sz="2000" i="1" kern="0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117" y="4753963"/>
                <a:ext cx="5760700" cy="1785817"/>
              </a:xfrm>
              <a:prstGeom prst="rect">
                <a:avLst/>
              </a:prstGeom>
              <a:blipFill rotWithShape="1">
                <a:blip r:embed="rId3"/>
                <a:stretch>
                  <a:fillRect l="-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86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Complementing Boolean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6690" y="951900"/>
                <a:ext cx="8410622" cy="547266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400" dirty="0" smtClean="0"/>
                  <a:t>What is the complement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𝑦𝑧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𝑥𝑦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 ?</a:t>
                </a:r>
              </a:p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400" dirty="0" smtClean="0"/>
                  <a:t>Use </a:t>
                </a:r>
                <a:r>
                  <a:rPr lang="en-US" sz="2400" dirty="0" err="1" smtClean="0"/>
                  <a:t>DeMorgan's</a:t>
                </a:r>
                <a:r>
                  <a:rPr lang="en-US" sz="2400" dirty="0" smtClean="0"/>
                  <a:t> Theorem:</a:t>
                </a:r>
              </a:p>
              <a:p>
                <a:pPr lvl="1"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Complement each variable and constant</a:t>
                </a:r>
              </a:p>
              <a:p>
                <a:pPr lvl="1"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Interchange AND </a:t>
                </a:r>
                <a:r>
                  <a:rPr lang="en-US" sz="2000" dirty="0" err="1" smtClean="0"/>
                  <a:t>and</a:t>
                </a:r>
                <a:r>
                  <a:rPr lang="en-US" sz="2000" dirty="0" smtClean="0"/>
                  <a:t> OR operators</a:t>
                </a:r>
              </a:p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400" dirty="0" smtClean="0"/>
                  <a:t>So, what is the complement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i="1" dirty="0" err="1">
                        <a:latin typeface="Cambria Math"/>
                      </a:rPr>
                      <m:t>𝑦</m:t>
                    </m:r>
                    <m:sSup>
                      <m:sSupPr>
                        <m:ctrlPr>
                          <a:rPr lang="en-US" sz="2400" i="1" dirty="0" err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 err="1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400" i="1" dirty="0" err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i="1" dirty="0" err="1">
                        <a:latin typeface="Cambria Math"/>
                      </a:rPr>
                      <m:t>𝑥</m:t>
                    </m:r>
                    <m:sSup>
                      <m:sSupPr>
                        <m:ctrlPr>
                          <a:rPr lang="en-US" sz="2400" i="1" dirty="0" err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 err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2400" i="1" dirty="0" err="1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400" i="1" dirty="0" err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 err="1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400" i="1" dirty="0" err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 smtClean="0"/>
                  <a:t> ?</a:t>
                </a:r>
                <a:endParaRPr lang="en-US" sz="2400" dirty="0"/>
              </a:p>
              <a:p>
                <a:pPr marL="0" indent="0">
                  <a:lnSpc>
                    <a:spcPct val="140000"/>
                  </a:lnSpc>
                  <a:spcBef>
                    <a:spcPts val="1500"/>
                  </a:spcBef>
                  <a:buNone/>
                  <a:tabLst>
                    <a:tab pos="357188" algn="l"/>
                  </a:tabLst>
                </a:pPr>
                <a:r>
                  <a:rPr lang="en-US" sz="2400" dirty="0" smtClean="0"/>
                  <a:t>	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Answer: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 err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+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  <m:r>
                      <a:rPr lang="en-US" sz="2400" b="0" i="1" dirty="0" smtClean="0">
                        <a:latin typeface="Cambria Math"/>
                      </a:rPr>
                      <m:t>)(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+</m:t>
                    </m:r>
                    <m:r>
                      <a:rPr lang="en-US" sz="2400" i="1" dirty="0" err="1">
                        <a:latin typeface="Cambria Math"/>
                      </a:rPr>
                      <m:t>𝑦</m:t>
                    </m:r>
                    <m:r>
                      <a:rPr lang="en-US" sz="2400" b="0" i="1" dirty="0" smtClean="0">
                        <a:latin typeface="Cambria Math"/>
                      </a:rPr>
                      <m:t>+</m:t>
                    </m:r>
                    <m:r>
                      <a:rPr lang="en-US" sz="2400" i="1" dirty="0" err="1">
                        <a:latin typeface="Cambria Math"/>
                      </a:rPr>
                      <m:t>𝑧</m:t>
                    </m:r>
                  </m:oMath>
                </a14:m>
                <a:r>
                  <a:rPr lang="en-US" sz="2400" dirty="0" smtClean="0"/>
                  <a:t>)</a:t>
                </a:r>
                <a:endParaRPr lang="en-US" sz="2400" dirty="0"/>
              </a:p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Example 2:</a:t>
                </a:r>
                <a:r>
                  <a:rPr lang="en-US" sz="2400" dirty="0" smtClean="0"/>
                  <a:t> Complement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𝑔</m:t>
                    </m:r>
                    <m:r>
                      <a:rPr lang="en-US" sz="2400" i="1" dirty="0" smtClean="0">
                        <a:latin typeface="Cambria Math"/>
                      </a:rPr>
                      <m:t>=(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𝑏𝑐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err="1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𝑒</m:t>
                    </m:r>
                  </m:oMath>
                </a14:m>
                <a:endParaRPr lang="en-US" sz="2400" dirty="0" smtClean="0"/>
              </a:p>
              <a:p>
                <a:pPr>
                  <a:lnSpc>
                    <a:spcPct val="140000"/>
                  </a:lnSpc>
                  <a:spcBef>
                    <a:spcPts val="1500"/>
                  </a:spcBef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Answer: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𝑔</m:t>
                    </m:r>
                    <m:r>
                      <a:rPr lang="en-US" sz="2400" i="1" dirty="0" smtClean="0">
                        <a:latin typeface="Cambria Math"/>
                      </a:rPr>
                      <m:t>′=(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𝑏</m:t>
                    </m:r>
                    <m:r>
                      <a:rPr lang="en-US" sz="2400" i="1" dirty="0" err="1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  <m:r>
                      <a:rPr lang="en-US" sz="2400" i="1" dirty="0" smtClean="0">
                        <a:latin typeface="Cambria Math"/>
                      </a:rPr>
                      <m:t>′)+</m:t>
                    </m:r>
                    <m:r>
                      <a:rPr lang="en-US" sz="2400" i="1" dirty="0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  <m:r>
                      <a:rPr lang="en-US" sz="2400" i="1" dirty="0" smtClean="0">
                        <a:latin typeface="Cambria Math"/>
                      </a:rPr>
                      <m:t>𝑒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690" y="951900"/>
                <a:ext cx="8410622" cy="5472665"/>
              </a:xfrm>
              <a:blipFill rotWithShape="1">
                <a:blip r:embed="rId2"/>
                <a:stretch>
                  <a:fillRect l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89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Algebraic Manipulation of Expressions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6690" y="894293"/>
                <a:ext cx="8468229" cy="55878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sz="2400" dirty="0" smtClean="0"/>
                  <a:t>The objective is to acquire skills in manipulating Boolean expressions, to transform them into simpler form.</a:t>
                </a:r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  <a:tabLst>
                    <a:tab pos="985838" algn="l"/>
                    <a:tab pos="5024438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Example 1:</a:t>
                </a:r>
                <a:r>
                  <a:rPr lang="en-US" sz="2400" dirty="0" smtClean="0"/>
                  <a:t> prove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𝑥𝑦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 smtClean="0"/>
                  <a:t>	(absorption theorem)</a:t>
                </a:r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  <a:tabLst>
                    <a:tab pos="985838" algn="l"/>
                    <a:tab pos="5024438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Proof: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𝑥𝑦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·1+</m:t>
                    </m:r>
                    <m:r>
                      <a:rPr lang="en-US" sz="2400" i="1" dirty="0" smtClean="0">
                        <a:latin typeface="Cambria Math"/>
                      </a:rPr>
                      <m:t>𝑥𝑦</m:t>
                    </m:r>
                  </m:oMath>
                </a14:m>
                <a:r>
                  <a:rPr lang="en-US" sz="2400" i="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·</m:t>
                    </m:r>
                    <m:r>
                      <a:rPr lang="en-US" sz="2400" i="1" dirty="0" smtClean="0">
                        <a:latin typeface="Cambria Math"/>
                      </a:rPr>
                      <m:t>1=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2400" i="0" dirty="0" smtClean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buNone/>
                  <a:tabLst>
                    <a:tab pos="985838" algn="l"/>
                    <a:tab pos="5024438" algn="l"/>
                  </a:tabLst>
                </a:pPr>
                <a:r>
                  <a:rPr lang="en-US" sz="2400" i="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·(1+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0" dirty="0" smtClean="0"/>
                  <a:t>	Distributive </a:t>
                </a:r>
                <a:r>
                  <a:rPr lang="en-US" sz="2400" i="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400" i="0" dirty="0" smtClean="0"/>
                  <a:t> over </a:t>
                </a:r>
                <a:r>
                  <a:rPr lang="en-US" sz="2400" i="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buNone/>
                  <a:tabLst>
                    <a:tab pos="985838" algn="l"/>
                    <a:tab pos="5024438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·1=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i="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(1+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)=1</m:t>
                    </m:r>
                  </m:oMath>
                </a14:m>
                <a:endParaRPr lang="en-US" sz="2400" dirty="0" smtClean="0"/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  <a:tabLst>
                    <a:tab pos="985838" algn="l"/>
                    <a:tab pos="5024438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Example 2:</a:t>
                </a:r>
                <a:r>
                  <a:rPr lang="en-US" sz="2400" dirty="0" smtClean="0"/>
                  <a:t> prove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 smtClean="0"/>
                  <a:t>  (simplification theorem)</a:t>
                </a:r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  <a:tabLst>
                    <a:tab pos="985838" algn="l"/>
                    <a:tab pos="5024438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Proof: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=(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′)(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0" dirty="0" smtClean="0"/>
                  <a:t>	Distributive </a:t>
                </a:r>
                <a:r>
                  <a:rPr lang="en-US" sz="2400" i="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en-US" sz="2400" i="0" dirty="0" smtClean="0"/>
                  <a:t> over 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endParaRPr lang="en-US" sz="2400" i="0" dirty="0" smtClean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buNone/>
                  <a:tabLst>
                    <a:tab pos="985838" algn="l"/>
                    <a:tab pos="5024438" algn="l"/>
                  </a:tabLst>
                </a:pPr>
                <a:r>
                  <a:rPr lang="en-US" sz="2400" i="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=1·(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′)=1</m:t>
                    </m:r>
                  </m:oMath>
                </a14:m>
                <a:endParaRPr lang="en-US" sz="2400" i="0" dirty="0" smtClean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buNone/>
                  <a:tabLst>
                    <a:tab pos="985838" algn="l"/>
                    <a:tab pos="5024438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𝑥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690" y="894293"/>
                <a:ext cx="8468229" cy="5587879"/>
              </a:xfrm>
              <a:blipFill rotWithShape="1">
                <a:blip r:embed="rId2"/>
                <a:stretch>
                  <a:fillRect l="-936" b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561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Consensus 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9082" y="951899"/>
                <a:ext cx="8641050" cy="5530272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500"/>
                  </a:spcBef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Prove that: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𝑦𝑧</m:t>
                    </m:r>
                    <m:r>
                      <a:rPr lang="en-US" sz="2000" i="1" dirty="0" smtClean="0">
                        <a:latin typeface="Cambria Math"/>
                      </a:rPr>
                      <m:t> 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 smtClean="0"/>
                  <a:t>(consensus theorem)</a:t>
                </a:r>
              </a:p>
              <a:p>
                <a:pPr>
                  <a:spcBef>
                    <a:spcPts val="1500"/>
                  </a:spcBef>
                  <a:tabLst>
                    <a:tab pos="5383213" algn="l"/>
                  </a:tabLst>
                </a:pPr>
                <a:r>
                  <a:rPr lang="en-US" sz="2000" b="1" dirty="0" smtClean="0">
                    <a:solidFill>
                      <a:srgbClr val="FF0000"/>
                    </a:solidFill>
                  </a:rPr>
                  <a:t>Proof: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𝑦𝑧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i="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+1·</m:t>
                    </m:r>
                    <m:r>
                      <a:rPr lang="en-US" sz="2000" i="1" dirty="0" smtClean="0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𝑦𝑧</m:t>
                    </m:r>
                    <m:r>
                      <a:rPr lang="en-US" sz="2000" b="0" i="1" dirty="0" smtClean="0">
                        <a:latin typeface="Cambria Math"/>
                      </a:rPr>
                      <m:t>=1·</m:t>
                    </m:r>
                    <m:r>
                      <a:rPr lang="en-US" sz="2000" i="1" dirty="0" smtClean="0">
                        <a:latin typeface="Cambria Math"/>
                      </a:rPr>
                      <m:t>𝑦𝑧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+(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′)</m:t>
                    </m:r>
                    <m:r>
                      <a:rPr lang="en-US" sz="2000" i="1" dirty="0" err="1" smtClean="0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1=(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′)</m:t>
                    </m:r>
                  </m:oMath>
                </a14:m>
                <a:endParaRPr lang="en-US" sz="2000" dirty="0" smtClean="0"/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</a:rPr>
                      <m:t>𝑧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𝑥𝑦𝑧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</a:rPr>
                      <m:t>𝑦𝑧</m:t>
                    </m:r>
                  </m:oMath>
                </a14:m>
                <a:r>
                  <a:rPr lang="en-US" sz="2000" dirty="0" smtClean="0"/>
                  <a:t>	Distributive 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000" dirty="0" smtClean="0"/>
                  <a:t> over 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 smtClean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𝑥𝑦𝑧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𝑦𝑧</m:t>
                    </m:r>
                  </m:oMath>
                </a14:m>
                <a:r>
                  <a:rPr lang="en-US" sz="2000" dirty="0" smtClean="0">
                    <a:cs typeface="Consolas" panose="020B0609020204030204" pitchFamily="49" charset="0"/>
                  </a:rPr>
                  <a:t>	Associative commutative +</a:t>
                </a: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·1+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𝑥𝑦𝑧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·1+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𝑧𝑦</m:t>
                    </m:r>
                  </m:oMath>
                </a14:m>
                <a:r>
                  <a:rPr lang="en-US" sz="2000" dirty="0" smtClean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b="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·1</m:t>
                    </m:r>
                    <m:r>
                      <a:rPr lang="en-US" sz="2000" b="0" i="1" dirty="0" smtClean="0">
                        <a:latin typeface="Cambria Math"/>
                        <a:cs typeface="Consolas" panose="020B0609020204030204" pitchFamily="49" charset="0"/>
                      </a:rPr>
                      <m:t>,   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/>
                            <a:cs typeface="Consolas" panose="020B0609020204030204" pitchFamily="49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  <a:cs typeface="Consolas" panose="020B0609020204030204" pitchFamily="49" charset="0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  <a:cs typeface="Consolas" panose="020B0609020204030204" pitchFamily="49" charset="0"/>
                      </a:rPr>
                      <m:t>𝑦𝑧</m:t>
                    </m:r>
                    <m:r>
                      <a:rPr lang="en-US" sz="2000" b="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/>
                            <a:cs typeface="Consolas" panose="020B0609020204030204" pitchFamily="49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/>
                            <a:cs typeface="Consolas" panose="020B0609020204030204" pitchFamily="49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  <a:cs typeface="Consolas" panose="020B0609020204030204" pitchFamily="49" charset="0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  <a:cs typeface="Consolas" panose="020B0609020204030204" pitchFamily="49" charset="0"/>
                      </a:rPr>
                      <m:t>𝑧𝑦</m:t>
                    </m:r>
                  </m:oMath>
                </a14:m>
                <a:endParaRPr lang="en-US" sz="2000" dirty="0" smtClean="0">
                  <a:cs typeface="Consolas" panose="020B0609020204030204" pitchFamily="49" charset="0"/>
                </a:endParaRP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(1+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)+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(1+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cs typeface="Consolas" panose="020B0609020204030204" pitchFamily="49" charset="0"/>
                  </a:rPr>
                  <a:t>	</a:t>
                </a:r>
                <a:r>
                  <a:rPr lang="en-US" sz="2000" dirty="0"/>
                  <a:t>Distributive </a:t>
                </a: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000" dirty="0"/>
                  <a:t> over 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·1+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>
                        <a:latin typeface="Cambria Math"/>
                        <a:cs typeface="Consolas" panose="020B0609020204030204" pitchFamily="49" charset="0"/>
                      </a:rPr>
                      <m:t>·1</m:t>
                    </m:r>
                  </m:oMath>
                </a14:m>
                <a:r>
                  <a:rPr lang="en-US" sz="2000" dirty="0" smtClean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=1,   1+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=1</m:t>
                    </m:r>
                  </m:oMath>
                </a14:m>
                <a:endParaRPr lang="en-US" sz="2000" dirty="0" smtClean="0">
                  <a:cs typeface="Consolas" panose="020B0609020204030204" pitchFamily="49" charset="0"/>
                </a:endParaRPr>
              </a:p>
              <a:p>
                <a:pPr marL="0" indent="0">
                  <a:spcBef>
                    <a:spcPts val="1500"/>
                  </a:spcBef>
                  <a:buNone/>
                  <a:tabLst>
                    <a:tab pos="541338" algn="l"/>
                    <a:tab pos="5024438" algn="l"/>
                    <a:tab pos="5383213" algn="l"/>
                  </a:tabLst>
                </a:pPr>
                <a:r>
                  <a:rPr lang="en-US" sz="2000" dirty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</m:oMath>
                </a14:m>
                <a:r>
                  <a:rPr lang="en-US" sz="2000" dirty="0" smtClean="0">
                    <a:cs typeface="Consolas" panose="020B06090202040302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·1=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,   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  <a:cs typeface="Consolas" panose="020B0609020204030204" pitchFamily="49" charset="0"/>
                      </a:rPr>
                      <m:t>·1=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  <a:cs typeface="Consolas" panose="020B0609020204030204" pitchFamily="49" charset="0"/>
                      </a:rPr>
                      <m:t>𝑧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082" y="951899"/>
                <a:ext cx="8641050" cy="5530272"/>
              </a:xfrm>
              <a:blipFill rotWithShape="1">
                <a:blip r:embed="rId2"/>
                <a:stretch>
                  <a:fillRect l="-635" t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2019567" y="3601822"/>
            <a:ext cx="806498" cy="172821"/>
            <a:chOff x="2786183" y="3429000"/>
            <a:chExt cx="633677" cy="172821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136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Summary of Boolean Algebra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3352758"/>
                  </p:ext>
                </p:extLst>
              </p:nvPr>
            </p:nvGraphicFramePr>
            <p:xfrm>
              <a:off x="490104" y="894293"/>
              <a:ext cx="8229600" cy="5587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1459"/>
                    <a:gridCol w="3110778"/>
                    <a:gridCol w="2987363"/>
                  </a:tblGrid>
                  <a:tr h="530496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</a:rPr>
                            <a:t>Dual Property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Identity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+0=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·1=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Complement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Null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+1=1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·0=0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Idempotence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Involution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′)′=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Commutative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 = 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i="1" baseline="0" dirty="0" smtClean="0">
                                    <a:latin typeface="Cambria Math"/>
                                  </a:rPr>
                                  <m:t> = 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Associative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 dirty="0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)+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i="1" dirty="0" smtClean="0">
                                  <a:latin typeface="Cambria Math"/>
                                </a:rPr>
                                <m:t> =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 dirty="0" err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2000" i="1" dirty="0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i="1" baseline="0" dirty="0" smtClean="0">
                                    <a:latin typeface="Cambria Math"/>
                                  </a:rPr>
                                  <m:t> =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 (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Distributive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 (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) 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𝑥𝑦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𝑥𝑧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i="1" baseline="0" dirty="0" smtClean="0">
                                    <a:latin typeface="Cambria Math"/>
                                  </a:rPr>
                                  <m:t> =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)(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Absorption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 = 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)</m:t>
                                </m:r>
                                <m:r>
                                  <a:rPr lang="en-US" sz="2000" i="1" baseline="0" dirty="0" smtClean="0">
                                    <a:latin typeface="Cambria Math"/>
                                  </a:rPr>
                                  <m:t> = 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Simplification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 = 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′+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)</m:t>
                                </m:r>
                                <m:r>
                                  <a:rPr lang="en-US" sz="2000" i="1" baseline="0" dirty="0" smtClean="0">
                                    <a:latin typeface="Cambria Math"/>
                                  </a:rPr>
                                  <m:t> = 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De Morgan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1" dirty="0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)′</m:t>
                              </m:r>
                              <m:r>
                                <a:rPr lang="en-US" sz="2000" i="1" dirty="0" smtClean="0">
                                  <a:latin typeface="Cambria Math"/>
                                </a:rPr>
                                <m:t> = </m:t>
                              </m:r>
                              <m:r>
                                <a:rPr lang="en-US" sz="2000" i="1" dirty="0" err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′ 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′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7196202"/>
                  </p:ext>
                </p:extLst>
              </p:nvPr>
            </p:nvGraphicFramePr>
            <p:xfrm>
              <a:off x="530946" y="894293"/>
              <a:ext cx="8915401" cy="5587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9081"/>
                    <a:gridCol w="3370010"/>
                    <a:gridCol w="3236310"/>
                  </a:tblGrid>
                  <a:tr h="530496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marL="99060" marR="9906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</a:rPr>
                            <a:t>Dual Property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9060" marR="99060"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Identity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122667" r="-96022" b="-10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122667" b="-1017333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Complement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219737" r="-96022" b="-90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219737" b="-903947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Null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324000" r="-96022" b="-8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324000" b="-816000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Idempotence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424000" r="-96022" b="-7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424000" b="-716000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Involution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517105" r="-96022" b="-6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 marL="99060" marR="99060"/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Commutative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625333" r="-96022" b="-5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625333" b="-514667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Associative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715789" r="-96022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715789" b="-407895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Distributive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826667" r="-96022" b="-3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826667" b="-313333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Absorption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926667" r="-96022" b="-2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926667" b="-213333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Simplification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1013158" r="-96022" b="-1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1013158" b="-110526"/>
                          </a:stretch>
                        </a:blipFill>
                      </a:tcPr>
                    </a:tc>
                  </a:tr>
                  <a:tr h="459762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De Morgan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68535" t="-1128000" r="-96022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2"/>
                          <a:stretch>
                            <a:fillRect l="-175518" t="-1128000" b="-12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210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Duality Principle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6689" y="894295"/>
                <a:ext cx="8583443" cy="36868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The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dual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smtClean="0"/>
                  <a:t>of a Boolean expression can be obtained by:</a:t>
                </a:r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000" dirty="0" smtClean="0"/>
                  <a:t>Interchanging AND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·</a:t>
                </a:r>
                <a:r>
                  <a:rPr lang="en-US" sz="2000" dirty="0" smtClean="0"/>
                  <a:t>) and OR (</a:t>
                </a:r>
                <a:r>
                  <a:rPr lang="en-US" sz="20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+</a:t>
                </a:r>
                <a:r>
                  <a:rPr lang="en-US" sz="2000" dirty="0" smtClean="0"/>
                  <a:t>) operators</a:t>
                </a:r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000" dirty="0"/>
                  <a:t>Interchanging </a:t>
                </a:r>
                <a:r>
                  <a:rPr lang="en-US" sz="2000" dirty="0" smtClean="0"/>
                  <a:t>0's and 1's</a:t>
                </a:r>
              </a:p>
              <a:p>
                <a:pPr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Example: the dual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𝑦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𝑧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𝑦𝑧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 smtClean="0"/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000" dirty="0" smtClean="0"/>
                  <a:t>The complement operator does not change</a:t>
                </a:r>
              </a:p>
              <a:p>
                <a:pPr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The properties of Boolean algebra appear in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dual pairs</a:t>
                </a:r>
              </a:p>
              <a:p>
                <a:pPr lvl="1">
                  <a:lnSpc>
                    <a:spcPct val="114000"/>
                  </a:lnSpc>
                  <a:spcBef>
                    <a:spcPts val="1200"/>
                  </a:spcBef>
                </a:pPr>
                <a:r>
                  <a:rPr lang="en-US" sz="2000" dirty="0" smtClean="0"/>
                  <a:t>If a property is proven to be true then its dual is also true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689" y="894295"/>
                <a:ext cx="8583443" cy="3686847"/>
              </a:xfrm>
              <a:blipFill rotWithShape="1">
                <a:blip r:embed="rId2"/>
                <a:stretch>
                  <a:fillRect l="-923" t="-662" b="-1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8797727"/>
                  </p:ext>
                </p:extLst>
              </p:nvPr>
            </p:nvGraphicFramePr>
            <p:xfrm>
              <a:off x="457200" y="4701832"/>
              <a:ext cx="8229600" cy="17227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1459"/>
                    <a:gridCol w="3110778"/>
                    <a:gridCol w="2987363"/>
                  </a:tblGrid>
                  <a:tr h="390124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</a:rPr>
                            <a:t>Dual Property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42184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Identity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+0=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·1=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2184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Complement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′=1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′=0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42184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Distributive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 (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) =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𝑥𝑦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latin typeface="Cambria Math"/>
                                  </a:rPr>
                                  <m:t>𝑥𝑧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i="1" baseline="0" dirty="0" smtClean="0">
                                    <a:latin typeface="Cambria Math"/>
                                  </a:rPr>
                                  <m:t> =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)(</m:t>
                                </m:r>
                                <m:r>
                                  <a:rPr lang="en-US" sz="2000" i="1" baseline="0" dirty="0" err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000" b="0" i="1" baseline="0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1092620"/>
                  </p:ext>
                </p:extLst>
              </p:nvPr>
            </p:nvGraphicFramePr>
            <p:xfrm>
              <a:off x="495300" y="4701832"/>
              <a:ext cx="8915401" cy="17227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09081"/>
                    <a:gridCol w="3370010"/>
                    <a:gridCol w="3236310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marL="99060" marR="9906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</a:rPr>
                            <a:t>Property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</a:rPr>
                            <a:t>Dual Property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99060" marR="99060"/>
                    </a:tc>
                  </a:tr>
                  <a:tr h="42184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Identity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3"/>
                          <a:stretch>
                            <a:fillRect l="-68535" t="-114493" r="-96022" b="-2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3"/>
                          <a:stretch>
                            <a:fillRect l="-175518" t="-114493" b="-223188"/>
                          </a:stretch>
                        </a:blipFill>
                      </a:tcPr>
                    </a:tc>
                  </a:tr>
                  <a:tr h="42184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Complement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3"/>
                          <a:stretch>
                            <a:fillRect l="-68535" t="-211429" r="-96022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3"/>
                          <a:stretch>
                            <a:fillRect l="-175518" t="-211429" b="-120000"/>
                          </a:stretch>
                        </a:blipFill>
                      </a:tcPr>
                    </a:tc>
                  </a:tr>
                  <a:tr h="42184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/>
                            <a:t>Distributive</a:t>
                          </a:r>
                          <a:endParaRPr lang="en-US" sz="2000" dirty="0"/>
                        </a:p>
                      </a:txBody>
                      <a:tcPr marL="99060" marR="9906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3"/>
                          <a:stretch>
                            <a:fillRect l="-68535" t="-315942" r="-96022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060" marR="99060">
                        <a:blipFill rotWithShape="1">
                          <a:blip r:embed="rId3"/>
                          <a:stretch>
                            <a:fillRect l="-175518" t="-315942" b="-217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845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Expression Simplification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9081" y="894293"/>
                <a:ext cx="8583443" cy="558787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/>
                  <a:t>Using Boolean algebra to simplify expressions</a:t>
                </a:r>
              </a:p>
              <a:p>
                <a:r>
                  <a:rPr lang="en-US" sz="2400" dirty="0" smtClean="0"/>
                  <a:t>Expression should contain the smallest number of 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literals</a:t>
                </a:r>
              </a:p>
              <a:p>
                <a:r>
                  <a:rPr lang="en-US" sz="2400" dirty="0" smtClean="0"/>
                  <a:t>A 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literal</a:t>
                </a:r>
                <a:r>
                  <a:rPr lang="en-US" sz="2400" dirty="0" smtClean="0"/>
                  <a:t> is a variable that may or may not be complemented</a:t>
                </a:r>
              </a:p>
              <a:p>
                <a:r>
                  <a:rPr lang="en-US" sz="2400" b="1" dirty="0" smtClean="0">
                    <a:solidFill>
                      <a:srgbClr val="FF0000"/>
                    </a:solidFill>
                  </a:rPr>
                  <a:t>Example:</a:t>
                </a:r>
                <a:r>
                  <a:rPr lang="en-US" sz="2400" dirty="0" smtClean="0"/>
                  <a:t> simplify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𝑎𝑏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𝑏𝑑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𝑎𝑏𝑐𝑑</m:t>
                    </m:r>
                  </m:oMath>
                </a14:m>
                <a:endParaRPr lang="en-US" sz="2400" dirty="0"/>
              </a:p>
              <a:p>
                <a:pPr>
                  <a:tabLst>
                    <a:tab pos="357188" algn="l"/>
                    <a:tab pos="6369050" algn="l"/>
                  </a:tabLst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Solution: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𝑎𝑏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𝑏𝑑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𝑎𝑏𝑐𝑑</m:t>
                    </m:r>
                  </m:oMath>
                </a14:m>
                <a:r>
                  <a:rPr lang="en-US" sz="2400" dirty="0" smtClean="0"/>
                  <a:t>	(15 literals)</a:t>
                </a:r>
              </a:p>
              <a:p>
                <a:pPr marL="0" indent="0">
                  <a:buNone/>
                  <a:tabLst>
                    <a:tab pos="357188" algn="l"/>
                    <a:tab pos="6369050" algn="l"/>
                  </a:tabLst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𝑎𝑏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𝑎𝑏𝑐𝑑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+</m:t>
                    </m:r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′+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(15 literals)</a:t>
                </a:r>
              </a:p>
              <a:p>
                <a:pPr marL="0" indent="0">
                  <a:buNone/>
                  <a:tabLst>
                    <a:tab pos="357188" algn="l"/>
                    <a:tab pos="6369050" algn="l"/>
                  </a:tabLst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𝑎𝑏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𝑎𝑏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𝑐𝑑</m:t>
                    </m:r>
                    <m:r>
                      <a:rPr lang="en-US" sz="2400" i="1" dirty="0" smtClean="0">
                        <a:latin typeface="Cambria Math"/>
                      </a:rPr>
                      <m:t>)+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′)+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400" dirty="0" smtClean="0"/>
                  <a:t>	(13 literals)</a:t>
                </a:r>
              </a:p>
              <a:p>
                <a:pPr marL="0" indent="0">
                  <a:buNone/>
                  <a:tabLst>
                    <a:tab pos="357188" algn="l"/>
                    <a:tab pos="6369050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𝑎𝑏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𝑏𝑑</m:t>
                    </m:r>
                  </m:oMath>
                </a14:m>
                <a:r>
                  <a:rPr lang="en-US" sz="2400" dirty="0" smtClean="0"/>
                  <a:t>	(7 literals)</a:t>
                </a:r>
              </a:p>
              <a:p>
                <a:pPr marL="0" indent="0">
                  <a:buNone/>
                  <a:tabLst>
                    <a:tab pos="357188" algn="l"/>
                    <a:tab pos="6369050" algn="l"/>
                  </a:tabLst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𝑏𝑎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𝑏𝑎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sz="2400" dirty="0" smtClean="0"/>
                  <a:t>	(7 literals)</a:t>
                </a:r>
              </a:p>
              <a:p>
                <a:pPr marL="0" indent="0">
                  <a:buNone/>
                  <a:tabLst>
                    <a:tab pos="357188" algn="l"/>
                    <a:tab pos="6369050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𝑏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)+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sz="2400" dirty="0" smtClean="0"/>
                  <a:t>	(6 literals)</a:t>
                </a:r>
              </a:p>
              <a:p>
                <a:pPr marL="0" indent="0">
                  <a:buNone/>
                  <a:tabLst>
                    <a:tab pos="357188" algn="l"/>
                    <a:tab pos="6369050" algn="l"/>
                  </a:tabLst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𝑏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+</m:t>
                    </m:r>
                    <m:r>
                      <a:rPr lang="en-US" sz="2400" i="1" dirty="0" err="1" smtClean="0">
                        <a:latin typeface="Cambria Math"/>
                      </a:rPr>
                      <m:t>𝑑</m:t>
                    </m:r>
                    <m:r>
                      <a:rPr lang="en-US" sz="2400" i="1" dirty="0" smtClean="0">
                        <a:latin typeface="Cambria Math"/>
                      </a:rPr>
                      <m:t>)+</m:t>
                    </m:r>
                    <m:r>
                      <a:rPr lang="en-US" sz="2400" i="1" dirty="0" err="1" smtClean="0">
                        <a:latin typeface="Cambria Math"/>
                      </a:rPr>
                      <m:t>𝑎</m:t>
                    </m:r>
                    <m:r>
                      <a:rPr lang="en-US" sz="2400" i="1" dirty="0" err="1" smtClean="0">
                        <a:latin typeface="Cambria Math"/>
                      </a:rPr>
                      <m:t>′</m:t>
                    </m:r>
                    <m:r>
                      <a:rPr lang="en-US" sz="2400" i="1" dirty="0" err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sz="2400" dirty="0" smtClean="0"/>
                  <a:t>	(5 literals only)	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081" y="894293"/>
                <a:ext cx="8583443" cy="5587879"/>
              </a:xfrm>
              <a:blipFill rotWithShape="1">
                <a:blip r:embed="rId2"/>
                <a:stretch>
                  <a:fillRect l="-994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860040" y="4930413"/>
            <a:ext cx="806498" cy="95052"/>
            <a:chOff x="2786183" y="3429000"/>
            <a:chExt cx="633677" cy="172821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2786183" y="3429000"/>
              <a:ext cx="633677" cy="1728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862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Importance of 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902" y="1009508"/>
            <a:ext cx="8237801" cy="5242237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sz="2400" dirty="0" smtClean="0"/>
              <a:t>Our objective is to learn how to design digital circuits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sz="2400" dirty="0" smtClean="0"/>
              <a:t>These circuits use signals with two possible values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sz="2400" dirty="0" smtClean="0"/>
              <a:t>Logic </a:t>
            </a:r>
            <a:r>
              <a:rPr lang="en-US" sz="2400" b="1" dirty="0" smtClean="0">
                <a:solidFill>
                  <a:srgbClr val="FF0000"/>
                </a:solidFill>
              </a:rPr>
              <a:t>0</a:t>
            </a:r>
            <a:r>
              <a:rPr lang="en-US" sz="2400" dirty="0" smtClean="0"/>
              <a:t> is a </a:t>
            </a:r>
            <a:r>
              <a:rPr lang="en-US" sz="2400" b="1" dirty="0" smtClean="0">
                <a:solidFill>
                  <a:srgbClr val="FF0000"/>
                </a:solidFill>
              </a:rPr>
              <a:t>low</a:t>
            </a:r>
            <a:r>
              <a:rPr lang="en-US" sz="2400" dirty="0" smtClean="0"/>
              <a:t> voltage signal (around 0 volts)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sz="2400" dirty="0" smtClean="0"/>
              <a:t>Logic </a:t>
            </a:r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r>
              <a:rPr lang="en-US" sz="2400" dirty="0" smtClean="0"/>
              <a:t> is a </a:t>
            </a:r>
            <a:r>
              <a:rPr lang="en-US" sz="2400" b="1" dirty="0" smtClean="0">
                <a:solidFill>
                  <a:srgbClr val="FF0000"/>
                </a:solidFill>
              </a:rPr>
              <a:t>high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voltage signal (e.g. 5 or 3.3 volts)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sz="2400" dirty="0" smtClean="0"/>
              <a:t>The physical value of a signal is the actual voltage it carries, while its logic value is either 0 (low) or 1 (high)  </a:t>
            </a:r>
          </a:p>
          <a:p>
            <a:pPr>
              <a:lnSpc>
                <a:spcPct val="130000"/>
              </a:lnSpc>
              <a:spcBef>
                <a:spcPts val="2000"/>
              </a:spcBef>
            </a:pPr>
            <a:r>
              <a:rPr lang="en-US" sz="2400" dirty="0" smtClean="0"/>
              <a:t>Having only two logic values (0 and 1) simplifies the implementation of the digital circuit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221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. . .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49702" y="1182327"/>
            <a:ext cx="7550948" cy="5242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3000"/>
              </a:spcBef>
            </a:pPr>
            <a:r>
              <a:rPr lang="en-US" altLang="en-US" kern="0" dirty="0" smtClean="0"/>
              <a:t>Boolean Algebra</a:t>
            </a:r>
          </a:p>
          <a:p>
            <a:pPr>
              <a:spcBef>
                <a:spcPts val="3000"/>
              </a:spcBef>
            </a:pPr>
            <a:r>
              <a:rPr lang="en-US" altLang="en-US" kern="0" dirty="0" smtClean="0"/>
              <a:t>Boolean Functions and Truth Tables</a:t>
            </a:r>
          </a:p>
          <a:p>
            <a:pPr>
              <a:spcBef>
                <a:spcPts val="3000"/>
              </a:spcBef>
            </a:pPr>
            <a:r>
              <a:rPr lang="en-US" altLang="en-US" kern="0" dirty="0" err="1" smtClean="0"/>
              <a:t>DeMorgan's</a:t>
            </a:r>
            <a:r>
              <a:rPr lang="en-US" altLang="en-US" kern="0" dirty="0" smtClean="0"/>
              <a:t> Theorem</a:t>
            </a:r>
          </a:p>
          <a:p>
            <a:pPr>
              <a:spcBef>
                <a:spcPts val="3000"/>
              </a:spcBef>
            </a:pPr>
            <a:r>
              <a:rPr lang="en-US" altLang="en-US" kern="0" dirty="0"/>
              <a:t>Algebraic </a:t>
            </a:r>
            <a:r>
              <a:rPr lang="en-US" altLang="en-US" kern="0" dirty="0" smtClean="0"/>
              <a:t>manipulation and expression simplification</a:t>
            </a:r>
            <a:endParaRPr lang="en-US" altLang="en-US" kern="0" dirty="0"/>
          </a:p>
          <a:p>
            <a:pPr>
              <a:spcBef>
                <a:spcPts val="30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Logic gates and logic diagrams</a:t>
            </a:r>
          </a:p>
          <a:p>
            <a:pPr>
              <a:spcBef>
                <a:spcPts val="30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Minterms and Maxterms</a:t>
            </a:r>
          </a:p>
          <a:p>
            <a:pPr>
              <a:spcBef>
                <a:spcPts val="3000"/>
              </a:spcBef>
            </a:pPr>
            <a:r>
              <a:rPr lang="en-US" altLang="en-US" kern="0" dirty="0" smtClean="0">
                <a:solidFill>
                  <a:srgbClr val="FF0000"/>
                </a:solidFill>
              </a:rPr>
              <a:t>Sum-Of-Products and Product-Of-Sums</a:t>
            </a:r>
          </a:p>
        </p:txBody>
      </p:sp>
    </p:spTree>
    <p:extLst>
      <p:ext uri="{BB962C8B-B14F-4D97-AF65-F5344CB8AC3E}">
        <p14:creationId xmlns:p14="http://schemas.microsoft.com/office/powerpoint/2010/main" val="198704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Logic Gates and Symbols</a:t>
            </a:r>
            <a:endParaRPr lang="en-US" dirty="0"/>
          </a:p>
        </p:txBody>
      </p:sp>
      <p:grpSp>
        <p:nvGrpSpPr>
          <p:cNvPr id="33" name="Group 32"/>
          <p:cNvGrpSpPr/>
          <p:nvPr/>
        </p:nvGrpSpPr>
        <p:grpSpPr>
          <a:xfrm>
            <a:off x="827546" y="1067113"/>
            <a:ext cx="2260334" cy="1084306"/>
            <a:chOff x="827545" y="1826231"/>
            <a:chExt cx="2260335" cy="1084306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2037292" y="2173783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lowchart: Delay 3"/>
            <p:cNvSpPr/>
            <p:nvPr/>
          </p:nvSpPr>
          <p:spPr>
            <a:xfrm>
              <a:off x="1510407" y="1903783"/>
              <a:ext cx="540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1150407" y="2022742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150407" y="231077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827545" y="1826231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45" y="1826231"/>
                  <a:ext cx="379206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27545" y="2114266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45" y="2114266"/>
                  <a:ext cx="37920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417761" y="1965135"/>
                  <a:ext cx="6701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·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761" y="1965135"/>
                  <a:ext cx="68134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1175214" y="2541205"/>
              <a:ext cx="109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AND gate</a:t>
              </a:r>
              <a:endParaRPr lang="en-US" dirty="0">
                <a:latin typeface="+mn-lt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601104" y="1067113"/>
            <a:ext cx="2209274" cy="1084306"/>
            <a:chOff x="3601103" y="1816004"/>
            <a:chExt cx="2209274" cy="1084306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4687214" y="216355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923965" y="2012515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923965" y="2300550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3601103" y="1816004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103" y="1816004"/>
                  <a:ext cx="37920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601103" y="2104039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103" y="2104039"/>
                  <a:ext cx="37920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032856" y="1954908"/>
                  <a:ext cx="7775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856" y="1954908"/>
                  <a:ext cx="78874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/>
            <p:cNvSpPr txBox="1"/>
            <p:nvPr/>
          </p:nvSpPr>
          <p:spPr>
            <a:xfrm>
              <a:off x="3857860" y="2530978"/>
              <a:ext cx="917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32" name="Moon 31"/>
            <p:cNvSpPr/>
            <p:nvPr/>
          </p:nvSpPr>
          <p:spPr>
            <a:xfrm flipH="1">
              <a:off x="4180330" y="1903783"/>
              <a:ext cx="540000" cy="540000"/>
            </a:xfrm>
            <a:prstGeom prst="moon">
              <a:avLst>
                <a:gd name="adj" fmla="val 8456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291346" y="1206017"/>
            <a:ext cx="2001436" cy="945402"/>
            <a:chOff x="6184996" y="1944681"/>
            <a:chExt cx="2001436" cy="94540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7279529" y="2153329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7639529" y="1944681"/>
                  <a:ext cx="3312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9529" y="1944681"/>
                  <a:ext cx="33128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/>
            <p:cNvCxnSpPr/>
            <p:nvPr/>
          </p:nvCxnSpPr>
          <p:spPr>
            <a:xfrm>
              <a:off x="6515699" y="216164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192837" y="1965135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837" y="1965135"/>
                  <a:ext cx="37920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/>
            <p:cNvSpPr txBox="1"/>
            <p:nvPr/>
          </p:nvSpPr>
          <p:spPr>
            <a:xfrm>
              <a:off x="6184996" y="2520751"/>
              <a:ext cx="2001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NOT gate (inverter)</a:t>
              </a:r>
              <a:endParaRPr lang="en-US" dirty="0">
                <a:latin typeface="+mn-lt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6875699" y="1952615"/>
              <a:ext cx="436491" cy="394371"/>
              <a:chOff x="5057221" y="3865491"/>
              <a:chExt cx="436491" cy="394371"/>
            </a:xfrm>
          </p:grpSpPr>
          <p:sp>
            <p:nvSpPr>
              <p:cNvPr id="35" name="Isosceles Triangle 34"/>
              <p:cNvSpPr/>
              <p:nvPr/>
            </p:nvSpPr>
            <p:spPr>
              <a:xfrm rot="5400000">
                <a:off x="5032856" y="3889856"/>
                <a:ext cx="394371" cy="34564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385712" y="400507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530648" y="4465927"/>
            <a:ext cx="8242232" cy="201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kern="0" dirty="0" smtClean="0"/>
              <a:t>In the earliest computers, relays were used as mechanical switches controlled by electricity (coils)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kern="0" dirty="0" smtClean="0"/>
              <a:t>Today, tiny transistors are used as electronic switches that implement the logic gates (CMOS technology)</a:t>
            </a:r>
            <a:endParaRPr lang="en-US" kern="0" dirty="0"/>
          </a:p>
        </p:txBody>
      </p:sp>
      <p:sp>
        <p:nvSpPr>
          <p:cNvPr id="56" name="TextBox 55"/>
          <p:cNvSpPr txBox="1"/>
          <p:nvPr/>
        </p:nvSpPr>
        <p:spPr>
          <a:xfrm>
            <a:off x="597118" y="3520525"/>
            <a:ext cx="2501984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i="0" dirty="0" smtClean="0">
                <a:latin typeface="+mn-lt"/>
              </a:rPr>
              <a:t>AND: Switches in series</a:t>
            </a:r>
          </a:p>
          <a:p>
            <a:pPr algn="ctr"/>
            <a:r>
              <a:rPr lang="en-US" dirty="0" smtClean="0">
                <a:latin typeface="+mn-lt"/>
              </a:rPr>
              <a:t>logic 0 is open switch</a:t>
            </a:r>
            <a:endParaRPr lang="en-US" i="0" dirty="0" smtClean="0">
              <a:latin typeface="+mn-lt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247040" y="3520525"/>
            <a:ext cx="2574559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i="0" dirty="0" smtClean="0">
                <a:latin typeface="+mn-lt"/>
              </a:rPr>
              <a:t>OR: Switches in parallel</a:t>
            </a:r>
          </a:p>
          <a:p>
            <a:pPr algn="ctr"/>
            <a:r>
              <a:rPr lang="en-US" dirty="0" smtClean="0">
                <a:latin typeface="+mn-lt"/>
              </a:rPr>
              <a:t>logic 0 is open switch</a:t>
            </a:r>
            <a:endParaRPr lang="en-US" dirty="0">
              <a:latin typeface="+mn-lt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136283" y="3520525"/>
            <a:ext cx="2370719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i="0" dirty="0" smtClean="0">
                <a:latin typeface="+mn-lt"/>
              </a:rPr>
              <a:t>NOT: Switch is normally</a:t>
            </a:r>
          </a:p>
          <a:p>
            <a:pPr algn="ctr"/>
            <a:r>
              <a:rPr lang="en-US" i="0" dirty="0" smtClean="0">
                <a:latin typeface="+mn-lt"/>
              </a:rPr>
              <a:t>closed when </a:t>
            </a:r>
            <a:r>
              <a:rPr lang="en-US" dirty="0" smtClean="0">
                <a:latin typeface="+mn-lt"/>
              </a:rPr>
              <a:t>x</a:t>
            </a: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is </a:t>
            </a:r>
            <a:r>
              <a:rPr lang="en-US" i="0" dirty="0" smtClean="0">
                <a:latin typeface="+mn-lt"/>
              </a:rPr>
              <a:t>0</a:t>
            </a:r>
            <a:endParaRPr lang="en-US" dirty="0">
              <a:latin typeface="+mn-lt"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949093" y="2400681"/>
            <a:ext cx="1708583" cy="860504"/>
            <a:chOff x="1103659" y="2400681"/>
            <a:chExt cx="1850965" cy="860504"/>
          </a:xfrm>
        </p:grpSpPr>
        <p:sp>
          <p:nvSpPr>
            <p:cNvPr id="48" name="Freeform 47"/>
            <p:cNvSpPr/>
            <p:nvPr/>
          </p:nvSpPr>
          <p:spPr>
            <a:xfrm>
              <a:off x="1224403" y="2834781"/>
              <a:ext cx="1730221" cy="426404"/>
            </a:xfrm>
            <a:custGeom>
              <a:avLst/>
              <a:gdLst>
                <a:gd name="connsiteX0" fmla="*/ 0 w 1786515"/>
                <a:gd name="connsiteY0" fmla="*/ 269563 h 412273"/>
                <a:gd name="connsiteX1" fmla="*/ 0 w 1786515"/>
                <a:gd name="connsiteY1" fmla="*/ 412273 h 412273"/>
                <a:gd name="connsiteX2" fmla="*/ 1786515 w 1786515"/>
                <a:gd name="connsiteY2" fmla="*/ 412273 h 412273"/>
                <a:gd name="connsiteX3" fmla="*/ 1786515 w 1786515"/>
                <a:gd name="connsiteY3" fmla="*/ 0 h 412273"/>
                <a:gd name="connsiteX4" fmla="*/ 1664948 w 1786515"/>
                <a:gd name="connsiteY4" fmla="*/ 0 h 412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6515" h="412273">
                  <a:moveTo>
                    <a:pt x="0" y="269563"/>
                  </a:moveTo>
                  <a:lnTo>
                    <a:pt x="0" y="412273"/>
                  </a:lnTo>
                  <a:lnTo>
                    <a:pt x="1786515" y="412273"/>
                  </a:lnTo>
                  <a:lnTo>
                    <a:pt x="1786515" y="0"/>
                  </a:lnTo>
                  <a:lnTo>
                    <a:pt x="166494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/>
            <p:nvPr/>
          </p:nvCxnSpPr>
          <p:spPr>
            <a:xfrm flipV="1">
              <a:off x="1436376" y="2663327"/>
              <a:ext cx="236953" cy="172821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747139" y="2834780"/>
              <a:ext cx="34748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2100354" y="2663327"/>
              <a:ext cx="236953" cy="172821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2414702" y="2834780"/>
              <a:ext cx="182364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1298884" y="2400681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8884" y="2400681"/>
                  <a:ext cx="379206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1949006" y="2400681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9006" y="2400681"/>
                  <a:ext cx="382605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" name="Group 44"/>
            <p:cNvGrpSpPr/>
            <p:nvPr/>
          </p:nvGrpSpPr>
          <p:grpSpPr>
            <a:xfrm>
              <a:off x="1103659" y="2952038"/>
              <a:ext cx="247784" cy="164332"/>
              <a:chOff x="3109576" y="2507288"/>
              <a:chExt cx="247784" cy="164332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3109576" y="2507288"/>
                <a:ext cx="2477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184539" y="2556406"/>
                <a:ext cx="978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3109576" y="2622502"/>
                <a:ext cx="2477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184539" y="2671620"/>
                <a:ext cx="978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Flowchart: Summing Junction 40"/>
            <p:cNvSpPr/>
            <p:nvPr/>
          </p:nvSpPr>
          <p:spPr>
            <a:xfrm>
              <a:off x="2579950" y="2705572"/>
              <a:ext cx="252000" cy="252000"/>
            </a:xfrm>
            <a:prstGeom prst="flowChartSummingJunc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1227551" y="2838341"/>
              <a:ext cx="211422" cy="113698"/>
            </a:xfrm>
            <a:custGeom>
              <a:avLst/>
              <a:gdLst>
                <a:gd name="connsiteX0" fmla="*/ 211422 w 211422"/>
                <a:gd name="connsiteY0" fmla="*/ 0 h 179709"/>
                <a:gd name="connsiteX1" fmla="*/ 0 w 211422"/>
                <a:gd name="connsiteY1" fmla="*/ 0 h 179709"/>
                <a:gd name="connsiteX2" fmla="*/ 0 w 211422"/>
                <a:gd name="connsiteY2" fmla="*/ 179709 h 17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22" h="179709">
                  <a:moveTo>
                    <a:pt x="211422" y="0"/>
                  </a:moveTo>
                  <a:lnTo>
                    <a:pt x="0" y="0"/>
                  </a:lnTo>
                  <a:lnTo>
                    <a:pt x="0" y="179709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3705169" y="2219253"/>
            <a:ext cx="1504941" cy="1042212"/>
            <a:chOff x="4013932" y="2219253"/>
            <a:chExt cx="1630353" cy="1042212"/>
          </a:xfrm>
        </p:grpSpPr>
        <p:cxnSp>
          <p:nvCxnSpPr>
            <p:cNvPr id="60" name="Straight Connector 59"/>
            <p:cNvCxnSpPr/>
            <p:nvPr/>
          </p:nvCxnSpPr>
          <p:spPr>
            <a:xfrm flipV="1">
              <a:off x="4659234" y="2510396"/>
              <a:ext cx="236953" cy="15711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4591100" y="2219253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100" y="2219253"/>
                  <a:ext cx="379206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591100" y="2850384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100" y="2850384"/>
                  <a:ext cx="382605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Freeform 71"/>
            <p:cNvSpPr/>
            <p:nvPr/>
          </p:nvSpPr>
          <p:spPr>
            <a:xfrm>
              <a:off x="4489191" y="2668190"/>
              <a:ext cx="163918" cy="306562"/>
            </a:xfrm>
            <a:custGeom>
              <a:avLst/>
              <a:gdLst>
                <a:gd name="connsiteX0" fmla="*/ 237849 w 237849"/>
                <a:gd name="connsiteY0" fmla="*/ 0 h 306562"/>
                <a:gd name="connsiteX1" fmla="*/ 0 w 237849"/>
                <a:gd name="connsiteY1" fmla="*/ 0 h 306562"/>
                <a:gd name="connsiteX2" fmla="*/ 0 w 237849"/>
                <a:gd name="connsiteY2" fmla="*/ 306562 h 306562"/>
                <a:gd name="connsiteX3" fmla="*/ 232564 w 237849"/>
                <a:gd name="connsiteY3" fmla="*/ 306562 h 306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849" h="306562">
                  <a:moveTo>
                    <a:pt x="237849" y="0"/>
                  </a:moveTo>
                  <a:lnTo>
                    <a:pt x="0" y="0"/>
                  </a:lnTo>
                  <a:lnTo>
                    <a:pt x="0" y="306562"/>
                  </a:lnTo>
                  <a:lnTo>
                    <a:pt x="232564" y="306562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/>
            <p:cNvCxnSpPr/>
            <p:nvPr/>
          </p:nvCxnSpPr>
          <p:spPr>
            <a:xfrm flipV="1">
              <a:off x="4654732" y="2816320"/>
              <a:ext cx="236953" cy="157110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Freeform 73"/>
            <p:cNvSpPr/>
            <p:nvPr/>
          </p:nvSpPr>
          <p:spPr>
            <a:xfrm flipH="1">
              <a:off x="4932169" y="2672154"/>
              <a:ext cx="163918" cy="306562"/>
            </a:xfrm>
            <a:custGeom>
              <a:avLst/>
              <a:gdLst>
                <a:gd name="connsiteX0" fmla="*/ 237849 w 237849"/>
                <a:gd name="connsiteY0" fmla="*/ 0 h 306562"/>
                <a:gd name="connsiteX1" fmla="*/ 0 w 237849"/>
                <a:gd name="connsiteY1" fmla="*/ 0 h 306562"/>
                <a:gd name="connsiteX2" fmla="*/ 0 w 237849"/>
                <a:gd name="connsiteY2" fmla="*/ 306562 h 306562"/>
                <a:gd name="connsiteX3" fmla="*/ 232564 w 237849"/>
                <a:gd name="connsiteY3" fmla="*/ 306562 h 306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849" h="306562">
                  <a:moveTo>
                    <a:pt x="237849" y="0"/>
                  </a:moveTo>
                  <a:lnTo>
                    <a:pt x="0" y="0"/>
                  </a:lnTo>
                  <a:lnTo>
                    <a:pt x="0" y="306562"/>
                  </a:lnTo>
                  <a:lnTo>
                    <a:pt x="232564" y="306562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Connector 75"/>
            <p:cNvCxnSpPr/>
            <p:nvPr/>
          </p:nvCxnSpPr>
          <p:spPr>
            <a:xfrm>
              <a:off x="5096087" y="2826861"/>
              <a:ext cx="34748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/>
            <p:cNvGrpSpPr/>
            <p:nvPr/>
          </p:nvGrpSpPr>
          <p:grpSpPr>
            <a:xfrm>
              <a:off x="4013932" y="2955489"/>
              <a:ext cx="247784" cy="164332"/>
              <a:chOff x="3109576" y="2507288"/>
              <a:chExt cx="247784" cy="164332"/>
            </a:xfrm>
          </p:grpSpPr>
          <p:cxnSp>
            <p:nvCxnSpPr>
              <p:cNvPr id="84" name="Straight Connector 83"/>
              <p:cNvCxnSpPr/>
              <p:nvPr/>
            </p:nvCxnSpPr>
            <p:spPr>
              <a:xfrm>
                <a:off x="3109576" y="2507288"/>
                <a:ext cx="2477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3184539" y="2556406"/>
                <a:ext cx="978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3109576" y="2622502"/>
                <a:ext cx="2477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3184539" y="2671620"/>
                <a:ext cx="978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Flowchart: Summing Junction 89"/>
            <p:cNvSpPr/>
            <p:nvPr/>
          </p:nvSpPr>
          <p:spPr>
            <a:xfrm>
              <a:off x="5298642" y="2705572"/>
              <a:ext cx="252000" cy="252000"/>
            </a:xfrm>
            <a:prstGeom prst="flowChartSummingJunc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4137825" y="2835061"/>
              <a:ext cx="1506460" cy="426404"/>
            </a:xfrm>
            <a:custGeom>
              <a:avLst/>
              <a:gdLst>
                <a:gd name="connsiteX0" fmla="*/ 0 w 1786515"/>
                <a:gd name="connsiteY0" fmla="*/ 269563 h 412273"/>
                <a:gd name="connsiteX1" fmla="*/ 0 w 1786515"/>
                <a:gd name="connsiteY1" fmla="*/ 412273 h 412273"/>
                <a:gd name="connsiteX2" fmla="*/ 1786515 w 1786515"/>
                <a:gd name="connsiteY2" fmla="*/ 412273 h 412273"/>
                <a:gd name="connsiteX3" fmla="*/ 1786515 w 1786515"/>
                <a:gd name="connsiteY3" fmla="*/ 0 h 412273"/>
                <a:gd name="connsiteX4" fmla="*/ 1664948 w 1786515"/>
                <a:gd name="connsiteY4" fmla="*/ 0 h 412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6515" h="412273">
                  <a:moveTo>
                    <a:pt x="0" y="269563"/>
                  </a:moveTo>
                  <a:lnTo>
                    <a:pt x="0" y="412273"/>
                  </a:lnTo>
                  <a:lnTo>
                    <a:pt x="1786515" y="412273"/>
                  </a:lnTo>
                  <a:lnTo>
                    <a:pt x="1786515" y="0"/>
                  </a:lnTo>
                  <a:lnTo>
                    <a:pt x="166494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4146501" y="2825435"/>
              <a:ext cx="342689" cy="130054"/>
            </a:xfrm>
            <a:custGeom>
              <a:avLst/>
              <a:gdLst>
                <a:gd name="connsiteX0" fmla="*/ 211422 w 211422"/>
                <a:gd name="connsiteY0" fmla="*/ 0 h 179709"/>
                <a:gd name="connsiteX1" fmla="*/ 0 w 211422"/>
                <a:gd name="connsiteY1" fmla="*/ 0 h 179709"/>
                <a:gd name="connsiteX2" fmla="*/ 0 w 211422"/>
                <a:gd name="connsiteY2" fmla="*/ 179709 h 17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22" h="179709">
                  <a:moveTo>
                    <a:pt x="211422" y="0"/>
                  </a:moveTo>
                  <a:lnTo>
                    <a:pt x="0" y="0"/>
                  </a:lnTo>
                  <a:lnTo>
                    <a:pt x="0" y="179709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6579382" y="2437025"/>
            <a:ext cx="1329426" cy="829444"/>
            <a:chOff x="7127664" y="2437025"/>
            <a:chExt cx="1440211" cy="829444"/>
          </a:xfrm>
        </p:grpSpPr>
        <p:sp>
          <p:nvSpPr>
            <p:cNvPr id="70" name="Freeform 69"/>
            <p:cNvSpPr/>
            <p:nvPr/>
          </p:nvSpPr>
          <p:spPr>
            <a:xfrm>
              <a:off x="7257059" y="2838340"/>
              <a:ext cx="1310816" cy="428129"/>
            </a:xfrm>
            <a:custGeom>
              <a:avLst/>
              <a:gdLst>
                <a:gd name="connsiteX0" fmla="*/ 1178677 w 1310816"/>
                <a:gd name="connsiteY0" fmla="*/ 0 h 428129"/>
                <a:gd name="connsiteX1" fmla="*/ 1310816 w 1310816"/>
                <a:gd name="connsiteY1" fmla="*/ 0 h 428129"/>
                <a:gd name="connsiteX2" fmla="*/ 1310816 w 1310816"/>
                <a:gd name="connsiteY2" fmla="*/ 428129 h 428129"/>
                <a:gd name="connsiteX3" fmla="*/ 0 w 1310816"/>
                <a:gd name="connsiteY3" fmla="*/ 428129 h 428129"/>
                <a:gd name="connsiteX4" fmla="*/ 0 w 1310816"/>
                <a:gd name="connsiteY4" fmla="*/ 290705 h 42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0816" h="428129">
                  <a:moveTo>
                    <a:pt x="1178677" y="0"/>
                  </a:moveTo>
                  <a:lnTo>
                    <a:pt x="1310816" y="0"/>
                  </a:lnTo>
                  <a:lnTo>
                    <a:pt x="1310816" y="428129"/>
                  </a:lnTo>
                  <a:lnTo>
                    <a:pt x="0" y="428129"/>
                  </a:lnTo>
                  <a:lnTo>
                    <a:pt x="0" y="29070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/>
            <p:cNvCxnSpPr/>
            <p:nvPr/>
          </p:nvCxnSpPr>
          <p:spPr>
            <a:xfrm flipV="1">
              <a:off x="7651572" y="2803664"/>
              <a:ext cx="349799" cy="36612"/>
            </a:xfrm>
            <a:prstGeom prst="line">
              <a:avLst/>
            </a:prstGeom>
            <a:ln w="25400">
              <a:solidFill>
                <a:schemeClr val="tx1"/>
              </a:solidFill>
              <a:head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7965920" y="2838906"/>
              <a:ext cx="347489" cy="0"/>
            </a:xfrm>
            <a:prstGeom prst="line">
              <a:avLst/>
            </a:prstGeom>
            <a:ln w="2540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626926" y="2437025"/>
                  <a:ext cx="455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6926" y="2437025"/>
                  <a:ext cx="431529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Flowchart: Summing Junction 92"/>
            <p:cNvSpPr/>
            <p:nvPr/>
          </p:nvSpPr>
          <p:spPr>
            <a:xfrm>
              <a:off x="8170729" y="2705572"/>
              <a:ext cx="252000" cy="252000"/>
            </a:xfrm>
            <a:prstGeom prst="flowChartSummingJunct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4" name="Group 93"/>
            <p:cNvGrpSpPr/>
            <p:nvPr/>
          </p:nvGrpSpPr>
          <p:grpSpPr>
            <a:xfrm>
              <a:off x="7127664" y="2964180"/>
              <a:ext cx="247784" cy="164332"/>
              <a:chOff x="3109576" y="2507288"/>
              <a:chExt cx="247784" cy="164332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3109576" y="2507288"/>
                <a:ext cx="2477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3184539" y="2556406"/>
                <a:ext cx="978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>
                <a:off x="3109576" y="2622502"/>
                <a:ext cx="24778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184539" y="2671620"/>
                <a:ext cx="9785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Freeform 98"/>
            <p:cNvSpPr/>
            <p:nvPr/>
          </p:nvSpPr>
          <p:spPr>
            <a:xfrm>
              <a:off x="7260233" y="2844698"/>
              <a:ext cx="391339" cy="130054"/>
            </a:xfrm>
            <a:custGeom>
              <a:avLst/>
              <a:gdLst>
                <a:gd name="connsiteX0" fmla="*/ 211422 w 211422"/>
                <a:gd name="connsiteY0" fmla="*/ 0 h 179709"/>
                <a:gd name="connsiteX1" fmla="*/ 0 w 211422"/>
                <a:gd name="connsiteY1" fmla="*/ 0 h 179709"/>
                <a:gd name="connsiteX2" fmla="*/ 0 w 211422"/>
                <a:gd name="connsiteY2" fmla="*/ 179709 h 17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422" h="179709">
                  <a:moveTo>
                    <a:pt x="211422" y="0"/>
                  </a:moveTo>
                  <a:lnTo>
                    <a:pt x="0" y="0"/>
                  </a:lnTo>
                  <a:lnTo>
                    <a:pt x="0" y="179709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676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Truth Table and Logic Diagram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51900"/>
                <a:ext cx="8229600" cy="1209747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dirty="0" smtClean="0"/>
                  <a:t>Given the following logic function: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′+</m:t>
                    </m:r>
                    <m:r>
                      <a:rPr lang="en-US" b="0" i="1" dirty="0" smtClean="0">
                        <a:latin typeface="Cambria Math"/>
                      </a:rPr>
                      <m:t>𝑧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dirty="0" smtClean="0"/>
                  <a:t>Draw the corresponding truth table and logic diagram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951899"/>
                <a:ext cx="8915400" cy="1209747"/>
              </a:xfrm>
              <a:blipFill rotWithShape="1">
                <a:blip r:embed="rId2"/>
                <a:stretch>
                  <a:fillRect l="-889" t="-1005" b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1834904" y="2250795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85642"/>
              </p:ext>
            </p:extLst>
          </p:nvPr>
        </p:nvGraphicFramePr>
        <p:xfrm>
          <a:off x="902878" y="2800797"/>
          <a:ext cx="356277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438"/>
                <a:gridCol w="899062"/>
                <a:gridCol w="159527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 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y'+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x(y'+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+mn-lt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z)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050582" y="4293106"/>
                <a:ext cx="3456420" cy="213145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lIns="72000" tIns="0" rIns="72000" bIns="0" rtlCol="0" anchor="ctr" anchorCtr="0">
                <a:no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sz="2000" dirty="0" smtClean="0"/>
                  <a:t>Truth Table and Logic Diagram describe the same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sz="2000" dirty="0" smtClean="0"/>
                  <a:t>Truth table is unique, but logic expression and logic diagram are not. This gives flexibility in implementing logic functions.</a:t>
                </a:r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63" y="4293105"/>
                <a:ext cx="3744455" cy="2131459"/>
              </a:xfrm>
              <a:prstGeom prst="rect">
                <a:avLst/>
              </a:prstGeom>
              <a:blipFill rotWithShape="1">
                <a:blip r:embed="rId3"/>
                <a:stretch>
                  <a:fillRect l="-2107" r="-1945" b="-2833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/>
          <p:cNvGrpSpPr/>
          <p:nvPr/>
        </p:nvGrpSpPr>
        <p:grpSpPr>
          <a:xfrm>
            <a:off x="4891054" y="2250795"/>
            <a:ext cx="4115010" cy="1901163"/>
            <a:chOff x="5559602" y="2250794"/>
            <a:chExt cx="4457927" cy="1901163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937773" y="3611864"/>
              <a:ext cx="18677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Delay 7"/>
            <p:cNvSpPr/>
            <p:nvPr/>
          </p:nvSpPr>
          <p:spPr>
            <a:xfrm>
              <a:off x="7430101" y="2893439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5937773" y="3012398"/>
              <a:ext cx="14923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561909" y="2795323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910" y="2795323"/>
                  <a:ext cx="399212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559602" y="3407321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9602" y="3407321"/>
                  <a:ext cx="403828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/>
            <p:cNvCxnSpPr/>
            <p:nvPr/>
          </p:nvCxnSpPr>
          <p:spPr>
            <a:xfrm>
              <a:off x="8015101" y="3163439"/>
              <a:ext cx="195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439292" y="3606260"/>
              <a:ext cx="195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8121385" y="2944779"/>
                  <a:ext cx="189614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=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𝑧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1385" y="2944779"/>
                  <a:ext cx="1763111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/>
            <p:cNvGrpSpPr/>
            <p:nvPr/>
          </p:nvGrpSpPr>
          <p:grpSpPr>
            <a:xfrm>
              <a:off x="6124545" y="3488076"/>
              <a:ext cx="326237" cy="247577"/>
              <a:chOff x="5146431" y="3865493"/>
              <a:chExt cx="301142" cy="247577"/>
            </a:xfrm>
          </p:grpSpPr>
          <p:sp>
            <p:nvSpPr>
              <p:cNvPr id="26" name="Isosceles Triangle 25"/>
              <p:cNvSpPr/>
              <p:nvPr/>
            </p:nvSpPr>
            <p:spPr>
              <a:xfrm rot="5400000">
                <a:off x="5128994" y="3882930"/>
                <a:ext cx="247577" cy="21270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5347881" y="3930793"/>
                <a:ext cx="99692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5570021" y="3751847"/>
                  <a:ext cx="401012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021" y="3751847"/>
                  <a:ext cx="382990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/>
            <p:cNvCxnSpPr/>
            <p:nvPr/>
          </p:nvCxnSpPr>
          <p:spPr>
            <a:xfrm>
              <a:off x="5937773" y="3951902"/>
              <a:ext cx="69651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5972737" y="2250794"/>
              <a:ext cx="21342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solidFill>
                    <a:srgbClr val="FF0000"/>
                  </a:solidFill>
                </a:rPr>
                <a:t>Logic Diagram</a:t>
              </a:r>
              <a:endParaRPr 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6" name="Moon 15"/>
            <p:cNvSpPr/>
            <p:nvPr/>
          </p:nvSpPr>
          <p:spPr>
            <a:xfrm flipH="1">
              <a:off x="6557066" y="3510598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7149548" y="3299791"/>
              <a:ext cx="280553" cy="477079"/>
            </a:xfrm>
            <a:custGeom>
              <a:avLst/>
              <a:gdLst>
                <a:gd name="connsiteX0" fmla="*/ 0 w 324678"/>
                <a:gd name="connsiteY0" fmla="*/ 477079 h 477079"/>
                <a:gd name="connsiteX1" fmla="*/ 145774 w 324678"/>
                <a:gd name="connsiteY1" fmla="*/ 477079 h 477079"/>
                <a:gd name="connsiteX2" fmla="*/ 145774 w 324678"/>
                <a:gd name="connsiteY2" fmla="*/ 0 h 477079"/>
                <a:gd name="connsiteX3" fmla="*/ 324678 w 324678"/>
                <a:gd name="connsiteY3" fmla="*/ 0 h 477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678" h="477079">
                  <a:moveTo>
                    <a:pt x="0" y="477079"/>
                  </a:moveTo>
                  <a:lnTo>
                    <a:pt x="145774" y="477079"/>
                  </a:lnTo>
                  <a:lnTo>
                    <a:pt x="145774" y="0"/>
                  </a:lnTo>
                  <a:lnTo>
                    <a:pt x="32467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662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Combinational Circuit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4025" y="894293"/>
                <a:ext cx="8528382" cy="3744455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A combinational circuit </a:t>
                </a:r>
                <a:r>
                  <a:rPr lang="en-US" dirty="0" smtClean="0"/>
                  <a:t>is a block of logic gates having:</a:t>
                </a:r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inputs: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baseline="-25000" dirty="0">
                        <a:latin typeface="Cambria Math"/>
                      </a:rPr>
                      <m:t>1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𝑥</m:t>
                    </m:r>
                    <m:r>
                      <a:rPr lang="en-US" i="1" baseline="-25000" dirty="0">
                        <a:latin typeface="Cambria Math"/>
                      </a:rPr>
                      <m:t>2</m:t>
                    </m:r>
                    <m:r>
                      <a:rPr lang="en-US" i="1" dirty="0">
                        <a:latin typeface="Cambria Math"/>
                      </a:rPr>
                      <m:t>, …, </m:t>
                    </m:r>
                    <m:r>
                      <a:rPr lang="en-US" i="1" dirty="0" err="1">
                        <a:latin typeface="Cambria Math"/>
                      </a:rPr>
                      <m:t>𝑥</m:t>
                    </m:r>
                    <m:r>
                      <a:rPr lang="en-US" i="1" baseline="-25000" dirty="0" err="1">
                        <a:latin typeface="Cambria Math"/>
                      </a:rPr>
                      <m:t>𝑛</m:t>
                    </m:r>
                  </m:oMath>
                </a14:m>
                <a:endParaRPr lang="en-US" baseline="-25000" dirty="0"/>
              </a:p>
              <a:p>
                <a:pPr marL="0" indent="0">
                  <a:lnSpc>
                    <a:spcPct val="120000"/>
                  </a:lnSpc>
                  <a:spcBef>
                    <a:spcPts val="1500"/>
                  </a:spcBef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outputs: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baseline="-25000" dirty="0">
                        <a:latin typeface="Cambria Math"/>
                      </a:rPr>
                      <m:t>1</m:t>
                    </m:r>
                    <m:r>
                      <a:rPr lang="en-US" i="1" dirty="0">
                        <a:latin typeface="Cambria Math"/>
                      </a:rPr>
                      <m:t>, </m:t>
                    </m:r>
                    <m:r>
                      <a:rPr lang="en-US" i="1" dirty="0">
                        <a:latin typeface="Cambria Math"/>
                      </a:rPr>
                      <m:t>𝑓</m:t>
                    </m:r>
                    <m:r>
                      <a:rPr lang="en-US" i="1" baseline="-25000" dirty="0">
                        <a:latin typeface="Cambria Math"/>
                      </a:rPr>
                      <m:t>2</m:t>
                    </m:r>
                    <m:r>
                      <a:rPr lang="en-US" i="1" dirty="0">
                        <a:latin typeface="Cambria Math"/>
                      </a:rPr>
                      <m:t>, …, </m:t>
                    </m:r>
                    <m:r>
                      <a:rPr lang="en-US" i="1" dirty="0" err="1">
                        <a:latin typeface="Cambria Math"/>
                      </a:rPr>
                      <m:t>𝑓</m:t>
                    </m:r>
                    <m:r>
                      <a:rPr lang="en-US" i="1" baseline="-25000" dirty="0" err="1">
                        <a:latin typeface="Cambria Math"/>
                      </a:rPr>
                      <m:t>𝑚</m:t>
                    </m:r>
                  </m:oMath>
                </a14:m>
                <a:endParaRPr lang="en-US" baseline="-25000" dirty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/>
                  <a:t>Each output is a function of the </a:t>
                </a:r>
                <a:r>
                  <a:rPr lang="en-US" dirty="0" smtClean="0"/>
                  <a:t>input variables</a:t>
                </a:r>
                <a:r>
                  <a:rPr lang="en-US" dirty="0"/>
                  <a:t>	</a:t>
                </a:r>
                <a:endParaRPr lang="en-US" dirty="0" smtClean="0"/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 smtClean="0"/>
                  <a:t>Each output is determined from present combination of inputs</a:t>
                </a:r>
              </a:p>
              <a:p>
                <a:pPr>
                  <a:lnSpc>
                    <a:spcPct val="120000"/>
                  </a:lnSpc>
                  <a:spcBef>
                    <a:spcPts val="1500"/>
                  </a:spcBef>
                </a:pPr>
                <a:r>
                  <a:rPr lang="en-US" dirty="0" smtClean="0"/>
                  <a:t>Combination circuit performs operation specified by logic gates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7693" y="894292"/>
                <a:ext cx="9239081" cy="3744455"/>
              </a:xfrm>
              <a:blipFill rotWithShape="1">
                <a:blip r:embed="rId2"/>
                <a:stretch>
                  <a:fillRect l="-924" t="-326" b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1688273" y="4869176"/>
            <a:ext cx="5804999" cy="1291853"/>
            <a:chOff x="1828962" y="4787069"/>
            <a:chExt cx="6288748" cy="1291853"/>
          </a:xfrm>
        </p:grpSpPr>
        <p:grpSp>
          <p:nvGrpSpPr>
            <p:cNvPr id="12" name="Group 11"/>
            <p:cNvGrpSpPr/>
            <p:nvPr/>
          </p:nvGrpSpPr>
          <p:grpSpPr>
            <a:xfrm>
              <a:off x="5973769" y="4923755"/>
              <a:ext cx="477013" cy="982346"/>
              <a:chOff x="3266240" y="4923755"/>
              <a:chExt cx="477013" cy="982346"/>
            </a:xfrm>
          </p:grpSpPr>
          <p:cxnSp>
            <p:nvCxnSpPr>
              <p:cNvPr id="13" name="Straight Arrow Connector 12"/>
              <p:cNvCxnSpPr/>
              <p:nvPr/>
            </p:nvCxnSpPr>
            <p:spPr>
              <a:xfrm>
                <a:off x="3282397" y="492375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3282397" y="5157210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3282397" y="590610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 rot="16200000">
                <a:off x="3217065" y="5321599"/>
                <a:ext cx="518463" cy="42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400" b="1" dirty="0" smtClean="0">
                    <a:sym typeface="Symbol"/>
                  </a:rPr>
                  <a:t></a:t>
                </a:r>
                <a:endParaRPr lang="en-US" sz="2400" b="1" dirty="0" smtClean="0"/>
              </a:p>
            </p:txBody>
          </p:sp>
        </p:grpSp>
        <p:sp>
          <p:nvSpPr>
            <p:cNvPr id="4" name="TextBox 3"/>
            <p:cNvSpPr txBox="1"/>
            <p:nvPr/>
          </p:nvSpPr>
          <p:spPr>
            <a:xfrm>
              <a:off x="3743253" y="4787069"/>
              <a:ext cx="2264710" cy="1291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dirty="0" smtClean="0"/>
                <a:t>Combinational</a:t>
              </a:r>
            </a:p>
            <a:p>
              <a:pPr algn="ctr">
                <a:lnSpc>
                  <a:spcPct val="150000"/>
                </a:lnSpc>
              </a:pPr>
              <a:r>
                <a:rPr lang="en-US" sz="2400" dirty="0" smtClean="0"/>
                <a:t>Circuit</a:t>
              </a:r>
              <a:endParaRPr lang="en-US" sz="2400" dirty="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266240" y="4923755"/>
              <a:ext cx="477013" cy="982346"/>
              <a:chOff x="3266240" y="4923755"/>
              <a:chExt cx="477013" cy="982346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>
                <a:off x="3282397" y="4923755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/>
              <p:nvPr/>
            </p:nvCxnSpPr>
            <p:spPr>
              <a:xfrm>
                <a:off x="3282397" y="5157210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3282397" y="5906101"/>
                <a:ext cx="46085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/>
              <p:cNvSpPr txBox="1"/>
              <p:nvPr/>
            </p:nvSpPr>
            <p:spPr>
              <a:xfrm rot="16200000">
                <a:off x="3217065" y="5321599"/>
                <a:ext cx="518463" cy="42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2400" b="1" dirty="0" smtClean="0">
                    <a:sym typeface="Symbol"/>
                  </a:rPr>
                  <a:t></a:t>
                </a:r>
                <a:endParaRPr lang="en-US" sz="2400" b="1" dirty="0" smtClean="0"/>
              </a:p>
            </p:txBody>
          </p:sp>
        </p:grpSp>
        <p:sp>
          <p:nvSpPr>
            <p:cNvPr id="17" name="Left Brace 16"/>
            <p:cNvSpPr/>
            <p:nvPr/>
          </p:nvSpPr>
          <p:spPr>
            <a:xfrm>
              <a:off x="3051969" y="4787069"/>
              <a:ext cx="144017" cy="1291853"/>
            </a:xfrm>
            <a:prstGeom prst="leftBrace">
              <a:avLst>
                <a:gd name="adj1" fmla="val 4974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Left Brace 17"/>
            <p:cNvSpPr/>
            <p:nvPr/>
          </p:nvSpPr>
          <p:spPr>
            <a:xfrm flipH="1">
              <a:off x="6537193" y="4787069"/>
              <a:ext cx="144017" cy="1291853"/>
            </a:xfrm>
            <a:prstGeom prst="leftBrace">
              <a:avLst>
                <a:gd name="adj1" fmla="val 49741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1828962" y="5248734"/>
                  <a:ext cx="1039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 smtClean="0"/>
                    <a:t> inputs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962" y="5248734"/>
                  <a:ext cx="99257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61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6854031" y="5248734"/>
                  <a:ext cx="12636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𝑚</m:t>
                      </m:r>
                    </m:oMath>
                  </a14:m>
                  <a:r>
                    <a:rPr lang="en-US" dirty="0" smtClean="0"/>
                    <a:t> outputs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4031" y="5248734"/>
                  <a:ext cx="119776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456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746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of a Simple Combinational Circuit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389672"/>
                <a:ext cx="8229600" cy="3150106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dirty="0" smtClean="0"/>
                  <a:t>The above circuit has: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dirty="0" smtClean="0"/>
                  <a:t>Three inputs: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𝑧</m:t>
                    </m:r>
                  </m:oMath>
                </a14:m>
                <a:endParaRPr lang="en-US" dirty="0" smtClean="0"/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dirty="0" smtClean="0"/>
                  <a:t>Two outputs: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𝑔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dirty="0" smtClean="0"/>
                  <a:t>What are the logic expressions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 smtClean="0"/>
                  <a:t> ?</a:t>
                </a:r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  <a:tabLst>
                    <a:tab pos="2154238" algn="l"/>
                  </a:tabLst>
                </a:pPr>
                <a:r>
                  <a:rPr lang="en-US" b="1" dirty="0" smtClean="0">
                    <a:solidFill>
                      <a:srgbClr val="FF0000"/>
                    </a:solidFill>
                  </a:rPr>
                  <a:t>Answer:</a:t>
                </a: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err="1" smtClean="0">
                        <a:latin typeface="Cambria Math"/>
                      </a:rPr>
                      <m:t>𝑥𝑦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latin typeface="Cambria Math"/>
                      </a:rPr>
                      <m:t>𝑧</m:t>
                    </m:r>
                    <m:r>
                      <a:rPr lang="en-US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spcBef>
                    <a:spcPts val="1200"/>
                  </a:spcBef>
                  <a:buNone/>
                  <a:tabLst>
                    <a:tab pos="2154238" algn="l"/>
                  </a:tabLst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err="1" smtClean="0">
                        <a:latin typeface="Cambria Math"/>
                      </a:rPr>
                      <m:t>𝑥𝑦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latin typeface="Cambria Math"/>
                      </a:rPr>
                      <m:t>𝑦𝑧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3389672"/>
                <a:ext cx="8915400" cy="3150106"/>
              </a:xfrm>
              <a:blipFill rotWithShape="1">
                <a:blip r:embed="rId2"/>
                <a:stretch>
                  <a:fillRect l="-889" t="-1161" b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/>
          <p:cNvGrpSpPr/>
          <p:nvPr/>
        </p:nvGrpSpPr>
        <p:grpSpPr>
          <a:xfrm>
            <a:off x="2253729" y="1061018"/>
            <a:ext cx="4150280" cy="2040133"/>
            <a:chOff x="920510" y="1061017"/>
            <a:chExt cx="4496137" cy="2040133"/>
          </a:xfrm>
        </p:grpSpPr>
        <p:sp>
          <p:nvSpPr>
            <p:cNvPr id="58" name="Freeform 57"/>
            <p:cNvSpPr/>
            <p:nvPr/>
          </p:nvSpPr>
          <p:spPr>
            <a:xfrm>
              <a:off x="3029712" y="1408176"/>
              <a:ext cx="1146048" cy="1133856"/>
            </a:xfrm>
            <a:custGeom>
              <a:avLst/>
              <a:gdLst>
                <a:gd name="connsiteX0" fmla="*/ 0 w 1146048"/>
                <a:gd name="connsiteY0" fmla="*/ 0 h 1133856"/>
                <a:gd name="connsiteX1" fmla="*/ 0 w 1146048"/>
                <a:gd name="connsiteY1" fmla="*/ 1133856 h 1133856"/>
                <a:gd name="connsiteX2" fmla="*/ 1146048 w 1146048"/>
                <a:gd name="connsiteY2" fmla="*/ 1133856 h 113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6048" h="1133856">
                  <a:moveTo>
                    <a:pt x="0" y="0"/>
                  </a:moveTo>
                  <a:lnTo>
                    <a:pt x="0" y="1133856"/>
                  </a:lnTo>
                  <a:lnTo>
                    <a:pt x="1146048" y="1133856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/>
            <p:nvPr/>
          </p:nvCxnSpPr>
          <p:spPr>
            <a:xfrm>
              <a:off x="2533506" y="2824911"/>
              <a:ext cx="165735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515047" y="1406273"/>
              <a:ext cx="1746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lay 5"/>
            <p:cNvSpPr/>
            <p:nvPr/>
          </p:nvSpPr>
          <p:spPr>
            <a:xfrm>
              <a:off x="1957436" y="1138569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270277" y="1257528"/>
              <a:ext cx="68715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270277" y="1545563"/>
              <a:ext cx="68715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920510" y="1061017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510" y="1061017"/>
                  <a:ext cx="37920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920510" y="1349052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510" y="1349052"/>
                  <a:ext cx="38260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/>
            <p:cNvCxnSpPr/>
            <p:nvPr/>
          </p:nvCxnSpPr>
          <p:spPr>
            <a:xfrm>
              <a:off x="4627713" y="1557314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800860" y="1694308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002159" y="1348666"/>
                  <a:ext cx="4018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2159" y="1348666"/>
                  <a:ext cx="38215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Moon 20"/>
            <p:cNvSpPr/>
            <p:nvPr/>
          </p:nvSpPr>
          <p:spPr>
            <a:xfrm flipH="1">
              <a:off x="4078589" y="1297541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3647444" y="1573384"/>
              <a:ext cx="326237" cy="247577"/>
              <a:chOff x="5146431" y="3865493"/>
              <a:chExt cx="301142" cy="247577"/>
            </a:xfrm>
          </p:grpSpPr>
          <p:sp>
            <p:nvSpPr>
              <p:cNvPr id="29" name="Isosceles Triangle 28"/>
              <p:cNvSpPr/>
              <p:nvPr/>
            </p:nvSpPr>
            <p:spPr>
              <a:xfrm rot="5400000">
                <a:off x="5128994" y="3882930"/>
                <a:ext cx="247577" cy="212704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347881" y="3930793"/>
                <a:ext cx="99692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Flowchart: Delay 32"/>
            <p:cNvSpPr/>
            <p:nvPr/>
          </p:nvSpPr>
          <p:spPr>
            <a:xfrm>
              <a:off x="1957436" y="2561150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4627713" y="2687917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5002159" y="2479269"/>
                  <a:ext cx="4144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2159" y="2479269"/>
                  <a:ext cx="39382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Moon 43"/>
            <p:cNvSpPr/>
            <p:nvPr/>
          </p:nvSpPr>
          <p:spPr>
            <a:xfrm flipH="1">
              <a:off x="4078589" y="2428144"/>
              <a:ext cx="585000" cy="540000"/>
            </a:xfrm>
            <a:prstGeom prst="moon">
              <a:avLst>
                <a:gd name="adj" fmla="val 8456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1267968" y="1688592"/>
              <a:ext cx="2379476" cy="473054"/>
            </a:xfrm>
            <a:custGeom>
              <a:avLst/>
              <a:gdLst>
                <a:gd name="connsiteX0" fmla="*/ 0 w 2237232"/>
                <a:gd name="connsiteY0" fmla="*/ 292608 h 292608"/>
                <a:gd name="connsiteX1" fmla="*/ 1975104 w 2237232"/>
                <a:gd name="connsiteY1" fmla="*/ 292608 h 292608"/>
                <a:gd name="connsiteX2" fmla="*/ 1975104 w 2237232"/>
                <a:gd name="connsiteY2" fmla="*/ 0 h 292608"/>
                <a:gd name="connsiteX3" fmla="*/ 2237232 w 2237232"/>
                <a:gd name="connsiteY3" fmla="*/ 0 h 29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7232" h="292608">
                  <a:moveTo>
                    <a:pt x="0" y="292608"/>
                  </a:moveTo>
                  <a:lnTo>
                    <a:pt x="1975104" y="292608"/>
                  </a:lnTo>
                  <a:lnTo>
                    <a:pt x="1975104" y="0"/>
                  </a:lnTo>
                  <a:lnTo>
                    <a:pt x="2237232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920510" y="1965135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510" y="1965135"/>
                  <a:ext cx="36497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Freeform 58"/>
            <p:cNvSpPr/>
            <p:nvPr/>
          </p:nvSpPr>
          <p:spPr>
            <a:xfrm>
              <a:off x="1727008" y="1546253"/>
              <a:ext cx="230428" cy="1133856"/>
            </a:xfrm>
            <a:custGeom>
              <a:avLst/>
              <a:gdLst>
                <a:gd name="connsiteX0" fmla="*/ 0 w 1146048"/>
                <a:gd name="connsiteY0" fmla="*/ 0 h 1133856"/>
                <a:gd name="connsiteX1" fmla="*/ 0 w 1146048"/>
                <a:gd name="connsiteY1" fmla="*/ 1133856 h 1133856"/>
                <a:gd name="connsiteX2" fmla="*/ 1146048 w 1146048"/>
                <a:gd name="connsiteY2" fmla="*/ 1133856 h 113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6048" h="1133856">
                  <a:moveTo>
                    <a:pt x="0" y="0"/>
                  </a:moveTo>
                  <a:lnTo>
                    <a:pt x="0" y="1133856"/>
                  </a:lnTo>
                  <a:lnTo>
                    <a:pt x="1146048" y="1133856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1545062" y="2161646"/>
              <a:ext cx="412373" cy="806498"/>
            </a:xfrm>
            <a:custGeom>
              <a:avLst/>
              <a:gdLst>
                <a:gd name="connsiteX0" fmla="*/ 0 w 1146048"/>
                <a:gd name="connsiteY0" fmla="*/ 0 h 1133856"/>
                <a:gd name="connsiteX1" fmla="*/ 0 w 1146048"/>
                <a:gd name="connsiteY1" fmla="*/ 1133856 h 1133856"/>
                <a:gd name="connsiteX2" fmla="*/ 1146048 w 1146048"/>
                <a:gd name="connsiteY2" fmla="*/ 1133856 h 1133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6048" h="1133856">
                  <a:moveTo>
                    <a:pt x="0" y="0"/>
                  </a:moveTo>
                  <a:lnTo>
                    <a:pt x="0" y="1133856"/>
                  </a:lnTo>
                  <a:lnTo>
                    <a:pt x="1146048" y="1133856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From Truth Tables to Gate Implementation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686"/>
                <a:ext cx="8229600" cy="12097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Given the truth table of a Boolean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 smtClean="0"/>
                  <a:t>, how do we implement the truth table using logic gates?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686"/>
                <a:ext cx="8229600" cy="1209747"/>
              </a:xfrm>
              <a:blipFill rotWithShape="1">
                <a:blip r:embed="rId2"/>
                <a:stretch>
                  <a:fillRect l="-963" b="-5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115581" y="1905000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851452"/>
              </p:ext>
            </p:extLst>
          </p:nvPr>
        </p:nvGraphicFramePr>
        <p:xfrm>
          <a:off x="304800" y="2487352"/>
          <a:ext cx="262109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996"/>
                <a:gridCol w="142109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 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48959" y="2901585"/>
                <a:ext cx="4998515" cy="588110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 wrap="square" anchor="ctr" anchorCtr="0">
                <a:sp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 smtClean="0"/>
                  <a:t>What </a:t>
                </a:r>
                <a:r>
                  <a:rPr lang="en-US" sz="2400" dirty="0"/>
                  <a:t>is the logic expression </a:t>
                </a:r>
                <a:r>
                  <a:rPr lang="en-US" sz="2400" dirty="0" smtClean="0"/>
                  <a:t>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 smtClean="0"/>
                  <a:t>?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59" y="2901585"/>
                <a:ext cx="4998515" cy="588110"/>
              </a:xfrm>
              <a:prstGeom prst="rect">
                <a:avLst/>
              </a:prstGeom>
              <a:blipFill rotWithShape="1">
                <a:blip r:embed="rId3"/>
                <a:stretch>
                  <a:fillRect b="-17000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48959" y="3759926"/>
                <a:ext cx="4998515" cy="680591"/>
              </a:xfrm>
              <a:prstGeom prst="rect">
                <a:avLst/>
              </a:prstGeom>
              <a:ln w="25400">
                <a:solidFill>
                  <a:srgbClr val="FF0000"/>
                </a:solidFill>
              </a:ln>
            </p:spPr>
            <p:txBody>
              <a:bodyPr wrap="square" anchor="ctr" anchorCtr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400" dirty="0" smtClean="0"/>
                  <a:t>What </a:t>
                </a:r>
                <a:r>
                  <a:rPr lang="en-US" sz="2400" dirty="0"/>
                  <a:t>is the </a:t>
                </a:r>
                <a:r>
                  <a:rPr lang="en-US" sz="2400" dirty="0" smtClean="0"/>
                  <a:t>gate </a:t>
                </a:r>
                <a:r>
                  <a:rPr lang="en-US" sz="2400" dirty="0"/>
                  <a:t>implementation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59" y="3759926"/>
                <a:ext cx="4998515" cy="680591"/>
              </a:xfrm>
              <a:prstGeom prst="rect">
                <a:avLst/>
              </a:prstGeom>
              <a:blipFill rotWithShape="1">
                <a:blip r:embed="rId4"/>
                <a:stretch>
                  <a:fillRect l="-1214" r="-1214" b="-7826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348959" y="4670944"/>
            <a:ext cx="4998515" cy="1267354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2400" dirty="0" smtClean="0"/>
              <a:t>To answer these questions, we need to define Minterms and Maxterms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120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Minterms and Maxterms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4" y="894293"/>
                <a:ext cx="8561286" cy="55878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Minterms</a:t>
                </a:r>
                <a:r>
                  <a:rPr lang="en-US" sz="2400" dirty="0" smtClean="0"/>
                  <a:t> are AND terms with every variable present in either true or complement form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rgbClr val="FF0000"/>
                    </a:solidFill>
                  </a:rPr>
                  <a:t>Maxterms</a:t>
                </a:r>
                <a:r>
                  <a:rPr lang="en-US" sz="2400" dirty="0" smtClean="0"/>
                  <a:t> are OR terms with every variable present in either true or complement form</a:t>
                </a:r>
              </a:p>
              <a:p>
                <a:pPr marL="357188" indent="0">
                  <a:lnSpc>
                    <a:spcPct val="120000"/>
                  </a:lnSpc>
                  <a:spcBef>
                    <a:spcPts val="1200"/>
                  </a:spcBef>
                  <a:buNone/>
                </a:pPr>
                <a:r>
                  <a:rPr lang="en-US" sz="2400" dirty="0" smtClean="0"/>
                  <a:t>Minterms and Maxterms for 2 variables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sz="2400" dirty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sz="2400" dirty="0" smtClean="0"/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For </a:t>
                </a:r>
                <a:r>
                  <a:rPr lang="en-US" sz="2400" i="1" dirty="0" smtClean="0"/>
                  <a:t>n</a:t>
                </a:r>
                <a:r>
                  <a:rPr lang="en-US" sz="2400" dirty="0" smtClean="0"/>
                  <a:t> variables, there are 2</a:t>
                </a:r>
                <a:r>
                  <a:rPr lang="en-US" sz="2400" i="1" baseline="30000" dirty="0" smtClean="0"/>
                  <a:t>n</a:t>
                </a:r>
                <a:r>
                  <a:rPr lang="en-US" sz="2400" dirty="0" smtClean="0"/>
                  <a:t> Minterms and Maxterms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4" y="894293"/>
                <a:ext cx="8561286" cy="5587879"/>
              </a:xfrm>
              <a:blipFill rotWithShape="1">
                <a:blip r:embed="rId2"/>
                <a:stretch>
                  <a:fillRect l="-925" t="-109" b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016444"/>
                  </p:ext>
                </p:extLst>
              </p:nvPr>
            </p:nvGraphicFramePr>
            <p:xfrm>
              <a:off x="743350" y="3601821"/>
              <a:ext cx="7550948" cy="216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987"/>
                    <a:gridCol w="850811"/>
                    <a:gridCol w="1010338"/>
                    <a:gridCol w="2233379"/>
                    <a:gridCol w="2552433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y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index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Minterm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Maxterm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𝑥𝑦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536575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4492539"/>
                  </p:ext>
                </p:extLst>
              </p:nvPr>
            </p:nvGraphicFramePr>
            <p:xfrm>
              <a:off x="805296" y="3601821"/>
              <a:ext cx="8180194" cy="2164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9319"/>
                    <a:gridCol w="921712"/>
                    <a:gridCol w="1094533"/>
                    <a:gridCol w="2419494"/>
                    <a:gridCol w="2765136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y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index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Minterm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Maxterm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/>
                    </a:tc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3678" t="-118571" r="-114358" b="-3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118571" b="-328571"/>
                          </a:stretch>
                        </a:blipFill>
                      </a:tcPr>
                    </a:tc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3678" t="-218571" r="-114358" b="-2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218571" b="-228571"/>
                          </a:stretch>
                        </a:blipFill>
                      </a:tcPr>
                    </a:tc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3678" t="-318571" r="-114358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318571" b="-128571"/>
                          </a:stretch>
                        </a:blipFill>
                      </a:tcPr>
                    </a:tc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3678" t="-418571" r="-114358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418571" b="-2857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86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Minterms and Maxterms for 3 Variables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7810" y="5438247"/>
                <a:ext cx="6274733" cy="1267353"/>
              </a:xfrm>
              <a:ln w="25400">
                <a:solidFill>
                  <a:srgbClr val="FF0000"/>
                </a:solidFill>
              </a:ln>
            </p:spPr>
            <p:txBody>
              <a:bodyPr anchor="ctr" anchorCtr="0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dirty="0" smtClean="0"/>
                  <a:t>Maxterm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𝑀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 smtClean="0"/>
                  <a:t> is the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complement</a:t>
                </a:r>
                <a:r>
                  <a:rPr lang="en-US" sz="2400" dirty="0" smtClean="0"/>
                  <a:t> of Minterm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𝑚</m:t>
                    </m:r>
                    <m:r>
                      <a:rPr lang="en-US" sz="2400" i="1" baseline="-25000" dirty="0" smtClean="0">
                        <a:latin typeface="Cambria Math"/>
                      </a:rPr>
                      <m:t>𝑖</m:t>
                    </m:r>
                  </m:oMath>
                </a14:m>
                <a:endParaRPr lang="en-US" sz="2400" baseline="-250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𝑀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𝑚</m:t>
                    </m:r>
                    <m:r>
                      <a:rPr lang="en-US" sz="2400" b="0" i="1" baseline="-25000" dirty="0" smtClean="0">
                        <a:latin typeface="Cambria Math"/>
                      </a:rPr>
                      <m:t>𝑖</m:t>
                    </m:r>
                    <m:r>
                      <a:rPr lang="en-US" sz="2400" b="0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 smtClean="0"/>
                  <a:t>  and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𝑚</m:t>
                    </m:r>
                    <m:r>
                      <a:rPr lang="en-US" sz="2400" i="1" baseline="-25000" dirty="0" smtClean="0">
                        <a:latin typeface="Cambria Math"/>
                      </a:rPr>
                      <m:t>𝑖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err="1" smtClean="0">
                        <a:latin typeface="Cambria Math"/>
                      </a:rPr>
                      <m:t>𝑀</m:t>
                    </m:r>
                    <m:r>
                      <a:rPr lang="en-US" sz="2400" i="1" baseline="-25000" dirty="0" err="1" smtClean="0">
                        <a:latin typeface="Cambria Math"/>
                      </a:rPr>
                      <m:t>𝑖</m:t>
                    </m:r>
                    <m:r>
                      <a:rPr lang="en-US" sz="24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7810" y="5438247"/>
                <a:ext cx="6274733" cy="1267353"/>
              </a:xfrm>
              <a:blipFill rotWithShape="1">
                <a:blip r:embed="rId2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8233651"/>
                  </p:ext>
                </p:extLst>
              </p:nvPr>
            </p:nvGraphicFramePr>
            <p:xfrm>
              <a:off x="743351" y="1009507"/>
              <a:ext cx="7550947" cy="42909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8108"/>
                    <a:gridCol w="691284"/>
                    <a:gridCol w="691284"/>
                    <a:gridCol w="903987"/>
                    <a:gridCol w="2073852"/>
                    <a:gridCol w="2552432"/>
                  </a:tblGrid>
                  <a:tr h="469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y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index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Minterm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Maxterm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22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2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𝑦𝑧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4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22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2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5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6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𝑥𝑦𝑧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′+</m:t>
                                </m:r>
                                <m:r>
                                  <a:rPr lang="en-US" sz="22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7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 anchor="ctr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3571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𝑀</m:t>
                                </m:r>
                                <m:r>
                                  <a:rPr lang="en-US" sz="22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7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′+</m:t>
                                </m:r>
                                <m:sSup>
                                  <m:sSupPr>
                                    <m:ctrlP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2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22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9175662"/>
                  </p:ext>
                </p:extLst>
              </p:nvPr>
            </p:nvGraphicFramePr>
            <p:xfrm>
              <a:off x="805296" y="1009507"/>
              <a:ext cx="8180193" cy="39748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1284"/>
                    <a:gridCol w="748891"/>
                    <a:gridCol w="748891"/>
                    <a:gridCol w="979319"/>
                    <a:gridCol w="2246673"/>
                    <a:gridCol w="2765135"/>
                  </a:tblGrid>
                  <a:tr h="4694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y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z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index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Minterm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Maxterm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/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118056" r="-123370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118056" b="-725000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218056" r="-12337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218056" b="-625000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2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318056" r="-12337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318056" b="-525000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3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418056" r="-12337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418056" b="-425000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4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525352" r="-123370" b="-330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525352" b="-330986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5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616667" r="-123370" b="-226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616667" b="-226389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0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6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716667" r="-123370" b="-126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716667" b="-126389"/>
                          </a:stretch>
                        </a:blipFill>
                      </a:tcPr>
                    </a:tc>
                  </a:tr>
                  <a:tr h="438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1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solidFill>
                                <a:schemeClr val="tx1"/>
                              </a:solidFill>
                              <a:latin typeface="Calibri" panose="020F0502020204030204" pitchFamily="34" charset="0"/>
                            </a:rPr>
                            <a:t>7</a:t>
                          </a:r>
                          <a:endParaRPr lang="en-US" sz="22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1304" t="-816667" r="-123370" b="-26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5595" t="-816667" b="-2638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4418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altLang="en-US" dirty="0"/>
              <a:t>Purpose of </a:t>
            </a:r>
            <a:r>
              <a:rPr lang="en-US" altLang="en-US" dirty="0" smtClean="0"/>
              <a:t>the </a:t>
            </a:r>
            <a:r>
              <a:rPr lang="en-US" altLang="en-US" dirty="0"/>
              <a:t>Index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850" y="894292"/>
            <a:ext cx="8026400" cy="564548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altLang="en-US" sz="2000" dirty="0">
                <a:cs typeface="Times New Roman" pitchFamily="18" charset="0"/>
              </a:rPr>
              <a:t>Minterms and Maxterms are designated with an index</a:t>
            </a:r>
            <a:r>
              <a:rPr lang="en-US" altLang="en-US" sz="2000" dirty="0"/>
              <a:t> 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altLang="en-US" sz="2000" dirty="0" smtClean="0"/>
              <a:t>The </a:t>
            </a:r>
            <a:r>
              <a:rPr lang="en-US" altLang="en-US" sz="2000" b="1" dirty="0">
                <a:solidFill>
                  <a:srgbClr val="FF0000"/>
                </a:solidFill>
              </a:rPr>
              <a:t>index</a:t>
            </a:r>
            <a:r>
              <a:rPr lang="en-US" altLang="en-US" sz="2000" dirty="0"/>
              <a:t> for the </a:t>
            </a:r>
            <a:r>
              <a:rPr lang="en-US" altLang="en-US" sz="2000" dirty="0" smtClean="0"/>
              <a:t>Minterm </a:t>
            </a:r>
            <a:r>
              <a:rPr lang="en-US" altLang="en-US" sz="2000" dirty="0"/>
              <a:t>or </a:t>
            </a:r>
            <a:r>
              <a:rPr lang="en-US" altLang="en-US" sz="2000" dirty="0" smtClean="0"/>
              <a:t>Maxterm</a:t>
            </a:r>
            <a:r>
              <a:rPr lang="en-US" altLang="en-US" sz="2000" dirty="0"/>
              <a:t>, expressed as a </a:t>
            </a:r>
            <a:r>
              <a:rPr lang="en-US" altLang="en-US" sz="2000" b="1" dirty="0">
                <a:solidFill>
                  <a:srgbClr val="FF0000"/>
                </a:solidFill>
              </a:rPr>
              <a:t>binary number</a:t>
            </a:r>
            <a:r>
              <a:rPr lang="en-US" altLang="en-US" sz="2000" dirty="0"/>
              <a:t>, is used to determine whether the variable is shown in the true or complemented form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altLang="en-US" sz="2000" dirty="0">
                <a:cs typeface="Times New Roman" pitchFamily="18" charset="0"/>
              </a:rPr>
              <a:t>For Minterms:</a:t>
            </a:r>
            <a:endParaRPr lang="en-US" altLang="en-US" sz="2000" dirty="0"/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en-US" sz="1800" dirty="0" smtClean="0">
                <a:cs typeface="Times New Roman" pitchFamily="18" charset="0"/>
              </a:rPr>
              <a:t>‘</a:t>
            </a:r>
            <a:r>
              <a:rPr lang="en-US" altLang="en-US" sz="1800" b="1" dirty="0" smtClean="0">
                <a:solidFill>
                  <a:srgbClr val="FF0000"/>
                </a:solidFill>
                <a:cs typeface="Times New Roman" pitchFamily="18" charset="0"/>
              </a:rPr>
              <a:t>1</a:t>
            </a:r>
            <a:r>
              <a:rPr lang="en-US" altLang="en-US" sz="1800" dirty="0" smtClean="0">
                <a:cs typeface="Times New Roman" pitchFamily="18" charset="0"/>
              </a:rPr>
              <a:t>’ </a:t>
            </a:r>
            <a:r>
              <a:rPr lang="en-US" altLang="en-US" sz="1800" dirty="0">
                <a:cs typeface="Times New Roman" pitchFamily="18" charset="0"/>
              </a:rPr>
              <a:t>means the variable is </a:t>
            </a:r>
            <a:r>
              <a:rPr lang="en-US" altLang="en-US" sz="1800" b="1" dirty="0" smtClean="0">
                <a:solidFill>
                  <a:srgbClr val="FF0000"/>
                </a:solidFill>
                <a:cs typeface="Times New Roman" pitchFamily="18" charset="0"/>
              </a:rPr>
              <a:t>Not Complemented</a:t>
            </a:r>
            <a:endParaRPr lang="en-US" altLang="en-US" sz="1800" dirty="0">
              <a:cs typeface="Times New Roman" pitchFamily="18" charset="0"/>
            </a:endParaRP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en-US" sz="1800" dirty="0">
                <a:cs typeface="Times New Roman" pitchFamily="18" charset="0"/>
              </a:rPr>
              <a:t>‘</a:t>
            </a:r>
            <a:r>
              <a:rPr lang="en-US" altLang="en-US" sz="1800" b="1" dirty="0">
                <a:solidFill>
                  <a:srgbClr val="FF0000"/>
                </a:solidFill>
                <a:cs typeface="Times New Roman" pitchFamily="18" charset="0"/>
              </a:rPr>
              <a:t>0</a:t>
            </a:r>
            <a:r>
              <a:rPr lang="en-US" altLang="en-US" sz="1800" dirty="0">
                <a:cs typeface="Times New Roman" pitchFamily="18" charset="0"/>
              </a:rPr>
              <a:t>’ means  the variable is </a:t>
            </a:r>
            <a:r>
              <a:rPr lang="en-US" altLang="en-US" sz="1800" b="1" dirty="0" smtClean="0">
                <a:solidFill>
                  <a:srgbClr val="FF0000"/>
                </a:solidFill>
                <a:cs typeface="Times New Roman" pitchFamily="18" charset="0"/>
              </a:rPr>
              <a:t>Complemented</a:t>
            </a:r>
            <a:endParaRPr lang="en-US" altLang="en-US" sz="1800" b="1" dirty="0">
              <a:solidFill>
                <a:srgbClr val="FF0000"/>
              </a:solidFill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altLang="en-US" sz="2000" dirty="0">
                <a:cs typeface="Times New Roman" pitchFamily="18" charset="0"/>
              </a:rPr>
              <a:t>For Maxterms:</a:t>
            </a: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en-US" sz="1800" dirty="0">
                <a:cs typeface="Times New Roman" pitchFamily="18" charset="0"/>
              </a:rPr>
              <a:t>‘</a:t>
            </a:r>
            <a:r>
              <a:rPr lang="en-US" altLang="en-US" sz="1800" b="1" dirty="0">
                <a:solidFill>
                  <a:srgbClr val="FF0000"/>
                </a:solidFill>
                <a:cs typeface="Times New Roman" pitchFamily="18" charset="0"/>
              </a:rPr>
              <a:t>0</a:t>
            </a:r>
            <a:r>
              <a:rPr lang="en-US" altLang="en-US" sz="1800" dirty="0">
                <a:cs typeface="Times New Roman" pitchFamily="18" charset="0"/>
              </a:rPr>
              <a:t>’ means  the variable is </a:t>
            </a:r>
            <a:r>
              <a:rPr lang="en-US" altLang="en-US" sz="1800" b="1" dirty="0" smtClean="0">
                <a:solidFill>
                  <a:srgbClr val="FF0000"/>
                </a:solidFill>
                <a:cs typeface="Times New Roman" pitchFamily="18" charset="0"/>
              </a:rPr>
              <a:t>Not Complemented</a:t>
            </a:r>
            <a:endParaRPr lang="en-US" altLang="en-US" sz="1800" b="1" dirty="0">
              <a:solidFill>
                <a:srgbClr val="FF0000"/>
              </a:solidFill>
              <a:cs typeface="Times New Roman" pitchFamily="18" charset="0"/>
            </a:endParaRP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en-US" sz="1800" dirty="0">
                <a:cs typeface="Times New Roman" pitchFamily="18" charset="0"/>
              </a:rPr>
              <a:t>‘</a:t>
            </a:r>
            <a:r>
              <a:rPr lang="en-US" altLang="en-US" sz="1800" b="1" dirty="0">
                <a:solidFill>
                  <a:srgbClr val="FF0000"/>
                </a:solidFill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’ means the variable is </a:t>
            </a:r>
            <a:r>
              <a:rPr lang="en-US" altLang="en-US" sz="1800" b="1" dirty="0" smtClean="0">
                <a:solidFill>
                  <a:srgbClr val="FF0000"/>
                </a:solidFill>
                <a:cs typeface="Times New Roman" pitchFamily="18" charset="0"/>
              </a:rPr>
              <a:t>Complemented</a:t>
            </a:r>
            <a:r>
              <a:rPr lang="en-US" altLang="en-US" sz="1800" dirty="0" smtClean="0">
                <a:cs typeface="Times New Roman" pitchFamily="18" charset="0"/>
              </a:rPr>
              <a:t> </a:t>
            </a:r>
            <a:endParaRPr lang="en-US" altLang="en-US" sz="1800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99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Sum-Of-Minterms (SOM) Canonical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582" y="1585578"/>
            <a:ext cx="3350069" cy="1094533"/>
          </a:xfrm>
          <a:ln w="25400">
            <a:solidFill>
              <a:srgbClr val="FF0000"/>
            </a:solidFill>
          </a:ln>
        </p:spPr>
        <p:txBody>
          <a:bodyPr anchor="ctr" anchorCtr="0">
            <a:normAutofit fontScale="77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 smtClean="0"/>
              <a:t>Sum of Minterm entries that evaluate to </a:t>
            </a:r>
            <a:r>
              <a:rPr lang="en-US" altLang="en-US" dirty="0"/>
              <a:t>‘</a:t>
            </a:r>
            <a:r>
              <a:rPr lang="en-US" altLang="en-US" b="1" dirty="0">
                <a:solidFill>
                  <a:srgbClr val="FF0000"/>
                </a:solidFill>
              </a:rPr>
              <a:t>1</a:t>
            </a:r>
            <a:r>
              <a:rPr lang="en-US" altLang="en-US" dirty="0"/>
              <a:t>’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64101" y="951900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9029211"/>
                  </p:ext>
                </p:extLst>
              </p:nvPr>
            </p:nvGraphicFramePr>
            <p:xfrm>
              <a:off x="902877" y="1470362"/>
              <a:ext cx="3509596" cy="4032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5033"/>
                    <a:gridCol w="809292"/>
                    <a:gridCol w="1595271"/>
                  </a:tblGrid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Minterm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2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𝑦𝑧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3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5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7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𝑥𝑦𝑧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4561"/>
                  </p:ext>
                </p:extLst>
              </p:nvPr>
            </p:nvGraphicFramePr>
            <p:xfrm>
              <a:off x="978117" y="1470362"/>
              <a:ext cx="3802062" cy="4032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7119"/>
                    <a:gridCol w="876733"/>
                    <a:gridCol w="1728210"/>
                  </a:tblGrid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Minterm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9718" t="-309589" r="-352" b="-516438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9718" t="-404054" r="-352" b="-409459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9718" t="-602703" r="-352" b="-210811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9718" t="-801351" r="-352" b="-1216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5050582" y="2968145"/>
            <a:ext cx="3350069" cy="576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400" dirty="0" smtClean="0"/>
              <a:t>Focus on the </a:t>
            </a:r>
            <a:r>
              <a:rPr lang="en-US" altLang="en-US" sz="2400" dirty="0" smtClean="0"/>
              <a:t>‘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1</a:t>
            </a:r>
            <a:r>
              <a:rPr lang="en-US" altLang="en-US" sz="2400" dirty="0" smtClean="0"/>
              <a:t>’ </a:t>
            </a:r>
            <a:r>
              <a:rPr lang="en-US" sz="2400" dirty="0" smtClean="0"/>
              <a:t>entries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50582" y="3774643"/>
                <a:ext cx="3350069" cy="57607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63" y="3774643"/>
                <a:ext cx="3629241" cy="576070"/>
              </a:xfrm>
              <a:prstGeom prst="rect">
                <a:avLst/>
              </a:prstGeom>
              <a:blipFill rotWithShape="1">
                <a:blip r:embed="rId3"/>
                <a:stretch>
                  <a:fillRect b="-4040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50582" y="4581141"/>
                <a:ext cx="3350069" cy="86410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2, 3, 5, 7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63" y="4581140"/>
                <a:ext cx="3629241" cy="8641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19567" y="5790887"/>
                <a:ext cx="4413582" cy="633677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𝑦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𝑦𝑧</m:t>
                      </m:r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𝑥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𝑥𝑦𝑧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64" y="5790886"/>
                <a:ext cx="4781381" cy="6336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58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Sum-Of-Minterms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/>
                          </a:rPr>
                          <m:t>(2, 3, 6, 10, 11)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11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𝑐𝑑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r>
                      <a:rPr lang="en-US" b="0" i="1" smtClean="0">
                        <a:latin typeface="Cambria Math"/>
                      </a:rPr>
                      <m:t>𝑏𝑐𝑑</m:t>
                    </m:r>
                    <m:r>
                      <a:rPr lang="en-US" b="0" i="1" smtClean="0">
                        <a:latin typeface="Cambria Math"/>
                      </a:rPr>
                      <m:t>′+</m:t>
                    </m:r>
                    <m:r>
                      <a:rPr lang="en-US" b="0" i="1" smtClean="0">
                        <a:latin typeface="Cambria Math"/>
                      </a:rPr>
                      <m:t>𝑎𝑏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r>
                      <a:rPr lang="en-US" b="0" i="1" smtClean="0">
                        <a:latin typeface="Cambria Math"/>
                      </a:rPr>
                      <m:t>𝑐𝑑</m:t>
                    </m:r>
                    <m:r>
                      <a:rPr lang="en-US" b="0" i="1" smtClean="0">
                        <a:latin typeface="Cambria Math"/>
                      </a:rPr>
                      <m:t>′+</m:t>
                    </m:r>
                    <m:r>
                      <a:rPr lang="en-US" b="0" i="1" smtClean="0">
                        <a:latin typeface="Cambria Math"/>
                      </a:rPr>
                      <m:t>𝑎𝑏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r>
                      <a:rPr lang="en-US" b="0" i="1" smtClean="0">
                        <a:latin typeface="Cambria Math"/>
                      </a:rPr>
                      <m:t>𝑐𝑑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  <m:r>
                          <a:rPr lang="en-US" i="1">
                            <a:latin typeface="Cambria Math"/>
                          </a:rPr>
                          <m:t>, 1</m:t>
                        </m:r>
                        <m:r>
                          <a:rPr lang="en-US" b="0" i="1" smtClean="0">
                            <a:latin typeface="Cambria Math"/>
                          </a:rPr>
                          <m:t>2, 15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𝑎𝑏𝑐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′+</m:t>
                    </m:r>
                    <m:r>
                      <a:rPr lang="en-US" i="1">
                        <a:latin typeface="Cambria Math"/>
                      </a:rPr>
                      <m:t>𝑎𝑏𝑐𝑑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9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75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Product-Of-Maxterms (POM) Canonical Form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564101" y="951900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657056"/>
                  </p:ext>
                </p:extLst>
              </p:nvPr>
            </p:nvGraphicFramePr>
            <p:xfrm>
              <a:off x="530648" y="1470362"/>
              <a:ext cx="3935001" cy="4032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5033"/>
                    <a:gridCol w="649765"/>
                    <a:gridCol w="2180203"/>
                  </a:tblGrid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Maxterm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0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1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4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6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6970140"/>
                  </p:ext>
                </p:extLst>
              </p:nvPr>
            </p:nvGraphicFramePr>
            <p:xfrm>
              <a:off x="574868" y="1470362"/>
              <a:ext cx="4262918" cy="4032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7119"/>
                    <a:gridCol w="703912"/>
                    <a:gridCol w="2361887"/>
                  </a:tblGrid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Maxterm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0412" t="-108219" b="-717808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0412" t="-205405" b="-608108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0412" t="-510959" b="-315068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0412" t="-712329" b="-113699"/>
                          </a:stretch>
                        </a:blipFill>
                      </a:tcPr>
                    </a:tc>
                  </a:tr>
                  <a:tr h="4480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050581" y="1585578"/>
            <a:ext cx="3615947" cy="1094533"/>
          </a:xfrm>
          <a:ln w="25400">
            <a:solidFill>
              <a:srgbClr val="FF0000"/>
            </a:solidFill>
          </a:ln>
        </p:spPr>
        <p:txBody>
          <a:bodyPr anchor="ctr" anchorCtr="0">
            <a:normAutofit fontScale="77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 smtClean="0"/>
              <a:t>Product of Maxterm entries that evaluate to </a:t>
            </a:r>
            <a:r>
              <a:rPr lang="en-US" altLang="en-US" dirty="0" smtClean="0"/>
              <a:t>‘</a:t>
            </a:r>
            <a:r>
              <a:rPr lang="en-US" altLang="en-US" b="1" dirty="0" smtClean="0">
                <a:solidFill>
                  <a:srgbClr val="FF0000"/>
                </a:solidFill>
              </a:rPr>
              <a:t>0</a:t>
            </a:r>
            <a:r>
              <a:rPr lang="en-US" altLang="en-US" dirty="0" smtClean="0"/>
              <a:t>’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50581" y="2968145"/>
            <a:ext cx="3615947" cy="5760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400" dirty="0" smtClean="0"/>
              <a:t>Focus on the </a:t>
            </a:r>
            <a:r>
              <a:rPr lang="en-US" altLang="en-US" sz="2400" dirty="0" smtClean="0"/>
              <a:t>‘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0</a:t>
            </a:r>
            <a:r>
              <a:rPr lang="en-US" altLang="en-US" sz="2400" dirty="0" smtClean="0"/>
              <a:t>’ </a:t>
            </a:r>
            <a:r>
              <a:rPr lang="en-US" sz="2400" dirty="0" smtClean="0"/>
              <a:t>entries 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50581" y="3774643"/>
                <a:ext cx="3615947" cy="57607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</a:rPr>
                        <m:t>·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·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·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63" y="3774643"/>
                <a:ext cx="3917276" cy="576070"/>
              </a:xfrm>
              <a:prstGeom prst="rect">
                <a:avLst/>
              </a:prstGeom>
              <a:blipFill rotWithShape="1">
                <a:blip r:embed="rId3"/>
                <a:stretch>
                  <a:fillRect b="-4040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50581" y="4581141"/>
                <a:ext cx="3615947" cy="86410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0, 1, 4, 6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63" y="4581140"/>
                <a:ext cx="3917276" cy="8641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28284" y="5790887"/>
                <a:ext cx="6700137" cy="69128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𝑓</m:t>
                      </m:r>
                      <m:r>
                        <a:rPr lang="en-US" sz="2000" i="1" dirty="0" smtClean="0">
                          <a:latin typeface="Cambria Math"/>
                        </a:rPr>
                        <m:t>=(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𝑥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𝑦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)(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𝑥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𝑦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𝑦</m:t>
                      </m:r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00" b="0" i="1" dirty="0" smtClean="0">
                          <a:latin typeface="Cambria Math"/>
                        </a:rPr>
                        <m:t>+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000" b="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284" y="5790887"/>
                <a:ext cx="6700137" cy="6912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38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Product-Of-Maxterms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143000"/>
                <a:ext cx="8475208" cy="5143500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b="0" i="1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/>
                          </a:rPr>
                          <m:t>(1, 3, 11)</m:t>
                        </m:r>
                      </m:e>
                    </m:nary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11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𝑓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𝑏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𝑐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)=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/>
                      </a:rPr>
                      <m:t> (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𝑏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i="1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0" i="1" smtClean="0">
                            <a:latin typeface="Cambria Math"/>
                          </a:rPr>
                          <m:t>5</m:t>
                        </m:r>
                        <m:r>
                          <a:rPr lang="en-US" i="1">
                            <a:latin typeface="Cambria Math"/>
                          </a:rPr>
                          <m:t>, 1</m:t>
                        </m:r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𝑎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𝑑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𝑏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/>
                      </a:rPr>
                      <m:t> (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i="1">
                        <a:latin typeface="Cambria Math"/>
                      </a:rPr>
                      <m:t>𝑏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299" y="1143000"/>
                <a:ext cx="9181475" cy="5143500"/>
              </a:xfrm>
              <a:blipFill rotWithShape="1">
                <a:blip r:embed="rId2"/>
                <a:stretch>
                  <a:fillRect l="-863" t="-9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02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Conversions between Canonical Forms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685"/>
                <a:ext cx="8262504" cy="150325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The same Boolean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can be expressed in two ways:</a:t>
                </a:r>
              </a:p>
              <a:p>
                <a:pPr marL="715963" lvl="1" indent="-358775">
                  <a:spcBef>
                    <a:spcPts val="1200"/>
                  </a:spcBef>
                  <a:tabLst>
                    <a:tab pos="3405188" algn="l"/>
                  </a:tabLst>
                </a:pPr>
                <a:r>
                  <a:rPr lang="en-US" sz="1800" dirty="0" smtClean="0"/>
                  <a:t>Sum-of-Minterms	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𝑓</m:t>
                    </m:r>
                    <m:r>
                      <a:rPr lang="en-US" sz="180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7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(0, 2, 3, 5, 7)</m:t>
                        </m:r>
                      </m:e>
                    </m:nary>
                  </m:oMath>
                </a14:m>
                <a:endParaRPr lang="en-US" sz="1800" dirty="0" smtClean="0"/>
              </a:p>
              <a:p>
                <a:pPr marL="715963" lvl="1" indent="-358775">
                  <a:spcBef>
                    <a:spcPts val="1200"/>
                  </a:spcBef>
                  <a:tabLst>
                    <a:tab pos="3405188" algn="l"/>
                  </a:tabLst>
                </a:pPr>
                <a:r>
                  <a:rPr lang="en-US" sz="1800" dirty="0" smtClean="0"/>
                  <a:t>Product-of-Maxterms	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𝑓</m:t>
                    </m:r>
                    <m:r>
                      <a:rPr lang="en-US" sz="180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  <a:ea typeface="Cambria Math"/>
                          </a:rPr>
                          <m:t>4</m:t>
                        </m:r>
                      </m:sub>
                    </m:sSub>
                    <m:r>
                      <a:rPr lang="en-US" sz="1800" i="1" dirty="0">
                        <a:latin typeface="Cambria Math"/>
                        <a:ea typeface="Cambria Math"/>
                      </a:rPr>
                      <m:t>∙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  <a:ea typeface="Cambria Math"/>
                          </a:rPr>
                          <m:t>𝑀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  <a:ea typeface="Cambria Math"/>
                          </a:rPr>
                          <m:t>6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∏"/>
                        <m:subHide m:val="on"/>
                        <m:supHide m:val="on"/>
                        <m:ctrlPr>
                          <a:rPr lang="en-US" sz="1800" b="0" i="1" dirty="0" smtClean="0">
                            <a:latin typeface="Cambria Math"/>
                            <a:ea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800" b="0" i="1" dirty="0" smtClean="0">
                            <a:latin typeface="Cambria Math"/>
                            <a:ea typeface="Cambria Math"/>
                          </a:rPr>
                          <m:t>(1, 4, 6)</m:t>
                        </m:r>
                      </m:e>
                    </m:nary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685"/>
                <a:ext cx="8262504" cy="1503256"/>
              </a:xfrm>
              <a:blipFill rotWithShape="1">
                <a:blip r:embed="rId2"/>
                <a:stretch>
                  <a:fillRect l="-590" t="-2024" b="-28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1359078"/>
                  </p:ext>
                </p:extLst>
              </p:nvPr>
            </p:nvGraphicFramePr>
            <p:xfrm>
              <a:off x="228600" y="2858404"/>
              <a:ext cx="4875157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1684"/>
                    <a:gridCol w="536075"/>
                    <a:gridCol w="1443323"/>
                    <a:gridCol w="1984075"/>
                  </a:tblGrid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Minterms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Maxterms</a:t>
                          </a: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indent="0"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0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1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2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3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 err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Consolas" panose="020B0609020204030204" pitchFamily="49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4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indent="0"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5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𝑀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6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𝑦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′+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648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𝑚</m:t>
                                </m:r>
                                <m:r>
                                  <a:rPr lang="en-US" sz="2000" b="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7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𝑥𝑦</m:t>
                                </m:r>
                                <m:r>
                                  <a:rPr lang="en-US" sz="2000" i="1" dirty="0" err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Consolas" panose="020B0609020204030204" pitchFamily="49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1359078"/>
                  </p:ext>
                </p:extLst>
              </p:nvPr>
            </p:nvGraphicFramePr>
            <p:xfrm>
              <a:off x="228600" y="2858404"/>
              <a:ext cx="4875157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1684"/>
                    <a:gridCol w="536075"/>
                    <a:gridCol w="1443323"/>
                    <a:gridCol w="1984075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x y z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f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Minterms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Maxterms</a:t>
                          </a:r>
                        </a:p>
                      </a:txBody>
                      <a:tcPr marL="84406" marR="84406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00422" t="-107692" r="-137553" b="-7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46154" t="-207692" r="-308" b="-6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00422" t="-307692" r="-137553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00422" t="-407692" r="-137553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9388" indent="0" algn="l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46154" t="-507692" r="-308" b="-3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1 0 1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00422" t="-607692" r="-137553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0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marL="179388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46154" t="-707692" r="-308" b="-127692"/>
                          </a:stretch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1 1 1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1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4406" marR="84406">
                        <a:blipFill rotWithShape="1">
                          <a:blip r:embed="rId3"/>
                          <a:stretch>
                            <a:fillRect l="-100422" t="-807692" r="-137553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179388" indent="0" algn="ctr"/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marL="84406" marR="84406"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369636" y="3601820"/>
            <a:ext cx="3350069" cy="247710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000" kern="0" dirty="0" smtClean="0">
                <a:ea typeface="Cambria Math" panose="02040503050406030204" pitchFamily="18" charset="0"/>
              </a:rPr>
              <a:t>To convert from one canonical form to another, interchange the symbols </a:t>
            </a:r>
            <a:r>
              <a:rPr lang="en-US" sz="2000" b="1" kern="0" dirty="0" smtClean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  <a:sym typeface="Symbol"/>
              </a:rPr>
              <a:t></a:t>
            </a:r>
            <a:r>
              <a:rPr lang="en-US" sz="2000" kern="0" dirty="0" smtClean="0">
                <a:ea typeface="Cambria Math" panose="02040503050406030204" pitchFamily="18" charset="0"/>
              </a:rPr>
              <a:t> and </a:t>
            </a:r>
            <a:r>
              <a:rPr lang="en-US" sz="2000" b="1" kern="0" dirty="0" smtClean="0">
                <a:ea typeface="Cambria Math" panose="02040503050406030204" pitchFamily="18" charset="0"/>
                <a:sym typeface="Symbol"/>
              </a:rPr>
              <a:t></a:t>
            </a:r>
            <a:r>
              <a:rPr lang="en-US" sz="2000" kern="0" dirty="0" smtClean="0">
                <a:ea typeface="Cambria Math" panose="02040503050406030204" pitchFamily="18" charset="0"/>
                <a:sym typeface="Symbol"/>
              </a:rPr>
              <a:t> </a:t>
            </a:r>
            <a:r>
              <a:rPr lang="en-US" sz="2000" kern="0" dirty="0" smtClean="0">
                <a:ea typeface="Cambria Math" panose="02040503050406030204" pitchFamily="18" charset="0"/>
              </a:rPr>
              <a:t>and list those numbers missing from the original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3628" y="2333659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1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Function Complement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95784" y="1004033"/>
                <a:ext cx="5264394" cy="305864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1500"/>
                  </a:spcBef>
                  <a:buNone/>
                </a:pPr>
                <a:r>
                  <a:rPr lang="en-US" dirty="0" smtClean="0"/>
                  <a:t>Given a Boolean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i="1" dirty="0" smtClean="0">
                  <a:latin typeface="Cambria Math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b="0" i="1" dirty="0" smtClean="0">
                          <a:latin typeface="Cambria Math"/>
                        </a:rPr>
                        <m:t>(</m:t>
                      </m:r>
                      <m:r>
                        <a:rPr lang="en-US" b="0" i="1" dirty="0" smtClean="0">
                          <a:latin typeface="Cambria Math"/>
                        </a:rPr>
                        <m:t>𝑥</m:t>
                      </m:r>
                      <m:r>
                        <a:rPr lang="en-US" b="0" i="1" dirty="0" smtClean="0">
                          <a:latin typeface="Cambria Math"/>
                        </a:rPr>
                        <m:t>,</m:t>
                      </m:r>
                      <m:r>
                        <a:rPr lang="en-US" b="0" i="1" dirty="0" smtClean="0">
                          <a:latin typeface="Cambria Math"/>
                        </a:rPr>
                        <m:t>𝑦</m:t>
                      </m:r>
                      <m:r>
                        <a:rPr lang="en-US" b="0" i="1" dirty="0" smtClean="0">
                          <a:latin typeface="Cambria Math"/>
                        </a:rPr>
                        <m:t>,</m:t>
                      </m:r>
                      <m:r>
                        <a:rPr lang="en-US" b="0" i="1" dirty="0" smtClean="0">
                          <a:latin typeface="Cambria Math"/>
                        </a:rPr>
                        <m:t>𝑧</m:t>
                      </m:r>
                      <m:r>
                        <a:rPr lang="en-US" b="0" i="1" dirty="0" smtClean="0">
                          <a:latin typeface="Cambria Math"/>
                        </a:rPr>
                        <m:t>)=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0, 2, 3, 5, 7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∏"/>
                              <m:subHide m:val="on"/>
                              <m:supHide m:val="on"/>
                              <m:ctrlPr>
                                <a:rPr lang="en-US" b="0" i="1" dirty="0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(1, 4, 6)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lnSpc>
                    <a:spcPct val="110000"/>
                  </a:lnSpc>
                  <a:spcBef>
                    <a:spcPts val="1500"/>
                  </a:spcBef>
                  <a:buNone/>
                </a:pPr>
                <a:r>
                  <a:rPr lang="en-US" dirty="0" smtClean="0"/>
                  <a:t>Then, the complement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dirty="0" smtClean="0"/>
                  <a:t> of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𝑓</m:t>
                    </m:r>
                  </m:oMath>
                </a14:m>
                <a:endParaRPr lang="en-US" dirty="0" smtClean="0"/>
              </a:p>
              <a:p>
                <a:pPr marL="0" indent="0">
                  <a:lnSpc>
                    <a:spcPct val="110000"/>
                  </a:lnSpc>
                  <a:spcBef>
                    <a:spcPts val="15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𝑓</m:t>
                      </m:r>
                      <m:r>
                        <a:rPr lang="en-US" i="1" dirty="0" smtClean="0">
                          <a:latin typeface="Cambria Math"/>
                        </a:rPr>
                        <m:t>′(</m:t>
                      </m:r>
                      <m:r>
                        <a:rPr lang="en-US" i="1" dirty="0" err="1" smtClean="0">
                          <a:latin typeface="Cambria Math"/>
                        </a:rPr>
                        <m:t>𝑥</m:t>
                      </m:r>
                      <m:r>
                        <a:rPr lang="en-US" i="1" dirty="0" err="1" smtClean="0">
                          <a:latin typeface="Cambria Math"/>
                        </a:rPr>
                        <m:t>,</m:t>
                      </m:r>
                      <m:r>
                        <a:rPr lang="en-US" i="1" dirty="0" err="1" smtClean="0">
                          <a:latin typeface="Cambria Math"/>
                        </a:rPr>
                        <m:t>𝑦</m:t>
                      </m:r>
                      <m:r>
                        <a:rPr lang="en-US" i="1" dirty="0" err="1" smtClean="0">
                          <a:latin typeface="Cambria Math"/>
                        </a:rPr>
                        <m:t>,</m:t>
                      </m:r>
                      <m:r>
                        <a:rPr lang="en-US" i="1" dirty="0" err="1" smtClean="0">
                          <a:latin typeface="Cambria Math"/>
                        </a:rPr>
                        <m:t>𝑧</m:t>
                      </m:r>
                      <m:r>
                        <a:rPr lang="en-US" i="1" dirty="0" smtClean="0">
                          <a:latin typeface="Cambria Math"/>
                        </a:rPr>
                        <m:t>)=</m:t>
                      </m:r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0, 2, 3, 5, 7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dirty="0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dirty="0" smtClean="0">
                                  <a:latin typeface="Cambria Math"/>
                                </a:rPr>
                                <m:t>(1, 4, 6)</m:t>
                              </m:r>
                            </m:e>
                          </m:nary>
                        </m:e>
                      </m:nary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70432" y="1004032"/>
                <a:ext cx="5703093" cy="3058645"/>
              </a:xfrm>
              <a:blipFill rotWithShape="1">
                <a:blip r:embed="rId2"/>
                <a:stretch>
                  <a:fillRect l="-1711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610614"/>
              </p:ext>
            </p:extLst>
          </p:nvPr>
        </p:nvGraphicFramePr>
        <p:xfrm>
          <a:off x="530648" y="1701599"/>
          <a:ext cx="2339730" cy="4319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243"/>
                <a:gridCol w="644562"/>
                <a:gridCol w="649925"/>
              </a:tblGrid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 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f'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799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348960" y="4235498"/>
            <a:ext cx="5158041" cy="207385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000" kern="0" dirty="0" smtClean="0">
                <a:ea typeface="Cambria Math" panose="02040503050406030204" pitchFamily="18" charset="0"/>
              </a:rPr>
              <a:t>The complement of a function expressed by a Sum of Minterms is the Product of Maxterms with the same indices. Interchange the symbols </a:t>
            </a:r>
            <a:r>
              <a:rPr lang="en-US" sz="2000" b="1" kern="0" dirty="0" smtClean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  <a:sym typeface="Symbol"/>
              </a:rPr>
              <a:t></a:t>
            </a:r>
            <a:r>
              <a:rPr lang="en-US" sz="2000" kern="0" dirty="0" smtClean="0">
                <a:ea typeface="Cambria Math" panose="02040503050406030204" pitchFamily="18" charset="0"/>
              </a:rPr>
              <a:t> and </a:t>
            </a:r>
            <a:r>
              <a:rPr lang="en-US" sz="2000" b="1" kern="0" dirty="0" smtClean="0">
                <a:ea typeface="Cambria Math" panose="02040503050406030204" pitchFamily="18" charset="0"/>
                <a:sym typeface="Symbol"/>
              </a:rPr>
              <a:t></a:t>
            </a:r>
            <a:r>
              <a:rPr lang="en-US" sz="2000" kern="0" dirty="0" smtClean="0">
                <a:ea typeface="Cambria Math" panose="02040503050406030204" pitchFamily="18" charset="0"/>
                <a:sym typeface="Symbol"/>
              </a:rPr>
              <a:t>, but keep the same </a:t>
            </a:r>
            <a:r>
              <a:rPr lang="en-US" sz="2000" kern="0" dirty="0" smtClean="0">
                <a:ea typeface="Cambria Math" panose="02040503050406030204" pitchFamily="18" charset="0"/>
              </a:rPr>
              <a:t>list of indices.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9703" y="1067114"/>
            <a:ext cx="1613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Truth Table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8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Summary of Minterms and Maxterms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1009506"/>
            <a:ext cx="8614462" cy="553027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sz="2400" dirty="0"/>
              <a:t>There are 2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Minterms </a:t>
            </a:r>
            <a:r>
              <a:rPr lang="en-US" altLang="en-US" sz="2400" dirty="0"/>
              <a:t>and </a:t>
            </a:r>
            <a:r>
              <a:rPr lang="en-US" altLang="en-US" sz="2400" dirty="0" smtClean="0"/>
              <a:t>Maxterms </a:t>
            </a:r>
            <a:r>
              <a:rPr lang="en-US" altLang="en-US" sz="2400" dirty="0"/>
              <a:t>for Boolean functions with </a:t>
            </a:r>
            <a:r>
              <a:rPr lang="en-US" altLang="en-US" sz="2400" i="1" dirty="0"/>
              <a:t>n</a:t>
            </a:r>
            <a:r>
              <a:rPr lang="en-US" altLang="en-US" sz="2400" dirty="0"/>
              <a:t> </a:t>
            </a:r>
            <a:r>
              <a:rPr lang="en-US" altLang="en-US" sz="2400" dirty="0" smtClean="0"/>
              <a:t>variables, indexed from 0 to </a:t>
            </a:r>
            <a:r>
              <a:rPr lang="en-US" altLang="en-US" sz="2400" dirty="0"/>
              <a:t>2</a:t>
            </a:r>
            <a:r>
              <a:rPr lang="en-US" altLang="en-US" sz="2400" i="1" baseline="30000" dirty="0"/>
              <a:t>n</a:t>
            </a:r>
            <a:r>
              <a:rPr lang="en-US" altLang="en-US" sz="2400" dirty="0"/>
              <a:t> – </a:t>
            </a:r>
            <a:r>
              <a:rPr lang="en-US" altLang="en-US" sz="2400" dirty="0" smtClean="0"/>
              <a:t>1</a:t>
            </a:r>
            <a:endParaRPr lang="en-US" altLang="en-US" sz="2400" dirty="0"/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sz="2400" dirty="0" smtClean="0"/>
              <a:t>Minterms correspond to the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1-entries</a:t>
            </a:r>
            <a:r>
              <a:rPr lang="en-US" altLang="en-US" sz="2400" dirty="0" smtClean="0"/>
              <a:t> of the function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sz="2400" dirty="0" smtClean="0"/>
              <a:t>Maxterms correspond to the </a:t>
            </a:r>
            <a:r>
              <a:rPr lang="en-US" altLang="en-US" sz="2400" b="1" dirty="0" smtClean="0">
                <a:solidFill>
                  <a:srgbClr val="FF0000"/>
                </a:solidFill>
              </a:rPr>
              <a:t>0-entries</a:t>
            </a:r>
            <a:r>
              <a:rPr lang="en-US" altLang="en-US" sz="2400" dirty="0" smtClean="0"/>
              <a:t> of the function</a:t>
            </a:r>
            <a:endParaRPr lang="en-US" altLang="en-US" sz="2400" dirty="0"/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sz="2400" dirty="0"/>
              <a:t>Any Boolean function can be expressed as a </a:t>
            </a:r>
            <a:r>
              <a:rPr lang="en-US" altLang="en-US" sz="2400" dirty="0" smtClean="0"/>
              <a:t>Sum-of-Minterms </a:t>
            </a:r>
            <a:r>
              <a:rPr lang="en-US" altLang="en-US" sz="2400" dirty="0"/>
              <a:t>and as a </a:t>
            </a:r>
            <a:r>
              <a:rPr lang="en-US" altLang="en-US" sz="2400" dirty="0" smtClean="0"/>
              <a:t>Product-of-Maxterms</a:t>
            </a:r>
            <a:endParaRPr lang="en-US" altLang="en-US" sz="2400" dirty="0"/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sz="2400" dirty="0" smtClean="0"/>
              <a:t>For a Boolean function, given the list of Minterm indices one can determine the list of Maxterms indices (and vice versa)</a:t>
            </a:r>
            <a:endParaRPr lang="en-US" altLang="en-US" sz="2400" dirty="0"/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sz="2400" dirty="0"/>
              <a:t>The complement of a </a:t>
            </a:r>
            <a:r>
              <a:rPr lang="en-US" altLang="en-US" sz="2400" dirty="0" smtClean="0"/>
              <a:t>Sum-of-Minterms </a:t>
            </a:r>
            <a:r>
              <a:rPr lang="en-US" altLang="en-US" sz="2400" dirty="0"/>
              <a:t>is a </a:t>
            </a:r>
            <a:r>
              <a:rPr lang="en-US" altLang="en-US" sz="2400" dirty="0" smtClean="0"/>
              <a:t>Product-of-Maxterms </a:t>
            </a:r>
            <a:r>
              <a:rPr lang="en-US" altLang="en-US" sz="2400" dirty="0"/>
              <a:t>with the same </a:t>
            </a:r>
            <a:r>
              <a:rPr lang="en-US" altLang="en-US" sz="2400" dirty="0" smtClean="0"/>
              <a:t>indices (and vice versa)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94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Sum-of-Products and Products-of-Sums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121" y="836686"/>
                <a:ext cx="8454935" cy="570309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Canonical forms contain a larger number of literals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Because the Minterms (and Maxterms) must contain, by definition, all the variables either complemented or not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Another way to express Boolean functions is in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standard</a:t>
                </a:r>
                <a:r>
                  <a:rPr lang="en-US" sz="2000" dirty="0" smtClean="0"/>
                  <a:t> form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Two standard forms: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Sum-of-Products</a:t>
                </a:r>
                <a:r>
                  <a:rPr lang="en-US" sz="2000" dirty="0" smtClean="0"/>
                  <a:t> and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Product-of -Sums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Sum of Products (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SOP</a:t>
                </a:r>
                <a:r>
                  <a:rPr lang="en-US" sz="2000" dirty="0" smtClean="0"/>
                  <a:t>)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Boolean expression is the </a:t>
                </a:r>
                <a:r>
                  <a:rPr lang="en-US" sz="1800" b="1" dirty="0" err="1" smtClean="0">
                    <a:solidFill>
                      <a:srgbClr val="FF0000"/>
                    </a:solidFill>
                  </a:rPr>
                  <a:t>ORing</a:t>
                </a:r>
                <a:r>
                  <a:rPr lang="en-US" sz="1800" dirty="0" smtClean="0"/>
                  <a:t> (sum) of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AND terms</a:t>
                </a:r>
                <a:r>
                  <a:rPr lang="en-US" sz="1800" dirty="0" smtClean="0"/>
                  <a:t> (products)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  <a:tabLst>
                    <a:tab pos="5022850" algn="l"/>
                  </a:tabLst>
                </a:pPr>
                <a:r>
                  <a:rPr lang="en-US" sz="1800" dirty="0" smtClean="0"/>
                  <a:t>Examples: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𝑓</m:t>
                    </m:r>
                    <m:r>
                      <a:rPr lang="en-US" sz="1800" i="1" baseline="-25000" dirty="0">
                        <a:latin typeface="Cambria Math"/>
                      </a:rPr>
                      <m:t>1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r>
                      <a:rPr lang="en-US" sz="1800" i="1" dirty="0" err="1">
                        <a:latin typeface="Cambria Math"/>
                      </a:rPr>
                      <m:t>𝑥𝑦</m:t>
                    </m:r>
                    <m:r>
                      <a:rPr lang="en-US" sz="1800" i="1" dirty="0">
                        <a:latin typeface="Cambria Math"/>
                      </a:rPr>
                      <m:t>′+</m:t>
                    </m:r>
                    <m:r>
                      <a:rPr lang="en-US" sz="1800" i="1" dirty="0" err="1">
                        <a:latin typeface="Cambria Math"/>
                      </a:rPr>
                      <m:t>𝑥𝑧</m:t>
                    </m:r>
                  </m:oMath>
                </a14:m>
                <a:r>
                  <a:rPr lang="en-US" sz="1800" dirty="0"/>
                  <a:t>	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𝑓</m:t>
                    </m:r>
                    <m:r>
                      <a:rPr lang="en-US" sz="1800" i="1" baseline="-25000" dirty="0">
                        <a:latin typeface="Cambria Math"/>
                      </a:rPr>
                      <m:t>2</m:t>
                    </m:r>
                    <m:r>
                      <a:rPr lang="en-US" sz="1800" i="1" dirty="0">
                        <a:latin typeface="Cambria Math"/>
                      </a:rPr>
                      <m:t>=</m:t>
                    </m:r>
                    <m:r>
                      <a:rPr lang="en-US" sz="1800" i="1" dirty="0" err="1">
                        <a:latin typeface="Cambria Math"/>
                      </a:rPr>
                      <m:t>𝑦</m:t>
                    </m:r>
                    <m:r>
                      <a:rPr lang="en-US" sz="1800" i="1" dirty="0" err="1">
                        <a:latin typeface="Cambria Math"/>
                      </a:rPr>
                      <m:t>+</m:t>
                    </m:r>
                    <m:r>
                      <a:rPr lang="en-US" sz="1800" i="1" dirty="0" err="1">
                        <a:latin typeface="Cambria Math"/>
                      </a:rPr>
                      <m:t>𝑥𝑦</m:t>
                    </m:r>
                    <m:r>
                      <a:rPr lang="en-US" sz="1800" i="1" dirty="0" err="1">
                        <a:latin typeface="Cambria Math"/>
                      </a:rPr>
                      <m:t>′</m:t>
                    </m:r>
                    <m:r>
                      <a:rPr lang="en-US" sz="1800" i="1" dirty="0" err="1">
                        <a:latin typeface="Cambria Math"/>
                      </a:rPr>
                      <m:t>𝑧</m:t>
                    </m:r>
                  </m:oMath>
                </a14:m>
                <a:endParaRPr lang="en-US" sz="1800" dirty="0" smtClean="0"/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Products of Sums (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POS</a:t>
                </a:r>
                <a:r>
                  <a:rPr lang="en-US" sz="2000" dirty="0" smtClean="0"/>
                  <a:t>)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Boolean expression is the </a:t>
                </a:r>
                <a:r>
                  <a:rPr lang="en-US" sz="1800" b="1" dirty="0" err="1" smtClean="0">
                    <a:solidFill>
                      <a:srgbClr val="FF0000"/>
                    </a:solidFill>
                  </a:rPr>
                  <a:t>ANDing</a:t>
                </a:r>
                <a:r>
                  <a:rPr lang="en-US" sz="1800" dirty="0" smtClean="0"/>
                  <a:t> (product) of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OR terms</a:t>
                </a:r>
                <a:r>
                  <a:rPr lang="en-US" sz="1800" dirty="0" smtClean="0"/>
                  <a:t> (sums)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  <a:tabLst>
                    <a:tab pos="5022850" algn="l"/>
                  </a:tabLst>
                </a:pPr>
                <a:r>
                  <a:rPr lang="en-US" sz="1800" dirty="0" smtClean="0"/>
                  <a:t>Examples: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𝑓</m:t>
                    </m:r>
                    <m:r>
                      <a:rPr lang="en-US" sz="1800" i="1" baseline="-25000" dirty="0" smtClean="0">
                        <a:latin typeface="Cambria Math"/>
                      </a:rPr>
                      <m:t>3</m:t>
                    </m:r>
                    <m:r>
                      <a:rPr lang="en-US" sz="1800" i="1" dirty="0" smtClean="0">
                        <a:latin typeface="Cambria Math"/>
                      </a:rPr>
                      <m:t>=(</m:t>
                    </m:r>
                    <m:r>
                      <a:rPr lang="en-US" sz="1800" i="1" dirty="0" err="1" smtClean="0">
                        <a:latin typeface="Cambria Math"/>
                      </a:rPr>
                      <m:t>𝑥</m:t>
                    </m:r>
                    <m:r>
                      <a:rPr lang="en-US" sz="1800" i="1" dirty="0" err="1" smtClean="0">
                        <a:latin typeface="Cambria Math"/>
                      </a:rPr>
                      <m:t>+</m:t>
                    </m:r>
                    <m:r>
                      <a:rPr lang="en-US" sz="1800" i="1" dirty="0" err="1" smtClean="0">
                        <a:latin typeface="Cambria Math"/>
                      </a:rPr>
                      <m:t>𝑧</m:t>
                    </m:r>
                    <m:r>
                      <a:rPr lang="en-US" sz="1800" i="1" dirty="0" smtClean="0">
                        <a:latin typeface="Cambria Math"/>
                      </a:rPr>
                      <m:t>)(</m:t>
                    </m:r>
                    <m:r>
                      <a:rPr lang="en-US" sz="1800" i="1" dirty="0" err="1" smtClean="0">
                        <a:latin typeface="Cambria Math"/>
                      </a:rPr>
                      <m:t>𝑥</m:t>
                    </m:r>
                    <m:r>
                      <a:rPr lang="en-US" sz="1800" i="1" dirty="0" err="1" smtClean="0">
                        <a:latin typeface="Cambria Math"/>
                      </a:rPr>
                      <m:t>′+</m:t>
                    </m:r>
                    <m:r>
                      <a:rPr lang="en-US" sz="1800" i="1" dirty="0" err="1" smtClean="0">
                        <a:latin typeface="Cambria Math"/>
                      </a:rPr>
                      <m:t>𝑦</m:t>
                    </m:r>
                    <m:r>
                      <a:rPr lang="en-US" sz="1800" i="1" dirty="0" smtClean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 smtClean="0"/>
                  <a:t>	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𝑓</m:t>
                    </m:r>
                    <m:r>
                      <a:rPr lang="en-US" sz="1800" i="1" baseline="-25000" dirty="0" smtClean="0">
                        <a:latin typeface="Cambria Math"/>
                      </a:rPr>
                      <m:t>4</m:t>
                    </m:r>
                    <m:r>
                      <a:rPr lang="en-US" sz="1800" i="1" dirty="0" smtClean="0">
                        <a:latin typeface="Cambria Math"/>
                      </a:rPr>
                      <m:t>=</m:t>
                    </m:r>
                    <m:r>
                      <a:rPr lang="en-US" sz="1800" i="1" dirty="0" smtClean="0">
                        <a:latin typeface="Cambria Math"/>
                      </a:rPr>
                      <m:t>𝑥</m:t>
                    </m:r>
                    <m:r>
                      <a:rPr lang="en-US" sz="1800" i="1" dirty="0" smtClean="0">
                        <a:latin typeface="Cambria Math"/>
                      </a:rPr>
                      <m:t>(</m:t>
                    </m:r>
                    <m:r>
                      <a:rPr lang="en-US" sz="1800" i="1" dirty="0" err="1" smtClean="0">
                        <a:latin typeface="Cambria Math"/>
                      </a:rPr>
                      <m:t>𝑥</m:t>
                    </m:r>
                    <m:r>
                      <a:rPr lang="en-US" sz="1800" i="1" dirty="0" err="1" smtClean="0">
                        <a:latin typeface="Cambria Math"/>
                      </a:rPr>
                      <m:t>′+</m:t>
                    </m:r>
                    <m:r>
                      <a:rPr lang="en-US" sz="1800" i="1" dirty="0" err="1" smtClean="0">
                        <a:latin typeface="Cambria Math"/>
                      </a:rPr>
                      <m:t>𝑦</m:t>
                    </m:r>
                    <m:r>
                      <a:rPr lang="en-US" sz="1800" i="1" dirty="0" err="1" smtClean="0">
                        <a:latin typeface="Cambria Math"/>
                      </a:rPr>
                      <m:t>′+</m:t>
                    </m:r>
                    <m:r>
                      <a:rPr lang="en-US" sz="1800" i="1" dirty="0" err="1" smtClean="0">
                        <a:latin typeface="Cambria Math"/>
                      </a:rPr>
                      <m:t>𝑧</m:t>
                    </m:r>
                    <m:r>
                      <a:rPr lang="en-US" sz="18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121" y="836686"/>
                <a:ext cx="8454935" cy="5703093"/>
              </a:xfrm>
              <a:blipFill rotWithShape="1">
                <a:blip r:embed="rId2"/>
                <a:stretch>
                  <a:fillRect l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2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Two-Level Gate Implementation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38086" y="1066305"/>
                <a:ext cx="20365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/>
                        </a:rPr>
                        <m:t>𝑓</m:t>
                      </m:r>
                      <m:r>
                        <a:rPr lang="en-US" sz="2400" i="1" baseline="-25000" dirty="0">
                          <a:latin typeface="Cambria Math"/>
                        </a:rPr>
                        <m:t>1</m:t>
                      </m:r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i="1" dirty="0" err="1">
                          <a:latin typeface="Cambria Math"/>
                        </a:rPr>
                        <m:t>𝑥𝑦</m:t>
                      </m:r>
                      <m:r>
                        <a:rPr lang="en-US" sz="2400" i="1" dirty="0">
                          <a:latin typeface="Cambria Math"/>
                        </a:rPr>
                        <m:t>′+</m:t>
                      </m:r>
                      <m:r>
                        <a:rPr lang="en-US" sz="2400" i="1" dirty="0" err="1">
                          <a:latin typeface="Cambria Math"/>
                        </a:rPr>
                        <m:t>𝑥𝑧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60" y="1066304"/>
                <a:ext cx="205261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9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690175" y="1643184"/>
            <a:ext cx="2756813" cy="1446271"/>
            <a:chOff x="2927494" y="1061017"/>
            <a:chExt cx="2986547" cy="1446271"/>
          </a:xfrm>
        </p:grpSpPr>
        <p:sp>
          <p:nvSpPr>
            <p:cNvPr id="40" name="Freeform 39"/>
            <p:cNvSpPr/>
            <p:nvPr/>
          </p:nvSpPr>
          <p:spPr>
            <a:xfrm flipV="1">
              <a:off x="4088295" y="1391748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4088296" y="1948426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2927494" y="1061017"/>
              <a:ext cx="1161401" cy="657367"/>
              <a:chOff x="2902064" y="1061017"/>
              <a:chExt cx="1161401" cy="657367"/>
            </a:xfrm>
          </p:grpSpPr>
          <p:sp>
            <p:nvSpPr>
              <p:cNvPr id="8" name="Flowchart: Delay 7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2902064" y="1061017"/>
                    <a:ext cx="39865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2902064" y="1349052"/>
                    <a:ext cx="4622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𝑦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437940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Straight Connector 12"/>
            <p:cNvCxnSpPr/>
            <p:nvPr/>
          </p:nvCxnSpPr>
          <p:spPr>
            <a:xfrm>
              <a:off x="5068214" y="1787742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356249" y="1559072"/>
                  <a:ext cx="557792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sz="2400" i="1" baseline="-25000" dirty="0" smtClean="0"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6249" y="1559072"/>
                  <a:ext cx="526106" cy="45313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348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Moon 15"/>
            <p:cNvSpPr/>
            <p:nvPr/>
          </p:nvSpPr>
          <p:spPr>
            <a:xfrm flipH="1">
              <a:off x="4607358" y="1527969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927494" y="1849921"/>
              <a:ext cx="1161401" cy="657367"/>
              <a:chOff x="2902064" y="1061017"/>
              <a:chExt cx="1161401" cy="657367"/>
            </a:xfrm>
          </p:grpSpPr>
          <p:sp>
            <p:nvSpPr>
              <p:cNvPr id="32" name="Flowchart: Delay 31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902064" y="1061017"/>
                    <a:ext cx="3986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2902064" y="1349052"/>
                    <a:ext cx="38323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𝑧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64972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5708295" y="1067114"/>
                <a:ext cx="20498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b="0" i="1" baseline="-25000" dirty="0" smtClean="0">
                          <a:latin typeface="Cambria Math"/>
                        </a:rPr>
                        <m:t>2</m:t>
                      </m:r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i="1" dirty="0" err="1">
                          <a:latin typeface="Cambria Math"/>
                        </a:rPr>
                        <m:t>𝑦</m:t>
                      </m:r>
                      <m:r>
                        <a:rPr lang="en-US" sz="2400" i="1" dirty="0">
                          <a:latin typeface="Cambria Math"/>
                        </a:rPr>
                        <m:t>+</m:t>
                      </m:r>
                      <m:r>
                        <a:rPr lang="en-US" sz="2400" i="1" dirty="0" err="1">
                          <a:latin typeface="Cambria Math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/>
                        </a:rPr>
                        <m:t>′</m:t>
                      </m:r>
                      <m:r>
                        <a:rPr lang="en-US" sz="2400" i="1" dirty="0" err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986" y="1067113"/>
                <a:ext cx="2065887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/>
          <p:cNvGrpSpPr/>
          <p:nvPr/>
        </p:nvGrpSpPr>
        <p:grpSpPr>
          <a:xfrm>
            <a:off x="5391831" y="1619494"/>
            <a:ext cx="2772191" cy="1463865"/>
            <a:chOff x="5149864" y="1873611"/>
            <a:chExt cx="3003207" cy="1463865"/>
          </a:xfrm>
        </p:grpSpPr>
        <p:sp>
          <p:nvSpPr>
            <p:cNvPr id="46" name="Freeform 45"/>
            <p:cNvSpPr/>
            <p:nvPr/>
          </p:nvSpPr>
          <p:spPr>
            <a:xfrm>
              <a:off x="6327326" y="2645806"/>
              <a:ext cx="596347" cy="264731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5149864" y="1873611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864" y="1873611"/>
                  <a:ext cx="37920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5149864" y="2714026"/>
                  <a:ext cx="462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864" y="2714026"/>
                  <a:ext cx="437940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/>
            <p:cNvCxnSpPr/>
            <p:nvPr/>
          </p:nvCxnSpPr>
          <p:spPr>
            <a:xfrm>
              <a:off x="7307244" y="2485122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7595279" y="2256452"/>
                  <a:ext cx="557792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baseline="-25000" dirty="0" smtClean="0">
                            <a:latin typeface="Cambria Math"/>
                          </a:rPr>
                          <m:t>2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5279" y="2256452"/>
                  <a:ext cx="526106" cy="45313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344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Moon 49"/>
            <p:cNvSpPr/>
            <p:nvPr/>
          </p:nvSpPr>
          <p:spPr>
            <a:xfrm flipH="1">
              <a:off x="6846388" y="2225349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lowchart: Delay 51"/>
            <p:cNvSpPr/>
            <p:nvPr/>
          </p:nvSpPr>
          <p:spPr>
            <a:xfrm>
              <a:off x="5742925" y="2618758"/>
              <a:ext cx="585000" cy="579814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/>
            <p:cNvCxnSpPr/>
            <p:nvPr/>
          </p:nvCxnSpPr>
          <p:spPr>
            <a:xfrm>
              <a:off x="5529070" y="2680109"/>
              <a:ext cx="20618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5529070" y="3140965"/>
              <a:ext cx="20618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149864" y="2483598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864" y="2483598"/>
                  <a:ext cx="379206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5149864" y="2968144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864" y="2968144"/>
                  <a:ext cx="364972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Connector 64"/>
            <p:cNvCxnSpPr/>
            <p:nvPr/>
          </p:nvCxnSpPr>
          <p:spPr>
            <a:xfrm>
              <a:off x="5529070" y="2910537"/>
              <a:ext cx="20618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Freeform 65"/>
            <p:cNvSpPr/>
            <p:nvPr/>
          </p:nvSpPr>
          <p:spPr>
            <a:xfrm>
              <a:off x="5532783" y="2087217"/>
              <a:ext cx="1364974" cy="253346"/>
            </a:xfrm>
            <a:custGeom>
              <a:avLst/>
              <a:gdLst>
                <a:gd name="connsiteX0" fmla="*/ 1364974 w 1364974"/>
                <a:gd name="connsiteY0" fmla="*/ 238540 h 238540"/>
                <a:gd name="connsiteX1" fmla="*/ 1033669 w 1364974"/>
                <a:gd name="connsiteY1" fmla="*/ 238540 h 238540"/>
                <a:gd name="connsiteX2" fmla="*/ 1033669 w 1364974"/>
                <a:gd name="connsiteY2" fmla="*/ 0 h 238540"/>
                <a:gd name="connsiteX3" fmla="*/ 0 w 1364974"/>
                <a:gd name="connsiteY3" fmla="*/ 0 h 23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4974" h="238540">
                  <a:moveTo>
                    <a:pt x="1364974" y="238540"/>
                  </a:moveTo>
                  <a:lnTo>
                    <a:pt x="1033669" y="238540"/>
                  </a:lnTo>
                  <a:lnTo>
                    <a:pt x="1033669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Line Callout 1 68"/>
          <p:cNvSpPr/>
          <p:nvPr/>
        </p:nvSpPr>
        <p:spPr>
          <a:xfrm>
            <a:off x="6798324" y="2737716"/>
            <a:ext cx="1921380" cy="345642"/>
          </a:xfrm>
          <a:prstGeom prst="borderCallout1">
            <a:avLst>
              <a:gd name="adj1" fmla="val 49423"/>
              <a:gd name="adj2" fmla="val 211"/>
              <a:gd name="adj3" fmla="val -21693"/>
              <a:gd name="adj4" fmla="val -3197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 AND gate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384286" y="2795324"/>
            <a:ext cx="186323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AND-OR</a:t>
            </a:r>
          </a:p>
          <a:p>
            <a:pPr algn="ctr"/>
            <a:r>
              <a:rPr lang="en-US" b="1" dirty="0" smtClean="0"/>
              <a:t>implementations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666880" y="3998975"/>
                <a:ext cx="30623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b="0" i="1" baseline="-25000" dirty="0" smtClean="0">
                          <a:latin typeface="Cambria Math"/>
                        </a:rPr>
                        <m:t>3</m:t>
                      </m:r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b="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err="1">
                          <a:latin typeface="Cambria Math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/>
                        </a:rPr>
                        <m:t>)(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i="1" dirty="0" err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 err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53" y="3998974"/>
                <a:ext cx="3078407" cy="461665"/>
              </a:xfrm>
              <a:prstGeom prst="rect">
                <a:avLst/>
              </a:prstGeom>
              <a:blipFill rotWithShape="1">
                <a:blip r:embed="rId1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Group 98"/>
          <p:cNvGrpSpPr/>
          <p:nvPr/>
        </p:nvGrpSpPr>
        <p:grpSpPr>
          <a:xfrm>
            <a:off x="690175" y="4632652"/>
            <a:ext cx="2756813" cy="1446271"/>
            <a:chOff x="747689" y="4575853"/>
            <a:chExt cx="2986547" cy="1446271"/>
          </a:xfrm>
        </p:grpSpPr>
        <p:grpSp>
          <p:nvGrpSpPr>
            <p:cNvPr id="94" name="Group 93"/>
            <p:cNvGrpSpPr/>
            <p:nvPr/>
          </p:nvGrpSpPr>
          <p:grpSpPr>
            <a:xfrm>
              <a:off x="1108971" y="5436960"/>
              <a:ext cx="790858" cy="540000"/>
              <a:chOff x="1117901" y="4638747"/>
              <a:chExt cx="790858" cy="540000"/>
            </a:xfrm>
          </p:grpSpPr>
          <p:grpSp>
            <p:nvGrpSpPr>
              <p:cNvPr id="95" name="Group 94"/>
              <p:cNvGrpSpPr/>
              <p:nvPr/>
            </p:nvGrpSpPr>
            <p:grpSpPr>
              <a:xfrm>
                <a:off x="1117901" y="4772364"/>
                <a:ext cx="263465" cy="288035"/>
                <a:chOff x="2791306" y="1257528"/>
                <a:chExt cx="687159" cy="288035"/>
              </a:xfrm>
            </p:grpSpPr>
            <p:cxnSp>
              <p:nvCxnSpPr>
                <p:cNvPr id="97" name="Straight Connector 96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6" name="Moon 95"/>
              <p:cNvSpPr/>
              <p:nvPr/>
            </p:nvSpPr>
            <p:spPr>
              <a:xfrm flipH="1">
                <a:off x="1323759" y="4638747"/>
                <a:ext cx="585000" cy="540000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/>
            <p:cNvGrpSpPr/>
            <p:nvPr/>
          </p:nvGrpSpPr>
          <p:grpSpPr>
            <a:xfrm>
              <a:off x="1117901" y="4638747"/>
              <a:ext cx="790858" cy="540000"/>
              <a:chOff x="1117901" y="4638747"/>
              <a:chExt cx="790858" cy="540000"/>
            </a:xfrm>
          </p:grpSpPr>
          <p:grpSp>
            <p:nvGrpSpPr>
              <p:cNvPr id="87" name="Group 86"/>
              <p:cNvGrpSpPr/>
              <p:nvPr/>
            </p:nvGrpSpPr>
            <p:grpSpPr>
              <a:xfrm>
                <a:off x="1117901" y="4772364"/>
                <a:ext cx="263465" cy="288035"/>
                <a:chOff x="2791306" y="1257528"/>
                <a:chExt cx="687159" cy="288035"/>
              </a:xfrm>
            </p:grpSpPr>
            <p:cxnSp>
              <p:nvCxnSpPr>
                <p:cNvPr id="90" name="Straight Connector 89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Moon 91"/>
              <p:cNvSpPr/>
              <p:nvPr/>
            </p:nvSpPr>
            <p:spPr>
              <a:xfrm flipH="1">
                <a:off x="1323759" y="4638747"/>
                <a:ext cx="585000" cy="540000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3" name="Freeform 72"/>
            <p:cNvSpPr/>
            <p:nvPr/>
          </p:nvSpPr>
          <p:spPr>
            <a:xfrm flipV="1">
              <a:off x="1908490" y="4906584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1908491" y="5463262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/>
                <p:cNvSpPr txBox="1"/>
                <p:nvPr/>
              </p:nvSpPr>
              <p:spPr>
                <a:xfrm>
                  <a:off x="747689" y="4575853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89" y="4575853"/>
                  <a:ext cx="37920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747689" y="4863888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89" y="4863888"/>
                  <a:ext cx="364972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Connector 75"/>
            <p:cNvCxnSpPr/>
            <p:nvPr/>
          </p:nvCxnSpPr>
          <p:spPr>
            <a:xfrm>
              <a:off x="2888409" y="5302578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176444" y="5073908"/>
                  <a:ext cx="557792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baseline="-25000" dirty="0" smtClean="0">
                            <a:latin typeface="Cambria Math"/>
                          </a:rPr>
                          <m:t>3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6444" y="5073908"/>
                  <a:ext cx="526106" cy="453137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3488"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47689" y="5364757"/>
                  <a:ext cx="455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89" y="5364757"/>
                  <a:ext cx="431528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747689" y="5652792"/>
                  <a:ext cx="462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689" y="5652792"/>
                  <a:ext cx="437940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Flowchart: Delay 85"/>
            <p:cNvSpPr/>
            <p:nvPr/>
          </p:nvSpPr>
          <p:spPr>
            <a:xfrm>
              <a:off x="2418292" y="5027085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5369635" y="3998975"/>
                <a:ext cx="280589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b="0" i="1" baseline="-25000" dirty="0" smtClean="0">
                          <a:latin typeface="Cambria Math"/>
                        </a:rPr>
                        <m:t>4</m:t>
                      </m:r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i="1" dirty="0" err="1">
                          <a:latin typeface="Cambria Math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dirty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i="1" dirty="0" err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 err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105" y="3998974"/>
                <a:ext cx="2821926" cy="461665"/>
              </a:xfrm>
              <a:prstGeom prst="rect">
                <a:avLst/>
              </a:prstGeom>
              <a:blipFill rotWithShape="1">
                <a:blip r:embed="rId20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 130"/>
          <p:cNvGrpSpPr/>
          <p:nvPr/>
        </p:nvGrpSpPr>
        <p:grpSpPr>
          <a:xfrm>
            <a:off x="5422813" y="4632651"/>
            <a:ext cx="2756813" cy="1419510"/>
            <a:chOff x="5874712" y="4615057"/>
            <a:chExt cx="2986547" cy="1419510"/>
          </a:xfrm>
        </p:grpSpPr>
        <p:grpSp>
          <p:nvGrpSpPr>
            <p:cNvPr id="130" name="Group 129"/>
            <p:cNvGrpSpPr/>
            <p:nvPr/>
          </p:nvGrpSpPr>
          <p:grpSpPr>
            <a:xfrm>
              <a:off x="6220354" y="5387638"/>
              <a:ext cx="497425" cy="460856"/>
              <a:chOff x="6235994" y="5387638"/>
              <a:chExt cx="481785" cy="460856"/>
            </a:xfrm>
          </p:grpSpPr>
          <p:cxnSp>
            <p:nvCxnSpPr>
              <p:cNvPr id="123" name="Straight Connector 122"/>
              <p:cNvCxnSpPr/>
              <p:nvPr/>
            </p:nvCxnSpPr>
            <p:spPr>
              <a:xfrm>
                <a:off x="6235994" y="5610467"/>
                <a:ext cx="48178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6235994" y="5387638"/>
                <a:ext cx="2634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>
                <a:off x="6235994" y="5848494"/>
                <a:ext cx="26346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8" name="Moon 117"/>
            <p:cNvSpPr/>
            <p:nvPr/>
          </p:nvSpPr>
          <p:spPr>
            <a:xfrm flipH="1">
              <a:off x="6441852" y="5293903"/>
              <a:ext cx="585000" cy="636675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7035514" y="5353335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5874712" y="4615057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4712" y="4615057"/>
                  <a:ext cx="379206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Connector 107"/>
            <p:cNvCxnSpPr/>
            <p:nvPr/>
          </p:nvCxnSpPr>
          <p:spPr>
            <a:xfrm>
              <a:off x="8015432" y="5192651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8303467" y="4963981"/>
                  <a:ext cx="557792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baseline="-25000" dirty="0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3467" y="4963981"/>
                  <a:ext cx="526106" cy="453137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348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5874712" y="5191127"/>
                  <a:ext cx="455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4712" y="5191127"/>
                  <a:ext cx="431528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5874712" y="5421555"/>
                  <a:ext cx="462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4712" y="5421555"/>
                  <a:ext cx="437940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" name="Flowchart: Delay 111"/>
            <p:cNvSpPr/>
            <p:nvPr/>
          </p:nvSpPr>
          <p:spPr>
            <a:xfrm>
              <a:off x="7545315" y="4917158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/>
                <p:cNvSpPr txBox="1"/>
                <p:nvPr/>
              </p:nvSpPr>
              <p:spPr>
                <a:xfrm>
                  <a:off x="5874712" y="5665235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6" name="TextBox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4712" y="5665235"/>
                  <a:ext cx="364972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Freeform 128"/>
            <p:cNvSpPr/>
            <p:nvPr/>
          </p:nvSpPr>
          <p:spPr>
            <a:xfrm>
              <a:off x="6220354" y="4790661"/>
              <a:ext cx="1320133" cy="251791"/>
            </a:xfrm>
            <a:custGeom>
              <a:avLst/>
              <a:gdLst>
                <a:gd name="connsiteX0" fmla="*/ 1325217 w 1325217"/>
                <a:gd name="connsiteY0" fmla="*/ 251791 h 251791"/>
                <a:gd name="connsiteX1" fmla="*/ 1060173 w 1325217"/>
                <a:gd name="connsiteY1" fmla="*/ 251791 h 251791"/>
                <a:gd name="connsiteX2" fmla="*/ 1060173 w 1325217"/>
                <a:gd name="connsiteY2" fmla="*/ 0 h 251791"/>
                <a:gd name="connsiteX3" fmla="*/ 0 w 1325217"/>
                <a:gd name="connsiteY3" fmla="*/ 0 h 25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217" h="251791">
                  <a:moveTo>
                    <a:pt x="1325217" y="251791"/>
                  </a:moveTo>
                  <a:lnTo>
                    <a:pt x="1060173" y="251791"/>
                  </a:lnTo>
                  <a:lnTo>
                    <a:pt x="1060173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2" name="Line Callout 1 131"/>
          <p:cNvSpPr/>
          <p:nvPr/>
        </p:nvSpPr>
        <p:spPr>
          <a:xfrm>
            <a:off x="6798324" y="5727184"/>
            <a:ext cx="1921380" cy="345642"/>
          </a:xfrm>
          <a:prstGeom prst="borderCallout1">
            <a:avLst>
              <a:gd name="adj1" fmla="val 49423"/>
              <a:gd name="adj2" fmla="val 211"/>
              <a:gd name="adj3" fmla="val -21693"/>
              <a:gd name="adj4" fmla="val -3197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 OR gate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384286" y="5733281"/>
            <a:ext cx="186323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OR-AND</a:t>
            </a:r>
          </a:p>
          <a:p>
            <a:pPr algn="ctr"/>
            <a:r>
              <a:rPr lang="en-US" b="1" dirty="0" smtClean="0"/>
              <a:t>implementations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78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132" grpId="0" animBg="1"/>
      <p:bldP spid="1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Two-Level vs. Three-Level Implementation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94293"/>
                <a:ext cx="8229600" cy="2189066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err="1" smtClean="0">
                        <a:latin typeface="Cambria Math"/>
                      </a:rPr>
                      <m:t>𝑎𝑏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latin typeface="Cambria Math"/>
                      </a:rPr>
                      <m:t>𝑐𝑑</m:t>
                    </m:r>
                    <m:r>
                      <a:rPr lang="en-US" i="1" dirty="0" err="1" smtClean="0">
                        <a:latin typeface="Cambria Math"/>
                      </a:rPr>
                      <m:t>+</m:t>
                    </m:r>
                    <m:r>
                      <a:rPr lang="en-US" i="1" dirty="0" err="1" smtClean="0">
                        <a:latin typeface="Cambria Math"/>
                      </a:rPr>
                      <m:t>𝑐𝑒</m:t>
                    </m:r>
                  </m:oMath>
                </a14:m>
                <a:r>
                  <a:rPr lang="en-US" dirty="0" smtClean="0"/>
                  <a:t> (6 literals) is a sum-of-products</a:t>
                </a:r>
                <a:endParaRPr lang="en-US" dirty="0"/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</m:oMath>
                </a14:m>
                <a:r>
                  <a:rPr lang="en-US" dirty="0" smtClean="0"/>
                  <a:t> may also be written as: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err="1">
                        <a:latin typeface="Cambria Math"/>
                      </a:rPr>
                      <m:t>𝑎𝑏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i="1" dirty="0" err="1">
                        <a:latin typeface="Cambria Math"/>
                      </a:rPr>
                      <m:t>𝑐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 err="1">
                        <a:latin typeface="Cambria Math"/>
                      </a:rPr>
                      <m:t>𝑑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i="1" dirty="0" err="1">
                        <a:latin typeface="Cambria Math"/>
                      </a:rPr>
                      <m:t>𝑒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(5 literals)</a:t>
                </a:r>
              </a:p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en-US" dirty="0" smtClean="0"/>
                  <a:t>However,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h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 err="1">
                        <a:latin typeface="Cambria Math"/>
                      </a:rPr>
                      <m:t>𝑎𝑏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i="1" dirty="0" err="1">
                        <a:latin typeface="Cambria Math"/>
                      </a:rPr>
                      <m:t>𝑐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 err="1">
                        <a:latin typeface="Cambria Math"/>
                      </a:rPr>
                      <m:t>𝑑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i="1" dirty="0" err="1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a non-standard form</a:t>
                </a:r>
              </a:p>
              <a:p>
                <a:pPr lvl="1">
                  <a:lnSpc>
                    <a:spcPct val="11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h</m:t>
                    </m:r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 err="1">
                        <a:latin typeface="Cambria Math"/>
                      </a:rPr>
                      <m:t>𝑎𝑏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i="1" dirty="0" err="1">
                        <a:latin typeface="Cambria Math"/>
                      </a:rPr>
                      <m:t>𝑐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 err="1">
                        <a:latin typeface="Cambria Math"/>
                      </a:rPr>
                      <m:t>𝑑</m:t>
                    </m:r>
                    <m:r>
                      <a:rPr lang="en-US" i="1" dirty="0" err="1">
                        <a:latin typeface="Cambria Math"/>
                      </a:rPr>
                      <m:t>+</m:t>
                    </m:r>
                    <m:r>
                      <a:rPr lang="en-US" i="1" dirty="0" err="1">
                        <a:latin typeface="Cambria Math"/>
                      </a:rPr>
                      <m:t>𝑒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not a sum-of-products nor a product-of-sums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894293"/>
                <a:ext cx="8915400" cy="2189066"/>
              </a:xfrm>
              <a:blipFill rotWithShape="1">
                <a:blip r:embed="rId2"/>
                <a:stretch>
                  <a:fillRect l="-889" t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00392" y="3141556"/>
                <a:ext cx="3088089" cy="978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dirty="0" smtClean="0"/>
                  <a:t>2-level implementation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h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𝑎𝑏</m:t>
                      </m:r>
                      <m:r>
                        <a:rPr lang="en-US" sz="2400" i="1" dirty="0" err="1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𝑐𝑑</m:t>
                      </m:r>
                      <m:r>
                        <a:rPr lang="en-US" sz="2400" i="1" dirty="0" err="1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𝑐𝑒</m:t>
                      </m:r>
                    </m:oMath>
                  </m:oMathPara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84" y="3141555"/>
                <a:ext cx="3268844" cy="978729"/>
              </a:xfrm>
              <a:prstGeom prst="rect">
                <a:avLst/>
              </a:prstGeom>
              <a:blipFill rotWithShape="1">
                <a:blip r:embed="rId3"/>
                <a:stretch>
                  <a:fillRect l="-2612" t="-1242" r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87307" y="3141556"/>
                <a:ext cx="3088089" cy="978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400" dirty="0" smtClean="0"/>
                  <a:t>3-level implementation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h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𝑎𝑏</m:t>
                      </m:r>
                      <m:r>
                        <a:rPr lang="en-US" sz="2400" i="1" dirty="0" err="1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𝑐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𝑑</m:t>
                      </m:r>
                      <m:r>
                        <a:rPr lang="en-US" sz="2400" i="1" dirty="0" err="1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𝑒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208" y="3141555"/>
                <a:ext cx="3268844" cy="978729"/>
              </a:xfrm>
              <a:prstGeom prst="rect">
                <a:avLst/>
              </a:prstGeom>
              <a:blipFill rotWithShape="1">
                <a:blip r:embed="rId4"/>
                <a:stretch>
                  <a:fillRect l="-2612" t="-1242" r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/>
          <p:cNvGrpSpPr/>
          <p:nvPr/>
        </p:nvGrpSpPr>
        <p:grpSpPr>
          <a:xfrm>
            <a:off x="1039175" y="4096595"/>
            <a:ext cx="2649859" cy="2270363"/>
            <a:chOff x="1125773" y="4235498"/>
            <a:chExt cx="2870681" cy="2270363"/>
          </a:xfrm>
        </p:grpSpPr>
        <p:sp>
          <p:nvSpPr>
            <p:cNvPr id="33" name="Freeform 32"/>
            <p:cNvSpPr/>
            <p:nvPr/>
          </p:nvSpPr>
          <p:spPr>
            <a:xfrm>
              <a:off x="2282801" y="5599779"/>
              <a:ext cx="596347" cy="594796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 flipV="1">
              <a:off x="2286574" y="4583050"/>
              <a:ext cx="596347" cy="563592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125773" y="4235498"/>
              <a:ext cx="1161401" cy="657367"/>
              <a:chOff x="2902064" y="1061017"/>
              <a:chExt cx="1161401" cy="657367"/>
            </a:xfrm>
          </p:grpSpPr>
          <p:sp>
            <p:nvSpPr>
              <p:cNvPr id="20" name="Flowchart: Delay 19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24" name="Straight Connector 23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902064" y="1061017"/>
                    <a:ext cx="4024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2902064" y="1349052"/>
                    <a:ext cx="3983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7888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Straight Connector 9"/>
            <p:cNvCxnSpPr/>
            <p:nvPr/>
          </p:nvCxnSpPr>
          <p:spPr>
            <a:xfrm>
              <a:off x="2130257" y="5375312"/>
              <a:ext cx="14818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554528" y="5146642"/>
                  <a:ext cx="441926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h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528" y="5146642"/>
                  <a:ext cx="419153" cy="45313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Moon 11"/>
            <p:cNvSpPr/>
            <p:nvPr/>
          </p:nvSpPr>
          <p:spPr>
            <a:xfrm flipH="1">
              <a:off x="2805637" y="5061874"/>
              <a:ext cx="585000" cy="617553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1125773" y="5024402"/>
              <a:ext cx="1161401" cy="657367"/>
              <a:chOff x="2902064" y="1061017"/>
              <a:chExt cx="1161401" cy="657367"/>
            </a:xfrm>
          </p:grpSpPr>
          <p:sp>
            <p:nvSpPr>
              <p:cNvPr id="14" name="Flowchart: Delay 13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18" name="Straight Connector 17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902064" y="1061017"/>
                    <a:ext cx="3798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6189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2902064" y="1349052"/>
                    <a:ext cx="4094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8914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1128425" y="5848494"/>
              <a:ext cx="1161401" cy="657367"/>
              <a:chOff x="2902064" y="1061017"/>
              <a:chExt cx="1161401" cy="657367"/>
            </a:xfrm>
          </p:grpSpPr>
          <p:sp>
            <p:nvSpPr>
              <p:cNvPr id="27" name="Flowchart: Delay 26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27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2902064" y="1061017"/>
                    <a:ext cx="3798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6189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2902064" y="1349052"/>
                    <a:ext cx="38614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𝑒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6766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3" name="Line Callout 1 62"/>
          <p:cNvSpPr/>
          <p:nvPr/>
        </p:nvSpPr>
        <p:spPr>
          <a:xfrm>
            <a:off x="2551324" y="6021315"/>
            <a:ext cx="1921380" cy="345642"/>
          </a:xfrm>
          <a:prstGeom prst="borderCallout1">
            <a:avLst>
              <a:gd name="adj1" fmla="val -2337"/>
              <a:gd name="adj2" fmla="val 31408"/>
              <a:gd name="adj3" fmla="val -224899"/>
              <a:gd name="adj4" fmla="val 1736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 OR gate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5186880" y="4384629"/>
            <a:ext cx="3341143" cy="1613768"/>
            <a:chOff x="5619119" y="4384629"/>
            <a:chExt cx="3619572" cy="1613768"/>
          </a:xfrm>
        </p:grpSpPr>
        <p:cxnSp>
          <p:nvCxnSpPr>
            <p:cNvPr id="56" name="Straight Connector 55"/>
            <p:cNvCxnSpPr/>
            <p:nvPr/>
          </p:nvCxnSpPr>
          <p:spPr>
            <a:xfrm>
              <a:off x="7705516" y="5372958"/>
              <a:ext cx="43525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 69"/>
            <p:cNvSpPr/>
            <p:nvPr/>
          </p:nvSpPr>
          <p:spPr>
            <a:xfrm>
              <a:off x="6771861" y="4732181"/>
              <a:ext cx="1351722" cy="350028"/>
            </a:xfrm>
            <a:custGeom>
              <a:avLst/>
              <a:gdLst>
                <a:gd name="connsiteX0" fmla="*/ 0 w 1351722"/>
                <a:gd name="connsiteY0" fmla="*/ 0 h 364435"/>
                <a:gd name="connsiteX1" fmla="*/ 1020417 w 1351722"/>
                <a:gd name="connsiteY1" fmla="*/ 0 h 364435"/>
                <a:gd name="connsiteX2" fmla="*/ 1020417 w 1351722"/>
                <a:gd name="connsiteY2" fmla="*/ 364435 h 364435"/>
                <a:gd name="connsiteX3" fmla="*/ 1351722 w 1351722"/>
                <a:gd name="connsiteY3" fmla="*/ 364435 h 36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722" h="364435">
                  <a:moveTo>
                    <a:pt x="0" y="0"/>
                  </a:moveTo>
                  <a:lnTo>
                    <a:pt x="1020417" y="0"/>
                  </a:lnTo>
                  <a:lnTo>
                    <a:pt x="1020417" y="364435"/>
                  </a:lnTo>
                  <a:lnTo>
                    <a:pt x="1351722" y="364435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780519" y="5525696"/>
              <a:ext cx="339997" cy="16000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lowchart: Delay 56"/>
            <p:cNvSpPr/>
            <p:nvPr/>
          </p:nvSpPr>
          <p:spPr>
            <a:xfrm>
              <a:off x="6195520" y="4462181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5989332" y="4581140"/>
              <a:ext cx="206188" cy="288035"/>
              <a:chOff x="2791306" y="1257528"/>
              <a:chExt cx="687159" cy="288035"/>
            </a:xfrm>
          </p:grpSpPr>
          <p:cxnSp>
            <p:nvCxnSpPr>
              <p:cNvPr id="61" name="Straight Connector 60"/>
              <p:cNvCxnSpPr/>
              <p:nvPr/>
            </p:nvCxnSpPr>
            <p:spPr>
              <a:xfrm>
                <a:off x="2791306" y="1257528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2791306" y="1545563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5619119" y="4384629"/>
                  <a:ext cx="402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119" y="4384629"/>
                  <a:ext cx="379206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5619119" y="4672664"/>
                  <a:ext cx="398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119" y="4672664"/>
                  <a:ext cx="378885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Connector 39"/>
            <p:cNvCxnSpPr/>
            <p:nvPr/>
          </p:nvCxnSpPr>
          <p:spPr>
            <a:xfrm>
              <a:off x="8467027" y="5236408"/>
              <a:ext cx="38734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8796765" y="5007738"/>
                  <a:ext cx="441926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h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6765" y="5007738"/>
                  <a:ext cx="419153" cy="45313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Moon 41"/>
            <p:cNvSpPr/>
            <p:nvPr/>
          </p:nvSpPr>
          <p:spPr>
            <a:xfrm flipH="1">
              <a:off x="8047874" y="4963051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Delay 50"/>
            <p:cNvSpPr/>
            <p:nvPr/>
          </p:nvSpPr>
          <p:spPr>
            <a:xfrm>
              <a:off x="7120516" y="5102958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5989332" y="5214817"/>
              <a:ext cx="113118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5619119" y="5018306"/>
                  <a:ext cx="3798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119" y="5018306"/>
                  <a:ext cx="361894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Group 45"/>
            <p:cNvGrpSpPr/>
            <p:nvPr/>
          </p:nvGrpSpPr>
          <p:grpSpPr>
            <a:xfrm>
              <a:off x="5991984" y="5537541"/>
              <a:ext cx="343584" cy="288035"/>
              <a:chOff x="2791306" y="1257528"/>
              <a:chExt cx="687159" cy="288035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>
                <a:off x="2791306" y="1257528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2791306" y="1545563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5619119" y="5341030"/>
                  <a:ext cx="4094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119" y="5341030"/>
                  <a:ext cx="38914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5619119" y="5629065"/>
                  <a:ext cx="386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119" y="5629065"/>
                  <a:ext cx="367665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Moon 66"/>
            <p:cNvSpPr/>
            <p:nvPr/>
          </p:nvSpPr>
          <p:spPr>
            <a:xfrm flipH="1">
              <a:off x="6211424" y="5415701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001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3136</Words>
  <Application>Microsoft Office PowerPoint</Application>
  <PresentationFormat>On-screen Show (4:3)</PresentationFormat>
  <Paragraphs>731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Boolean Algebra and Logic Gates</vt:lpstr>
      <vt:lpstr>Presentation Outline</vt:lpstr>
      <vt:lpstr>Boolean Algebra</vt:lpstr>
      <vt:lpstr>Postulates of Boolean Algebra</vt:lpstr>
      <vt:lpstr>AND, OR, and NOT Operators</vt:lpstr>
      <vt:lpstr>Boolean Functions</vt:lpstr>
      <vt:lpstr>Truth Table</vt:lpstr>
      <vt:lpstr>DeMorgan's Theorem</vt:lpstr>
      <vt:lpstr>Complementing Boolean Functions</vt:lpstr>
      <vt:lpstr>Algebraic Manipulation of Expressions</vt:lpstr>
      <vt:lpstr>Consensus Theorem</vt:lpstr>
      <vt:lpstr>Summary of Boolean Algebra</vt:lpstr>
      <vt:lpstr>Duality Principle</vt:lpstr>
      <vt:lpstr>Expression Simplification</vt:lpstr>
      <vt:lpstr>Importance of Boolean Algebra</vt:lpstr>
      <vt:lpstr>Next . . .</vt:lpstr>
      <vt:lpstr>Logic Gates and Symbols</vt:lpstr>
      <vt:lpstr>Truth Table and Logic Diagram</vt:lpstr>
      <vt:lpstr>Combinational Circuit</vt:lpstr>
      <vt:lpstr>Example of a Simple Combinational Circuit</vt:lpstr>
      <vt:lpstr>From Truth Tables to Gate Implementation</vt:lpstr>
      <vt:lpstr>Minterms and Maxterms</vt:lpstr>
      <vt:lpstr>Minterms and Maxterms for 3 Variables</vt:lpstr>
      <vt:lpstr>Purpose of the Index</vt:lpstr>
      <vt:lpstr>Sum-Of-Minterms (SOM) Canonical Form</vt:lpstr>
      <vt:lpstr>Examples of Sum-Of-Minterms</vt:lpstr>
      <vt:lpstr>Product-Of-Maxterms (POM) Canonical Form</vt:lpstr>
      <vt:lpstr>Examples of Product-Of-Maxterms</vt:lpstr>
      <vt:lpstr>Conversions between Canonical Forms</vt:lpstr>
      <vt:lpstr>Function Complement</vt:lpstr>
      <vt:lpstr>Summary of Minterms and Maxterms</vt:lpstr>
      <vt:lpstr>Sum-of-Products and Products-of-Sums</vt:lpstr>
      <vt:lpstr>Two-Level Gate Implementation</vt:lpstr>
      <vt:lpstr>Two-Level vs. Three-Level Implementation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29</cp:revision>
  <dcterms:created xsi:type="dcterms:W3CDTF">2022-08-28T11:36:31Z</dcterms:created>
  <dcterms:modified xsi:type="dcterms:W3CDTF">2022-09-11T12:37:49Z</dcterms:modified>
</cp:coreProperties>
</file>