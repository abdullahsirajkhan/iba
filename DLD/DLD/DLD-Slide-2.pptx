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30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FCF61-E080-4619-AD16-552260CD173C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DB0DA-DAA0-4B40-8FAF-1B8D38D40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5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F411CE-8E58-4F1D-A279-231E35DBCFD4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2764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3991" y="4342939"/>
            <a:ext cx="5030018" cy="4114587"/>
          </a:xfrm>
          <a:ln/>
        </p:spPr>
        <p:txBody>
          <a:bodyPr lIns="90479" tIns="44445" rIns="90479" bIns="44445"/>
          <a:lstStyle/>
          <a:p>
            <a:endParaRPr lang="en-US" altLang="en-US"/>
          </a:p>
        </p:txBody>
      </p:sp>
      <p:sp>
        <p:nvSpPr>
          <p:cNvPr id="2764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62171" y="692147"/>
            <a:ext cx="5333659" cy="3416767"/>
          </a:xfrm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4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38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30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1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69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2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07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9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73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7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BAC16-9A96-4602-9B8B-E7B018085D66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0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800100"/>
            <a:ext cx="8229600" cy="2801938"/>
          </a:xfrm>
        </p:spPr>
        <p:txBody>
          <a:bodyPr/>
          <a:lstStyle/>
          <a:p>
            <a:pPr>
              <a:lnSpc>
                <a:spcPct val="160000"/>
              </a:lnSpc>
            </a:pPr>
            <a:r>
              <a:rPr lang="en-US" altLang="en-US" sz="4400" dirty="0" smtClean="0"/>
              <a:t>Binary Arithmetic</a:t>
            </a:r>
            <a:endParaRPr lang="en-US" altLang="en-US" sz="2800" dirty="0"/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948113"/>
            <a:ext cx="8229600" cy="2476500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Digital </a:t>
            </a:r>
            <a:r>
              <a:rPr lang="en-US" altLang="en-US" sz="2800" dirty="0"/>
              <a:t>Logic </a:t>
            </a:r>
            <a:r>
              <a:rPr lang="en-US" altLang="en-US" sz="2800" dirty="0" smtClean="0"/>
              <a:t>Design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81596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Bits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6008"/>
            <a:ext cx="8229600" cy="322599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dirty="0" smtClean="0"/>
              <a:t>1 + 1 = 2, but 2 should be represented as (10)</a:t>
            </a:r>
            <a:r>
              <a:rPr lang="en-US" baseline="-25000" dirty="0" smtClean="0"/>
              <a:t>2</a:t>
            </a:r>
            <a:r>
              <a:rPr lang="en-US" dirty="0" smtClean="0"/>
              <a:t> in binary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dirty="0" smtClean="0"/>
              <a:t>Adding two bits: the sum is S and the carry is C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endParaRPr lang="en-US" dirty="0" smtClean="0"/>
          </a:p>
          <a:p>
            <a:pPr>
              <a:lnSpc>
                <a:spcPct val="110000"/>
              </a:lnSpc>
              <a:spcBef>
                <a:spcPts val="1500"/>
              </a:spcBef>
            </a:pPr>
            <a:endParaRPr lang="en-US" dirty="0"/>
          </a:p>
          <a:p>
            <a:pPr>
              <a:lnSpc>
                <a:spcPct val="110000"/>
              </a:lnSpc>
              <a:spcBef>
                <a:spcPts val="1500"/>
              </a:spcBef>
            </a:pPr>
            <a:endParaRPr lang="en-US" dirty="0" smtClean="0"/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dirty="0" smtClean="0"/>
              <a:t>Adding three bits: the sum is S and the carry is C</a:t>
            </a:r>
            <a:endParaRPr lang="en-US" dirty="0"/>
          </a:p>
          <a:p>
            <a:endParaRPr lang="en-US" dirty="0"/>
          </a:p>
        </p:txBody>
      </p: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1864472" y="2325014"/>
            <a:ext cx="692150" cy="1219200"/>
            <a:chOff x="1936" y="1543"/>
            <a:chExt cx="436" cy="768"/>
          </a:xfrm>
        </p:grpSpPr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1936" y="1543"/>
              <a:ext cx="436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 dirty="0" smtClean="0"/>
                <a:t>X</a:t>
              </a:r>
              <a:endParaRPr lang="en-US" altLang="en-US" sz="2000" b="1" dirty="0"/>
            </a:p>
            <a:p>
              <a:pPr algn="r">
                <a:spcBef>
                  <a:spcPct val="20000"/>
                </a:spcBef>
              </a:pPr>
              <a:r>
                <a:rPr lang="en-US" altLang="en-US" sz="2000" b="1" dirty="0"/>
                <a:t>+ </a:t>
              </a:r>
              <a:r>
                <a:rPr lang="en-US" altLang="en-US" sz="2000" b="1" dirty="0" smtClean="0"/>
                <a:t>Y</a:t>
              </a:r>
              <a:endParaRPr lang="en-US" altLang="en-US" sz="2000" b="1" dirty="0"/>
            </a:p>
            <a:p>
              <a:pPr algn="r">
                <a:spcBef>
                  <a:spcPct val="50000"/>
                </a:spcBef>
              </a:pPr>
              <a:r>
                <a:rPr lang="en-US" altLang="en-US" sz="2000" b="1" dirty="0" smtClean="0"/>
                <a:t>C S</a:t>
              </a:r>
              <a:endParaRPr lang="en-US" altLang="en-US" sz="2000" b="1" dirty="0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2082" y="2015"/>
              <a:ext cx="23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6"/>
          <p:cNvGrpSpPr>
            <a:grpSpLocks/>
          </p:cNvGrpSpPr>
          <p:nvPr/>
        </p:nvGrpSpPr>
        <p:grpSpPr bwMode="auto">
          <a:xfrm>
            <a:off x="3132884" y="2325014"/>
            <a:ext cx="576262" cy="1219200"/>
            <a:chOff x="2735" y="1543"/>
            <a:chExt cx="363" cy="768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2735" y="1543"/>
              <a:ext cx="363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0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/>
                <a:t>+ 0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0 0</a:t>
              </a:r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2807" y="2016"/>
              <a:ext cx="2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37"/>
          <p:cNvGrpSpPr>
            <a:grpSpLocks/>
          </p:cNvGrpSpPr>
          <p:nvPr/>
        </p:nvGrpSpPr>
        <p:grpSpPr bwMode="auto">
          <a:xfrm>
            <a:off x="4342559" y="2325014"/>
            <a:ext cx="576262" cy="1219200"/>
            <a:chOff x="3497" y="1543"/>
            <a:chExt cx="363" cy="768"/>
          </a:xfrm>
        </p:grpSpPr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3497" y="1543"/>
              <a:ext cx="363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20000"/>
                </a:spcBef>
              </a:pPr>
              <a:r>
                <a:rPr lang="en-US" altLang="en-US" sz="2000" b="1"/>
                <a:t>0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/>
                <a:t>+ 1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0 1</a:t>
              </a: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3569" y="2015"/>
              <a:ext cx="2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38"/>
          <p:cNvGrpSpPr>
            <a:grpSpLocks/>
          </p:cNvGrpSpPr>
          <p:nvPr/>
        </p:nvGrpSpPr>
        <p:grpSpPr bwMode="auto">
          <a:xfrm>
            <a:off x="5552234" y="2325014"/>
            <a:ext cx="576262" cy="1219200"/>
            <a:chOff x="4259" y="1543"/>
            <a:chExt cx="363" cy="768"/>
          </a:xfrm>
        </p:grpSpPr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4259" y="1543"/>
              <a:ext cx="363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1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/>
                <a:t>+ 0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0 1</a:t>
              </a: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4331" y="2015"/>
              <a:ext cx="2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39"/>
          <p:cNvGrpSpPr>
            <a:grpSpLocks/>
          </p:cNvGrpSpPr>
          <p:nvPr/>
        </p:nvGrpSpPr>
        <p:grpSpPr bwMode="auto">
          <a:xfrm>
            <a:off x="6761909" y="2325014"/>
            <a:ext cx="576262" cy="1219200"/>
            <a:chOff x="5021" y="1543"/>
            <a:chExt cx="363" cy="768"/>
          </a:xfrm>
        </p:grpSpPr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5021" y="1543"/>
              <a:ext cx="363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1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/>
                <a:t>+ 1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1 0</a:t>
              </a: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5093" y="2015"/>
              <a:ext cx="2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20"/>
          <p:cNvGrpSpPr>
            <a:grpSpLocks/>
          </p:cNvGrpSpPr>
          <p:nvPr/>
        </p:nvGrpSpPr>
        <p:grpSpPr bwMode="auto">
          <a:xfrm>
            <a:off x="5032664" y="4709681"/>
            <a:ext cx="576262" cy="1600200"/>
            <a:chOff x="2191" y="1471"/>
            <a:chExt cx="363" cy="1008"/>
          </a:xfrm>
        </p:grpSpPr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2191" y="1471"/>
              <a:ext cx="363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1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/>
                <a:t>0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/>
                <a:t>+ 0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0 1</a:t>
              </a:r>
            </a:p>
          </p:txBody>
        </p:sp>
        <p:sp>
          <p:nvSpPr>
            <p:cNvPr id="21" name="Line 22"/>
            <p:cNvSpPr>
              <a:spLocks noChangeShapeType="1"/>
            </p:cNvSpPr>
            <p:nvPr/>
          </p:nvSpPr>
          <p:spPr bwMode="auto">
            <a:xfrm>
              <a:off x="2263" y="2196"/>
              <a:ext cx="2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3"/>
          <p:cNvGrpSpPr>
            <a:grpSpLocks/>
          </p:cNvGrpSpPr>
          <p:nvPr/>
        </p:nvGrpSpPr>
        <p:grpSpPr bwMode="auto">
          <a:xfrm>
            <a:off x="6011983" y="4709681"/>
            <a:ext cx="576262" cy="1600200"/>
            <a:chOff x="2191" y="1471"/>
            <a:chExt cx="363" cy="1008"/>
          </a:xfrm>
        </p:grpSpPr>
        <p:sp>
          <p:nvSpPr>
            <p:cNvPr id="23" name="Text Box 24"/>
            <p:cNvSpPr txBox="1">
              <a:spLocks noChangeArrowheads="1"/>
            </p:cNvSpPr>
            <p:nvPr/>
          </p:nvSpPr>
          <p:spPr bwMode="auto">
            <a:xfrm>
              <a:off x="2191" y="1471"/>
              <a:ext cx="363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1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/>
                <a:t>0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/>
                <a:t>+ 1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1 0</a:t>
              </a:r>
            </a:p>
          </p:txBody>
        </p:sp>
        <p:sp>
          <p:nvSpPr>
            <p:cNvPr id="24" name="Line 25"/>
            <p:cNvSpPr>
              <a:spLocks noChangeShapeType="1"/>
            </p:cNvSpPr>
            <p:nvPr/>
          </p:nvSpPr>
          <p:spPr bwMode="auto">
            <a:xfrm>
              <a:off x="2263" y="2196"/>
              <a:ext cx="2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6"/>
          <p:cNvGrpSpPr>
            <a:grpSpLocks/>
          </p:cNvGrpSpPr>
          <p:nvPr/>
        </p:nvGrpSpPr>
        <p:grpSpPr bwMode="auto">
          <a:xfrm>
            <a:off x="6933695" y="4709681"/>
            <a:ext cx="576262" cy="1600200"/>
            <a:chOff x="2191" y="1471"/>
            <a:chExt cx="363" cy="1008"/>
          </a:xfrm>
        </p:grpSpPr>
        <p:sp>
          <p:nvSpPr>
            <p:cNvPr id="26" name="Text Box 27"/>
            <p:cNvSpPr txBox="1">
              <a:spLocks noChangeArrowheads="1"/>
            </p:cNvSpPr>
            <p:nvPr/>
          </p:nvSpPr>
          <p:spPr bwMode="auto">
            <a:xfrm>
              <a:off x="2191" y="1471"/>
              <a:ext cx="363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1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/>
                <a:t>1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/>
                <a:t>+ 0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1 0</a:t>
              </a:r>
            </a:p>
          </p:txBody>
        </p:sp>
        <p:sp>
          <p:nvSpPr>
            <p:cNvPr id="27" name="Line 28"/>
            <p:cNvSpPr>
              <a:spLocks noChangeShapeType="1"/>
            </p:cNvSpPr>
            <p:nvPr/>
          </p:nvSpPr>
          <p:spPr bwMode="auto">
            <a:xfrm>
              <a:off x="2263" y="2196"/>
              <a:ext cx="2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9"/>
          <p:cNvGrpSpPr>
            <a:grpSpLocks/>
          </p:cNvGrpSpPr>
          <p:nvPr/>
        </p:nvGrpSpPr>
        <p:grpSpPr bwMode="auto">
          <a:xfrm>
            <a:off x="7855407" y="4709681"/>
            <a:ext cx="576262" cy="1600200"/>
            <a:chOff x="2191" y="1471"/>
            <a:chExt cx="363" cy="1008"/>
          </a:xfrm>
        </p:grpSpPr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2191" y="1471"/>
              <a:ext cx="363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1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/>
                <a:t>1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/>
                <a:t>+ 1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1 1</a:t>
              </a:r>
            </a:p>
          </p:txBody>
        </p:sp>
        <p:sp>
          <p:nvSpPr>
            <p:cNvPr id="30" name="Line 31"/>
            <p:cNvSpPr>
              <a:spLocks noChangeShapeType="1"/>
            </p:cNvSpPr>
            <p:nvPr/>
          </p:nvSpPr>
          <p:spPr bwMode="auto">
            <a:xfrm>
              <a:off x="2263" y="2196"/>
              <a:ext cx="2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20"/>
          <p:cNvGrpSpPr>
            <a:grpSpLocks/>
          </p:cNvGrpSpPr>
          <p:nvPr/>
        </p:nvGrpSpPr>
        <p:grpSpPr bwMode="auto">
          <a:xfrm>
            <a:off x="942759" y="4709150"/>
            <a:ext cx="576262" cy="1600200"/>
            <a:chOff x="2191" y="1471"/>
            <a:chExt cx="363" cy="1008"/>
          </a:xfrm>
        </p:grpSpPr>
        <p:sp>
          <p:nvSpPr>
            <p:cNvPr id="32" name="Text Box 21"/>
            <p:cNvSpPr txBox="1">
              <a:spLocks noChangeArrowheads="1"/>
            </p:cNvSpPr>
            <p:nvPr/>
          </p:nvSpPr>
          <p:spPr bwMode="auto">
            <a:xfrm>
              <a:off x="2191" y="1471"/>
              <a:ext cx="363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 dirty="0" smtClean="0"/>
                <a:t>0</a:t>
              </a:r>
              <a:endParaRPr lang="en-US" altLang="en-US" sz="2000" b="1" dirty="0"/>
            </a:p>
            <a:p>
              <a:pPr algn="r">
                <a:spcBef>
                  <a:spcPct val="20000"/>
                </a:spcBef>
              </a:pPr>
              <a:r>
                <a:rPr lang="en-US" altLang="en-US" sz="2000" b="1" dirty="0"/>
                <a:t>0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 dirty="0"/>
                <a:t>+ 0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 dirty="0"/>
                <a:t>0 </a:t>
              </a:r>
              <a:r>
                <a:rPr lang="en-US" altLang="en-US" sz="2000" b="1" dirty="0" smtClean="0"/>
                <a:t>0</a:t>
              </a:r>
              <a:endParaRPr lang="en-US" altLang="en-US" sz="2000" b="1" dirty="0"/>
            </a:p>
          </p:txBody>
        </p:sp>
        <p:sp>
          <p:nvSpPr>
            <p:cNvPr id="33" name="Line 22"/>
            <p:cNvSpPr>
              <a:spLocks noChangeShapeType="1"/>
            </p:cNvSpPr>
            <p:nvPr/>
          </p:nvSpPr>
          <p:spPr bwMode="auto">
            <a:xfrm>
              <a:off x="2263" y="2196"/>
              <a:ext cx="2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23"/>
          <p:cNvGrpSpPr>
            <a:grpSpLocks/>
          </p:cNvGrpSpPr>
          <p:nvPr/>
        </p:nvGrpSpPr>
        <p:grpSpPr bwMode="auto">
          <a:xfrm>
            <a:off x="1921886" y="4709150"/>
            <a:ext cx="576262" cy="1600200"/>
            <a:chOff x="2191" y="1471"/>
            <a:chExt cx="363" cy="1008"/>
          </a:xfrm>
        </p:grpSpPr>
        <p:sp>
          <p:nvSpPr>
            <p:cNvPr id="35" name="Text Box 24"/>
            <p:cNvSpPr txBox="1">
              <a:spLocks noChangeArrowheads="1"/>
            </p:cNvSpPr>
            <p:nvPr/>
          </p:nvSpPr>
          <p:spPr bwMode="auto">
            <a:xfrm>
              <a:off x="2191" y="1471"/>
              <a:ext cx="363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 dirty="0" smtClean="0"/>
                <a:t>0</a:t>
              </a:r>
              <a:endParaRPr lang="en-US" altLang="en-US" sz="2000" b="1" dirty="0"/>
            </a:p>
            <a:p>
              <a:pPr algn="r">
                <a:spcBef>
                  <a:spcPct val="20000"/>
                </a:spcBef>
              </a:pPr>
              <a:r>
                <a:rPr lang="en-US" altLang="en-US" sz="2000" b="1" dirty="0"/>
                <a:t>0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 dirty="0"/>
                <a:t>+ 1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 dirty="0" smtClean="0"/>
                <a:t>0 1</a:t>
              </a:r>
              <a:endParaRPr lang="en-US" altLang="en-US" sz="2000" b="1" dirty="0"/>
            </a:p>
          </p:txBody>
        </p:sp>
        <p:sp>
          <p:nvSpPr>
            <p:cNvPr id="36" name="Line 25"/>
            <p:cNvSpPr>
              <a:spLocks noChangeShapeType="1"/>
            </p:cNvSpPr>
            <p:nvPr/>
          </p:nvSpPr>
          <p:spPr bwMode="auto">
            <a:xfrm>
              <a:off x="2263" y="2196"/>
              <a:ext cx="2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26"/>
          <p:cNvGrpSpPr>
            <a:grpSpLocks/>
          </p:cNvGrpSpPr>
          <p:nvPr/>
        </p:nvGrpSpPr>
        <p:grpSpPr bwMode="auto">
          <a:xfrm>
            <a:off x="2958812" y="4709150"/>
            <a:ext cx="576262" cy="1600200"/>
            <a:chOff x="2191" y="1471"/>
            <a:chExt cx="363" cy="1008"/>
          </a:xfrm>
        </p:grpSpPr>
        <p:sp>
          <p:nvSpPr>
            <p:cNvPr id="38" name="Text Box 27"/>
            <p:cNvSpPr txBox="1">
              <a:spLocks noChangeArrowheads="1"/>
            </p:cNvSpPr>
            <p:nvPr/>
          </p:nvSpPr>
          <p:spPr bwMode="auto">
            <a:xfrm>
              <a:off x="2191" y="1471"/>
              <a:ext cx="363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 dirty="0" smtClean="0"/>
                <a:t>0</a:t>
              </a:r>
              <a:endParaRPr lang="en-US" altLang="en-US" sz="2000" b="1" dirty="0"/>
            </a:p>
            <a:p>
              <a:pPr algn="r">
                <a:spcBef>
                  <a:spcPct val="20000"/>
                </a:spcBef>
              </a:pPr>
              <a:r>
                <a:rPr lang="en-US" altLang="en-US" sz="2000" b="1" dirty="0"/>
                <a:t>1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 dirty="0"/>
                <a:t>+ 0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 dirty="0" smtClean="0"/>
                <a:t>0 1</a:t>
              </a:r>
              <a:endParaRPr lang="en-US" altLang="en-US" sz="2000" b="1" dirty="0"/>
            </a:p>
          </p:txBody>
        </p:sp>
        <p:sp>
          <p:nvSpPr>
            <p:cNvPr id="39" name="Line 28"/>
            <p:cNvSpPr>
              <a:spLocks noChangeShapeType="1"/>
            </p:cNvSpPr>
            <p:nvPr/>
          </p:nvSpPr>
          <p:spPr bwMode="auto">
            <a:xfrm>
              <a:off x="2263" y="2196"/>
              <a:ext cx="2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29"/>
          <p:cNvGrpSpPr>
            <a:grpSpLocks/>
          </p:cNvGrpSpPr>
          <p:nvPr/>
        </p:nvGrpSpPr>
        <p:grpSpPr bwMode="auto">
          <a:xfrm>
            <a:off x="3995930" y="4709150"/>
            <a:ext cx="576262" cy="1600200"/>
            <a:chOff x="2191" y="1471"/>
            <a:chExt cx="363" cy="1008"/>
          </a:xfrm>
        </p:grpSpPr>
        <p:sp>
          <p:nvSpPr>
            <p:cNvPr id="41" name="Text Box 30"/>
            <p:cNvSpPr txBox="1">
              <a:spLocks noChangeArrowheads="1"/>
            </p:cNvSpPr>
            <p:nvPr/>
          </p:nvSpPr>
          <p:spPr bwMode="auto">
            <a:xfrm>
              <a:off x="2191" y="1471"/>
              <a:ext cx="363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 dirty="0" smtClean="0"/>
                <a:t>0</a:t>
              </a:r>
              <a:endParaRPr lang="en-US" altLang="en-US" sz="2000" b="1" dirty="0"/>
            </a:p>
            <a:p>
              <a:pPr algn="r">
                <a:spcBef>
                  <a:spcPct val="20000"/>
                </a:spcBef>
              </a:pPr>
              <a:r>
                <a:rPr lang="en-US" altLang="en-US" sz="2000" b="1" dirty="0"/>
                <a:t>1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 dirty="0"/>
                <a:t>+ 1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 dirty="0"/>
                <a:t>1 </a:t>
              </a:r>
              <a:r>
                <a:rPr lang="en-US" altLang="en-US" sz="2000" b="1" dirty="0" smtClean="0"/>
                <a:t>0</a:t>
              </a:r>
              <a:endParaRPr lang="en-US" altLang="en-US" sz="2000" b="1" dirty="0"/>
            </a:p>
          </p:txBody>
        </p:sp>
        <p:sp>
          <p:nvSpPr>
            <p:cNvPr id="42" name="Line 31"/>
            <p:cNvSpPr>
              <a:spLocks noChangeShapeType="1"/>
            </p:cNvSpPr>
            <p:nvPr/>
          </p:nvSpPr>
          <p:spPr bwMode="auto">
            <a:xfrm>
              <a:off x="2263" y="2196"/>
              <a:ext cx="2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743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Binary </a:t>
            </a:r>
            <a:r>
              <a:rPr lang="en-US" altLang="en-US" dirty="0"/>
              <a:t>Addition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4722"/>
            <a:ext cx="8229600" cy="195820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30000"/>
              </a:lnSpc>
              <a:spcBef>
                <a:spcPts val="2000"/>
              </a:spcBef>
            </a:pPr>
            <a:r>
              <a:rPr lang="en-US" altLang="en-US" dirty="0"/>
              <a:t>Start with the least significant bit (rightmost bit)</a:t>
            </a:r>
          </a:p>
          <a:p>
            <a:pPr>
              <a:lnSpc>
                <a:spcPct val="130000"/>
              </a:lnSpc>
              <a:spcBef>
                <a:spcPts val="2000"/>
              </a:spcBef>
            </a:pPr>
            <a:r>
              <a:rPr lang="en-US" altLang="en-US" dirty="0"/>
              <a:t>Add each pair of bits</a:t>
            </a:r>
          </a:p>
          <a:p>
            <a:pPr>
              <a:lnSpc>
                <a:spcPct val="130000"/>
              </a:lnSpc>
              <a:spcBef>
                <a:spcPts val="2000"/>
              </a:spcBef>
            </a:pPr>
            <a:r>
              <a:rPr lang="en-US" altLang="en-US" dirty="0"/>
              <a:t>Include the carry in the addition, if present</a:t>
            </a:r>
          </a:p>
        </p:txBody>
      </p:sp>
      <p:sp>
        <p:nvSpPr>
          <p:cNvPr id="125957" name="AutoShape 5"/>
          <p:cNvSpPr>
            <a:spLocks noChangeAspect="1" noChangeArrowheads="1" noTextEdit="1"/>
          </p:cNvSpPr>
          <p:nvPr/>
        </p:nvSpPr>
        <p:spPr bwMode="auto">
          <a:xfrm>
            <a:off x="2267720" y="3449782"/>
            <a:ext cx="4648200" cy="2398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6028" name="Group 76"/>
          <p:cNvGrpSpPr>
            <a:grpSpLocks/>
          </p:cNvGrpSpPr>
          <p:nvPr/>
        </p:nvGrpSpPr>
        <p:grpSpPr bwMode="auto">
          <a:xfrm>
            <a:off x="2815408" y="3832369"/>
            <a:ext cx="3273425" cy="1036638"/>
            <a:chOff x="1785" y="2342"/>
            <a:chExt cx="2062" cy="653"/>
          </a:xfrm>
        </p:grpSpPr>
        <p:sp>
          <p:nvSpPr>
            <p:cNvPr id="125959" name="Rectangle 7"/>
            <p:cNvSpPr>
              <a:spLocks noChangeArrowheads="1"/>
            </p:cNvSpPr>
            <p:nvPr/>
          </p:nvSpPr>
          <p:spPr bwMode="auto">
            <a:xfrm>
              <a:off x="2111" y="2668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60" name="Rectangle 8"/>
            <p:cNvSpPr>
              <a:spLocks noChangeArrowheads="1"/>
            </p:cNvSpPr>
            <p:nvPr/>
          </p:nvSpPr>
          <p:spPr bwMode="auto">
            <a:xfrm>
              <a:off x="2186" y="2706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25961" name="Rectangle 9"/>
            <p:cNvSpPr>
              <a:spLocks noChangeArrowheads="1"/>
            </p:cNvSpPr>
            <p:nvPr/>
          </p:nvSpPr>
          <p:spPr bwMode="auto">
            <a:xfrm>
              <a:off x="2328" y="2668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62" name="Rectangle 10"/>
            <p:cNvSpPr>
              <a:spLocks noChangeArrowheads="1"/>
            </p:cNvSpPr>
            <p:nvPr/>
          </p:nvSpPr>
          <p:spPr bwMode="auto">
            <a:xfrm>
              <a:off x="2403" y="2706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25963" name="Rectangle 11"/>
            <p:cNvSpPr>
              <a:spLocks noChangeArrowheads="1"/>
            </p:cNvSpPr>
            <p:nvPr/>
          </p:nvSpPr>
          <p:spPr bwMode="auto">
            <a:xfrm>
              <a:off x="2545" y="2668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64" name="Rectangle 12"/>
            <p:cNvSpPr>
              <a:spLocks noChangeArrowheads="1"/>
            </p:cNvSpPr>
            <p:nvPr/>
          </p:nvSpPr>
          <p:spPr bwMode="auto">
            <a:xfrm>
              <a:off x="2620" y="2706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25965" name="Rectangle 13"/>
            <p:cNvSpPr>
              <a:spLocks noChangeArrowheads="1"/>
            </p:cNvSpPr>
            <p:nvPr/>
          </p:nvSpPr>
          <p:spPr bwMode="auto">
            <a:xfrm>
              <a:off x="2762" y="2668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66" name="Rectangle 14"/>
            <p:cNvSpPr>
              <a:spLocks noChangeArrowheads="1"/>
            </p:cNvSpPr>
            <p:nvPr/>
          </p:nvSpPr>
          <p:spPr bwMode="auto">
            <a:xfrm>
              <a:off x="2837" y="2706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125967" name="Rectangle 15"/>
            <p:cNvSpPr>
              <a:spLocks noChangeArrowheads="1"/>
            </p:cNvSpPr>
            <p:nvPr/>
          </p:nvSpPr>
          <p:spPr bwMode="auto">
            <a:xfrm>
              <a:off x="2979" y="2668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68" name="Rectangle 16"/>
            <p:cNvSpPr>
              <a:spLocks noChangeArrowheads="1"/>
            </p:cNvSpPr>
            <p:nvPr/>
          </p:nvSpPr>
          <p:spPr bwMode="auto">
            <a:xfrm>
              <a:off x="3054" y="2706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125969" name="Rectangle 17"/>
            <p:cNvSpPr>
              <a:spLocks noChangeArrowheads="1"/>
            </p:cNvSpPr>
            <p:nvPr/>
          </p:nvSpPr>
          <p:spPr bwMode="auto">
            <a:xfrm>
              <a:off x="3196" y="2668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70" name="Rectangle 18"/>
            <p:cNvSpPr>
              <a:spLocks noChangeArrowheads="1"/>
            </p:cNvSpPr>
            <p:nvPr/>
          </p:nvSpPr>
          <p:spPr bwMode="auto">
            <a:xfrm>
              <a:off x="3271" y="2706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125971" name="Rectangle 19"/>
            <p:cNvSpPr>
              <a:spLocks noChangeArrowheads="1"/>
            </p:cNvSpPr>
            <p:nvPr/>
          </p:nvSpPr>
          <p:spPr bwMode="auto">
            <a:xfrm>
              <a:off x="3413" y="2668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72" name="Rectangle 20"/>
            <p:cNvSpPr>
              <a:spLocks noChangeArrowheads="1"/>
            </p:cNvSpPr>
            <p:nvPr/>
          </p:nvSpPr>
          <p:spPr bwMode="auto">
            <a:xfrm>
              <a:off x="3488" y="2706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25973" name="Rectangle 21"/>
            <p:cNvSpPr>
              <a:spLocks noChangeArrowheads="1"/>
            </p:cNvSpPr>
            <p:nvPr/>
          </p:nvSpPr>
          <p:spPr bwMode="auto">
            <a:xfrm>
              <a:off x="3630" y="2668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74" name="Rectangle 22"/>
            <p:cNvSpPr>
              <a:spLocks noChangeArrowheads="1"/>
            </p:cNvSpPr>
            <p:nvPr/>
          </p:nvSpPr>
          <p:spPr bwMode="auto">
            <a:xfrm>
              <a:off x="3705" y="2706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125975" name="Rectangle 23"/>
            <p:cNvSpPr>
              <a:spLocks noChangeArrowheads="1"/>
            </p:cNvSpPr>
            <p:nvPr/>
          </p:nvSpPr>
          <p:spPr bwMode="auto">
            <a:xfrm>
              <a:off x="2111" y="2342"/>
              <a:ext cx="217" cy="21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76" name="Rectangle 24"/>
            <p:cNvSpPr>
              <a:spLocks noChangeArrowheads="1"/>
            </p:cNvSpPr>
            <p:nvPr/>
          </p:nvSpPr>
          <p:spPr bwMode="auto">
            <a:xfrm>
              <a:off x="2186" y="2380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25977" name="Rectangle 25"/>
            <p:cNvSpPr>
              <a:spLocks noChangeArrowheads="1"/>
            </p:cNvSpPr>
            <p:nvPr/>
          </p:nvSpPr>
          <p:spPr bwMode="auto">
            <a:xfrm>
              <a:off x="2328" y="2342"/>
              <a:ext cx="217" cy="21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78" name="Rectangle 26"/>
            <p:cNvSpPr>
              <a:spLocks noChangeArrowheads="1"/>
            </p:cNvSpPr>
            <p:nvPr/>
          </p:nvSpPr>
          <p:spPr bwMode="auto">
            <a:xfrm>
              <a:off x="2403" y="2380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25979" name="Rectangle 27"/>
            <p:cNvSpPr>
              <a:spLocks noChangeArrowheads="1"/>
            </p:cNvSpPr>
            <p:nvPr/>
          </p:nvSpPr>
          <p:spPr bwMode="auto">
            <a:xfrm>
              <a:off x="2545" y="2342"/>
              <a:ext cx="217" cy="21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80" name="Rectangle 28"/>
            <p:cNvSpPr>
              <a:spLocks noChangeArrowheads="1"/>
            </p:cNvSpPr>
            <p:nvPr/>
          </p:nvSpPr>
          <p:spPr bwMode="auto">
            <a:xfrm>
              <a:off x="2620" y="2380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125981" name="Rectangle 29"/>
            <p:cNvSpPr>
              <a:spLocks noChangeArrowheads="1"/>
            </p:cNvSpPr>
            <p:nvPr/>
          </p:nvSpPr>
          <p:spPr bwMode="auto">
            <a:xfrm>
              <a:off x="2762" y="2342"/>
              <a:ext cx="217" cy="21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82" name="Rectangle 30"/>
            <p:cNvSpPr>
              <a:spLocks noChangeArrowheads="1"/>
            </p:cNvSpPr>
            <p:nvPr/>
          </p:nvSpPr>
          <p:spPr bwMode="auto">
            <a:xfrm>
              <a:off x="2837" y="2380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125983" name="Rectangle 31"/>
            <p:cNvSpPr>
              <a:spLocks noChangeArrowheads="1"/>
            </p:cNvSpPr>
            <p:nvPr/>
          </p:nvSpPr>
          <p:spPr bwMode="auto">
            <a:xfrm>
              <a:off x="2979" y="2342"/>
              <a:ext cx="217" cy="21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84" name="Rectangle 32"/>
            <p:cNvSpPr>
              <a:spLocks noChangeArrowheads="1"/>
            </p:cNvSpPr>
            <p:nvPr/>
          </p:nvSpPr>
          <p:spPr bwMode="auto">
            <a:xfrm>
              <a:off x="3054" y="2380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25985" name="Rectangle 33"/>
            <p:cNvSpPr>
              <a:spLocks noChangeArrowheads="1"/>
            </p:cNvSpPr>
            <p:nvPr/>
          </p:nvSpPr>
          <p:spPr bwMode="auto">
            <a:xfrm>
              <a:off x="3196" y="2342"/>
              <a:ext cx="217" cy="21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86" name="Rectangle 34"/>
            <p:cNvSpPr>
              <a:spLocks noChangeArrowheads="1"/>
            </p:cNvSpPr>
            <p:nvPr/>
          </p:nvSpPr>
          <p:spPr bwMode="auto">
            <a:xfrm>
              <a:off x="3271" y="2380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125987" name="Rectangle 35"/>
            <p:cNvSpPr>
              <a:spLocks noChangeArrowheads="1"/>
            </p:cNvSpPr>
            <p:nvPr/>
          </p:nvSpPr>
          <p:spPr bwMode="auto">
            <a:xfrm>
              <a:off x="3413" y="2342"/>
              <a:ext cx="217" cy="21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88" name="Rectangle 36"/>
            <p:cNvSpPr>
              <a:spLocks noChangeArrowheads="1"/>
            </p:cNvSpPr>
            <p:nvPr/>
          </p:nvSpPr>
          <p:spPr bwMode="auto">
            <a:xfrm>
              <a:off x="3488" y="2380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125989" name="Rectangle 37"/>
            <p:cNvSpPr>
              <a:spLocks noChangeArrowheads="1"/>
            </p:cNvSpPr>
            <p:nvPr/>
          </p:nvSpPr>
          <p:spPr bwMode="auto">
            <a:xfrm>
              <a:off x="3630" y="2342"/>
              <a:ext cx="217" cy="21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90" name="Rectangle 38"/>
            <p:cNvSpPr>
              <a:spLocks noChangeArrowheads="1"/>
            </p:cNvSpPr>
            <p:nvPr/>
          </p:nvSpPr>
          <p:spPr bwMode="auto">
            <a:xfrm>
              <a:off x="3705" y="2380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25991" name="Line 39"/>
            <p:cNvSpPr>
              <a:spLocks noChangeShapeType="1"/>
            </p:cNvSpPr>
            <p:nvPr/>
          </p:nvSpPr>
          <p:spPr bwMode="auto">
            <a:xfrm>
              <a:off x="1785" y="2994"/>
              <a:ext cx="2062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92" name="Rectangle 40"/>
            <p:cNvSpPr>
              <a:spLocks noChangeArrowheads="1"/>
            </p:cNvSpPr>
            <p:nvPr/>
          </p:nvSpPr>
          <p:spPr bwMode="auto">
            <a:xfrm>
              <a:off x="1879" y="2685"/>
              <a:ext cx="8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b="1">
                  <a:solidFill>
                    <a:srgbClr val="000000"/>
                  </a:solidFill>
                  <a:latin typeface="Helvetica" pitchFamily="34" charset="0"/>
                </a:rPr>
                <a:t>+</a:t>
              </a:r>
              <a:endParaRPr lang="en-US" altLang="en-US"/>
            </a:p>
          </p:txBody>
        </p:sp>
      </p:grpSp>
      <p:sp>
        <p:nvSpPr>
          <p:cNvPr id="126010" name="Rectangle 58"/>
          <p:cNvSpPr>
            <a:spLocks noChangeArrowheads="1"/>
          </p:cNvSpPr>
          <p:nvPr/>
        </p:nvSpPr>
        <p:spPr bwMode="auto">
          <a:xfrm>
            <a:off x="6396808" y="3875232"/>
            <a:ext cx="3788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>
                <a:solidFill>
                  <a:srgbClr val="000000"/>
                </a:solidFill>
              </a:rPr>
              <a:t>(54)</a:t>
            </a:r>
            <a:endParaRPr lang="en-US" altLang="en-US"/>
          </a:p>
        </p:txBody>
      </p:sp>
      <p:sp>
        <p:nvSpPr>
          <p:cNvPr id="126011" name="Rectangle 59"/>
          <p:cNvSpPr>
            <a:spLocks noChangeArrowheads="1"/>
          </p:cNvSpPr>
          <p:nvPr/>
        </p:nvSpPr>
        <p:spPr bwMode="auto">
          <a:xfrm>
            <a:off x="6403158" y="4392759"/>
            <a:ext cx="3788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>
                <a:solidFill>
                  <a:srgbClr val="000000"/>
                </a:solidFill>
              </a:rPr>
              <a:t>(29)</a:t>
            </a:r>
            <a:endParaRPr lang="en-US" altLang="en-US"/>
          </a:p>
        </p:txBody>
      </p:sp>
      <p:sp>
        <p:nvSpPr>
          <p:cNvPr id="126012" name="Rectangle 60"/>
          <p:cNvSpPr>
            <a:spLocks noChangeArrowheads="1"/>
          </p:cNvSpPr>
          <p:nvPr/>
        </p:nvSpPr>
        <p:spPr bwMode="auto">
          <a:xfrm>
            <a:off x="6396808" y="5084909"/>
            <a:ext cx="3788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>
                <a:solidFill>
                  <a:srgbClr val="000000"/>
                </a:solidFill>
              </a:rPr>
              <a:t>(83)</a:t>
            </a:r>
            <a:endParaRPr lang="en-US" altLang="en-US"/>
          </a:p>
        </p:txBody>
      </p:sp>
      <p:grpSp>
        <p:nvGrpSpPr>
          <p:cNvPr id="126031" name="Group 79"/>
          <p:cNvGrpSpPr>
            <a:grpSpLocks/>
          </p:cNvGrpSpPr>
          <p:nvPr/>
        </p:nvGrpSpPr>
        <p:grpSpPr bwMode="auto">
          <a:xfrm>
            <a:off x="2824933" y="3591078"/>
            <a:ext cx="2101849" cy="193676"/>
            <a:chOff x="1791" y="2190"/>
            <a:chExt cx="1324" cy="122"/>
          </a:xfrm>
        </p:grpSpPr>
        <p:sp>
          <p:nvSpPr>
            <p:cNvPr id="126009" name="Rectangle 57"/>
            <p:cNvSpPr>
              <a:spLocks noChangeArrowheads="1"/>
            </p:cNvSpPr>
            <p:nvPr/>
          </p:nvSpPr>
          <p:spPr bwMode="auto">
            <a:xfrm>
              <a:off x="3061" y="2196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b="1"/>
            </a:p>
          </p:txBody>
        </p:sp>
        <p:sp>
          <p:nvSpPr>
            <p:cNvPr id="126013" name="Rectangle 61"/>
            <p:cNvSpPr>
              <a:spLocks noChangeArrowheads="1"/>
            </p:cNvSpPr>
            <p:nvPr/>
          </p:nvSpPr>
          <p:spPr bwMode="auto">
            <a:xfrm>
              <a:off x="1791" y="2190"/>
              <a:ext cx="291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carry</a:t>
              </a:r>
              <a:endParaRPr lang="en-US" altLang="en-US" b="1"/>
            </a:p>
          </p:txBody>
        </p:sp>
      </p:grpSp>
      <p:grpSp>
        <p:nvGrpSpPr>
          <p:cNvPr id="126030" name="Group 78"/>
          <p:cNvGrpSpPr>
            <a:grpSpLocks/>
          </p:cNvGrpSpPr>
          <p:nvPr/>
        </p:nvGrpSpPr>
        <p:grpSpPr bwMode="auto">
          <a:xfrm>
            <a:off x="2431233" y="5040454"/>
            <a:ext cx="3657600" cy="695324"/>
            <a:chOff x="1543" y="3103"/>
            <a:chExt cx="2304" cy="438"/>
          </a:xfrm>
        </p:grpSpPr>
        <p:sp>
          <p:nvSpPr>
            <p:cNvPr id="125993" name="Rectangle 41"/>
            <p:cNvSpPr>
              <a:spLocks noChangeArrowheads="1"/>
            </p:cNvSpPr>
            <p:nvPr/>
          </p:nvSpPr>
          <p:spPr bwMode="auto">
            <a:xfrm>
              <a:off x="2111" y="3103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95" name="Rectangle 43"/>
            <p:cNvSpPr>
              <a:spLocks noChangeArrowheads="1"/>
            </p:cNvSpPr>
            <p:nvPr/>
          </p:nvSpPr>
          <p:spPr bwMode="auto">
            <a:xfrm>
              <a:off x="2328" y="3103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97" name="Rectangle 45"/>
            <p:cNvSpPr>
              <a:spLocks noChangeArrowheads="1"/>
            </p:cNvSpPr>
            <p:nvPr/>
          </p:nvSpPr>
          <p:spPr bwMode="auto">
            <a:xfrm>
              <a:off x="2545" y="3103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999" name="Rectangle 47"/>
            <p:cNvSpPr>
              <a:spLocks noChangeArrowheads="1"/>
            </p:cNvSpPr>
            <p:nvPr/>
          </p:nvSpPr>
          <p:spPr bwMode="auto">
            <a:xfrm>
              <a:off x="2762" y="3103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001" name="Rectangle 49"/>
            <p:cNvSpPr>
              <a:spLocks noChangeArrowheads="1"/>
            </p:cNvSpPr>
            <p:nvPr/>
          </p:nvSpPr>
          <p:spPr bwMode="auto">
            <a:xfrm>
              <a:off x="2979" y="3103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003" name="Rectangle 51"/>
            <p:cNvSpPr>
              <a:spLocks noChangeArrowheads="1"/>
            </p:cNvSpPr>
            <p:nvPr/>
          </p:nvSpPr>
          <p:spPr bwMode="auto">
            <a:xfrm>
              <a:off x="3196" y="3103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005" name="Rectangle 53"/>
            <p:cNvSpPr>
              <a:spLocks noChangeArrowheads="1"/>
            </p:cNvSpPr>
            <p:nvPr/>
          </p:nvSpPr>
          <p:spPr bwMode="auto">
            <a:xfrm>
              <a:off x="3413" y="3103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007" name="Rectangle 55"/>
            <p:cNvSpPr>
              <a:spLocks noChangeArrowheads="1"/>
            </p:cNvSpPr>
            <p:nvPr/>
          </p:nvSpPr>
          <p:spPr bwMode="auto">
            <a:xfrm>
              <a:off x="3630" y="3103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014" name="Rectangle 62"/>
            <p:cNvSpPr>
              <a:spLocks noChangeArrowheads="1"/>
            </p:cNvSpPr>
            <p:nvPr/>
          </p:nvSpPr>
          <p:spPr bwMode="auto">
            <a:xfrm>
              <a:off x="3718" y="342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b="1"/>
            </a:p>
          </p:txBody>
        </p:sp>
        <p:sp>
          <p:nvSpPr>
            <p:cNvPr id="126015" name="Rectangle 63"/>
            <p:cNvSpPr>
              <a:spLocks noChangeArrowheads="1"/>
            </p:cNvSpPr>
            <p:nvPr/>
          </p:nvSpPr>
          <p:spPr bwMode="auto">
            <a:xfrm>
              <a:off x="3501" y="342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b="1"/>
            </a:p>
          </p:txBody>
        </p:sp>
        <p:sp>
          <p:nvSpPr>
            <p:cNvPr id="126016" name="Rectangle 64"/>
            <p:cNvSpPr>
              <a:spLocks noChangeArrowheads="1"/>
            </p:cNvSpPr>
            <p:nvPr/>
          </p:nvSpPr>
          <p:spPr bwMode="auto">
            <a:xfrm>
              <a:off x="3284" y="342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 altLang="en-US" b="1"/>
            </a:p>
          </p:txBody>
        </p:sp>
        <p:sp>
          <p:nvSpPr>
            <p:cNvPr id="126017" name="Rectangle 65"/>
            <p:cNvSpPr>
              <a:spLocks noChangeArrowheads="1"/>
            </p:cNvSpPr>
            <p:nvPr/>
          </p:nvSpPr>
          <p:spPr bwMode="auto">
            <a:xfrm>
              <a:off x="3067" y="342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3</a:t>
              </a:r>
              <a:endParaRPr lang="en-US" altLang="en-US" b="1"/>
            </a:p>
          </p:txBody>
        </p:sp>
        <p:sp>
          <p:nvSpPr>
            <p:cNvPr id="126018" name="Rectangle 66"/>
            <p:cNvSpPr>
              <a:spLocks noChangeArrowheads="1"/>
            </p:cNvSpPr>
            <p:nvPr/>
          </p:nvSpPr>
          <p:spPr bwMode="auto">
            <a:xfrm>
              <a:off x="2837" y="342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4</a:t>
              </a:r>
              <a:endParaRPr lang="en-US" altLang="en-US" b="1"/>
            </a:p>
          </p:txBody>
        </p:sp>
        <p:sp>
          <p:nvSpPr>
            <p:cNvPr id="126019" name="Rectangle 67"/>
            <p:cNvSpPr>
              <a:spLocks noChangeArrowheads="1"/>
            </p:cNvSpPr>
            <p:nvPr/>
          </p:nvSpPr>
          <p:spPr bwMode="auto">
            <a:xfrm>
              <a:off x="1543" y="3425"/>
              <a:ext cx="55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bit position:</a:t>
              </a:r>
              <a:endParaRPr lang="en-US" altLang="en-US" b="1"/>
            </a:p>
          </p:txBody>
        </p:sp>
        <p:sp>
          <p:nvSpPr>
            <p:cNvPr id="126020" name="Rectangle 68"/>
            <p:cNvSpPr>
              <a:spLocks noChangeArrowheads="1"/>
            </p:cNvSpPr>
            <p:nvPr/>
          </p:nvSpPr>
          <p:spPr bwMode="auto">
            <a:xfrm>
              <a:off x="2620" y="342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5</a:t>
              </a:r>
              <a:endParaRPr lang="en-US" altLang="en-US" b="1"/>
            </a:p>
          </p:txBody>
        </p:sp>
        <p:sp>
          <p:nvSpPr>
            <p:cNvPr id="126021" name="Rectangle 69"/>
            <p:cNvSpPr>
              <a:spLocks noChangeArrowheads="1"/>
            </p:cNvSpPr>
            <p:nvPr/>
          </p:nvSpPr>
          <p:spPr bwMode="auto">
            <a:xfrm>
              <a:off x="2403" y="342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6</a:t>
              </a:r>
              <a:endParaRPr lang="en-US" altLang="en-US" b="1"/>
            </a:p>
          </p:txBody>
        </p:sp>
        <p:sp>
          <p:nvSpPr>
            <p:cNvPr id="126022" name="Rectangle 70"/>
            <p:cNvSpPr>
              <a:spLocks noChangeArrowheads="1"/>
            </p:cNvSpPr>
            <p:nvPr/>
          </p:nvSpPr>
          <p:spPr bwMode="auto">
            <a:xfrm>
              <a:off x="2186" y="342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7</a:t>
              </a:r>
              <a:endParaRPr lang="en-US" altLang="en-US" b="1"/>
            </a:p>
          </p:txBody>
        </p:sp>
      </p:grpSp>
      <p:sp>
        <p:nvSpPr>
          <p:cNvPr id="126024" name="Rectangle 72"/>
          <p:cNvSpPr>
            <a:spLocks noChangeArrowheads="1"/>
          </p:cNvSpPr>
          <p:nvPr/>
        </p:nvSpPr>
        <p:spPr bwMode="auto">
          <a:xfrm>
            <a:off x="4150494" y="359107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solidFill>
                  <a:srgbClr val="000000"/>
                </a:solidFill>
                <a:latin typeface="Helvetica" pitchFamily="34" charset="0"/>
              </a:rPr>
              <a:t>1</a:t>
            </a:r>
            <a:endParaRPr lang="en-US" altLang="en-US" b="1"/>
          </a:p>
        </p:txBody>
      </p:sp>
      <p:sp>
        <p:nvSpPr>
          <p:cNvPr id="126025" name="Rectangle 73"/>
          <p:cNvSpPr>
            <a:spLocks noChangeArrowheads="1"/>
          </p:cNvSpPr>
          <p:nvPr/>
        </p:nvSpPr>
        <p:spPr bwMode="auto">
          <a:xfrm>
            <a:off x="3804420" y="359107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solidFill>
                  <a:srgbClr val="000000"/>
                </a:solidFill>
                <a:latin typeface="Helvetica" pitchFamily="34" charset="0"/>
              </a:rPr>
              <a:t>1</a:t>
            </a:r>
            <a:endParaRPr lang="en-US" altLang="en-US" b="1"/>
          </a:p>
        </p:txBody>
      </p:sp>
      <p:sp>
        <p:nvSpPr>
          <p:cNvPr id="126026" name="Rectangle 74"/>
          <p:cNvSpPr>
            <a:spLocks noChangeArrowheads="1"/>
          </p:cNvSpPr>
          <p:nvPr/>
        </p:nvSpPr>
        <p:spPr bwMode="auto">
          <a:xfrm>
            <a:off x="4496570" y="360059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solidFill>
                  <a:srgbClr val="000000"/>
                </a:solidFill>
                <a:latin typeface="Helvetica" pitchFamily="34" charset="0"/>
              </a:rPr>
              <a:t>1</a:t>
            </a:r>
            <a:endParaRPr lang="en-US" altLang="en-US" b="1"/>
          </a:p>
        </p:txBody>
      </p:sp>
      <p:sp>
        <p:nvSpPr>
          <p:cNvPr id="125994" name="Rectangle 42"/>
          <p:cNvSpPr>
            <a:spLocks noChangeArrowheads="1"/>
          </p:cNvSpPr>
          <p:nvPr/>
        </p:nvSpPr>
        <p:spPr bwMode="auto">
          <a:xfrm>
            <a:off x="3451996" y="5100782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/>
          </a:p>
        </p:txBody>
      </p:sp>
      <p:sp>
        <p:nvSpPr>
          <p:cNvPr id="125996" name="Rectangle 44"/>
          <p:cNvSpPr>
            <a:spLocks noChangeArrowheads="1"/>
          </p:cNvSpPr>
          <p:nvPr/>
        </p:nvSpPr>
        <p:spPr bwMode="auto">
          <a:xfrm>
            <a:off x="3796483" y="5100782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1</a:t>
            </a:r>
            <a:endParaRPr lang="en-US" altLang="en-US"/>
          </a:p>
        </p:txBody>
      </p:sp>
      <p:sp>
        <p:nvSpPr>
          <p:cNvPr id="125998" name="Rectangle 46"/>
          <p:cNvSpPr>
            <a:spLocks noChangeArrowheads="1"/>
          </p:cNvSpPr>
          <p:nvPr/>
        </p:nvSpPr>
        <p:spPr bwMode="auto">
          <a:xfrm>
            <a:off x="4140970" y="5100782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/>
          </a:p>
        </p:txBody>
      </p:sp>
      <p:sp>
        <p:nvSpPr>
          <p:cNvPr id="126000" name="Rectangle 48"/>
          <p:cNvSpPr>
            <a:spLocks noChangeArrowheads="1"/>
          </p:cNvSpPr>
          <p:nvPr/>
        </p:nvSpPr>
        <p:spPr bwMode="auto">
          <a:xfrm>
            <a:off x="4485458" y="5100782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1</a:t>
            </a:r>
            <a:endParaRPr lang="en-US" altLang="en-US"/>
          </a:p>
        </p:txBody>
      </p:sp>
      <p:sp>
        <p:nvSpPr>
          <p:cNvPr id="126002" name="Rectangle 50"/>
          <p:cNvSpPr>
            <a:spLocks noChangeArrowheads="1"/>
          </p:cNvSpPr>
          <p:nvPr/>
        </p:nvSpPr>
        <p:spPr bwMode="auto">
          <a:xfrm>
            <a:off x="4829946" y="5100782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/>
          </a:p>
        </p:txBody>
      </p:sp>
      <p:sp>
        <p:nvSpPr>
          <p:cNvPr id="126004" name="Rectangle 52"/>
          <p:cNvSpPr>
            <a:spLocks noChangeArrowheads="1"/>
          </p:cNvSpPr>
          <p:nvPr/>
        </p:nvSpPr>
        <p:spPr bwMode="auto">
          <a:xfrm>
            <a:off x="5174433" y="5100782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/>
          </a:p>
        </p:txBody>
      </p:sp>
      <p:sp>
        <p:nvSpPr>
          <p:cNvPr id="126006" name="Rectangle 54"/>
          <p:cNvSpPr>
            <a:spLocks noChangeArrowheads="1"/>
          </p:cNvSpPr>
          <p:nvPr/>
        </p:nvSpPr>
        <p:spPr bwMode="auto">
          <a:xfrm>
            <a:off x="5518920" y="5100782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1</a:t>
            </a:r>
            <a:endParaRPr lang="en-US" altLang="en-US"/>
          </a:p>
        </p:txBody>
      </p:sp>
      <p:sp>
        <p:nvSpPr>
          <p:cNvPr id="126008" name="Rectangle 56"/>
          <p:cNvSpPr>
            <a:spLocks noChangeArrowheads="1"/>
          </p:cNvSpPr>
          <p:nvPr/>
        </p:nvSpPr>
        <p:spPr bwMode="auto">
          <a:xfrm>
            <a:off x="5863408" y="5100782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1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0937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2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25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2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25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2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2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010" grpId="0"/>
      <p:bldP spid="126011" grpId="0"/>
      <p:bldP spid="126012" grpId="0"/>
      <p:bldP spid="126024" grpId="0"/>
      <p:bldP spid="126025" grpId="0"/>
      <p:bldP spid="126026" grpId="0"/>
      <p:bldP spid="125994" grpId="0"/>
      <p:bldP spid="125996" grpId="0"/>
      <p:bldP spid="125998" grpId="0"/>
      <p:bldP spid="126000" grpId="0"/>
      <p:bldP spid="126002" grpId="0"/>
      <p:bldP spid="126004" grpId="0"/>
      <p:bldP spid="126006" grpId="0"/>
      <p:bldP spid="12600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Subtracting Bits</a:t>
            </a:r>
            <a:endParaRPr lang="en-US" altLang="en-US" dirty="0"/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4296" y="993031"/>
            <a:ext cx="8229600" cy="378960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30000"/>
              </a:lnSpc>
              <a:spcBef>
                <a:spcPts val="2000"/>
              </a:spcBef>
            </a:pPr>
            <a:r>
              <a:rPr lang="en-US" altLang="en-US" dirty="0" smtClean="0">
                <a:cs typeface="Times New Roman" pitchFamily="18" charset="0"/>
              </a:rPr>
              <a:t>Subtracting 2 bits (X – Y): we </a:t>
            </a:r>
            <a:r>
              <a:rPr lang="en-US" altLang="en-US" dirty="0">
                <a:cs typeface="Times New Roman" pitchFamily="18" charset="0"/>
              </a:rPr>
              <a:t>get the difference (D) and the </a:t>
            </a:r>
            <a:r>
              <a:rPr lang="en-US" altLang="en-US" b="1" dirty="0" smtClean="0">
                <a:solidFill>
                  <a:srgbClr val="FF0000"/>
                </a:solidFill>
                <a:cs typeface="Times New Roman" pitchFamily="18" charset="0"/>
              </a:rPr>
              <a:t>borrow-out</a:t>
            </a:r>
            <a:r>
              <a:rPr lang="en-US" altLang="en-US" dirty="0" smtClean="0">
                <a:cs typeface="Times New Roman" pitchFamily="18" charset="0"/>
              </a:rPr>
              <a:t> </a:t>
            </a:r>
            <a:r>
              <a:rPr lang="en-US" altLang="en-US" dirty="0">
                <a:cs typeface="Times New Roman" pitchFamily="18" charset="0"/>
              </a:rPr>
              <a:t>(B) shown </a:t>
            </a:r>
            <a:r>
              <a:rPr lang="en-US" altLang="en-US" dirty="0" smtClean="0">
                <a:cs typeface="Times New Roman" pitchFamily="18" charset="0"/>
              </a:rPr>
              <a:t>as 0 or </a:t>
            </a:r>
            <a:r>
              <a:rPr lang="en-US" altLang="en-US" dirty="0">
                <a:cs typeface="Times New Roman" pitchFamily="18" charset="0"/>
              </a:rPr>
              <a:t>-1</a:t>
            </a:r>
            <a:endParaRPr lang="en-US" altLang="en-US" dirty="0"/>
          </a:p>
          <a:p>
            <a:pPr>
              <a:lnSpc>
                <a:spcPct val="130000"/>
              </a:lnSpc>
              <a:spcBef>
                <a:spcPts val="2000"/>
              </a:spcBef>
              <a:buFont typeface="Wingdings" pitchFamily="2" charset="2"/>
              <a:buNone/>
            </a:pPr>
            <a:endParaRPr lang="en-US" altLang="en-US" dirty="0"/>
          </a:p>
          <a:p>
            <a:pPr>
              <a:lnSpc>
                <a:spcPct val="130000"/>
              </a:lnSpc>
              <a:spcBef>
                <a:spcPts val="2000"/>
              </a:spcBef>
              <a:buFont typeface="Wingdings" pitchFamily="2" charset="2"/>
              <a:buNone/>
            </a:pPr>
            <a:r>
              <a:rPr lang="en-US" altLang="en-US" dirty="0"/>
              <a:t>	</a:t>
            </a:r>
          </a:p>
          <a:p>
            <a:pPr>
              <a:lnSpc>
                <a:spcPct val="130000"/>
              </a:lnSpc>
              <a:spcBef>
                <a:spcPts val="2000"/>
              </a:spcBef>
            </a:pPr>
            <a:r>
              <a:rPr lang="en-US" altLang="en-US" dirty="0" smtClean="0">
                <a:cs typeface="Times New Roman" pitchFamily="18" charset="0"/>
              </a:rPr>
              <a:t>Subtracting </a:t>
            </a:r>
            <a:r>
              <a:rPr lang="en-US" altLang="en-US" dirty="0">
                <a:cs typeface="Times New Roman" pitchFamily="18" charset="0"/>
              </a:rPr>
              <a:t>two bits (X </a:t>
            </a:r>
            <a:r>
              <a:rPr lang="en-US" altLang="en-US" dirty="0" smtClean="0">
                <a:cs typeface="Times New Roman" pitchFamily="18" charset="0"/>
              </a:rPr>
              <a:t>– Y) with a </a:t>
            </a:r>
            <a:r>
              <a:rPr lang="en-US" altLang="en-US" b="1" dirty="0" smtClean="0">
                <a:solidFill>
                  <a:srgbClr val="FF0000"/>
                </a:solidFill>
                <a:cs typeface="Times New Roman" pitchFamily="18" charset="0"/>
              </a:rPr>
              <a:t>borrow-in = -1</a:t>
            </a:r>
            <a:r>
              <a:rPr lang="en-US" altLang="en-US" dirty="0" smtClean="0">
                <a:cs typeface="Times New Roman" pitchFamily="18" charset="0"/>
              </a:rPr>
              <a:t>: we </a:t>
            </a:r>
            <a:r>
              <a:rPr lang="en-US" altLang="en-US" dirty="0">
                <a:cs typeface="Times New Roman" pitchFamily="18" charset="0"/>
              </a:rPr>
              <a:t>get the difference (D) and the </a:t>
            </a:r>
            <a:r>
              <a:rPr lang="en-US" altLang="en-US" b="1" dirty="0">
                <a:solidFill>
                  <a:srgbClr val="FF0000"/>
                </a:solidFill>
                <a:cs typeface="Times New Roman" pitchFamily="18" charset="0"/>
              </a:rPr>
              <a:t>borrow-out</a:t>
            </a:r>
            <a:r>
              <a:rPr lang="en-US" altLang="en-US" dirty="0">
                <a:cs typeface="Times New Roman" pitchFamily="18" charset="0"/>
              </a:rPr>
              <a:t> (B</a:t>
            </a:r>
            <a:r>
              <a:rPr lang="en-US" altLang="en-US" dirty="0" smtClean="0">
                <a:cs typeface="Times New Roman" pitchFamily="18" charset="0"/>
              </a:rPr>
              <a:t>)</a:t>
            </a:r>
            <a:endParaRPr lang="en-US" altLang="en-US" dirty="0"/>
          </a:p>
        </p:txBody>
      </p:sp>
      <p:grpSp>
        <p:nvGrpSpPr>
          <p:cNvPr id="272419" name="Group 35"/>
          <p:cNvGrpSpPr>
            <a:grpSpLocks/>
          </p:cNvGrpSpPr>
          <p:nvPr/>
        </p:nvGrpSpPr>
        <p:grpSpPr bwMode="auto">
          <a:xfrm>
            <a:off x="2037292" y="2219253"/>
            <a:ext cx="692150" cy="1219200"/>
            <a:chOff x="2081" y="1543"/>
            <a:chExt cx="436" cy="768"/>
          </a:xfrm>
        </p:grpSpPr>
        <p:sp>
          <p:nvSpPr>
            <p:cNvPr id="272389" name="Text Box 5"/>
            <p:cNvSpPr txBox="1">
              <a:spLocks noChangeArrowheads="1"/>
            </p:cNvSpPr>
            <p:nvPr/>
          </p:nvSpPr>
          <p:spPr bwMode="auto">
            <a:xfrm>
              <a:off x="2081" y="1543"/>
              <a:ext cx="436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X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/>
                <a:t>– Y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B D</a:t>
              </a:r>
            </a:p>
          </p:txBody>
        </p:sp>
        <p:sp>
          <p:nvSpPr>
            <p:cNvPr id="272390" name="Line 6"/>
            <p:cNvSpPr>
              <a:spLocks noChangeShapeType="1"/>
            </p:cNvSpPr>
            <p:nvPr/>
          </p:nvSpPr>
          <p:spPr bwMode="auto">
            <a:xfrm>
              <a:off x="2167" y="2051"/>
              <a:ext cx="3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2420" name="Group 36"/>
          <p:cNvGrpSpPr>
            <a:grpSpLocks/>
          </p:cNvGrpSpPr>
          <p:nvPr/>
        </p:nvGrpSpPr>
        <p:grpSpPr bwMode="auto">
          <a:xfrm>
            <a:off x="3190130" y="2219253"/>
            <a:ext cx="633412" cy="1219200"/>
            <a:chOff x="2699" y="1543"/>
            <a:chExt cx="399" cy="768"/>
          </a:xfrm>
        </p:grpSpPr>
        <p:sp>
          <p:nvSpPr>
            <p:cNvPr id="272392" name="Text Box 8"/>
            <p:cNvSpPr txBox="1">
              <a:spLocks noChangeArrowheads="1"/>
            </p:cNvSpPr>
            <p:nvPr/>
          </p:nvSpPr>
          <p:spPr bwMode="auto">
            <a:xfrm>
              <a:off x="2699" y="1543"/>
              <a:ext cx="399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0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b="1"/>
                <a:t>–</a:t>
              </a:r>
              <a:r>
                <a:rPr lang="en-US" altLang="en-US" sz="2000" b="1"/>
                <a:t> 0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0 0</a:t>
              </a:r>
            </a:p>
          </p:txBody>
        </p:sp>
        <p:sp>
          <p:nvSpPr>
            <p:cNvPr id="272393" name="Line 9"/>
            <p:cNvSpPr>
              <a:spLocks noChangeShapeType="1"/>
            </p:cNvSpPr>
            <p:nvPr/>
          </p:nvSpPr>
          <p:spPr bwMode="auto">
            <a:xfrm>
              <a:off x="2778" y="2051"/>
              <a:ext cx="27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2421" name="Group 37"/>
          <p:cNvGrpSpPr>
            <a:grpSpLocks/>
          </p:cNvGrpSpPr>
          <p:nvPr/>
        </p:nvGrpSpPr>
        <p:grpSpPr bwMode="auto">
          <a:xfrm>
            <a:off x="4399805" y="2219253"/>
            <a:ext cx="633412" cy="1219200"/>
            <a:chOff x="3461" y="1543"/>
            <a:chExt cx="399" cy="768"/>
          </a:xfrm>
        </p:grpSpPr>
        <p:sp>
          <p:nvSpPr>
            <p:cNvPr id="272395" name="Text Box 11"/>
            <p:cNvSpPr txBox="1">
              <a:spLocks noChangeArrowheads="1"/>
            </p:cNvSpPr>
            <p:nvPr/>
          </p:nvSpPr>
          <p:spPr bwMode="auto">
            <a:xfrm>
              <a:off x="3461" y="1543"/>
              <a:ext cx="399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0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b="1"/>
                <a:t>–</a:t>
              </a:r>
              <a:r>
                <a:rPr lang="en-US" altLang="en-US" sz="2000" b="1"/>
                <a:t> 1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-1 1</a:t>
              </a:r>
            </a:p>
          </p:txBody>
        </p:sp>
        <p:sp>
          <p:nvSpPr>
            <p:cNvPr id="272396" name="Line 12"/>
            <p:cNvSpPr>
              <a:spLocks noChangeShapeType="1"/>
            </p:cNvSpPr>
            <p:nvPr/>
          </p:nvSpPr>
          <p:spPr bwMode="auto">
            <a:xfrm>
              <a:off x="3540" y="2051"/>
              <a:ext cx="27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2422" name="Group 38"/>
          <p:cNvGrpSpPr>
            <a:grpSpLocks/>
          </p:cNvGrpSpPr>
          <p:nvPr/>
        </p:nvGrpSpPr>
        <p:grpSpPr bwMode="auto">
          <a:xfrm>
            <a:off x="5609480" y="2219253"/>
            <a:ext cx="633412" cy="1219200"/>
            <a:chOff x="4223" y="1543"/>
            <a:chExt cx="399" cy="768"/>
          </a:xfrm>
        </p:grpSpPr>
        <p:sp>
          <p:nvSpPr>
            <p:cNvPr id="272398" name="Text Box 14"/>
            <p:cNvSpPr txBox="1">
              <a:spLocks noChangeArrowheads="1"/>
            </p:cNvSpPr>
            <p:nvPr/>
          </p:nvSpPr>
          <p:spPr bwMode="auto">
            <a:xfrm>
              <a:off x="4223" y="1543"/>
              <a:ext cx="399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1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b="1"/>
                <a:t>–</a:t>
              </a:r>
              <a:r>
                <a:rPr lang="en-US" altLang="en-US" sz="2000" b="1"/>
                <a:t> 0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0 1</a:t>
              </a:r>
            </a:p>
          </p:txBody>
        </p:sp>
        <p:sp>
          <p:nvSpPr>
            <p:cNvPr id="272399" name="Line 15"/>
            <p:cNvSpPr>
              <a:spLocks noChangeShapeType="1"/>
            </p:cNvSpPr>
            <p:nvPr/>
          </p:nvSpPr>
          <p:spPr bwMode="auto">
            <a:xfrm>
              <a:off x="4302" y="2051"/>
              <a:ext cx="27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2423" name="Group 39"/>
          <p:cNvGrpSpPr>
            <a:grpSpLocks/>
          </p:cNvGrpSpPr>
          <p:nvPr/>
        </p:nvGrpSpPr>
        <p:grpSpPr bwMode="auto">
          <a:xfrm>
            <a:off x="6819155" y="2219253"/>
            <a:ext cx="633412" cy="1219200"/>
            <a:chOff x="4985" y="1543"/>
            <a:chExt cx="399" cy="768"/>
          </a:xfrm>
        </p:grpSpPr>
        <p:sp>
          <p:nvSpPr>
            <p:cNvPr id="272401" name="Text Box 17"/>
            <p:cNvSpPr txBox="1">
              <a:spLocks noChangeArrowheads="1"/>
            </p:cNvSpPr>
            <p:nvPr/>
          </p:nvSpPr>
          <p:spPr bwMode="auto">
            <a:xfrm>
              <a:off x="4985" y="1543"/>
              <a:ext cx="399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1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b="1"/>
                <a:t>–</a:t>
              </a:r>
              <a:r>
                <a:rPr lang="en-US" altLang="en-US" sz="2000" b="1"/>
                <a:t> 1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0 0</a:t>
              </a:r>
            </a:p>
          </p:txBody>
        </p:sp>
        <p:sp>
          <p:nvSpPr>
            <p:cNvPr id="272402" name="Line 18"/>
            <p:cNvSpPr>
              <a:spLocks noChangeShapeType="1"/>
            </p:cNvSpPr>
            <p:nvPr/>
          </p:nvSpPr>
          <p:spPr bwMode="auto">
            <a:xfrm>
              <a:off x="5064" y="2051"/>
              <a:ext cx="27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2403" name="Group 19"/>
          <p:cNvGrpSpPr>
            <a:grpSpLocks/>
          </p:cNvGrpSpPr>
          <p:nvPr/>
        </p:nvGrpSpPr>
        <p:grpSpPr bwMode="auto">
          <a:xfrm>
            <a:off x="3132306" y="4840240"/>
            <a:ext cx="633412" cy="1600200"/>
            <a:chOff x="2191" y="1471"/>
            <a:chExt cx="363" cy="1008"/>
          </a:xfrm>
        </p:grpSpPr>
        <p:sp>
          <p:nvSpPr>
            <p:cNvPr id="272404" name="Text Box 20"/>
            <p:cNvSpPr txBox="1">
              <a:spLocks noChangeArrowheads="1"/>
            </p:cNvSpPr>
            <p:nvPr/>
          </p:nvSpPr>
          <p:spPr bwMode="auto">
            <a:xfrm>
              <a:off x="2191" y="1471"/>
              <a:ext cx="363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-1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/>
                <a:t>0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b="1"/>
                <a:t>–</a:t>
              </a:r>
              <a:r>
                <a:rPr lang="en-US" altLang="en-US" sz="2000" b="1"/>
                <a:t> 0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-1 1</a:t>
              </a:r>
            </a:p>
          </p:txBody>
        </p:sp>
        <p:sp>
          <p:nvSpPr>
            <p:cNvPr id="272405" name="Line 21"/>
            <p:cNvSpPr>
              <a:spLocks noChangeShapeType="1"/>
            </p:cNvSpPr>
            <p:nvPr/>
          </p:nvSpPr>
          <p:spPr bwMode="auto">
            <a:xfrm>
              <a:off x="2263" y="2196"/>
              <a:ext cx="2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2406" name="Group 22"/>
          <p:cNvGrpSpPr>
            <a:grpSpLocks/>
          </p:cNvGrpSpPr>
          <p:nvPr/>
        </p:nvGrpSpPr>
        <p:grpSpPr bwMode="auto">
          <a:xfrm>
            <a:off x="4341981" y="4840240"/>
            <a:ext cx="633412" cy="1600200"/>
            <a:chOff x="2191" y="1471"/>
            <a:chExt cx="363" cy="1008"/>
          </a:xfrm>
        </p:grpSpPr>
        <p:sp>
          <p:nvSpPr>
            <p:cNvPr id="272407" name="Text Box 23"/>
            <p:cNvSpPr txBox="1">
              <a:spLocks noChangeArrowheads="1"/>
            </p:cNvSpPr>
            <p:nvPr/>
          </p:nvSpPr>
          <p:spPr bwMode="auto">
            <a:xfrm>
              <a:off x="2191" y="1471"/>
              <a:ext cx="363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-1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/>
                <a:t>0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b="1"/>
                <a:t>–</a:t>
              </a:r>
              <a:r>
                <a:rPr lang="en-US" altLang="en-US" sz="2000" b="1"/>
                <a:t> 1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/>
                <a:t>-1 0</a:t>
              </a:r>
            </a:p>
          </p:txBody>
        </p:sp>
        <p:sp>
          <p:nvSpPr>
            <p:cNvPr id="272408" name="Line 24"/>
            <p:cNvSpPr>
              <a:spLocks noChangeShapeType="1"/>
            </p:cNvSpPr>
            <p:nvPr/>
          </p:nvSpPr>
          <p:spPr bwMode="auto">
            <a:xfrm>
              <a:off x="2263" y="2196"/>
              <a:ext cx="2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2409" name="Group 25"/>
          <p:cNvGrpSpPr>
            <a:grpSpLocks/>
          </p:cNvGrpSpPr>
          <p:nvPr/>
        </p:nvGrpSpPr>
        <p:grpSpPr bwMode="auto">
          <a:xfrm>
            <a:off x="5551656" y="4840240"/>
            <a:ext cx="633412" cy="1600200"/>
            <a:chOff x="2191" y="1471"/>
            <a:chExt cx="363" cy="1008"/>
          </a:xfrm>
        </p:grpSpPr>
        <p:sp>
          <p:nvSpPr>
            <p:cNvPr id="272410" name="Text Box 26"/>
            <p:cNvSpPr txBox="1">
              <a:spLocks noChangeArrowheads="1"/>
            </p:cNvSpPr>
            <p:nvPr/>
          </p:nvSpPr>
          <p:spPr bwMode="auto">
            <a:xfrm>
              <a:off x="2191" y="1471"/>
              <a:ext cx="363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 dirty="0"/>
                <a:t>-1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 dirty="0"/>
                <a:t>1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b="1" dirty="0"/>
                <a:t>–</a:t>
              </a:r>
              <a:r>
                <a:rPr lang="en-US" altLang="en-US" sz="2000" b="1" dirty="0"/>
                <a:t> 0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 dirty="0"/>
                <a:t>0 0</a:t>
              </a:r>
            </a:p>
          </p:txBody>
        </p:sp>
        <p:sp>
          <p:nvSpPr>
            <p:cNvPr id="272411" name="Line 27"/>
            <p:cNvSpPr>
              <a:spLocks noChangeShapeType="1"/>
            </p:cNvSpPr>
            <p:nvPr/>
          </p:nvSpPr>
          <p:spPr bwMode="auto">
            <a:xfrm>
              <a:off x="2263" y="2196"/>
              <a:ext cx="2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2412" name="Group 28"/>
          <p:cNvGrpSpPr>
            <a:grpSpLocks/>
          </p:cNvGrpSpPr>
          <p:nvPr/>
        </p:nvGrpSpPr>
        <p:grpSpPr bwMode="auto">
          <a:xfrm>
            <a:off x="6761331" y="4840240"/>
            <a:ext cx="633412" cy="1600200"/>
            <a:chOff x="2191" y="1471"/>
            <a:chExt cx="363" cy="1008"/>
          </a:xfrm>
        </p:grpSpPr>
        <p:sp>
          <p:nvSpPr>
            <p:cNvPr id="272413" name="Text Box 29"/>
            <p:cNvSpPr txBox="1">
              <a:spLocks noChangeArrowheads="1"/>
            </p:cNvSpPr>
            <p:nvPr/>
          </p:nvSpPr>
          <p:spPr bwMode="auto">
            <a:xfrm>
              <a:off x="2191" y="1471"/>
              <a:ext cx="363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2000" b="1" dirty="0"/>
                <a:t>-1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sz="2000" b="1" dirty="0"/>
                <a:t>1</a:t>
              </a:r>
            </a:p>
            <a:p>
              <a:pPr algn="r">
                <a:spcBef>
                  <a:spcPct val="20000"/>
                </a:spcBef>
              </a:pPr>
              <a:r>
                <a:rPr lang="en-US" altLang="en-US" b="1" dirty="0"/>
                <a:t>–</a:t>
              </a:r>
              <a:r>
                <a:rPr lang="en-US" altLang="en-US" sz="2000" b="1" dirty="0"/>
                <a:t> 1</a:t>
              </a:r>
            </a:p>
            <a:p>
              <a:pPr algn="r">
                <a:spcBef>
                  <a:spcPct val="50000"/>
                </a:spcBef>
              </a:pPr>
              <a:r>
                <a:rPr lang="en-US" altLang="en-US" sz="2000" b="1" dirty="0"/>
                <a:t>-1 1</a:t>
              </a:r>
            </a:p>
          </p:txBody>
        </p:sp>
        <p:sp>
          <p:nvSpPr>
            <p:cNvPr id="272414" name="Line 30"/>
            <p:cNvSpPr>
              <a:spLocks noChangeShapeType="1"/>
            </p:cNvSpPr>
            <p:nvPr/>
          </p:nvSpPr>
          <p:spPr bwMode="auto">
            <a:xfrm>
              <a:off x="2263" y="2196"/>
              <a:ext cx="2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018219" y="4840240"/>
            <a:ext cx="1653400" cy="1600200"/>
            <a:chOff x="1018218" y="4840239"/>
            <a:chExt cx="1653400" cy="1600200"/>
          </a:xfrm>
        </p:grpSpPr>
        <p:grpSp>
          <p:nvGrpSpPr>
            <p:cNvPr id="272415" name="Group 31"/>
            <p:cNvGrpSpPr>
              <a:grpSpLocks/>
            </p:cNvGrpSpPr>
            <p:nvPr/>
          </p:nvGrpSpPr>
          <p:grpSpPr bwMode="auto">
            <a:xfrm>
              <a:off x="1979468" y="4840239"/>
              <a:ext cx="692150" cy="1600200"/>
              <a:chOff x="2191" y="1471"/>
              <a:chExt cx="363" cy="1008"/>
            </a:xfrm>
          </p:grpSpPr>
          <p:sp>
            <p:nvSpPr>
              <p:cNvPr id="272416" name="Text Box 32"/>
              <p:cNvSpPr txBox="1">
                <a:spLocks noChangeArrowheads="1"/>
              </p:cNvSpPr>
              <p:nvPr/>
            </p:nvSpPr>
            <p:spPr bwMode="auto">
              <a:xfrm>
                <a:off x="2191" y="1471"/>
                <a:ext cx="363" cy="10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sz="2000" b="1" dirty="0"/>
                  <a:t>-1</a:t>
                </a:r>
              </a:p>
              <a:p>
                <a:pPr algn="r">
                  <a:spcBef>
                    <a:spcPct val="20000"/>
                  </a:spcBef>
                </a:pPr>
                <a:r>
                  <a:rPr lang="en-US" altLang="en-US" sz="2000" b="1" dirty="0"/>
                  <a:t>X</a:t>
                </a:r>
              </a:p>
              <a:p>
                <a:pPr algn="r">
                  <a:spcBef>
                    <a:spcPct val="20000"/>
                  </a:spcBef>
                </a:pPr>
                <a:r>
                  <a:rPr lang="en-US" altLang="en-US" sz="2000" b="1" dirty="0"/>
                  <a:t>– Y</a:t>
                </a:r>
              </a:p>
              <a:p>
                <a:pPr algn="r">
                  <a:spcBef>
                    <a:spcPct val="50000"/>
                  </a:spcBef>
                </a:pPr>
                <a:r>
                  <a:rPr lang="en-US" altLang="en-US" sz="2000" b="1" dirty="0"/>
                  <a:t>B D</a:t>
                </a:r>
              </a:p>
            </p:txBody>
          </p:sp>
          <p:sp>
            <p:nvSpPr>
              <p:cNvPr id="272417" name="Line 33"/>
              <p:cNvSpPr>
                <a:spLocks noChangeShapeType="1"/>
              </p:cNvSpPr>
              <p:nvPr/>
            </p:nvSpPr>
            <p:spPr bwMode="auto">
              <a:xfrm>
                <a:off x="2263" y="2196"/>
                <a:ext cx="25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1018218" y="4840510"/>
              <a:ext cx="12182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borrow-in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08646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7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7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7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7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Binary </a:t>
            </a:r>
            <a:r>
              <a:rPr lang="en-US" altLang="en-US" dirty="0"/>
              <a:t>Subtraction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00152"/>
            <a:ext cx="8229600" cy="188277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ct val="60000"/>
              </a:spcBef>
            </a:pPr>
            <a:r>
              <a:rPr lang="en-US" altLang="en-US"/>
              <a:t>Start with the least significant bit (rightmost bit)</a:t>
            </a:r>
          </a:p>
          <a:p>
            <a:pPr>
              <a:spcBef>
                <a:spcPct val="60000"/>
              </a:spcBef>
            </a:pPr>
            <a:r>
              <a:rPr lang="en-US" altLang="en-US"/>
              <a:t>Subtract each pair of bits</a:t>
            </a:r>
          </a:p>
          <a:p>
            <a:pPr>
              <a:spcBef>
                <a:spcPct val="60000"/>
              </a:spcBef>
            </a:pPr>
            <a:r>
              <a:rPr lang="en-US" altLang="en-US"/>
              <a:t>Include the borrow in the subtraction, if present</a:t>
            </a:r>
          </a:p>
        </p:txBody>
      </p:sp>
      <p:sp>
        <p:nvSpPr>
          <p:cNvPr id="273412" name="AutoShape 4"/>
          <p:cNvSpPr>
            <a:spLocks noChangeAspect="1" noChangeArrowheads="1" noTextEdit="1"/>
          </p:cNvSpPr>
          <p:nvPr/>
        </p:nvSpPr>
        <p:spPr bwMode="auto">
          <a:xfrm>
            <a:off x="2267720" y="3486607"/>
            <a:ext cx="4648200" cy="2398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73413" name="Group 5"/>
          <p:cNvGrpSpPr>
            <a:grpSpLocks/>
          </p:cNvGrpSpPr>
          <p:nvPr/>
        </p:nvGrpSpPr>
        <p:grpSpPr bwMode="auto">
          <a:xfrm>
            <a:off x="2815408" y="3869194"/>
            <a:ext cx="3273425" cy="1036638"/>
            <a:chOff x="1785" y="2342"/>
            <a:chExt cx="2062" cy="653"/>
          </a:xfrm>
        </p:grpSpPr>
        <p:sp>
          <p:nvSpPr>
            <p:cNvPr id="273414" name="Rectangle 6"/>
            <p:cNvSpPr>
              <a:spLocks noChangeArrowheads="1"/>
            </p:cNvSpPr>
            <p:nvPr/>
          </p:nvSpPr>
          <p:spPr bwMode="auto">
            <a:xfrm>
              <a:off x="2111" y="2668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15" name="Rectangle 7"/>
            <p:cNvSpPr>
              <a:spLocks noChangeArrowheads="1"/>
            </p:cNvSpPr>
            <p:nvPr/>
          </p:nvSpPr>
          <p:spPr bwMode="auto">
            <a:xfrm>
              <a:off x="2186" y="2706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73416" name="Rectangle 8"/>
            <p:cNvSpPr>
              <a:spLocks noChangeArrowheads="1"/>
            </p:cNvSpPr>
            <p:nvPr/>
          </p:nvSpPr>
          <p:spPr bwMode="auto">
            <a:xfrm>
              <a:off x="2328" y="2668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17" name="Rectangle 9"/>
            <p:cNvSpPr>
              <a:spLocks noChangeArrowheads="1"/>
            </p:cNvSpPr>
            <p:nvPr/>
          </p:nvSpPr>
          <p:spPr bwMode="auto">
            <a:xfrm>
              <a:off x="2403" y="2706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73418" name="Rectangle 10"/>
            <p:cNvSpPr>
              <a:spLocks noChangeArrowheads="1"/>
            </p:cNvSpPr>
            <p:nvPr/>
          </p:nvSpPr>
          <p:spPr bwMode="auto">
            <a:xfrm>
              <a:off x="2545" y="2668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19" name="Rectangle 11"/>
            <p:cNvSpPr>
              <a:spLocks noChangeArrowheads="1"/>
            </p:cNvSpPr>
            <p:nvPr/>
          </p:nvSpPr>
          <p:spPr bwMode="auto">
            <a:xfrm>
              <a:off x="2620" y="2706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73420" name="Rectangle 12"/>
            <p:cNvSpPr>
              <a:spLocks noChangeArrowheads="1"/>
            </p:cNvSpPr>
            <p:nvPr/>
          </p:nvSpPr>
          <p:spPr bwMode="auto">
            <a:xfrm>
              <a:off x="2762" y="2668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21" name="Rectangle 13"/>
            <p:cNvSpPr>
              <a:spLocks noChangeArrowheads="1"/>
            </p:cNvSpPr>
            <p:nvPr/>
          </p:nvSpPr>
          <p:spPr bwMode="auto">
            <a:xfrm>
              <a:off x="2837" y="2706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273422" name="Rectangle 14"/>
            <p:cNvSpPr>
              <a:spLocks noChangeArrowheads="1"/>
            </p:cNvSpPr>
            <p:nvPr/>
          </p:nvSpPr>
          <p:spPr bwMode="auto">
            <a:xfrm>
              <a:off x="2979" y="2668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23" name="Rectangle 15"/>
            <p:cNvSpPr>
              <a:spLocks noChangeArrowheads="1"/>
            </p:cNvSpPr>
            <p:nvPr/>
          </p:nvSpPr>
          <p:spPr bwMode="auto">
            <a:xfrm>
              <a:off x="3054" y="2706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273424" name="Rectangle 16"/>
            <p:cNvSpPr>
              <a:spLocks noChangeArrowheads="1"/>
            </p:cNvSpPr>
            <p:nvPr/>
          </p:nvSpPr>
          <p:spPr bwMode="auto">
            <a:xfrm>
              <a:off x="3196" y="2668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25" name="Rectangle 17"/>
            <p:cNvSpPr>
              <a:spLocks noChangeArrowheads="1"/>
            </p:cNvSpPr>
            <p:nvPr/>
          </p:nvSpPr>
          <p:spPr bwMode="auto">
            <a:xfrm>
              <a:off x="3271" y="2706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273426" name="Rectangle 18"/>
            <p:cNvSpPr>
              <a:spLocks noChangeArrowheads="1"/>
            </p:cNvSpPr>
            <p:nvPr/>
          </p:nvSpPr>
          <p:spPr bwMode="auto">
            <a:xfrm>
              <a:off x="3413" y="2668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27" name="Rectangle 19"/>
            <p:cNvSpPr>
              <a:spLocks noChangeArrowheads="1"/>
            </p:cNvSpPr>
            <p:nvPr/>
          </p:nvSpPr>
          <p:spPr bwMode="auto">
            <a:xfrm>
              <a:off x="3488" y="2706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73428" name="Rectangle 20"/>
            <p:cNvSpPr>
              <a:spLocks noChangeArrowheads="1"/>
            </p:cNvSpPr>
            <p:nvPr/>
          </p:nvSpPr>
          <p:spPr bwMode="auto">
            <a:xfrm>
              <a:off x="3630" y="2668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29" name="Rectangle 21"/>
            <p:cNvSpPr>
              <a:spLocks noChangeArrowheads="1"/>
            </p:cNvSpPr>
            <p:nvPr/>
          </p:nvSpPr>
          <p:spPr bwMode="auto">
            <a:xfrm>
              <a:off x="3705" y="2706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273430" name="Rectangle 22"/>
            <p:cNvSpPr>
              <a:spLocks noChangeArrowheads="1"/>
            </p:cNvSpPr>
            <p:nvPr/>
          </p:nvSpPr>
          <p:spPr bwMode="auto">
            <a:xfrm>
              <a:off x="2111" y="2342"/>
              <a:ext cx="217" cy="21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31" name="Rectangle 23"/>
            <p:cNvSpPr>
              <a:spLocks noChangeArrowheads="1"/>
            </p:cNvSpPr>
            <p:nvPr/>
          </p:nvSpPr>
          <p:spPr bwMode="auto">
            <a:xfrm>
              <a:off x="2186" y="2380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73432" name="Rectangle 24"/>
            <p:cNvSpPr>
              <a:spLocks noChangeArrowheads="1"/>
            </p:cNvSpPr>
            <p:nvPr/>
          </p:nvSpPr>
          <p:spPr bwMode="auto">
            <a:xfrm>
              <a:off x="2328" y="2342"/>
              <a:ext cx="217" cy="21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33" name="Rectangle 25"/>
            <p:cNvSpPr>
              <a:spLocks noChangeArrowheads="1"/>
            </p:cNvSpPr>
            <p:nvPr/>
          </p:nvSpPr>
          <p:spPr bwMode="auto">
            <a:xfrm>
              <a:off x="2403" y="2380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73434" name="Rectangle 26"/>
            <p:cNvSpPr>
              <a:spLocks noChangeArrowheads="1"/>
            </p:cNvSpPr>
            <p:nvPr/>
          </p:nvSpPr>
          <p:spPr bwMode="auto">
            <a:xfrm>
              <a:off x="2545" y="2342"/>
              <a:ext cx="217" cy="21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35" name="Rectangle 27"/>
            <p:cNvSpPr>
              <a:spLocks noChangeArrowheads="1"/>
            </p:cNvSpPr>
            <p:nvPr/>
          </p:nvSpPr>
          <p:spPr bwMode="auto">
            <a:xfrm>
              <a:off x="2620" y="2380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273436" name="Rectangle 28"/>
            <p:cNvSpPr>
              <a:spLocks noChangeArrowheads="1"/>
            </p:cNvSpPr>
            <p:nvPr/>
          </p:nvSpPr>
          <p:spPr bwMode="auto">
            <a:xfrm>
              <a:off x="2762" y="2342"/>
              <a:ext cx="217" cy="21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37" name="Rectangle 29"/>
            <p:cNvSpPr>
              <a:spLocks noChangeArrowheads="1"/>
            </p:cNvSpPr>
            <p:nvPr/>
          </p:nvSpPr>
          <p:spPr bwMode="auto">
            <a:xfrm>
              <a:off x="2837" y="2380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273438" name="Rectangle 30"/>
            <p:cNvSpPr>
              <a:spLocks noChangeArrowheads="1"/>
            </p:cNvSpPr>
            <p:nvPr/>
          </p:nvSpPr>
          <p:spPr bwMode="auto">
            <a:xfrm>
              <a:off x="2979" y="2342"/>
              <a:ext cx="217" cy="21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39" name="Rectangle 31"/>
            <p:cNvSpPr>
              <a:spLocks noChangeArrowheads="1"/>
            </p:cNvSpPr>
            <p:nvPr/>
          </p:nvSpPr>
          <p:spPr bwMode="auto">
            <a:xfrm>
              <a:off x="3054" y="2380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73440" name="Rectangle 32"/>
            <p:cNvSpPr>
              <a:spLocks noChangeArrowheads="1"/>
            </p:cNvSpPr>
            <p:nvPr/>
          </p:nvSpPr>
          <p:spPr bwMode="auto">
            <a:xfrm>
              <a:off x="3196" y="2342"/>
              <a:ext cx="217" cy="21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41" name="Rectangle 33"/>
            <p:cNvSpPr>
              <a:spLocks noChangeArrowheads="1"/>
            </p:cNvSpPr>
            <p:nvPr/>
          </p:nvSpPr>
          <p:spPr bwMode="auto">
            <a:xfrm>
              <a:off x="3271" y="2380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273442" name="Rectangle 34"/>
            <p:cNvSpPr>
              <a:spLocks noChangeArrowheads="1"/>
            </p:cNvSpPr>
            <p:nvPr/>
          </p:nvSpPr>
          <p:spPr bwMode="auto">
            <a:xfrm>
              <a:off x="3413" y="2342"/>
              <a:ext cx="217" cy="21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43" name="Rectangle 35"/>
            <p:cNvSpPr>
              <a:spLocks noChangeArrowheads="1"/>
            </p:cNvSpPr>
            <p:nvPr/>
          </p:nvSpPr>
          <p:spPr bwMode="auto">
            <a:xfrm>
              <a:off x="3488" y="2380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273444" name="Rectangle 36"/>
            <p:cNvSpPr>
              <a:spLocks noChangeArrowheads="1"/>
            </p:cNvSpPr>
            <p:nvPr/>
          </p:nvSpPr>
          <p:spPr bwMode="auto">
            <a:xfrm>
              <a:off x="3630" y="2342"/>
              <a:ext cx="217" cy="21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45" name="Rectangle 37"/>
            <p:cNvSpPr>
              <a:spLocks noChangeArrowheads="1"/>
            </p:cNvSpPr>
            <p:nvPr/>
          </p:nvSpPr>
          <p:spPr bwMode="auto">
            <a:xfrm>
              <a:off x="3705" y="2380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73446" name="Line 38"/>
            <p:cNvSpPr>
              <a:spLocks noChangeShapeType="1"/>
            </p:cNvSpPr>
            <p:nvPr/>
          </p:nvSpPr>
          <p:spPr bwMode="auto">
            <a:xfrm>
              <a:off x="1785" y="2994"/>
              <a:ext cx="2062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3447" name="Rectangle 39"/>
            <p:cNvSpPr>
              <a:spLocks noChangeArrowheads="1"/>
            </p:cNvSpPr>
            <p:nvPr/>
          </p:nvSpPr>
          <p:spPr bwMode="auto">
            <a:xfrm>
              <a:off x="1879" y="2685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b="1"/>
                <a:t>–</a:t>
              </a:r>
            </a:p>
          </p:txBody>
        </p:sp>
      </p:grpSp>
      <p:sp>
        <p:nvSpPr>
          <p:cNvPr id="273448" name="Rectangle 40"/>
          <p:cNvSpPr>
            <a:spLocks noChangeArrowheads="1"/>
          </p:cNvSpPr>
          <p:nvPr/>
        </p:nvSpPr>
        <p:spPr bwMode="auto">
          <a:xfrm>
            <a:off x="6396808" y="3912059"/>
            <a:ext cx="3788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>
                <a:solidFill>
                  <a:srgbClr val="000000"/>
                </a:solidFill>
              </a:rPr>
              <a:t>(54)</a:t>
            </a:r>
            <a:endParaRPr lang="en-US" altLang="en-US"/>
          </a:p>
        </p:txBody>
      </p:sp>
      <p:sp>
        <p:nvSpPr>
          <p:cNvPr id="273449" name="Rectangle 41"/>
          <p:cNvSpPr>
            <a:spLocks noChangeArrowheads="1"/>
          </p:cNvSpPr>
          <p:nvPr/>
        </p:nvSpPr>
        <p:spPr bwMode="auto">
          <a:xfrm>
            <a:off x="6403158" y="4429584"/>
            <a:ext cx="3788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>
                <a:solidFill>
                  <a:srgbClr val="000000"/>
                </a:solidFill>
              </a:rPr>
              <a:t>(29)</a:t>
            </a:r>
            <a:endParaRPr lang="en-US" altLang="en-US"/>
          </a:p>
        </p:txBody>
      </p:sp>
      <p:sp>
        <p:nvSpPr>
          <p:cNvPr id="273450" name="Rectangle 42"/>
          <p:cNvSpPr>
            <a:spLocks noChangeArrowheads="1"/>
          </p:cNvSpPr>
          <p:nvPr/>
        </p:nvSpPr>
        <p:spPr bwMode="auto">
          <a:xfrm>
            <a:off x="6396808" y="5121734"/>
            <a:ext cx="3788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>
                <a:solidFill>
                  <a:srgbClr val="000000"/>
                </a:solidFill>
              </a:rPr>
              <a:t>(25)</a:t>
            </a:r>
            <a:endParaRPr lang="en-US" altLang="en-US"/>
          </a:p>
        </p:txBody>
      </p:sp>
      <p:grpSp>
        <p:nvGrpSpPr>
          <p:cNvPr id="273454" name="Group 46"/>
          <p:cNvGrpSpPr>
            <a:grpSpLocks/>
          </p:cNvGrpSpPr>
          <p:nvPr/>
        </p:nvGrpSpPr>
        <p:grpSpPr bwMode="auto">
          <a:xfrm>
            <a:off x="2431233" y="5077279"/>
            <a:ext cx="3657600" cy="695324"/>
            <a:chOff x="1543" y="3103"/>
            <a:chExt cx="2304" cy="438"/>
          </a:xfrm>
        </p:grpSpPr>
        <p:sp>
          <p:nvSpPr>
            <p:cNvPr id="273455" name="Rectangle 47"/>
            <p:cNvSpPr>
              <a:spLocks noChangeArrowheads="1"/>
            </p:cNvSpPr>
            <p:nvPr/>
          </p:nvSpPr>
          <p:spPr bwMode="auto">
            <a:xfrm>
              <a:off x="2111" y="3103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56" name="Rectangle 48"/>
            <p:cNvSpPr>
              <a:spLocks noChangeArrowheads="1"/>
            </p:cNvSpPr>
            <p:nvPr/>
          </p:nvSpPr>
          <p:spPr bwMode="auto">
            <a:xfrm>
              <a:off x="2328" y="3103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57" name="Rectangle 49"/>
            <p:cNvSpPr>
              <a:spLocks noChangeArrowheads="1"/>
            </p:cNvSpPr>
            <p:nvPr/>
          </p:nvSpPr>
          <p:spPr bwMode="auto">
            <a:xfrm>
              <a:off x="2545" y="3103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58" name="Rectangle 50"/>
            <p:cNvSpPr>
              <a:spLocks noChangeArrowheads="1"/>
            </p:cNvSpPr>
            <p:nvPr/>
          </p:nvSpPr>
          <p:spPr bwMode="auto">
            <a:xfrm>
              <a:off x="2762" y="3103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59" name="Rectangle 51"/>
            <p:cNvSpPr>
              <a:spLocks noChangeArrowheads="1"/>
            </p:cNvSpPr>
            <p:nvPr/>
          </p:nvSpPr>
          <p:spPr bwMode="auto">
            <a:xfrm>
              <a:off x="2979" y="3103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60" name="Rectangle 52"/>
            <p:cNvSpPr>
              <a:spLocks noChangeArrowheads="1"/>
            </p:cNvSpPr>
            <p:nvPr/>
          </p:nvSpPr>
          <p:spPr bwMode="auto">
            <a:xfrm>
              <a:off x="3196" y="3103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61" name="Rectangle 53"/>
            <p:cNvSpPr>
              <a:spLocks noChangeArrowheads="1"/>
            </p:cNvSpPr>
            <p:nvPr/>
          </p:nvSpPr>
          <p:spPr bwMode="auto">
            <a:xfrm>
              <a:off x="3413" y="3103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62" name="Rectangle 54"/>
            <p:cNvSpPr>
              <a:spLocks noChangeArrowheads="1"/>
            </p:cNvSpPr>
            <p:nvPr/>
          </p:nvSpPr>
          <p:spPr bwMode="auto">
            <a:xfrm>
              <a:off x="3630" y="3103"/>
              <a:ext cx="217" cy="21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63" name="Rectangle 55"/>
            <p:cNvSpPr>
              <a:spLocks noChangeArrowheads="1"/>
            </p:cNvSpPr>
            <p:nvPr/>
          </p:nvSpPr>
          <p:spPr bwMode="auto">
            <a:xfrm>
              <a:off x="3718" y="342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b="1"/>
            </a:p>
          </p:txBody>
        </p:sp>
        <p:sp>
          <p:nvSpPr>
            <p:cNvPr id="273464" name="Rectangle 56"/>
            <p:cNvSpPr>
              <a:spLocks noChangeArrowheads="1"/>
            </p:cNvSpPr>
            <p:nvPr/>
          </p:nvSpPr>
          <p:spPr bwMode="auto">
            <a:xfrm>
              <a:off x="3501" y="342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b="1"/>
            </a:p>
          </p:txBody>
        </p:sp>
        <p:sp>
          <p:nvSpPr>
            <p:cNvPr id="273465" name="Rectangle 57"/>
            <p:cNvSpPr>
              <a:spLocks noChangeArrowheads="1"/>
            </p:cNvSpPr>
            <p:nvPr/>
          </p:nvSpPr>
          <p:spPr bwMode="auto">
            <a:xfrm>
              <a:off x="3284" y="342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 altLang="en-US" b="1"/>
            </a:p>
          </p:txBody>
        </p:sp>
        <p:sp>
          <p:nvSpPr>
            <p:cNvPr id="273466" name="Rectangle 58"/>
            <p:cNvSpPr>
              <a:spLocks noChangeArrowheads="1"/>
            </p:cNvSpPr>
            <p:nvPr/>
          </p:nvSpPr>
          <p:spPr bwMode="auto">
            <a:xfrm>
              <a:off x="3067" y="342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3</a:t>
              </a:r>
              <a:endParaRPr lang="en-US" altLang="en-US" b="1"/>
            </a:p>
          </p:txBody>
        </p:sp>
        <p:sp>
          <p:nvSpPr>
            <p:cNvPr id="273467" name="Rectangle 59"/>
            <p:cNvSpPr>
              <a:spLocks noChangeArrowheads="1"/>
            </p:cNvSpPr>
            <p:nvPr/>
          </p:nvSpPr>
          <p:spPr bwMode="auto">
            <a:xfrm>
              <a:off x="2837" y="342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4</a:t>
              </a:r>
              <a:endParaRPr lang="en-US" altLang="en-US" b="1"/>
            </a:p>
          </p:txBody>
        </p:sp>
        <p:sp>
          <p:nvSpPr>
            <p:cNvPr id="273468" name="Rectangle 60"/>
            <p:cNvSpPr>
              <a:spLocks noChangeArrowheads="1"/>
            </p:cNvSpPr>
            <p:nvPr/>
          </p:nvSpPr>
          <p:spPr bwMode="auto">
            <a:xfrm>
              <a:off x="1543" y="3425"/>
              <a:ext cx="55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bit position:</a:t>
              </a:r>
              <a:endParaRPr lang="en-US" altLang="en-US" b="1"/>
            </a:p>
          </p:txBody>
        </p:sp>
        <p:sp>
          <p:nvSpPr>
            <p:cNvPr id="273469" name="Rectangle 61"/>
            <p:cNvSpPr>
              <a:spLocks noChangeArrowheads="1"/>
            </p:cNvSpPr>
            <p:nvPr/>
          </p:nvSpPr>
          <p:spPr bwMode="auto">
            <a:xfrm>
              <a:off x="2620" y="342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5</a:t>
              </a:r>
              <a:endParaRPr lang="en-US" altLang="en-US" b="1"/>
            </a:p>
          </p:txBody>
        </p:sp>
        <p:sp>
          <p:nvSpPr>
            <p:cNvPr id="273470" name="Rectangle 62"/>
            <p:cNvSpPr>
              <a:spLocks noChangeArrowheads="1"/>
            </p:cNvSpPr>
            <p:nvPr/>
          </p:nvSpPr>
          <p:spPr bwMode="auto">
            <a:xfrm>
              <a:off x="2403" y="342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6</a:t>
              </a:r>
              <a:endParaRPr lang="en-US" altLang="en-US" b="1"/>
            </a:p>
          </p:txBody>
        </p:sp>
        <p:sp>
          <p:nvSpPr>
            <p:cNvPr id="273471" name="Rectangle 63"/>
            <p:cNvSpPr>
              <a:spLocks noChangeArrowheads="1"/>
            </p:cNvSpPr>
            <p:nvPr/>
          </p:nvSpPr>
          <p:spPr bwMode="auto">
            <a:xfrm>
              <a:off x="2186" y="342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7</a:t>
              </a:r>
              <a:endParaRPr lang="en-US" altLang="en-US" b="1"/>
            </a:p>
          </p:txBody>
        </p:sp>
      </p:grpSp>
      <p:sp>
        <p:nvSpPr>
          <p:cNvPr id="273472" name="Rectangle 64"/>
          <p:cNvSpPr>
            <a:spLocks noChangeArrowheads="1"/>
          </p:cNvSpPr>
          <p:nvPr/>
        </p:nvSpPr>
        <p:spPr bwMode="auto">
          <a:xfrm>
            <a:off x="4112395" y="3637420"/>
            <a:ext cx="1362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solidFill>
                  <a:srgbClr val="000000"/>
                </a:solidFill>
                <a:latin typeface="Helvetica" pitchFamily="34" charset="0"/>
              </a:rPr>
              <a:t>-1</a:t>
            </a:r>
            <a:endParaRPr lang="en-US" altLang="en-US" b="1"/>
          </a:p>
        </p:txBody>
      </p:sp>
      <p:sp>
        <p:nvSpPr>
          <p:cNvPr id="273474" name="Rectangle 66"/>
          <p:cNvSpPr>
            <a:spLocks noChangeArrowheads="1"/>
          </p:cNvSpPr>
          <p:nvPr/>
        </p:nvSpPr>
        <p:spPr bwMode="auto">
          <a:xfrm>
            <a:off x="4456883" y="3637420"/>
            <a:ext cx="1362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solidFill>
                  <a:srgbClr val="000000"/>
                </a:solidFill>
                <a:latin typeface="Helvetica" pitchFamily="34" charset="0"/>
              </a:rPr>
              <a:t>-1</a:t>
            </a:r>
            <a:endParaRPr lang="en-US" altLang="en-US" b="1"/>
          </a:p>
        </p:txBody>
      </p:sp>
      <p:sp>
        <p:nvSpPr>
          <p:cNvPr id="273475" name="Rectangle 67"/>
          <p:cNvSpPr>
            <a:spLocks noChangeArrowheads="1"/>
          </p:cNvSpPr>
          <p:nvPr/>
        </p:nvSpPr>
        <p:spPr bwMode="auto">
          <a:xfrm>
            <a:off x="3451996" y="5137607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/>
          </a:p>
        </p:txBody>
      </p:sp>
      <p:sp>
        <p:nvSpPr>
          <p:cNvPr id="273476" name="Rectangle 68"/>
          <p:cNvSpPr>
            <a:spLocks noChangeArrowheads="1"/>
          </p:cNvSpPr>
          <p:nvPr/>
        </p:nvSpPr>
        <p:spPr bwMode="auto">
          <a:xfrm>
            <a:off x="3796483" y="5137607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/>
          </a:p>
        </p:txBody>
      </p:sp>
      <p:sp>
        <p:nvSpPr>
          <p:cNvPr id="273477" name="Rectangle 69"/>
          <p:cNvSpPr>
            <a:spLocks noChangeArrowheads="1"/>
          </p:cNvSpPr>
          <p:nvPr/>
        </p:nvSpPr>
        <p:spPr bwMode="auto">
          <a:xfrm>
            <a:off x="4140970" y="5137607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/>
          </a:p>
        </p:txBody>
      </p:sp>
      <p:sp>
        <p:nvSpPr>
          <p:cNvPr id="273478" name="Rectangle 70"/>
          <p:cNvSpPr>
            <a:spLocks noChangeArrowheads="1"/>
          </p:cNvSpPr>
          <p:nvPr/>
        </p:nvSpPr>
        <p:spPr bwMode="auto">
          <a:xfrm>
            <a:off x="4485458" y="5137607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1</a:t>
            </a:r>
            <a:endParaRPr lang="en-US" altLang="en-US"/>
          </a:p>
        </p:txBody>
      </p:sp>
      <p:sp>
        <p:nvSpPr>
          <p:cNvPr id="273479" name="Rectangle 71"/>
          <p:cNvSpPr>
            <a:spLocks noChangeArrowheads="1"/>
          </p:cNvSpPr>
          <p:nvPr/>
        </p:nvSpPr>
        <p:spPr bwMode="auto">
          <a:xfrm>
            <a:off x="4829946" y="5137607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1</a:t>
            </a:r>
            <a:endParaRPr lang="en-US" altLang="en-US"/>
          </a:p>
        </p:txBody>
      </p:sp>
      <p:sp>
        <p:nvSpPr>
          <p:cNvPr id="273480" name="Rectangle 72"/>
          <p:cNvSpPr>
            <a:spLocks noChangeArrowheads="1"/>
          </p:cNvSpPr>
          <p:nvPr/>
        </p:nvSpPr>
        <p:spPr bwMode="auto">
          <a:xfrm>
            <a:off x="5174433" y="5137607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/>
          </a:p>
        </p:txBody>
      </p:sp>
      <p:sp>
        <p:nvSpPr>
          <p:cNvPr id="273481" name="Rectangle 73"/>
          <p:cNvSpPr>
            <a:spLocks noChangeArrowheads="1"/>
          </p:cNvSpPr>
          <p:nvPr/>
        </p:nvSpPr>
        <p:spPr bwMode="auto">
          <a:xfrm>
            <a:off x="5518920" y="5137607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/>
          </a:p>
        </p:txBody>
      </p:sp>
      <p:sp>
        <p:nvSpPr>
          <p:cNvPr id="273482" name="Rectangle 74"/>
          <p:cNvSpPr>
            <a:spLocks noChangeArrowheads="1"/>
          </p:cNvSpPr>
          <p:nvPr/>
        </p:nvSpPr>
        <p:spPr bwMode="auto">
          <a:xfrm>
            <a:off x="5863408" y="5137607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1</a:t>
            </a:r>
            <a:endParaRPr lang="en-US" altLang="en-US"/>
          </a:p>
        </p:txBody>
      </p:sp>
      <p:grpSp>
        <p:nvGrpSpPr>
          <p:cNvPr id="273484" name="Group 76"/>
          <p:cNvGrpSpPr>
            <a:grpSpLocks/>
          </p:cNvGrpSpPr>
          <p:nvPr/>
        </p:nvGrpSpPr>
        <p:grpSpPr bwMode="auto">
          <a:xfrm>
            <a:off x="2672532" y="3627903"/>
            <a:ext cx="2959098" cy="193676"/>
            <a:chOff x="1937" y="2190"/>
            <a:chExt cx="1864" cy="122"/>
          </a:xfrm>
        </p:grpSpPr>
        <p:sp>
          <p:nvSpPr>
            <p:cNvPr id="273453" name="Rectangle 45"/>
            <p:cNvSpPr>
              <a:spLocks noChangeArrowheads="1"/>
            </p:cNvSpPr>
            <p:nvPr/>
          </p:nvSpPr>
          <p:spPr bwMode="auto">
            <a:xfrm>
              <a:off x="1937" y="2190"/>
              <a:ext cx="38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borrow</a:t>
              </a:r>
              <a:endParaRPr lang="en-US" altLang="en-US" b="1"/>
            </a:p>
          </p:txBody>
        </p:sp>
        <p:sp>
          <p:nvSpPr>
            <p:cNvPr id="273483" name="Rectangle 75"/>
            <p:cNvSpPr>
              <a:spLocks noChangeArrowheads="1"/>
            </p:cNvSpPr>
            <p:nvPr/>
          </p:nvSpPr>
          <p:spPr bwMode="auto">
            <a:xfrm>
              <a:off x="3715" y="2196"/>
              <a:ext cx="86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b="1">
                  <a:solidFill>
                    <a:srgbClr val="000000"/>
                  </a:solidFill>
                  <a:latin typeface="Helvetica" pitchFamily="34" charset="0"/>
                </a:rPr>
                <a:t>-1</a:t>
              </a:r>
              <a:endParaRPr lang="en-US" altLang="en-US" b="1"/>
            </a:p>
          </p:txBody>
        </p:sp>
      </p:grpSp>
    </p:spTree>
    <p:extLst>
      <p:ext uri="{BB962C8B-B14F-4D97-AF65-F5344CB8AC3E}">
        <p14:creationId xmlns:p14="http://schemas.microsoft.com/office/powerpoint/2010/main" val="89353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3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3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3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73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73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7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7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7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73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7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7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73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73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48" grpId="0"/>
      <p:bldP spid="273449" grpId="0"/>
      <p:bldP spid="273450" grpId="0"/>
      <p:bldP spid="273472" grpId="0"/>
      <p:bldP spid="273474" grpId="0"/>
      <p:bldP spid="273475" grpId="0"/>
      <p:bldP spid="273476" grpId="0"/>
      <p:bldP spid="273477" grpId="0"/>
      <p:bldP spid="273478" grpId="0"/>
      <p:bldP spid="273479" grpId="0"/>
      <p:bldP spid="273480" grpId="0"/>
      <p:bldP spid="273481" grpId="0"/>
      <p:bldP spid="27348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ChangeArrowheads="1"/>
          </p:cNvSpPr>
          <p:nvPr/>
        </p:nvSpPr>
        <p:spPr bwMode="auto">
          <a:xfrm>
            <a:off x="225425" y="312740"/>
            <a:ext cx="2054225" cy="47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>
            <a:normAutofit fontScale="77500" lnSpcReduction="20000"/>
          </a:bodyPr>
          <a:lstStyle/>
          <a:p>
            <a:r>
              <a:rPr lang="en-US" altLang="en-US"/>
              <a:t>Binary Multiplication table is simple:</a:t>
            </a:r>
          </a:p>
          <a:p>
            <a:pPr>
              <a:buFont typeface="Wingdings" pitchFamily="2" charset="2"/>
              <a:buNone/>
            </a:pPr>
            <a:r>
              <a:rPr lang="en-US" altLang="en-US"/>
              <a:t>	</a:t>
            </a:r>
            <a:r>
              <a:rPr lang="en-US" altLang="en-US" b="1">
                <a:latin typeface="Courier New" pitchFamily="49" charset="0"/>
                <a:cs typeface="Courier New" pitchFamily="49" charset="0"/>
              </a:rPr>
              <a:t>0×0=0,   0×1=0,   1×0=0,   1×1=1</a:t>
            </a:r>
          </a:p>
          <a:p>
            <a:pPr>
              <a:buFont typeface="Wingdings" pitchFamily="2" charset="2"/>
              <a:buNone/>
            </a:pPr>
            <a:r>
              <a:rPr lang="en-US" alt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>
                <a:solidFill>
                  <a:srgbClr val="FF0000"/>
                </a:solidFill>
              </a:rPr>
              <a:t>Multiplicand</a:t>
            </a:r>
            <a:r>
              <a:rPr lang="en-US" alt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   </a:t>
            </a:r>
            <a:r>
              <a:rPr lang="en-US" altLang="en-US" b="1">
                <a:latin typeface="Courier New" pitchFamily="49" charset="0"/>
                <a:cs typeface="Courier New" pitchFamily="49" charset="0"/>
              </a:rPr>
              <a:t> 1100</a:t>
            </a:r>
            <a:r>
              <a:rPr lang="en-US" altLang="en-US" b="1" baseline="-2500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altLang="en-US" b="1">
                <a:latin typeface="Courier New" pitchFamily="49" charset="0"/>
                <a:cs typeface="Courier New" pitchFamily="49" charset="0"/>
              </a:rPr>
              <a:t> = 12</a:t>
            </a:r>
            <a:endParaRPr lang="en-US" altLang="en-US" b="1" baseline="-2500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>
                <a:solidFill>
                  <a:srgbClr val="FF0000"/>
                </a:solidFill>
              </a:rPr>
              <a:t>Multiplier</a:t>
            </a:r>
            <a:r>
              <a:rPr lang="en-US" alt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en-US" b="1">
                <a:latin typeface="Courier New" pitchFamily="49" charset="0"/>
                <a:cs typeface="Courier New" pitchFamily="49" charset="0"/>
              </a:rPr>
              <a:t>×</a:t>
            </a:r>
            <a:r>
              <a:rPr lang="en-US" alt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b="1">
                <a:latin typeface="Courier New" pitchFamily="49" charset="0"/>
                <a:cs typeface="Courier New" pitchFamily="49" charset="0"/>
              </a:rPr>
              <a:t> 1101</a:t>
            </a:r>
            <a:r>
              <a:rPr lang="en-US" altLang="en-US" b="1" baseline="-2500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altLang="en-US" b="1">
                <a:latin typeface="Courier New" pitchFamily="49" charset="0"/>
                <a:cs typeface="Courier New" pitchFamily="49" charset="0"/>
              </a:rPr>
              <a:t> = 13</a:t>
            </a:r>
            <a:endParaRPr lang="en-US" altLang="en-US" b="1" baseline="-2500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en-US" b="1">
                <a:latin typeface="Courier New" pitchFamily="49" charset="0"/>
                <a:cs typeface="Courier New" pitchFamily="49" charset="0"/>
              </a:rPr>
              <a:t>				    1100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b="1">
                <a:latin typeface="Courier New" pitchFamily="49" charset="0"/>
                <a:cs typeface="Courier New" pitchFamily="49" charset="0"/>
              </a:rPr>
              <a:t>				   0000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b="1">
                <a:latin typeface="Courier New" pitchFamily="49" charset="0"/>
                <a:cs typeface="Courier New" pitchFamily="49" charset="0"/>
              </a:rPr>
              <a:t>				  1100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b="1">
                <a:latin typeface="Courier New" pitchFamily="49" charset="0"/>
                <a:cs typeface="Courier New" pitchFamily="49" charset="0"/>
              </a:rPr>
              <a:t>				 1100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>
                <a:solidFill>
                  <a:srgbClr val="FF0000"/>
                </a:solidFill>
              </a:rPr>
              <a:t>Product</a:t>
            </a:r>
            <a:r>
              <a:rPr lang="en-US" altLang="en-US" b="1">
                <a:latin typeface="Courier New" pitchFamily="49" charset="0"/>
                <a:cs typeface="Courier New" pitchFamily="49" charset="0"/>
              </a:rPr>
              <a:t>		10011100</a:t>
            </a:r>
            <a:r>
              <a:rPr lang="en-US" altLang="en-US" b="1" baseline="-2500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altLang="en-US" b="1">
                <a:latin typeface="Courier New" pitchFamily="49" charset="0"/>
                <a:cs typeface="Courier New" pitchFamily="49" charset="0"/>
              </a:rPr>
              <a:t> = 156</a:t>
            </a:r>
            <a:endParaRPr lang="en-US" altLang="en-US" b="1" baseline="-2500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en-US" altLang="en-US" i="1"/>
              <a:t>n</a:t>
            </a:r>
            <a:r>
              <a:rPr lang="en-US" altLang="en-US"/>
              <a:t>-bit multiplicand × </a:t>
            </a:r>
            <a:r>
              <a:rPr lang="en-US" altLang="en-US" i="1"/>
              <a:t>n</a:t>
            </a:r>
            <a:r>
              <a:rPr lang="en-US" altLang="en-US"/>
              <a:t>-bit multiplier = 2</a:t>
            </a:r>
            <a:r>
              <a:rPr lang="en-US" altLang="en-US" i="1"/>
              <a:t>n</a:t>
            </a:r>
            <a:r>
              <a:rPr lang="en-US" altLang="en-US"/>
              <a:t>-bit product</a:t>
            </a:r>
          </a:p>
          <a:p>
            <a:r>
              <a:rPr lang="en-US" altLang="en-US"/>
              <a:t>Accomplished via </a:t>
            </a:r>
            <a:r>
              <a:rPr lang="en-US" altLang="en-US">
                <a:solidFill>
                  <a:srgbClr val="FF0000"/>
                </a:solidFill>
              </a:rPr>
              <a:t>shifting</a:t>
            </a:r>
            <a:r>
              <a:rPr lang="en-US" altLang="en-US"/>
              <a:t> and </a:t>
            </a:r>
            <a:r>
              <a:rPr lang="en-US" altLang="en-US">
                <a:solidFill>
                  <a:srgbClr val="FF0000"/>
                </a:solidFill>
              </a:rPr>
              <a:t>addition</a:t>
            </a:r>
          </a:p>
        </p:txBody>
      </p:sp>
      <p:sp>
        <p:nvSpPr>
          <p:cNvPr id="2754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Multiplication</a:t>
            </a:r>
          </a:p>
        </p:txBody>
      </p:sp>
      <p:sp>
        <p:nvSpPr>
          <p:cNvPr id="275461" name="Rectangle 5"/>
          <p:cNvSpPr>
            <a:spLocks noChangeArrowheads="1"/>
          </p:cNvSpPr>
          <p:nvPr/>
        </p:nvSpPr>
        <p:spPr bwMode="auto">
          <a:xfrm>
            <a:off x="5205414" y="3290888"/>
            <a:ext cx="3514725" cy="1130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>
              <a:spcBef>
                <a:spcPct val="30000"/>
              </a:spcBef>
              <a:buSzPct val="100000"/>
              <a:buFont typeface="Wingdings" pitchFamily="2" charset="2"/>
              <a:buNone/>
            </a:pPr>
            <a:r>
              <a:rPr lang="en-US" altLang="en-US" sz="2000"/>
              <a:t>Binary multiplication is easy</a:t>
            </a:r>
          </a:p>
          <a:p>
            <a:pPr eaLnBrk="0" hangingPunct="0">
              <a:spcBef>
                <a:spcPct val="30000"/>
              </a:spcBef>
              <a:buSzPct val="100000"/>
              <a:buFont typeface="Wingdings" pitchFamily="2" charset="2"/>
              <a:buNone/>
            </a:pPr>
            <a:r>
              <a:rPr lang="en-US" altLang="en-US"/>
              <a:t>0 × multiplicand = 0</a:t>
            </a:r>
          </a:p>
          <a:p>
            <a:pPr eaLnBrk="0" hangingPunct="0">
              <a:spcBef>
                <a:spcPct val="30000"/>
              </a:spcBef>
              <a:buSzPct val="100000"/>
              <a:buFont typeface="Wingdings" pitchFamily="2" charset="2"/>
              <a:buNone/>
            </a:pPr>
            <a:r>
              <a:rPr lang="en-US" altLang="en-US"/>
              <a:t>1 × multiplicand = multiplicand</a:t>
            </a:r>
          </a:p>
        </p:txBody>
      </p:sp>
      <p:sp>
        <p:nvSpPr>
          <p:cNvPr id="275462" name="Line 6"/>
          <p:cNvSpPr>
            <a:spLocks noChangeShapeType="1"/>
          </p:cNvSpPr>
          <p:nvPr/>
        </p:nvSpPr>
        <p:spPr bwMode="auto">
          <a:xfrm>
            <a:off x="3095625" y="3049588"/>
            <a:ext cx="2700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5463" name="Line 7"/>
          <p:cNvSpPr>
            <a:spLocks noChangeShapeType="1"/>
          </p:cNvSpPr>
          <p:nvPr/>
        </p:nvSpPr>
        <p:spPr bwMode="auto">
          <a:xfrm>
            <a:off x="3095626" y="4695825"/>
            <a:ext cx="27844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4381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5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5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7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75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75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1" grpId="0" animBg="1"/>
      <p:bldP spid="2754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Hexadecimal Addition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0" y="1212850"/>
            <a:ext cx="8237538" cy="305435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ct val="60000"/>
              </a:spcBef>
            </a:pPr>
            <a:r>
              <a:rPr lang="en-US" altLang="en-US" dirty="0"/>
              <a:t>Start with the least significant hexadecimal digits</a:t>
            </a:r>
          </a:p>
          <a:p>
            <a:pPr>
              <a:spcBef>
                <a:spcPct val="60000"/>
              </a:spcBef>
            </a:pPr>
            <a:r>
              <a:rPr lang="en-US" altLang="en-US" dirty="0"/>
              <a:t>Let Sum = summation of two hex digits</a:t>
            </a:r>
          </a:p>
          <a:p>
            <a:pPr>
              <a:spcBef>
                <a:spcPct val="60000"/>
              </a:spcBef>
            </a:pPr>
            <a:r>
              <a:rPr lang="en-US" altLang="en-US" dirty="0"/>
              <a:t>If Sum is greater than or equal to 16</a:t>
            </a:r>
          </a:p>
          <a:p>
            <a:pPr lvl="1">
              <a:spcBef>
                <a:spcPct val="60000"/>
              </a:spcBef>
            </a:pPr>
            <a:r>
              <a:rPr lang="en-US" altLang="en-US" dirty="0"/>
              <a:t>Sum = Sum – 16 and Carry = 1</a:t>
            </a:r>
          </a:p>
          <a:p>
            <a:pPr>
              <a:spcBef>
                <a:spcPct val="60000"/>
              </a:spcBef>
            </a:pPr>
            <a:r>
              <a:rPr lang="en-US" altLang="en-US" dirty="0"/>
              <a:t>Example:</a:t>
            </a:r>
          </a:p>
        </p:txBody>
      </p:sp>
      <p:sp>
        <p:nvSpPr>
          <p:cNvPr id="133153" name="Text Box 33"/>
          <p:cNvSpPr txBox="1">
            <a:spLocks noChangeArrowheads="1"/>
          </p:cNvSpPr>
          <p:nvPr/>
        </p:nvSpPr>
        <p:spPr bwMode="auto">
          <a:xfrm>
            <a:off x="1806576" y="5641977"/>
            <a:ext cx="4032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20000"/>
              </a:spcBef>
            </a:pPr>
            <a:r>
              <a:rPr lang="en-US" altLang="en-US" sz="3200" b="1">
                <a:latin typeface="Courier New" pitchFamily="49" charset="0"/>
                <a:cs typeface="Courier New" pitchFamily="49" charset="0"/>
              </a:rPr>
              <a:t>A</a:t>
            </a:r>
          </a:p>
        </p:txBody>
      </p:sp>
      <p:sp>
        <p:nvSpPr>
          <p:cNvPr id="133154" name="Text Box 34"/>
          <p:cNvSpPr txBox="1">
            <a:spLocks noChangeArrowheads="1"/>
          </p:cNvSpPr>
          <p:nvPr/>
        </p:nvSpPr>
        <p:spPr bwMode="auto">
          <a:xfrm>
            <a:off x="2209801" y="5641977"/>
            <a:ext cx="4032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20000"/>
              </a:spcBef>
            </a:pPr>
            <a:r>
              <a:rPr lang="en-US" altLang="en-US" sz="3200" b="1">
                <a:latin typeface="Courier New" pitchFamily="49" charset="0"/>
                <a:cs typeface="Courier New" pitchFamily="49" charset="0"/>
              </a:rPr>
              <a:t>F</a:t>
            </a:r>
          </a:p>
        </p:txBody>
      </p:sp>
      <p:sp>
        <p:nvSpPr>
          <p:cNvPr id="133155" name="Text Box 35"/>
          <p:cNvSpPr txBox="1">
            <a:spLocks noChangeArrowheads="1"/>
          </p:cNvSpPr>
          <p:nvPr/>
        </p:nvSpPr>
        <p:spPr bwMode="auto">
          <a:xfrm>
            <a:off x="2613026" y="5641977"/>
            <a:ext cx="4032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20000"/>
              </a:spcBef>
            </a:pPr>
            <a:r>
              <a:rPr lang="en-US" altLang="en-US" sz="3200" b="1">
                <a:latin typeface="Courier New" pitchFamily="49" charset="0"/>
                <a:cs typeface="Courier New" pitchFamily="49" charset="0"/>
              </a:rPr>
              <a:t>C</a:t>
            </a:r>
          </a:p>
        </p:txBody>
      </p:sp>
      <p:sp>
        <p:nvSpPr>
          <p:cNvPr id="133156" name="Text Box 36"/>
          <p:cNvSpPr txBox="1">
            <a:spLocks noChangeArrowheads="1"/>
          </p:cNvSpPr>
          <p:nvPr/>
        </p:nvSpPr>
        <p:spPr bwMode="auto">
          <a:xfrm>
            <a:off x="3016251" y="5641977"/>
            <a:ext cx="4032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20000"/>
              </a:spcBef>
            </a:pPr>
            <a:r>
              <a:rPr lang="en-US" altLang="en-US" sz="3200" b="1">
                <a:latin typeface="Courier New" pitchFamily="49" charset="0"/>
                <a:cs typeface="Courier New" pitchFamily="49" charset="0"/>
              </a:rPr>
              <a:t>D</a:t>
            </a:r>
          </a:p>
        </p:txBody>
      </p:sp>
      <p:sp>
        <p:nvSpPr>
          <p:cNvPr id="133159" name="Text Box 39"/>
          <p:cNvSpPr txBox="1">
            <a:spLocks noChangeArrowheads="1"/>
          </p:cNvSpPr>
          <p:nvPr/>
        </p:nvSpPr>
        <p:spPr bwMode="auto">
          <a:xfrm>
            <a:off x="4225926" y="5641977"/>
            <a:ext cx="4032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20000"/>
              </a:spcBef>
            </a:pPr>
            <a:r>
              <a:rPr lang="en-US" altLang="en-US" sz="3200" b="1">
                <a:latin typeface="Courier New" pitchFamily="49" charset="0"/>
                <a:cs typeface="Courier New" pitchFamily="49" charset="0"/>
              </a:rPr>
              <a:t>B</a:t>
            </a:r>
          </a:p>
        </p:txBody>
      </p:sp>
      <p:grpSp>
        <p:nvGrpSpPr>
          <p:cNvPr id="133169" name="Group 49"/>
          <p:cNvGrpSpPr>
            <a:grpSpLocks/>
          </p:cNvGrpSpPr>
          <p:nvPr/>
        </p:nvGrpSpPr>
        <p:grpSpPr bwMode="auto">
          <a:xfrm>
            <a:off x="3476625" y="4086227"/>
            <a:ext cx="749300" cy="2016125"/>
            <a:chOff x="2190" y="2524"/>
            <a:chExt cx="472" cy="1270"/>
          </a:xfrm>
        </p:grpSpPr>
        <p:sp>
          <p:nvSpPr>
            <p:cNvPr id="133158" name="Text Box 38"/>
            <p:cNvSpPr txBox="1">
              <a:spLocks noChangeArrowheads="1"/>
            </p:cNvSpPr>
            <p:nvPr/>
          </p:nvSpPr>
          <p:spPr bwMode="auto">
            <a:xfrm>
              <a:off x="2408" y="3504"/>
              <a:ext cx="25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 altLang="en-US" sz="3200" b="1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133161" name="Text Box 41"/>
            <p:cNvSpPr txBox="1">
              <a:spLocks noChangeArrowheads="1"/>
            </p:cNvSpPr>
            <p:nvPr/>
          </p:nvSpPr>
          <p:spPr bwMode="auto">
            <a:xfrm>
              <a:off x="2190" y="2524"/>
              <a:ext cx="182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</p:grpSp>
      <p:grpSp>
        <p:nvGrpSpPr>
          <p:cNvPr id="133170" name="Group 50"/>
          <p:cNvGrpSpPr>
            <a:grpSpLocks/>
          </p:cNvGrpSpPr>
          <p:nvPr/>
        </p:nvGrpSpPr>
        <p:grpSpPr bwMode="auto">
          <a:xfrm>
            <a:off x="3073400" y="4086227"/>
            <a:ext cx="749300" cy="2016125"/>
            <a:chOff x="1936" y="2524"/>
            <a:chExt cx="472" cy="1270"/>
          </a:xfrm>
        </p:grpSpPr>
        <p:sp>
          <p:nvSpPr>
            <p:cNvPr id="133157" name="Text Box 37"/>
            <p:cNvSpPr txBox="1">
              <a:spLocks noChangeArrowheads="1"/>
            </p:cNvSpPr>
            <p:nvPr/>
          </p:nvSpPr>
          <p:spPr bwMode="auto">
            <a:xfrm>
              <a:off x="2154" y="3504"/>
              <a:ext cx="25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 altLang="en-US" sz="32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133162" name="Text Box 42"/>
            <p:cNvSpPr txBox="1">
              <a:spLocks noChangeArrowheads="1"/>
            </p:cNvSpPr>
            <p:nvPr/>
          </p:nvSpPr>
          <p:spPr bwMode="auto">
            <a:xfrm>
              <a:off x="1936" y="2524"/>
              <a:ext cx="182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20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</p:grpSp>
      <p:grpSp>
        <p:nvGrpSpPr>
          <p:cNvPr id="133164" name="Group 44"/>
          <p:cNvGrpSpPr>
            <a:grpSpLocks/>
          </p:cNvGrpSpPr>
          <p:nvPr/>
        </p:nvGrpSpPr>
        <p:grpSpPr bwMode="auto">
          <a:xfrm>
            <a:off x="1289051" y="4432300"/>
            <a:ext cx="3743325" cy="1093788"/>
            <a:chOff x="2227" y="2051"/>
            <a:chExt cx="2358" cy="689"/>
          </a:xfrm>
        </p:grpSpPr>
        <p:sp>
          <p:nvSpPr>
            <p:cNvPr id="133125" name="Line 5"/>
            <p:cNvSpPr>
              <a:spLocks noChangeShapeType="1"/>
            </p:cNvSpPr>
            <p:nvPr/>
          </p:nvSpPr>
          <p:spPr bwMode="auto">
            <a:xfrm flipV="1">
              <a:off x="2553" y="2740"/>
              <a:ext cx="20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137160" bIns="137160">
              <a:spAutoFit/>
            </a:bodyPr>
            <a:lstStyle/>
            <a:p>
              <a:endParaRPr lang="en-US"/>
            </a:p>
          </p:txBody>
        </p:sp>
        <p:grpSp>
          <p:nvGrpSpPr>
            <p:cNvPr id="133142" name="Group 22"/>
            <p:cNvGrpSpPr>
              <a:grpSpLocks/>
            </p:cNvGrpSpPr>
            <p:nvPr/>
          </p:nvGrpSpPr>
          <p:grpSpPr bwMode="auto">
            <a:xfrm>
              <a:off x="2553" y="2051"/>
              <a:ext cx="2032" cy="290"/>
              <a:chOff x="3424" y="1870"/>
              <a:chExt cx="2032" cy="290"/>
            </a:xfrm>
          </p:grpSpPr>
          <p:sp>
            <p:nvSpPr>
              <p:cNvPr id="133134" name="Text Box 14"/>
              <p:cNvSpPr txBox="1">
                <a:spLocks noChangeArrowheads="1"/>
              </p:cNvSpPr>
              <p:nvPr/>
            </p:nvSpPr>
            <p:spPr bwMode="auto">
              <a:xfrm>
                <a:off x="3424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3200" b="1">
                    <a:latin typeface="Courier New" pitchFamily="49" charset="0"/>
                    <a:cs typeface="Courier New" pitchFamily="49" charset="0"/>
                  </a:rPr>
                  <a:t>9</a:t>
                </a:r>
              </a:p>
            </p:txBody>
          </p:sp>
          <p:sp>
            <p:nvSpPr>
              <p:cNvPr id="133135" name="Text Box 15"/>
              <p:cNvSpPr txBox="1">
                <a:spLocks noChangeArrowheads="1"/>
              </p:cNvSpPr>
              <p:nvPr/>
            </p:nvSpPr>
            <p:spPr bwMode="auto">
              <a:xfrm>
                <a:off x="3678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3200" b="1">
                    <a:latin typeface="Courier New" pitchFamily="49" charset="0"/>
                    <a:cs typeface="Courier New" pitchFamily="49" charset="0"/>
                  </a:rPr>
                  <a:t>C</a:t>
                </a:r>
              </a:p>
            </p:txBody>
          </p:sp>
          <p:sp>
            <p:nvSpPr>
              <p:cNvPr id="133136" name="Text Box 16"/>
              <p:cNvSpPr txBox="1">
                <a:spLocks noChangeArrowheads="1"/>
              </p:cNvSpPr>
              <p:nvPr/>
            </p:nvSpPr>
            <p:spPr bwMode="auto">
              <a:xfrm>
                <a:off x="3932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3200" b="1">
                    <a:latin typeface="Courier New" pitchFamily="49" charset="0"/>
                    <a:cs typeface="Courier New" pitchFamily="49" charset="0"/>
                  </a:rPr>
                  <a:t>3</a:t>
                </a:r>
              </a:p>
            </p:txBody>
          </p:sp>
          <p:sp>
            <p:nvSpPr>
              <p:cNvPr id="133137" name="Text Box 17"/>
              <p:cNvSpPr txBox="1">
                <a:spLocks noChangeArrowheads="1"/>
              </p:cNvSpPr>
              <p:nvPr/>
            </p:nvSpPr>
            <p:spPr bwMode="auto">
              <a:xfrm>
                <a:off x="4186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3200" b="1">
                    <a:latin typeface="Courier New" pitchFamily="49" charset="0"/>
                    <a:cs typeface="Courier New" pitchFamily="49" charset="0"/>
                  </a:rPr>
                  <a:t>7</a:t>
                </a:r>
              </a:p>
            </p:txBody>
          </p:sp>
          <p:sp>
            <p:nvSpPr>
              <p:cNvPr id="133138" name="Text Box 18"/>
              <p:cNvSpPr txBox="1">
                <a:spLocks noChangeArrowheads="1"/>
              </p:cNvSpPr>
              <p:nvPr/>
            </p:nvSpPr>
            <p:spPr bwMode="auto">
              <a:xfrm>
                <a:off x="4440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3200" b="1">
                    <a:latin typeface="Courier New" pitchFamily="49" charset="0"/>
                    <a:cs typeface="Courier New" pitchFamily="49" charset="0"/>
                  </a:rPr>
                  <a:t>2</a:t>
                </a:r>
              </a:p>
            </p:txBody>
          </p:sp>
          <p:sp>
            <p:nvSpPr>
              <p:cNvPr id="133139" name="Text Box 19"/>
              <p:cNvSpPr txBox="1">
                <a:spLocks noChangeArrowheads="1"/>
              </p:cNvSpPr>
              <p:nvPr/>
            </p:nvSpPr>
            <p:spPr bwMode="auto">
              <a:xfrm>
                <a:off x="4694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3200" b="1">
                    <a:latin typeface="Courier New" pitchFamily="49" charset="0"/>
                    <a:cs typeface="Courier New" pitchFamily="49" charset="0"/>
                  </a:rPr>
                  <a:t>8</a:t>
                </a:r>
              </a:p>
            </p:txBody>
          </p:sp>
          <p:sp>
            <p:nvSpPr>
              <p:cNvPr id="133140" name="Text Box 20"/>
              <p:cNvSpPr txBox="1">
                <a:spLocks noChangeArrowheads="1"/>
              </p:cNvSpPr>
              <p:nvPr/>
            </p:nvSpPr>
            <p:spPr bwMode="auto">
              <a:xfrm>
                <a:off x="4948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3200" b="1">
                    <a:latin typeface="Courier New" pitchFamily="49" charset="0"/>
                    <a:cs typeface="Courier New" pitchFamily="49" charset="0"/>
                  </a:rPr>
                  <a:t>6</a:t>
                </a:r>
              </a:p>
            </p:txBody>
          </p:sp>
          <p:sp>
            <p:nvSpPr>
              <p:cNvPr id="133141" name="Text Box 21"/>
              <p:cNvSpPr txBox="1">
                <a:spLocks noChangeArrowheads="1"/>
              </p:cNvSpPr>
              <p:nvPr/>
            </p:nvSpPr>
            <p:spPr bwMode="auto">
              <a:xfrm>
                <a:off x="5202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3200" b="1">
                    <a:latin typeface="Courier New" pitchFamily="49" charset="0"/>
                    <a:cs typeface="Courier New" pitchFamily="49" charset="0"/>
                  </a:rPr>
                  <a:t>5</a:t>
                </a:r>
              </a:p>
            </p:txBody>
          </p:sp>
        </p:grpSp>
        <p:grpSp>
          <p:nvGrpSpPr>
            <p:cNvPr id="133143" name="Group 23"/>
            <p:cNvGrpSpPr>
              <a:grpSpLocks/>
            </p:cNvGrpSpPr>
            <p:nvPr/>
          </p:nvGrpSpPr>
          <p:grpSpPr bwMode="auto">
            <a:xfrm>
              <a:off x="2553" y="2377"/>
              <a:ext cx="2032" cy="290"/>
              <a:chOff x="3424" y="1870"/>
              <a:chExt cx="2032" cy="290"/>
            </a:xfrm>
          </p:grpSpPr>
          <p:sp>
            <p:nvSpPr>
              <p:cNvPr id="133144" name="Text Box 24"/>
              <p:cNvSpPr txBox="1">
                <a:spLocks noChangeArrowheads="1"/>
              </p:cNvSpPr>
              <p:nvPr/>
            </p:nvSpPr>
            <p:spPr bwMode="auto">
              <a:xfrm>
                <a:off x="3424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3200" b="1">
                    <a:latin typeface="Courier New" pitchFamily="49" charset="0"/>
                    <a:cs typeface="Courier New" pitchFamily="49" charset="0"/>
                  </a:rPr>
                  <a:t>1</a:t>
                </a:r>
              </a:p>
            </p:txBody>
          </p:sp>
          <p:sp>
            <p:nvSpPr>
              <p:cNvPr id="133145" name="Text Box 25"/>
              <p:cNvSpPr txBox="1">
                <a:spLocks noChangeArrowheads="1"/>
              </p:cNvSpPr>
              <p:nvPr/>
            </p:nvSpPr>
            <p:spPr bwMode="auto">
              <a:xfrm>
                <a:off x="3678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3200" b="1">
                    <a:latin typeface="Courier New" pitchFamily="49" charset="0"/>
                    <a:cs typeface="Courier New" pitchFamily="49" charset="0"/>
                  </a:rPr>
                  <a:t>3</a:t>
                </a:r>
              </a:p>
            </p:txBody>
          </p:sp>
          <p:sp>
            <p:nvSpPr>
              <p:cNvPr id="133146" name="Text Box 26"/>
              <p:cNvSpPr txBox="1">
                <a:spLocks noChangeArrowheads="1"/>
              </p:cNvSpPr>
              <p:nvPr/>
            </p:nvSpPr>
            <p:spPr bwMode="auto">
              <a:xfrm>
                <a:off x="3932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3200" b="1">
                    <a:latin typeface="Courier New" pitchFamily="49" charset="0"/>
                    <a:cs typeface="Courier New" pitchFamily="49" charset="0"/>
                  </a:rPr>
                  <a:t>9</a:t>
                </a:r>
              </a:p>
            </p:txBody>
          </p:sp>
          <p:sp>
            <p:nvSpPr>
              <p:cNvPr id="133147" name="Text Box 27"/>
              <p:cNvSpPr txBox="1">
                <a:spLocks noChangeArrowheads="1"/>
              </p:cNvSpPr>
              <p:nvPr/>
            </p:nvSpPr>
            <p:spPr bwMode="auto">
              <a:xfrm>
                <a:off x="4186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3200" b="1">
                    <a:latin typeface="Courier New" pitchFamily="49" charset="0"/>
                    <a:cs typeface="Courier New" pitchFamily="49" charset="0"/>
                  </a:rPr>
                  <a:t>5</a:t>
                </a:r>
              </a:p>
            </p:txBody>
          </p:sp>
          <p:sp>
            <p:nvSpPr>
              <p:cNvPr id="133148" name="Text Box 28"/>
              <p:cNvSpPr txBox="1">
                <a:spLocks noChangeArrowheads="1"/>
              </p:cNvSpPr>
              <p:nvPr/>
            </p:nvSpPr>
            <p:spPr bwMode="auto">
              <a:xfrm>
                <a:off x="4440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3200" b="1">
                    <a:latin typeface="Courier New" pitchFamily="49" charset="0"/>
                    <a:cs typeface="Courier New" pitchFamily="49" charset="0"/>
                  </a:rPr>
                  <a:t>E</a:t>
                </a:r>
              </a:p>
            </p:txBody>
          </p:sp>
          <p:sp>
            <p:nvSpPr>
              <p:cNvPr id="133149" name="Text Box 29"/>
              <p:cNvSpPr txBox="1">
                <a:spLocks noChangeArrowheads="1"/>
              </p:cNvSpPr>
              <p:nvPr/>
            </p:nvSpPr>
            <p:spPr bwMode="auto">
              <a:xfrm>
                <a:off x="4694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3200" b="1">
                    <a:latin typeface="Courier New" pitchFamily="49" charset="0"/>
                    <a:cs typeface="Courier New" pitchFamily="49" charset="0"/>
                  </a:rPr>
                  <a:t>8</a:t>
                </a:r>
              </a:p>
            </p:txBody>
          </p:sp>
          <p:sp>
            <p:nvSpPr>
              <p:cNvPr id="133150" name="Text Box 30"/>
              <p:cNvSpPr txBox="1">
                <a:spLocks noChangeArrowheads="1"/>
              </p:cNvSpPr>
              <p:nvPr/>
            </p:nvSpPr>
            <p:spPr bwMode="auto">
              <a:xfrm>
                <a:off x="4948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3200" b="1">
                    <a:latin typeface="Courier New" pitchFamily="49" charset="0"/>
                    <a:cs typeface="Courier New" pitchFamily="49" charset="0"/>
                  </a:rPr>
                  <a:t>4</a:t>
                </a:r>
              </a:p>
            </p:txBody>
          </p:sp>
          <p:sp>
            <p:nvSpPr>
              <p:cNvPr id="133151" name="Text Box 31"/>
              <p:cNvSpPr txBox="1">
                <a:spLocks noChangeArrowheads="1"/>
              </p:cNvSpPr>
              <p:nvPr/>
            </p:nvSpPr>
            <p:spPr bwMode="auto">
              <a:xfrm>
                <a:off x="5202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3200" b="1">
                    <a:latin typeface="Courier New" pitchFamily="49" charset="0"/>
                    <a:cs typeface="Courier New" pitchFamily="49" charset="0"/>
                  </a:rPr>
                  <a:t>B</a:t>
                </a:r>
              </a:p>
            </p:txBody>
          </p:sp>
        </p:grpSp>
        <p:sp>
          <p:nvSpPr>
            <p:cNvPr id="133163" name="Text Box 43"/>
            <p:cNvSpPr txBox="1">
              <a:spLocks noChangeArrowheads="1"/>
            </p:cNvSpPr>
            <p:nvPr/>
          </p:nvSpPr>
          <p:spPr bwMode="auto">
            <a:xfrm>
              <a:off x="2227" y="2233"/>
              <a:ext cx="25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 altLang="en-US" sz="3200" b="1">
                  <a:latin typeface="Courier New" pitchFamily="49" charset="0"/>
                  <a:cs typeface="Courier New" pitchFamily="49" charset="0"/>
                </a:rPr>
                <a:t>+</a:t>
              </a:r>
            </a:p>
          </p:txBody>
        </p:sp>
      </p:grpSp>
      <p:sp>
        <p:nvSpPr>
          <p:cNvPr id="133129" name="Text Box 9"/>
          <p:cNvSpPr txBox="1">
            <a:spLocks noChangeArrowheads="1"/>
          </p:cNvSpPr>
          <p:nvPr/>
        </p:nvSpPr>
        <p:spPr bwMode="auto">
          <a:xfrm>
            <a:off x="5665789" y="4602163"/>
            <a:ext cx="2651125" cy="15922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37160" bIns="137160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en-US" sz="2000"/>
              <a:t>5 + B = 5 + 11 = 16</a:t>
            </a:r>
          </a:p>
          <a:p>
            <a:pPr>
              <a:spcBef>
                <a:spcPct val="10000"/>
              </a:spcBef>
            </a:pPr>
            <a:r>
              <a:rPr lang="en-US" altLang="en-US" sz="2000"/>
              <a:t>Since Sum ≥ 16</a:t>
            </a:r>
          </a:p>
          <a:p>
            <a:pPr>
              <a:spcBef>
                <a:spcPct val="10000"/>
              </a:spcBef>
            </a:pPr>
            <a:r>
              <a:rPr lang="en-US" altLang="en-US" sz="2000"/>
              <a:t>Sum = 16 – 16 = 0</a:t>
            </a:r>
          </a:p>
          <a:p>
            <a:pPr>
              <a:spcBef>
                <a:spcPct val="10000"/>
              </a:spcBef>
            </a:pPr>
            <a:r>
              <a:rPr lang="en-US" altLang="en-US" sz="2000"/>
              <a:t>Carry = 1</a:t>
            </a:r>
          </a:p>
        </p:txBody>
      </p:sp>
      <p:grpSp>
        <p:nvGrpSpPr>
          <p:cNvPr id="133171" name="Group 51"/>
          <p:cNvGrpSpPr>
            <a:grpSpLocks/>
          </p:cNvGrpSpPr>
          <p:nvPr/>
        </p:nvGrpSpPr>
        <p:grpSpPr bwMode="auto">
          <a:xfrm>
            <a:off x="885826" y="4084638"/>
            <a:ext cx="4779963" cy="2017712"/>
            <a:chOff x="558" y="2523"/>
            <a:chExt cx="3011" cy="1271"/>
          </a:xfrm>
        </p:grpSpPr>
        <p:sp>
          <p:nvSpPr>
            <p:cNvPr id="133160" name="Text Box 40"/>
            <p:cNvSpPr txBox="1">
              <a:spLocks noChangeArrowheads="1"/>
            </p:cNvSpPr>
            <p:nvPr/>
          </p:nvSpPr>
          <p:spPr bwMode="auto">
            <a:xfrm>
              <a:off x="2916" y="3504"/>
              <a:ext cx="25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 altLang="en-US" sz="3200" b="1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grpSp>
          <p:nvGrpSpPr>
            <p:cNvPr id="133168" name="Group 48"/>
            <p:cNvGrpSpPr>
              <a:grpSpLocks/>
            </p:cNvGrpSpPr>
            <p:nvPr/>
          </p:nvGrpSpPr>
          <p:grpSpPr bwMode="auto">
            <a:xfrm>
              <a:off x="558" y="2523"/>
              <a:ext cx="2323" cy="184"/>
              <a:chOff x="558" y="2523"/>
              <a:chExt cx="2323" cy="184"/>
            </a:xfrm>
          </p:grpSpPr>
          <p:sp>
            <p:nvSpPr>
              <p:cNvPr id="133127" name="Text Box 7"/>
              <p:cNvSpPr txBox="1">
                <a:spLocks noChangeArrowheads="1"/>
              </p:cNvSpPr>
              <p:nvPr/>
            </p:nvSpPr>
            <p:spPr bwMode="auto">
              <a:xfrm>
                <a:off x="2699" y="2524"/>
                <a:ext cx="182" cy="1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1</a:t>
                </a:r>
              </a:p>
            </p:txBody>
          </p:sp>
          <p:sp>
            <p:nvSpPr>
              <p:cNvPr id="133165" name="Text Box 45"/>
              <p:cNvSpPr txBox="1">
                <a:spLocks noChangeArrowheads="1"/>
              </p:cNvSpPr>
              <p:nvPr/>
            </p:nvSpPr>
            <p:spPr bwMode="auto">
              <a:xfrm>
                <a:off x="558" y="2523"/>
                <a:ext cx="654" cy="1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000" b="1">
                    <a:latin typeface="Courier New" pitchFamily="49" charset="0"/>
                    <a:cs typeface="Courier New" pitchFamily="49" charset="0"/>
                  </a:rPr>
                  <a:t>carry</a:t>
                </a:r>
              </a:p>
            </p:txBody>
          </p:sp>
        </p:grpSp>
        <p:sp>
          <p:nvSpPr>
            <p:cNvPr id="133166" name="Line 46"/>
            <p:cNvSpPr>
              <a:spLocks noChangeShapeType="1"/>
            </p:cNvSpPr>
            <p:nvPr/>
          </p:nvSpPr>
          <p:spPr bwMode="auto">
            <a:xfrm flipH="1">
              <a:off x="3170" y="3503"/>
              <a:ext cx="399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691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3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3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3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3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3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3" grpId="0"/>
      <p:bldP spid="133154" grpId="0"/>
      <p:bldP spid="133155" grpId="0"/>
      <p:bldP spid="133156" grpId="0"/>
      <p:bldP spid="133159" grpId="0"/>
      <p:bldP spid="1331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Hexadecimal Subtraction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0" y="1212850"/>
            <a:ext cx="8237538" cy="3054350"/>
          </a:xfrm>
        </p:spPr>
        <p:txBody>
          <a:bodyPr>
            <a:normAutofit lnSpcReduction="10000"/>
          </a:bodyPr>
          <a:lstStyle/>
          <a:p>
            <a:pPr>
              <a:spcBef>
                <a:spcPts val="2000"/>
              </a:spcBef>
            </a:pPr>
            <a:r>
              <a:rPr lang="en-US" altLang="en-US" sz="2800" dirty="0"/>
              <a:t>Start with the least significant hexadecimal digits</a:t>
            </a:r>
          </a:p>
          <a:p>
            <a:pPr>
              <a:spcBef>
                <a:spcPts val="2000"/>
              </a:spcBef>
            </a:pPr>
            <a:r>
              <a:rPr lang="en-US" altLang="en-US" sz="2800" dirty="0"/>
              <a:t>Let Difference = subtraction of two hex digits</a:t>
            </a:r>
          </a:p>
          <a:p>
            <a:pPr>
              <a:spcBef>
                <a:spcPts val="2000"/>
              </a:spcBef>
            </a:pPr>
            <a:r>
              <a:rPr lang="en-US" altLang="en-US" sz="2800" dirty="0"/>
              <a:t>If Difference is negative</a:t>
            </a:r>
          </a:p>
          <a:p>
            <a:pPr lvl="1">
              <a:spcBef>
                <a:spcPts val="2000"/>
              </a:spcBef>
            </a:pPr>
            <a:r>
              <a:rPr lang="en-US" altLang="en-US" sz="2400" dirty="0"/>
              <a:t>Difference = 16 + Difference and Borrow = -1</a:t>
            </a:r>
          </a:p>
          <a:p>
            <a:pPr>
              <a:spcBef>
                <a:spcPts val="2000"/>
              </a:spcBef>
            </a:pPr>
            <a:r>
              <a:rPr lang="en-US" altLang="en-US" sz="2800" dirty="0"/>
              <a:t>Example:</a:t>
            </a:r>
          </a:p>
        </p:txBody>
      </p:sp>
      <p:sp>
        <p:nvSpPr>
          <p:cNvPr id="274436" name="Text Box 4"/>
          <p:cNvSpPr txBox="1">
            <a:spLocks noChangeArrowheads="1"/>
          </p:cNvSpPr>
          <p:nvPr/>
        </p:nvSpPr>
        <p:spPr bwMode="auto">
          <a:xfrm>
            <a:off x="1806576" y="5641977"/>
            <a:ext cx="4032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20000"/>
              </a:spcBef>
            </a:pPr>
            <a:r>
              <a:rPr lang="en-US" altLang="en-US" sz="2800" b="1">
                <a:latin typeface="Courier New" pitchFamily="49" charset="0"/>
                <a:cs typeface="Courier New" pitchFamily="49" charset="0"/>
              </a:rPr>
              <a:t>8</a:t>
            </a:r>
          </a:p>
        </p:txBody>
      </p:sp>
      <p:sp>
        <p:nvSpPr>
          <p:cNvPr id="274437" name="Text Box 5"/>
          <p:cNvSpPr txBox="1">
            <a:spLocks noChangeArrowheads="1"/>
          </p:cNvSpPr>
          <p:nvPr/>
        </p:nvSpPr>
        <p:spPr bwMode="auto">
          <a:xfrm>
            <a:off x="2209801" y="5641977"/>
            <a:ext cx="4032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20000"/>
              </a:spcBef>
            </a:pPr>
            <a:r>
              <a:rPr lang="en-US" altLang="en-US" sz="2800" b="1">
                <a:latin typeface="Courier New" pitchFamily="49" charset="0"/>
                <a:cs typeface="Courier New" pitchFamily="49" charset="0"/>
              </a:rPr>
              <a:t>8</a:t>
            </a:r>
          </a:p>
        </p:txBody>
      </p:sp>
      <p:sp>
        <p:nvSpPr>
          <p:cNvPr id="274439" name="Text Box 7"/>
          <p:cNvSpPr txBox="1">
            <a:spLocks noChangeArrowheads="1"/>
          </p:cNvSpPr>
          <p:nvPr/>
        </p:nvSpPr>
        <p:spPr bwMode="auto">
          <a:xfrm>
            <a:off x="3016251" y="5641977"/>
            <a:ext cx="4032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20000"/>
              </a:spcBef>
            </a:pPr>
            <a:r>
              <a:rPr lang="en-US" altLang="en-US" sz="2800" b="1"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274440" name="Text Box 8"/>
          <p:cNvSpPr txBox="1">
            <a:spLocks noChangeArrowheads="1"/>
          </p:cNvSpPr>
          <p:nvPr/>
        </p:nvSpPr>
        <p:spPr bwMode="auto">
          <a:xfrm>
            <a:off x="4225926" y="5641977"/>
            <a:ext cx="4032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20000"/>
              </a:spcBef>
            </a:pPr>
            <a:r>
              <a:rPr lang="en-US" altLang="en-US" sz="2800" b="1"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274442" name="Text Box 10"/>
          <p:cNvSpPr txBox="1">
            <a:spLocks noChangeArrowheads="1"/>
          </p:cNvSpPr>
          <p:nvPr/>
        </p:nvSpPr>
        <p:spPr bwMode="auto">
          <a:xfrm>
            <a:off x="3822701" y="5641977"/>
            <a:ext cx="4032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>
              <a:spcBef>
                <a:spcPct val="20000"/>
              </a:spcBef>
            </a:pPr>
            <a:r>
              <a:rPr lang="en-US" altLang="en-US" sz="2800" b="1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grpSp>
        <p:nvGrpSpPr>
          <p:cNvPr id="274444" name="Group 12"/>
          <p:cNvGrpSpPr>
            <a:grpSpLocks/>
          </p:cNvGrpSpPr>
          <p:nvPr/>
        </p:nvGrpSpPr>
        <p:grpSpPr bwMode="auto">
          <a:xfrm>
            <a:off x="3073400" y="4086227"/>
            <a:ext cx="749300" cy="2016125"/>
            <a:chOff x="1936" y="2524"/>
            <a:chExt cx="472" cy="1270"/>
          </a:xfrm>
        </p:grpSpPr>
        <p:sp>
          <p:nvSpPr>
            <p:cNvPr id="274445" name="Text Box 13"/>
            <p:cNvSpPr txBox="1">
              <a:spLocks noChangeArrowheads="1"/>
            </p:cNvSpPr>
            <p:nvPr/>
          </p:nvSpPr>
          <p:spPr bwMode="auto">
            <a:xfrm>
              <a:off x="2154" y="3504"/>
              <a:ext cx="25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 altLang="en-US" sz="2800" b="1">
                  <a:latin typeface="Courier New" pitchFamily="49" charset="0"/>
                  <a:cs typeface="Courier New" pitchFamily="49" charset="0"/>
                </a:rPr>
                <a:t>4</a:t>
              </a:r>
            </a:p>
          </p:txBody>
        </p:sp>
        <p:sp>
          <p:nvSpPr>
            <p:cNvPr id="274446" name="Text Box 14"/>
            <p:cNvSpPr txBox="1">
              <a:spLocks noChangeArrowheads="1"/>
            </p:cNvSpPr>
            <p:nvPr/>
          </p:nvSpPr>
          <p:spPr bwMode="auto">
            <a:xfrm>
              <a:off x="1936" y="2524"/>
              <a:ext cx="182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Courier New" pitchFamily="49" charset="0"/>
                  <a:cs typeface="Courier New" pitchFamily="49" charset="0"/>
                </a:rPr>
                <a:t>-1</a:t>
              </a:r>
            </a:p>
          </p:txBody>
        </p:sp>
      </p:grpSp>
      <p:grpSp>
        <p:nvGrpSpPr>
          <p:cNvPr id="274447" name="Group 15"/>
          <p:cNvGrpSpPr>
            <a:grpSpLocks/>
          </p:cNvGrpSpPr>
          <p:nvPr/>
        </p:nvGrpSpPr>
        <p:grpSpPr bwMode="auto">
          <a:xfrm>
            <a:off x="1289051" y="4432300"/>
            <a:ext cx="3743325" cy="1093788"/>
            <a:chOff x="2227" y="2051"/>
            <a:chExt cx="2358" cy="689"/>
          </a:xfrm>
        </p:grpSpPr>
        <p:sp>
          <p:nvSpPr>
            <p:cNvPr id="274448" name="Line 16"/>
            <p:cNvSpPr>
              <a:spLocks noChangeShapeType="1"/>
            </p:cNvSpPr>
            <p:nvPr/>
          </p:nvSpPr>
          <p:spPr bwMode="auto">
            <a:xfrm flipV="1">
              <a:off x="2553" y="2740"/>
              <a:ext cx="20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137160" bIns="137160">
              <a:spAutoFit/>
            </a:bodyPr>
            <a:lstStyle/>
            <a:p>
              <a:endParaRPr lang="en-US" sz="1600"/>
            </a:p>
          </p:txBody>
        </p:sp>
        <p:grpSp>
          <p:nvGrpSpPr>
            <p:cNvPr id="274449" name="Group 17"/>
            <p:cNvGrpSpPr>
              <a:grpSpLocks/>
            </p:cNvGrpSpPr>
            <p:nvPr/>
          </p:nvGrpSpPr>
          <p:grpSpPr bwMode="auto">
            <a:xfrm>
              <a:off x="2553" y="2051"/>
              <a:ext cx="2032" cy="290"/>
              <a:chOff x="3424" y="1870"/>
              <a:chExt cx="2032" cy="290"/>
            </a:xfrm>
          </p:grpSpPr>
          <p:sp>
            <p:nvSpPr>
              <p:cNvPr id="274450" name="Text Box 18"/>
              <p:cNvSpPr txBox="1">
                <a:spLocks noChangeArrowheads="1"/>
              </p:cNvSpPr>
              <p:nvPr/>
            </p:nvSpPr>
            <p:spPr bwMode="auto">
              <a:xfrm>
                <a:off x="3424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2800" b="1">
                    <a:latin typeface="Courier New" pitchFamily="49" charset="0"/>
                    <a:cs typeface="Courier New" pitchFamily="49" charset="0"/>
                  </a:rPr>
                  <a:t>9</a:t>
                </a:r>
              </a:p>
            </p:txBody>
          </p:sp>
          <p:sp>
            <p:nvSpPr>
              <p:cNvPr id="274451" name="Text Box 19"/>
              <p:cNvSpPr txBox="1">
                <a:spLocks noChangeArrowheads="1"/>
              </p:cNvSpPr>
              <p:nvPr/>
            </p:nvSpPr>
            <p:spPr bwMode="auto">
              <a:xfrm>
                <a:off x="3678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2800" b="1">
                    <a:latin typeface="Courier New" pitchFamily="49" charset="0"/>
                    <a:cs typeface="Courier New" pitchFamily="49" charset="0"/>
                  </a:rPr>
                  <a:t>C</a:t>
                </a:r>
              </a:p>
            </p:txBody>
          </p:sp>
          <p:sp>
            <p:nvSpPr>
              <p:cNvPr id="274452" name="Text Box 20"/>
              <p:cNvSpPr txBox="1">
                <a:spLocks noChangeArrowheads="1"/>
              </p:cNvSpPr>
              <p:nvPr/>
            </p:nvSpPr>
            <p:spPr bwMode="auto">
              <a:xfrm>
                <a:off x="3932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2800" b="1">
                    <a:latin typeface="Courier New" pitchFamily="49" charset="0"/>
                    <a:cs typeface="Courier New" pitchFamily="49" charset="0"/>
                  </a:rPr>
                  <a:t>3</a:t>
                </a:r>
              </a:p>
            </p:txBody>
          </p:sp>
          <p:sp>
            <p:nvSpPr>
              <p:cNvPr id="274453" name="Text Box 21"/>
              <p:cNvSpPr txBox="1">
                <a:spLocks noChangeArrowheads="1"/>
              </p:cNvSpPr>
              <p:nvPr/>
            </p:nvSpPr>
            <p:spPr bwMode="auto">
              <a:xfrm>
                <a:off x="4186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2800" b="1">
                    <a:latin typeface="Courier New" pitchFamily="49" charset="0"/>
                    <a:cs typeface="Courier New" pitchFamily="49" charset="0"/>
                  </a:rPr>
                  <a:t>7</a:t>
                </a:r>
              </a:p>
            </p:txBody>
          </p:sp>
          <p:sp>
            <p:nvSpPr>
              <p:cNvPr id="274454" name="Text Box 22"/>
              <p:cNvSpPr txBox="1">
                <a:spLocks noChangeArrowheads="1"/>
              </p:cNvSpPr>
              <p:nvPr/>
            </p:nvSpPr>
            <p:spPr bwMode="auto">
              <a:xfrm>
                <a:off x="4440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2800" b="1">
                    <a:latin typeface="Courier New" pitchFamily="49" charset="0"/>
                    <a:cs typeface="Courier New" pitchFamily="49" charset="0"/>
                  </a:rPr>
                  <a:t>2</a:t>
                </a:r>
              </a:p>
            </p:txBody>
          </p:sp>
          <p:sp>
            <p:nvSpPr>
              <p:cNvPr id="274455" name="Text Box 23"/>
              <p:cNvSpPr txBox="1">
                <a:spLocks noChangeArrowheads="1"/>
              </p:cNvSpPr>
              <p:nvPr/>
            </p:nvSpPr>
            <p:spPr bwMode="auto">
              <a:xfrm>
                <a:off x="4694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2800" b="1">
                    <a:latin typeface="Courier New" pitchFamily="49" charset="0"/>
                    <a:cs typeface="Courier New" pitchFamily="49" charset="0"/>
                  </a:rPr>
                  <a:t>8</a:t>
                </a:r>
              </a:p>
            </p:txBody>
          </p:sp>
          <p:sp>
            <p:nvSpPr>
              <p:cNvPr id="274456" name="Text Box 24"/>
              <p:cNvSpPr txBox="1">
                <a:spLocks noChangeArrowheads="1"/>
              </p:cNvSpPr>
              <p:nvPr/>
            </p:nvSpPr>
            <p:spPr bwMode="auto">
              <a:xfrm>
                <a:off x="4948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2800" b="1">
                    <a:latin typeface="Courier New" pitchFamily="49" charset="0"/>
                    <a:cs typeface="Courier New" pitchFamily="49" charset="0"/>
                  </a:rPr>
                  <a:t>6</a:t>
                </a:r>
              </a:p>
            </p:txBody>
          </p:sp>
          <p:sp>
            <p:nvSpPr>
              <p:cNvPr id="274457" name="Text Box 25"/>
              <p:cNvSpPr txBox="1">
                <a:spLocks noChangeArrowheads="1"/>
              </p:cNvSpPr>
              <p:nvPr/>
            </p:nvSpPr>
            <p:spPr bwMode="auto">
              <a:xfrm>
                <a:off x="5202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2800" b="1">
                    <a:latin typeface="Courier New" pitchFamily="49" charset="0"/>
                    <a:cs typeface="Courier New" pitchFamily="49" charset="0"/>
                  </a:rPr>
                  <a:t>5</a:t>
                </a:r>
              </a:p>
            </p:txBody>
          </p:sp>
        </p:grpSp>
        <p:grpSp>
          <p:nvGrpSpPr>
            <p:cNvPr id="274458" name="Group 26"/>
            <p:cNvGrpSpPr>
              <a:grpSpLocks/>
            </p:cNvGrpSpPr>
            <p:nvPr/>
          </p:nvGrpSpPr>
          <p:grpSpPr bwMode="auto">
            <a:xfrm>
              <a:off x="2553" y="2377"/>
              <a:ext cx="2032" cy="290"/>
              <a:chOff x="3424" y="1870"/>
              <a:chExt cx="2032" cy="290"/>
            </a:xfrm>
          </p:grpSpPr>
          <p:sp>
            <p:nvSpPr>
              <p:cNvPr id="274459" name="Text Box 27"/>
              <p:cNvSpPr txBox="1">
                <a:spLocks noChangeArrowheads="1"/>
              </p:cNvSpPr>
              <p:nvPr/>
            </p:nvSpPr>
            <p:spPr bwMode="auto">
              <a:xfrm>
                <a:off x="3424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2800" b="1">
                    <a:latin typeface="Courier New" pitchFamily="49" charset="0"/>
                    <a:cs typeface="Courier New" pitchFamily="49" charset="0"/>
                  </a:rPr>
                  <a:t>1</a:t>
                </a:r>
              </a:p>
            </p:txBody>
          </p:sp>
          <p:sp>
            <p:nvSpPr>
              <p:cNvPr id="274460" name="Text Box 28"/>
              <p:cNvSpPr txBox="1">
                <a:spLocks noChangeArrowheads="1"/>
              </p:cNvSpPr>
              <p:nvPr/>
            </p:nvSpPr>
            <p:spPr bwMode="auto">
              <a:xfrm>
                <a:off x="3678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2800" b="1">
                    <a:latin typeface="Courier New" pitchFamily="49" charset="0"/>
                    <a:cs typeface="Courier New" pitchFamily="49" charset="0"/>
                  </a:rPr>
                  <a:t>3</a:t>
                </a:r>
              </a:p>
            </p:txBody>
          </p:sp>
          <p:sp>
            <p:nvSpPr>
              <p:cNvPr id="274461" name="Text Box 29"/>
              <p:cNvSpPr txBox="1">
                <a:spLocks noChangeArrowheads="1"/>
              </p:cNvSpPr>
              <p:nvPr/>
            </p:nvSpPr>
            <p:spPr bwMode="auto">
              <a:xfrm>
                <a:off x="3932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2800" b="1">
                    <a:latin typeface="Courier New" pitchFamily="49" charset="0"/>
                    <a:cs typeface="Courier New" pitchFamily="49" charset="0"/>
                  </a:rPr>
                  <a:t>9</a:t>
                </a:r>
              </a:p>
            </p:txBody>
          </p:sp>
          <p:sp>
            <p:nvSpPr>
              <p:cNvPr id="274462" name="Text Box 30"/>
              <p:cNvSpPr txBox="1">
                <a:spLocks noChangeArrowheads="1"/>
              </p:cNvSpPr>
              <p:nvPr/>
            </p:nvSpPr>
            <p:spPr bwMode="auto">
              <a:xfrm>
                <a:off x="4186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2800" b="1">
                    <a:latin typeface="Courier New" pitchFamily="49" charset="0"/>
                    <a:cs typeface="Courier New" pitchFamily="49" charset="0"/>
                  </a:rPr>
                  <a:t>5</a:t>
                </a:r>
              </a:p>
            </p:txBody>
          </p:sp>
          <p:sp>
            <p:nvSpPr>
              <p:cNvPr id="274463" name="Text Box 31"/>
              <p:cNvSpPr txBox="1">
                <a:spLocks noChangeArrowheads="1"/>
              </p:cNvSpPr>
              <p:nvPr/>
            </p:nvSpPr>
            <p:spPr bwMode="auto">
              <a:xfrm>
                <a:off x="4440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2800" b="1">
                    <a:latin typeface="Courier New" pitchFamily="49" charset="0"/>
                    <a:cs typeface="Courier New" pitchFamily="49" charset="0"/>
                  </a:rPr>
                  <a:t>E</a:t>
                </a:r>
              </a:p>
            </p:txBody>
          </p:sp>
          <p:sp>
            <p:nvSpPr>
              <p:cNvPr id="274464" name="Text Box 32"/>
              <p:cNvSpPr txBox="1">
                <a:spLocks noChangeArrowheads="1"/>
              </p:cNvSpPr>
              <p:nvPr/>
            </p:nvSpPr>
            <p:spPr bwMode="auto">
              <a:xfrm>
                <a:off x="4694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2800" b="1">
                    <a:latin typeface="Courier New" pitchFamily="49" charset="0"/>
                    <a:cs typeface="Courier New" pitchFamily="49" charset="0"/>
                  </a:rPr>
                  <a:t>8</a:t>
                </a:r>
              </a:p>
            </p:txBody>
          </p:sp>
          <p:sp>
            <p:nvSpPr>
              <p:cNvPr id="274465" name="Text Box 33"/>
              <p:cNvSpPr txBox="1">
                <a:spLocks noChangeArrowheads="1"/>
              </p:cNvSpPr>
              <p:nvPr/>
            </p:nvSpPr>
            <p:spPr bwMode="auto">
              <a:xfrm>
                <a:off x="4948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2800" b="1">
                    <a:latin typeface="Courier New" pitchFamily="49" charset="0"/>
                    <a:cs typeface="Courier New" pitchFamily="49" charset="0"/>
                  </a:rPr>
                  <a:t>4</a:t>
                </a:r>
              </a:p>
            </p:txBody>
          </p:sp>
          <p:sp>
            <p:nvSpPr>
              <p:cNvPr id="274466" name="Text Box 34"/>
              <p:cNvSpPr txBox="1">
                <a:spLocks noChangeArrowheads="1"/>
              </p:cNvSpPr>
              <p:nvPr/>
            </p:nvSpPr>
            <p:spPr bwMode="auto">
              <a:xfrm>
                <a:off x="5202" y="1870"/>
                <a:ext cx="25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pPr>
                  <a:spcBef>
                    <a:spcPct val="20000"/>
                  </a:spcBef>
                </a:pPr>
                <a:r>
                  <a:rPr lang="en-US" altLang="en-US" sz="2800" b="1">
                    <a:latin typeface="Courier New" pitchFamily="49" charset="0"/>
                    <a:cs typeface="Courier New" pitchFamily="49" charset="0"/>
                  </a:rPr>
                  <a:t>B</a:t>
                </a:r>
              </a:p>
            </p:txBody>
          </p:sp>
        </p:grpSp>
        <p:sp>
          <p:nvSpPr>
            <p:cNvPr id="274467" name="Text Box 35"/>
            <p:cNvSpPr txBox="1">
              <a:spLocks noChangeArrowheads="1"/>
            </p:cNvSpPr>
            <p:nvPr/>
          </p:nvSpPr>
          <p:spPr bwMode="auto">
            <a:xfrm>
              <a:off x="2227" y="2233"/>
              <a:ext cx="25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 altLang="en-US" sz="2800" b="1">
                  <a:latin typeface="Courier New" pitchFamily="49" charset="0"/>
                  <a:cs typeface="Courier New" pitchFamily="49" charset="0"/>
                </a:rPr>
                <a:t>-</a:t>
              </a:r>
            </a:p>
          </p:txBody>
        </p:sp>
      </p:grpSp>
      <p:sp>
        <p:nvSpPr>
          <p:cNvPr id="274468" name="Text Box 36"/>
          <p:cNvSpPr txBox="1">
            <a:spLocks noChangeArrowheads="1"/>
          </p:cNvSpPr>
          <p:nvPr/>
        </p:nvSpPr>
        <p:spPr bwMode="auto">
          <a:xfrm>
            <a:off x="5435601" y="4860927"/>
            <a:ext cx="2938463" cy="1098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37160" bIns="137160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en-US" sz="1600"/>
              <a:t>Since 5 &lt; B, Difference &lt; 0</a:t>
            </a:r>
          </a:p>
          <a:p>
            <a:pPr>
              <a:spcBef>
                <a:spcPct val="10000"/>
              </a:spcBef>
            </a:pPr>
            <a:r>
              <a:rPr lang="en-US" altLang="en-US" sz="1600"/>
              <a:t>Difference = 16+5–11 = 10</a:t>
            </a:r>
          </a:p>
          <a:p>
            <a:pPr>
              <a:spcBef>
                <a:spcPct val="10000"/>
              </a:spcBef>
            </a:pPr>
            <a:r>
              <a:rPr lang="en-US" altLang="en-US" sz="1600"/>
              <a:t>Borrow = -1</a:t>
            </a:r>
          </a:p>
        </p:txBody>
      </p:sp>
      <p:grpSp>
        <p:nvGrpSpPr>
          <p:cNvPr id="274477" name="Group 45"/>
          <p:cNvGrpSpPr>
            <a:grpSpLocks/>
          </p:cNvGrpSpPr>
          <p:nvPr/>
        </p:nvGrpSpPr>
        <p:grpSpPr bwMode="auto">
          <a:xfrm>
            <a:off x="882651" y="4084638"/>
            <a:ext cx="4552950" cy="2017712"/>
            <a:chOff x="556" y="2573"/>
            <a:chExt cx="2868" cy="1271"/>
          </a:xfrm>
        </p:grpSpPr>
        <p:sp>
          <p:nvSpPr>
            <p:cNvPr id="274470" name="Text Box 38"/>
            <p:cNvSpPr txBox="1">
              <a:spLocks noChangeArrowheads="1"/>
            </p:cNvSpPr>
            <p:nvPr/>
          </p:nvSpPr>
          <p:spPr bwMode="auto">
            <a:xfrm>
              <a:off x="2916" y="3554"/>
              <a:ext cx="25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 altLang="en-US" sz="2800" b="1">
                  <a:latin typeface="Courier New" pitchFamily="49" charset="0"/>
                  <a:cs typeface="Courier New" pitchFamily="49" charset="0"/>
                </a:rPr>
                <a:t>A</a:t>
              </a:r>
            </a:p>
          </p:txBody>
        </p:sp>
        <p:sp>
          <p:nvSpPr>
            <p:cNvPr id="274472" name="Text Box 40"/>
            <p:cNvSpPr txBox="1">
              <a:spLocks noChangeArrowheads="1"/>
            </p:cNvSpPr>
            <p:nvPr/>
          </p:nvSpPr>
          <p:spPr bwMode="auto">
            <a:xfrm>
              <a:off x="2699" y="2574"/>
              <a:ext cx="182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sz="1600" b="1">
                  <a:latin typeface="Courier New" pitchFamily="49" charset="0"/>
                  <a:cs typeface="Courier New" pitchFamily="49" charset="0"/>
                </a:rPr>
                <a:t>-1</a:t>
              </a:r>
            </a:p>
          </p:txBody>
        </p:sp>
        <p:sp>
          <p:nvSpPr>
            <p:cNvPr id="274473" name="Text Box 41"/>
            <p:cNvSpPr txBox="1">
              <a:spLocks noChangeArrowheads="1"/>
            </p:cNvSpPr>
            <p:nvPr/>
          </p:nvSpPr>
          <p:spPr bwMode="auto">
            <a:xfrm>
              <a:off x="556" y="2573"/>
              <a:ext cx="655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en-US" b="1">
                  <a:latin typeface="Courier New" pitchFamily="49" charset="0"/>
                  <a:cs typeface="Courier New" pitchFamily="49" charset="0"/>
                </a:rPr>
                <a:t>borrow</a:t>
              </a:r>
            </a:p>
          </p:txBody>
        </p:sp>
        <p:sp>
          <p:nvSpPr>
            <p:cNvPr id="274474" name="Line 42"/>
            <p:cNvSpPr>
              <a:spLocks noChangeShapeType="1"/>
            </p:cNvSpPr>
            <p:nvPr/>
          </p:nvSpPr>
          <p:spPr bwMode="auto">
            <a:xfrm flipH="1">
              <a:off x="3170" y="3466"/>
              <a:ext cx="254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00"/>
            </a:p>
          </p:txBody>
        </p:sp>
      </p:grpSp>
      <p:grpSp>
        <p:nvGrpSpPr>
          <p:cNvPr id="274480" name="Group 48"/>
          <p:cNvGrpSpPr>
            <a:grpSpLocks/>
          </p:cNvGrpSpPr>
          <p:nvPr/>
        </p:nvGrpSpPr>
        <p:grpSpPr bwMode="auto">
          <a:xfrm>
            <a:off x="2289176" y="4113214"/>
            <a:ext cx="727075" cy="1989137"/>
            <a:chOff x="1442" y="2591"/>
            <a:chExt cx="458" cy="1253"/>
          </a:xfrm>
        </p:grpSpPr>
        <p:sp>
          <p:nvSpPr>
            <p:cNvPr id="274438" name="Text Box 6"/>
            <p:cNvSpPr txBox="1">
              <a:spLocks noChangeArrowheads="1"/>
            </p:cNvSpPr>
            <p:nvPr/>
          </p:nvSpPr>
          <p:spPr bwMode="auto">
            <a:xfrm>
              <a:off x="1646" y="3554"/>
              <a:ext cx="25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</a:pPr>
              <a:r>
                <a:rPr lang="en-US" altLang="en-US" sz="2800" b="1">
                  <a:latin typeface="Courier New" pitchFamily="49" charset="0"/>
                  <a:cs typeface="Courier New" pitchFamily="49" charset="0"/>
                </a:rPr>
                <a:t>A</a:t>
              </a:r>
            </a:p>
          </p:txBody>
        </p:sp>
        <p:sp>
          <p:nvSpPr>
            <p:cNvPr id="274479" name="Rectangle 47"/>
            <p:cNvSpPr>
              <a:spLocks noChangeArrowheads="1"/>
            </p:cNvSpPr>
            <p:nvPr/>
          </p:nvSpPr>
          <p:spPr bwMode="auto">
            <a:xfrm>
              <a:off x="1442" y="2591"/>
              <a:ext cx="156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r>
                <a:rPr lang="en-US" altLang="en-US" sz="1600" b="1">
                  <a:latin typeface="Courier New" pitchFamily="49" charset="0"/>
                  <a:cs typeface="Courier New" pitchFamily="49" charset="0"/>
                </a:rPr>
                <a:t>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363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4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4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4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4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74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74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7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7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6" grpId="0"/>
      <p:bldP spid="274437" grpId="0"/>
      <p:bldP spid="274439" grpId="0"/>
      <p:bldP spid="274440" grpId="0"/>
      <p:bldP spid="274442" grpId="0"/>
      <p:bldP spid="27446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sz="4000" dirty="0" smtClean="0"/>
              <a:t>Shifting the Bits to the Left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5" y="1009505"/>
            <a:ext cx="8667638" cy="518464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What happens if the bits are shifted to the left by 1 bit position?</a:t>
            </a:r>
            <a:endParaRPr lang="en-US" sz="2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317945" y="3140964"/>
            <a:ext cx="8667638" cy="518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sz="2000" dirty="0"/>
              <a:t>What happens if the bits are shifted to the left by </a:t>
            </a:r>
            <a:r>
              <a:rPr lang="en-US" sz="2000" dirty="0" smtClean="0"/>
              <a:t>2 </a:t>
            </a:r>
            <a:r>
              <a:rPr lang="en-US" sz="2000" dirty="0"/>
              <a:t>bit </a:t>
            </a:r>
            <a:r>
              <a:rPr lang="en-US" sz="2000" dirty="0" smtClean="0"/>
              <a:t>positions?</a:t>
            </a:r>
            <a:endParaRPr lang="en-US" sz="2000" dirty="0"/>
          </a:p>
        </p:txBody>
      </p:sp>
      <p:grpSp>
        <p:nvGrpSpPr>
          <p:cNvPr id="82" name="Group 81"/>
          <p:cNvGrpSpPr/>
          <p:nvPr/>
        </p:nvGrpSpPr>
        <p:grpSpPr>
          <a:xfrm>
            <a:off x="1200017" y="1643182"/>
            <a:ext cx="4648200" cy="1324962"/>
            <a:chOff x="6599862" y="3601821"/>
            <a:chExt cx="5035550" cy="1324962"/>
          </a:xfrm>
        </p:grpSpPr>
        <p:sp>
          <p:nvSpPr>
            <p:cNvPr id="8" name="AutoShape 5"/>
            <p:cNvSpPr>
              <a:spLocks noChangeAspect="1" noChangeArrowheads="1" noTextEdit="1"/>
            </p:cNvSpPr>
            <p:nvPr/>
          </p:nvSpPr>
          <p:spPr bwMode="auto">
            <a:xfrm>
              <a:off x="6599862" y="3601821"/>
              <a:ext cx="5035550" cy="132496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600"/>
            </a:p>
          </p:txBody>
        </p:sp>
        <p:grpSp>
          <p:nvGrpSpPr>
            <p:cNvPr id="9" name="Group 76"/>
            <p:cNvGrpSpPr>
              <a:grpSpLocks/>
            </p:cNvGrpSpPr>
            <p:nvPr/>
          </p:nvGrpSpPr>
          <p:grpSpPr bwMode="auto">
            <a:xfrm>
              <a:off x="7753843" y="3832367"/>
              <a:ext cx="2985558" cy="863600"/>
              <a:chOff x="2111" y="2342"/>
              <a:chExt cx="1736" cy="544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2111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2186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12" name="Rectangle 9"/>
              <p:cNvSpPr>
                <a:spLocks noChangeArrowheads="1"/>
              </p:cNvSpPr>
              <p:nvPr/>
            </p:nvSpPr>
            <p:spPr bwMode="auto">
              <a:xfrm>
                <a:off x="2328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3" name="Rectangle 10"/>
              <p:cNvSpPr>
                <a:spLocks noChangeArrowheads="1"/>
              </p:cNvSpPr>
              <p:nvPr/>
            </p:nvSpPr>
            <p:spPr bwMode="auto">
              <a:xfrm>
                <a:off x="2403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2545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5" name="Rectangle 12"/>
              <p:cNvSpPr>
                <a:spLocks noChangeArrowheads="1"/>
              </p:cNvSpPr>
              <p:nvPr/>
            </p:nvSpPr>
            <p:spPr bwMode="auto">
              <a:xfrm>
                <a:off x="2620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16" name="Rectangle 13"/>
              <p:cNvSpPr>
                <a:spLocks noChangeArrowheads="1"/>
              </p:cNvSpPr>
              <p:nvPr/>
            </p:nvSpPr>
            <p:spPr bwMode="auto">
              <a:xfrm>
                <a:off x="2762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" name="Rectangle 14"/>
              <p:cNvSpPr>
                <a:spLocks noChangeArrowheads="1"/>
              </p:cNvSpPr>
              <p:nvPr/>
            </p:nvSpPr>
            <p:spPr bwMode="auto">
              <a:xfrm>
                <a:off x="2837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18" name="Rectangle 15"/>
              <p:cNvSpPr>
                <a:spLocks noChangeArrowheads="1"/>
              </p:cNvSpPr>
              <p:nvPr/>
            </p:nvSpPr>
            <p:spPr bwMode="auto">
              <a:xfrm>
                <a:off x="2979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9" name="Rectangle 16"/>
              <p:cNvSpPr>
                <a:spLocks noChangeArrowheads="1"/>
              </p:cNvSpPr>
              <p:nvPr/>
            </p:nvSpPr>
            <p:spPr bwMode="auto">
              <a:xfrm>
                <a:off x="3054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/>
              </a:p>
            </p:txBody>
          </p:sp>
          <p:sp>
            <p:nvSpPr>
              <p:cNvPr id="20" name="Rectangle 17"/>
              <p:cNvSpPr>
                <a:spLocks noChangeArrowheads="1"/>
              </p:cNvSpPr>
              <p:nvPr/>
            </p:nvSpPr>
            <p:spPr bwMode="auto">
              <a:xfrm>
                <a:off x="3196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21" name="Rectangle 18"/>
              <p:cNvSpPr>
                <a:spLocks noChangeArrowheads="1"/>
              </p:cNvSpPr>
              <p:nvPr/>
            </p:nvSpPr>
            <p:spPr bwMode="auto">
              <a:xfrm>
                <a:off x="3271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22" name="Rectangle 19"/>
              <p:cNvSpPr>
                <a:spLocks noChangeArrowheads="1"/>
              </p:cNvSpPr>
              <p:nvPr/>
            </p:nvSpPr>
            <p:spPr bwMode="auto">
              <a:xfrm>
                <a:off x="3413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23" name="Rectangle 20"/>
              <p:cNvSpPr>
                <a:spLocks noChangeArrowheads="1"/>
              </p:cNvSpPr>
              <p:nvPr/>
            </p:nvSpPr>
            <p:spPr bwMode="auto">
              <a:xfrm>
                <a:off x="3488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 dirty="0"/>
              </a:p>
            </p:txBody>
          </p:sp>
          <p:sp>
            <p:nvSpPr>
              <p:cNvPr id="24" name="Rectangle 21"/>
              <p:cNvSpPr>
                <a:spLocks noChangeArrowheads="1"/>
              </p:cNvSpPr>
              <p:nvPr/>
            </p:nvSpPr>
            <p:spPr bwMode="auto">
              <a:xfrm>
                <a:off x="3630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25" name="Rectangle 22"/>
              <p:cNvSpPr>
                <a:spLocks noChangeArrowheads="1"/>
              </p:cNvSpPr>
              <p:nvPr/>
            </p:nvSpPr>
            <p:spPr bwMode="auto">
              <a:xfrm>
                <a:off x="3705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26" name="Rectangle 23"/>
              <p:cNvSpPr>
                <a:spLocks noChangeArrowheads="1"/>
              </p:cNvSpPr>
              <p:nvPr/>
            </p:nvSpPr>
            <p:spPr bwMode="auto">
              <a:xfrm>
                <a:off x="2111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27" name="Rectangle 24"/>
              <p:cNvSpPr>
                <a:spLocks noChangeArrowheads="1"/>
              </p:cNvSpPr>
              <p:nvPr/>
            </p:nvSpPr>
            <p:spPr bwMode="auto">
              <a:xfrm>
                <a:off x="2186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28" name="Rectangle 25"/>
              <p:cNvSpPr>
                <a:spLocks noChangeArrowheads="1"/>
              </p:cNvSpPr>
              <p:nvPr/>
            </p:nvSpPr>
            <p:spPr bwMode="auto">
              <a:xfrm>
                <a:off x="2328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29" name="Rectangle 26"/>
              <p:cNvSpPr>
                <a:spLocks noChangeArrowheads="1"/>
              </p:cNvSpPr>
              <p:nvPr/>
            </p:nvSpPr>
            <p:spPr bwMode="auto">
              <a:xfrm>
                <a:off x="2403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30" name="Rectangle 27"/>
              <p:cNvSpPr>
                <a:spLocks noChangeArrowheads="1"/>
              </p:cNvSpPr>
              <p:nvPr/>
            </p:nvSpPr>
            <p:spPr bwMode="auto">
              <a:xfrm>
                <a:off x="2545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1" name="Rectangle 28"/>
              <p:cNvSpPr>
                <a:spLocks noChangeArrowheads="1"/>
              </p:cNvSpPr>
              <p:nvPr/>
            </p:nvSpPr>
            <p:spPr bwMode="auto">
              <a:xfrm>
                <a:off x="2620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32" name="Rectangle 29"/>
              <p:cNvSpPr>
                <a:spLocks noChangeArrowheads="1"/>
              </p:cNvSpPr>
              <p:nvPr/>
            </p:nvSpPr>
            <p:spPr bwMode="auto">
              <a:xfrm>
                <a:off x="2762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3" name="Rectangle 30"/>
              <p:cNvSpPr>
                <a:spLocks noChangeArrowheads="1"/>
              </p:cNvSpPr>
              <p:nvPr/>
            </p:nvSpPr>
            <p:spPr bwMode="auto">
              <a:xfrm>
                <a:off x="2837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34" name="Rectangle 31"/>
              <p:cNvSpPr>
                <a:spLocks noChangeArrowheads="1"/>
              </p:cNvSpPr>
              <p:nvPr/>
            </p:nvSpPr>
            <p:spPr bwMode="auto">
              <a:xfrm>
                <a:off x="2979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5" name="Rectangle 32"/>
              <p:cNvSpPr>
                <a:spLocks noChangeArrowheads="1"/>
              </p:cNvSpPr>
              <p:nvPr/>
            </p:nvSpPr>
            <p:spPr bwMode="auto">
              <a:xfrm>
                <a:off x="3054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36" name="Rectangle 33"/>
              <p:cNvSpPr>
                <a:spLocks noChangeArrowheads="1"/>
              </p:cNvSpPr>
              <p:nvPr/>
            </p:nvSpPr>
            <p:spPr bwMode="auto">
              <a:xfrm>
                <a:off x="3196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7" name="Rectangle 34"/>
              <p:cNvSpPr>
                <a:spLocks noChangeArrowheads="1"/>
              </p:cNvSpPr>
              <p:nvPr/>
            </p:nvSpPr>
            <p:spPr bwMode="auto">
              <a:xfrm>
                <a:off x="3271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/>
              </a:p>
            </p:txBody>
          </p:sp>
          <p:sp>
            <p:nvSpPr>
              <p:cNvPr id="38" name="Rectangle 35"/>
              <p:cNvSpPr>
                <a:spLocks noChangeArrowheads="1"/>
              </p:cNvSpPr>
              <p:nvPr/>
            </p:nvSpPr>
            <p:spPr bwMode="auto">
              <a:xfrm>
                <a:off x="3413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9" name="Rectangle 36"/>
              <p:cNvSpPr>
                <a:spLocks noChangeArrowheads="1"/>
              </p:cNvSpPr>
              <p:nvPr/>
            </p:nvSpPr>
            <p:spPr bwMode="auto">
              <a:xfrm>
                <a:off x="3488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40" name="Rectangle 37"/>
              <p:cNvSpPr>
                <a:spLocks noChangeArrowheads="1"/>
              </p:cNvSpPr>
              <p:nvPr/>
            </p:nvSpPr>
            <p:spPr bwMode="auto">
              <a:xfrm>
                <a:off x="3630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41" name="Rectangle 38"/>
              <p:cNvSpPr>
                <a:spLocks noChangeArrowheads="1"/>
              </p:cNvSpPr>
              <p:nvPr/>
            </p:nvSpPr>
            <p:spPr bwMode="auto">
              <a:xfrm>
                <a:off x="3705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 dirty="0"/>
              </a:p>
            </p:txBody>
          </p:sp>
        </p:grpSp>
        <p:sp>
          <p:nvSpPr>
            <p:cNvPr id="44" name="Rectangle 58"/>
            <p:cNvSpPr>
              <a:spLocks noChangeArrowheads="1"/>
            </p:cNvSpPr>
            <p:nvPr/>
          </p:nvSpPr>
          <p:spPr bwMode="auto">
            <a:xfrm>
              <a:off x="10828914" y="3875232"/>
              <a:ext cx="27438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600" dirty="0" smtClean="0">
                  <a:solidFill>
                    <a:srgbClr val="000000"/>
                  </a:solidFill>
                </a:rPr>
                <a:t>= 5</a:t>
              </a:r>
              <a:endParaRPr lang="en-US" altLang="en-US" sz="1600" dirty="0"/>
            </a:p>
          </p:txBody>
        </p:sp>
        <p:sp>
          <p:nvSpPr>
            <p:cNvPr id="79" name="Rectangle 58"/>
            <p:cNvSpPr>
              <a:spLocks noChangeArrowheads="1"/>
            </p:cNvSpPr>
            <p:nvPr/>
          </p:nvSpPr>
          <p:spPr bwMode="auto">
            <a:xfrm>
              <a:off x="7026852" y="3889856"/>
              <a:ext cx="59828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600" dirty="0" smtClean="0">
                  <a:solidFill>
                    <a:srgbClr val="000000"/>
                  </a:solidFill>
                </a:rPr>
                <a:t>Before</a:t>
              </a:r>
              <a:endParaRPr lang="en-US" altLang="en-US" sz="1600" dirty="0"/>
            </a:p>
          </p:txBody>
        </p:sp>
        <p:sp>
          <p:nvSpPr>
            <p:cNvPr id="80" name="Rectangle 58"/>
            <p:cNvSpPr>
              <a:spLocks noChangeArrowheads="1"/>
            </p:cNvSpPr>
            <p:nvPr/>
          </p:nvSpPr>
          <p:spPr bwMode="auto">
            <a:xfrm>
              <a:off x="7026852" y="4361748"/>
              <a:ext cx="45783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600" dirty="0" smtClean="0">
                  <a:solidFill>
                    <a:srgbClr val="000000"/>
                  </a:solidFill>
                </a:rPr>
                <a:t>After</a:t>
              </a:r>
              <a:endParaRPr lang="en-US" altLang="en-US" sz="1600" dirty="0"/>
            </a:p>
          </p:txBody>
        </p:sp>
        <p:sp>
          <p:nvSpPr>
            <p:cNvPr id="81" name="Rectangle 58"/>
            <p:cNvSpPr>
              <a:spLocks noChangeArrowheads="1"/>
            </p:cNvSpPr>
            <p:nvPr/>
          </p:nvSpPr>
          <p:spPr bwMode="auto">
            <a:xfrm>
              <a:off x="10828914" y="4361748"/>
              <a:ext cx="518463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en-US" sz="1600" dirty="0" smtClean="0">
                  <a:solidFill>
                    <a:srgbClr val="000000"/>
                  </a:solidFill>
                </a:rPr>
                <a:t>= 10</a:t>
              </a:r>
              <a:endParaRPr lang="en-US" altLang="en-US" sz="1600" dirty="0"/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1200017" y="3832248"/>
            <a:ext cx="4648200" cy="1324962"/>
            <a:chOff x="6599862" y="3601821"/>
            <a:chExt cx="5035550" cy="1324962"/>
          </a:xfrm>
        </p:grpSpPr>
        <p:sp>
          <p:nvSpPr>
            <p:cNvPr id="84" name="AutoShape 5"/>
            <p:cNvSpPr>
              <a:spLocks noChangeAspect="1" noChangeArrowheads="1" noTextEdit="1"/>
            </p:cNvSpPr>
            <p:nvPr/>
          </p:nvSpPr>
          <p:spPr bwMode="auto">
            <a:xfrm>
              <a:off x="6599862" y="3601821"/>
              <a:ext cx="5035550" cy="132496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600"/>
            </a:p>
          </p:txBody>
        </p:sp>
        <p:grpSp>
          <p:nvGrpSpPr>
            <p:cNvPr id="85" name="Group 76"/>
            <p:cNvGrpSpPr>
              <a:grpSpLocks/>
            </p:cNvGrpSpPr>
            <p:nvPr/>
          </p:nvGrpSpPr>
          <p:grpSpPr bwMode="auto">
            <a:xfrm>
              <a:off x="7753843" y="3832367"/>
              <a:ext cx="2985558" cy="863600"/>
              <a:chOff x="2111" y="2342"/>
              <a:chExt cx="1736" cy="544"/>
            </a:xfrm>
          </p:grpSpPr>
          <p:sp>
            <p:nvSpPr>
              <p:cNvPr id="90" name="Rectangle 7"/>
              <p:cNvSpPr>
                <a:spLocks noChangeArrowheads="1"/>
              </p:cNvSpPr>
              <p:nvPr/>
            </p:nvSpPr>
            <p:spPr bwMode="auto">
              <a:xfrm>
                <a:off x="2111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91" name="Rectangle 8"/>
              <p:cNvSpPr>
                <a:spLocks noChangeArrowheads="1"/>
              </p:cNvSpPr>
              <p:nvPr/>
            </p:nvSpPr>
            <p:spPr bwMode="auto">
              <a:xfrm>
                <a:off x="2186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92" name="Rectangle 9"/>
              <p:cNvSpPr>
                <a:spLocks noChangeArrowheads="1"/>
              </p:cNvSpPr>
              <p:nvPr/>
            </p:nvSpPr>
            <p:spPr bwMode="auto">
              <a:xfrm>
                <a:off x="2328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93" name="Rectangle 10"/>
              <p:cNvSpPr>
                <a:spLocks noChangeArrowheads="1"/>
              </p:cNvSpPr>
              <p:nvPr/>
            </p:nvSpPr>
            <p:spPr bwMode="auto">
              <a:xfrm>
                <a:off x="2403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94" name="Rectangle 11"/>
              <p:cNvSpPr>
                <a:spLocks noChangeArrowheads="1"/>
              </p:cNvSpPr>
              <p:nvPr/>
            </p:nvSpPr>
            <p:spPr bwMode="auto">
              <a:xfrm>
                <a:off x="2545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95" name="Rectangle 12"/>
              <p:cNvSpPr>
                <a:spLocks noChangeArrowheads="1"/>
              </p:cNvSpPr>
              <p:nvPr/>
            </p:nvSpPr>
            <p:spPr bwMode="auto">
              <a:xfrm>
                <a:off x="2620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96" name="Rectangle 13"/>
              <p:cNvSpPr>
                <a:spLocks noChangeArrowheads="1"/>
              </p:cNvSpPr>
              <p:nvPr/>
            </p:nvSpPr>
            <p:spPr bwMode="auto">
              <a:xfrm>
                <a:off x="2762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97" name="Rectangle 14"/>
              <p:cNvSpPr>
                <a:spLocks noChangeArrowheads="1"/>
              </p:cNvSpPr>
              <p:nvPr/>
            </p:nvSpPr>
            <p:spPr bwMode="auto">
              <a:xfrm>
                <a:off x="2837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 dirty="0"/>
              </a:p>
            </p:txBody>
          </p:sp>
          <p:sp>
            <p:nvSpPr>
              <p:cNvPr id="98" name="Rectangle 15"/>
              <p:cNvSpPr>
                <a:spLocks noChangeArrowheads="1"/>
              </p:cNvSpPr>
              <p:nvPr/>
            </p:nvSpPr>
            <p:spPr bwMode="auto">
              <a:xfrm>
                <a:off x="2979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99" name="Rectangle 16"/>
              <p:cNvSpPr>
                <a:spLocks noChangeArrowheads="1"/>
              </p:cNvSpPr>
              <p:nvPr/>
            </p:nvSpPr>
            <p:spPr bwMode="auto">
              <a:xfrm>
                <a:off x="3054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100" name="Rectangle 17"/>
              <p:cNvSpPr>
                <a:spLocks noChangeArrowheads="1"/>
              </p:cNvSpPr>
              <p:nvPr/>
            </p:nvSpPr>
            <p:spPr bwMode="auto">
              <a:xfrm>
                <a:off x="3196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01" name="Rectangle 18"/>
              <p:cNvSpPr>
                <a:spLocks noChangeArrowheads="1"/>
              </p:cNvSpPr>
              <p:nvPr/>
            </p:nvSpPr>
            <p:spPr bwMode="auto">
              <a:xfrm>
                <a:off x="3271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 dirty="0"/>
              </a:p>
            </p:txBody>
          </p:sp>
          <p:sp>
            <p:nvSpPr>
              <p:cNvPr id="102" name="Rectangle 19"/>
              <p:cNvSpPr>
                <a:spLocks noChangeArrowheads="1"/>
              </p:cNvSpPr>
              <p:nvPr/>
            </p:nvSpPr>
            <p:spPr bwMode="auto">
              <a:xfrm>
                <a:off x="3413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03" name="Rectangle 20"/>
              <p:cNvSpPr>
                <a:spLocks noChangeArrowheads="1"/>
              </p:cNvSpPr>
              <p:nvPr/>
            </p:nvSpPr>
            <p:spPr bwMode="auto">
              <a:xfrm>
                <a:off x="3488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104" name="Rectangle 21"/>
              <p:cNvSpPr>
                <a:spLocks noChangeArrowheads="1"/>
              </p:cNvSpPr>
              <p:nvPr/>
            </p:nvSpPr>
            <p:spPr bwMode="auto">
              <a:xfrm>
                <a:off x="3630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05" name="Rectangle 22"/>
              <p:cNvSpPr>
                <a:spLocks noChangeArrowheads="1"/>
              </p:cNvSpPr>
              <p:nvPr/>
            </p:nvSpPr>
            <p:spPr bwMode="auto">
              <a:xfrm>
                <a:off x="3705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106" name="Rectangle 23"/>
              <p:cNvSpPr>
                <a:spLocks noChangeArrowheads="1"/>
              </p:cNvSpPr>
              <p:nvPr/>
            </p:nvSpPr>
            <p:spPr bwMode="auto">
              <a:xfrm>
                <a:off x="2111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07" name="Rectangle 24"/>
              <p:cNvSpPr>
                <a:spLocks noChangeArrowheads="1"/>
              </p:cNvSpPr>
              <p:nvPr/>
            </p:nvSpPr>
            <p:spPr bwMode="auto">
              <a:xfrm>
                <a:off x="2186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108" name="Rectangle 25"/>
              <p:cNvSpPr>
                <a:spLocks noChangeArrowheads="1"/>
              </p:cNvSpPr>
              <p:nvPr/>
            </p:nvSpPr>
            <p:spPr bwMode="auto">
              <a:xfrm>
                <a:off x="2328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09" name="Rectangle 26"/>
              <p:cNvSpPr>
                <a:spLocks noChangeArrowheads="1"/>
              </p:cNvSpPr>
              <p:nvPr/>
            </p:nvSpPr>
            <p:spPr bwMode="auto">
              <a:xfrm>
                <a:off x="2403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110" name="Rectangle 27"/>
              <p:cNvSpPr>
                <a:spLocks noChangeArrowheads="1"/>
              </p:cNvSpPr>
              <p:nvPr/>
            </p:nvSpPr>
            <p:spPr bwMode="auto">
              <a:xfrm>
                <a:off x="2545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11" name="Rectangle 28"/>
              <p:cNvSpPr>
                <a:spLocks noChangeArrowheads="1"/>
              </p:cNvSpPr>
              <p:nvPr/>
            </p:nvSpPr>
            <p:spPr bwMode="auto">
              <a:xfrm>
                <a:off x="2620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112" name="Rectangle 29"/>
              <p:cNvSpPr>
                <a:spLocks noChangeArrowheads="1"/>
              </p:cNvSpPr>
              <p:nvPr/>
            </p:nvSpPr>
            <p:spPr bwMode="auto">
              <a:xfrm>
                <a:off x="2762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13" name="Rectangle 30"/>
              <p:cNvSpPr>
                <a:spLocks noChangeArrowheads="1"/>
              </p:cNvSpPr>
              <p:nvPr/>
            </p:nvSpPr>
            <p:spPr bwMode="auto">
              <a:xfrm>
                <a:off x="2837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114" name="Rectangle 31"/>
              <p:cNvSpPr>
                <a:spLocks noChangeArrowheads="1"/>
              </p:cNvSpPr>
              <p:nvPr/>
            </p:nvSpPr>
            <p:spPr bwMode="auto">
              <a:xfrm>
                <a:off x="2979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15" name="Rectangle 32"/>
              <p:cNvSpPr>
                <a:spLocks noChangeArrowheads="1"/>
              </p:cNvSpPr>
              <p:nvPr/>
            </p:nvSpPr>
            <p:spPr bwMode="auto">
              <a:xfrm>
                <a:off x="3054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116" name="Rectangle 33"/>
              <p:cNvSpPr>
                <a:spLocks noChangeArrowheads="1"/>
              </p:cNvSpPr>
              <p:nvPr/>
            </p:nvSpPr>
            <p:spPr bwMode="auto">
              <a:xfrm>
                <a:off x="3196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17" name="Rectangle 34"/>
              <p:cNvSpPr>
                <a:spLocks noChangeArrowheads="1"/>
              </p:cNvSpPr>
              <p:nvPr/>
            </p:nvSpPr>
            <p:spPr bwMode="auto">
              <a:xfrm>
                <a:off x="3271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/>
              </a:p>
            </p:txBody>
          </p:sp>
          <p:sp>
            <p:nvSpPr>
              <p:cNvPr id="118" name="Rectangle 35"/>
              <p:cNvSpPr>
                <a:spLocks noChangeArrowheads="1"/>
              </p:cNvSpPr>
              <p:nvPr/>
            </p:nvSpPr>
            <p:spPr bwMode="auto">
              <a:xfrm>
                <a:off x="3413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19" name="Rectangle 36"/>
              <p:cNvSpPr>
                <a:spLocks noChangeArrowheads="1"/>
              </p:cNvSpPr>
              <p:nvPr/>
            </p:nvSpPr>
            <p:spPr bwMode="auto">
              <a:xfrm>
                <a:off x="3488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120" name="Rectangle 37"/>
              <p:cNvSpPr>
                <a:spLocks noChangeArrowheads="1"/>
              </p:cNvSpPr>
              <p:nvPr/>
            </p:nvSpPr>
            <p:spPr bwMode="auto">
              <a:xfrm>
                <a:off x="3630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21" name="Rectangle 38"/>
              <p:cNvSpPr>
                <a:spLocks noChangeArrowheads="1"/>
              </p:cNvSpPr>
              <p:nvPr/>
            </p:nvSpPr>
            <p:spPr bwMode="auto">
              <a:xfrm>
                <a:off x="3705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 dirty="0"/>
              </a:p>
            </p:txBody>
          </p:sp>
        </p:grpSp>
        <p:sp>
          <p:nvSpPr>
            <p:cNvPr id="86" name="Rectangle 58"/>
            <p:cNvSpPr>
              <a:spLocks noChangeArrowheads="1"/>
            </p:cNvSpPr>
            <p:nvPr/>
          </p:nvSpPr>
          <p:spPr bwMode="auto">
            <a:xfrm>
              <a:off x="10828914" y="3875232"/>
              <a:ext cx="27438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600" dirty="0" smtClean="0">
                  <a:solidFill>
                    <a:srgbClr val="000000"/>
                  </a:solidFill>
                </a:rPr>
                <a:t>= 5</a:t>
              </a:r>
              <a:endParaRPr lang="en-US" altLang="en-US" sz="1600" dirty="0"/>
            </a:p>
          </p:txBody>
        </p:sp>
        <p:sp>
          <p:nvSpPr>
            <p:cNvPr id="87" name="Rectangle 58"/>
            <p:cNvSpPr>
              <a:spLocks noChangeArrowheads="1"/>
            </p:cNvSpPr>
            <p:nvPr/>
          </p:nvSpPr>
          <p:spPr bwMode="auto">
            <a:xfrm>
              <a:off x="7026852" y="3889856"/>
              <a:ext cx="59828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600" dirty="0" smtClean="0">
                  <a:solidFill>
                    <a:srgbClr val="000000"/>
                  </a:solidFill>
                </a:rPr>
                <a:t>Before</a:t>
              </a:r>
              <a:endParaRPr lang="en-US" altLang="en-US" sz="1600" dirty="0"/>
            </a:p>
          </p:txBody>
        </p:sp>
        <p:sp>
          <p:nvSpPr>
            <p:cNvPr id="88" name="Rectangle 58"/>
            <p:cNvSpPr>
              <a:spLocks noChangeArrowheads="1"/>
            </p:cNvSpPr>
            <p:nvPr/>
          </p:nvSpPr>
          <p:spPr bwMode="auto">
            <a:xfrm>
              <a:off x="7026852" y="4361748"/>
              <a:ext cx="45783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600" dirty="0" smtClean="0">
                  <a:solidFill>
                    <a:srgbClr val="000000"/>
                  </a:solidFill>
                </a:rPr>
                <a:t>After</a:t>
              </a:r>
              <a:endParaRPr lang="en-US" altLang="en-US" sz="1600" dirty="0"/>
            </a:p>
          </p:txBody>
        </p:sp>
        <p:sp>
          <p:nvSpPr>
            <p:cNvPr id="89" name="Rectangle 58"/>
            <p:cNvSpPr>
              <a:spLocks noChangeArrowheads="1"/>
            </p:cNvSpPr>
            <p:nvPr/>
          </p:nvSpPr>
          <p:spPr bwMode="auto">
            <a:xfrm>
              <a:off x="10828914" y="4361748"/>
              <a:ext cx="518463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en-US" sz="1600" dirty="0" smtClean="0">
                  <a:solidFill>
                    <a:srgbClr val="000000"/>
                  </a:solidFill>
                </a:rPr>
                <a:t>= </a:t>
              </a:r>
              <a:r>
                <a:rPr lang="en-US" altLang="en-US" sz="1600" dirty="0">
                  <a:solidFill>
                    <a:srgbClr val="000000"/>
                  </a:solidFill>
                </a:rPr>
                <a:t>2</a:t>
              </a:r>
              <a:r>
                <a:rPr lang="en-US" altLang="en-US" sz="16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dirty="0"/>
            </a:p>
          </p:txBody>
        </p:sp>
      </p:grpSp>
      <p:sp>
        <p:nvSpPr>
          <p:cNvPr id="122" name="Content Placeholder 2"/>
          <p:cNvSpPr txBox="1">
            <a:spLocks/>
          </p:cNvSpPr>
          <p:nvPr/>
        </p:nvSpPr>
        <p:spPr bwMode="auto">
          <a:xfrm>
            <a:off x="317945" y="5387638"/>
            <a:ext cx="8667638" cy="1152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sz="2000" kern="0" dirty="0" smtClean="0"/>
              <a:t>Shifting the Bits to the Left by </a:t>
            </a:r>
            <a:r>
              <a:rPr lang="en-US" sz="2000" i="1" kern="0" dirty="0" smtClean="0"/>
              <a:t>n</a:t>
            </a:r>
            <a:r>
              <a:rPr lang="en-US" sz="2000" kern="0" dirty="0" smtClean="0"/>
              <a:t> bit positions is multiplication by 2</a:t>
            </a:r>
            <a:r>
              <a:rPr lang="en-US" sz="2000" i="1" kern="0" baseline="30000" dirty="0" smtClean="0"/>
              <a:t>n</a:t>
            </a:r>
            <a:endParaRPr lang="en-US" sz="2000" i="1" kern="0" dirty="0" smtClean="0"/>
          </a:p>
          <a:p>
            <a:r>
              <a:rPr lang="en-US" sz="2000" kern="0" dirty="0" smtClean="0"/>
              <a:t>As long as we have sufficient space to store the bits</a:t>
            </a:r>
            <a:endParaRPr lang="en-US" sz="2000" kern="0" dirty="0"/>
          </a:p>
        </p:txBody>
      </p:sp>
      <p:sp>
        <p:nvSpPr>
          <p:cNvPr id="123" name="TextBox 122"/>
          <p:cNvSpPr txBox="1"/>
          <p:nvPr/>
        </p:nvSpPr>
        <p:spPr>
          <a:xfrm>
            <a:off x="6136489" y="1700791"/>
            <a:ext cx="1679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smtClean="0">
                <a:solidFill>
                  <a:srgbClr val="FF0000"/>
                </a:solidFill>
              </a:rPr>
              <a:t>Multiplication</a:t>
            </a:r>
          </a:p>
          <a:p>
            <a:pPr algn="ctr">
              <a:lnSpc>
                <a:spcPct val="150000"/>
              </a:lnSpc>
            </a:pPr>
            <a:r>
              <a:rPr lang="en-US" sz="2000" b="1" dirty="0" smtClean="0">
                <a:solidFill>
                  <a:srgbClr val="FF0000"/>
                </a:solidFill>
              </a:rPr>
              <a:t>By 2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136489" y="3889857"/>
            <a:ext cx="1679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smtClean="0">
                <a:solidFill>
                  <a:srgbClr val="FF0000"/>
                </a:solidFill>
              </a:rPr>
              <a:t>Multiplication</a:t>
            </a:r>
          </a:p>
          <a:p>
            <a:pPr algn="ctr">
              <a:lnSpc>
                <a:spcPct val="150000"/>
              </a:lnSpc>
            </a:pPr>
            <a:r>
              <a:rPr lang="en-US" sz="2000" b="1" dirty="0" smtClean="0">
                <a:solidFill>
                  <a:srgbClr val="FF0000"/>
                </a:solidFill>
              </a:rPr>
              <a:t>By 4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698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3" grpId="0"/>
      <p:bldP spid="1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Shifting the Bits to the Right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5" y="1009505"/>
            <a:ext cx="8667638" cy="518464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What happens if the bits are shifted to the right by 1 bit position?</a:t>
            </a:r>
            <a:endParaRPr lang="en-US" sz="2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317945" y="3140964"/>
            <a:ext cx="8667638" cy="518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sz="2000" dirty="0"/>
              <a:t>What happens if the bits are shifted to the </a:t>
            </a:r>
            <a:r>
              <a:rPr lang="en-US" sz="2000" dirty="0" smtClean="0"/>
              <a:t>right by 2 </a:t>
            </a:r>
            <a:r>
              <a:rPr lang="en-US" sz="2000" dirty="0"/>
              <a:t>bit </a:t>
            </a:r>
            <a:r>
              <a:rPr lang="en-US" sz="2000" dirty="0" smtClean="0"/>
              <a:t>positions?</a:t>
            </a:r>
            <a:endParaRPr lang="en-US" sz="2000" dirty="0"/>
          </a:p>
        </p:txBody>
      </p:sp>
      <p:grpSp>
        <p:nvGrpSpPr>
          <p:cNvPr id="82" name="Group 81"/>
          <p:cNvGrpSpPr/>
          <p:nvPr/>
        </p:nvGrpSpPr>
        <p:grpSpPr>
          <a:xfrm>
            <a:off x="1200016" y="1643182"/>
            <a:ext cx="4914078" cy="1324962"/>
            <a:chOff x="6599861" y="3601821"/>
            <a:chExt cx="5323585" cy="1324962"/>
          </a:xfrm>
        </p:grpSpPr>
        <p:sp>
          <p:nvSpPr>
            <p:cNvPr id="8" name="AutoShape 5"/>
            <p:cNvSpPr>
              <a:spLocks noChangeAspect="1" noChangeArrowheads="1" noTextEdit="1"/>
            </p:cNvSpPr>
            <p:nvPr/>
          </p:nvSpPr>
          <p:spPr bwMode="auto">
            <a:xfrm>
              <a:off x="6599861" y="3601821"/>
              <a:ext cx="5323585" cy="132496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600"/>
            </a:p>
          </p:txBody>
        </p:sp>
        <p:grpSp>
          <p:nvGrpSpPr>
            <p:cNvPr id="9" name="Group 76"/>
            <p:cNvGrpSpPr>
              <a:grpSpLocks/>
            </p:cNvGrpSpPr>
            <p:nvPr/>
          </p:nvGrpSpPr>
          <p:grpSpPr bwMode="auto">
            <a:xfrm>
              <a:off x="7753843" y="3832367"/>
              <a:ext cx="2985558" cy="863600"/>
              <a:chOff x="2111" y="2342"/>
              <a:chExt cx="1736" cy="544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2111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2186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12" name="Rectangle 9"/>
              <p:cNvSpPr>
                <a:spLocks noChangeArrowheads="1"/>
              </p:cNvSpPr>
              <p:nvPr/>
            </p:nvSpPr>
            <p:spPr bwMode="auto">
              <a:xfrm>
                <a:off x="2328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3" name="Rectangle 10"/>
              <p:cNvSpPr>
                <a:spLocks noChangeArrowheads="1"/>
              </p:cNvSpPr>
              <p:nvPr/>
            </p:nvSpPr>
            <p:spPr bwMode="auto">
              <a:xfrm>
                <a:off x="2403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2545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5" name="Rectangle 12"/>
              <p:cNvSpPr>
                <a:spLocks noChangeArrowheads="1"/>
              </p:cNvSpPr>
              <p:nvPr/>
            </p:nvSpPr>
            <p:spPr bwMode="auto">
              <a:xfrm>
                <a:off x="2620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16" name="Rectangle 13"/>
              <p:cNvSpPr>
                <a:spLocks noChangeArrowheads="1"/>
              </p:cNvSpPr>
              <p:nvPr/>
            </p:nvSpPr>
            <p:spPr bwMode="auto">
              <a:xfrm>
                <a:off x="2762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" name="Rectangle 14"/>
              <p:cNvSpPr>
                <a:spLocks noChangeArrowheads="1"/>
              </p:cNvSpPr>
              <p:nvPr/>
            </p:nvSpPr>
            <p:spPr bwMode="auto">
              <a:xfrm>
                <a:off x="2837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 dirty="0"/>
              </a:p>
            </p:txBody>
          </p:sp>
          <p:sp>
            <p:nvSpPr>
              <p:cNvPr id="18" name="Rectangle 15"/>
              <p:cNvSpPr>
                <a:spLocks noChangeArrowheads="1"/>
              </p:cNvSpPr>
              <p:nvPr/>
            </p:nvSpPr>
            <p:spPr bwMode="auto">
              <a:xfrm>
                <a:off x="2979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9" name="Rectangle 16"/>
              <p:cNvSpPr>
                <a:spLocks noChangeArrowheads="1"/>
              </p:cNvSpPr>
              <p:nvPr/>
            </p:nvSpPr>
            <p:spPr bwMode="auto">
              <a:xfrm>
                <a:off x="3054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20" name="Rectangle 17"/>
              <p:cNvSpPr>
                <a:spLocks noChangeArrowheads="1"/>
              </p:cNvSpPr>
              <p:nvPr/>
            </p:nvSpPr>
            <p:spPr bwMode="auto">
              <a:xfrm>
                <a:off x="3196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21" name="Rectangle 18"/>
              <p:cNvSpPr>
                <a:spLocks noChangeArrowheads="1"/>
              </p:cNvSpPr>
              <p:nvPr/>
            </p:nvSpPr>
            <p:spPr bwMode="auto">
              <a:xfrm>
                <a:off x="3271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22" name="Rectangle 19"/>
              <p:cNvSpPr>
                <a:spLocks noChangeArrowheads="1"/>
              </p:cNvSpPr>
              <p:nvPr/>
            </p:nvSpPr>
            <p:spPr bwMode="auto">
              <a:xfrm>
                <a:off x="3413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23" name="Rectangle 20"/>
              <p:cNvSpPr>
                <a:spLocks noChangeArrowheads="1"/>
              </p:cNvSpPr>
              <p:nvPr/>
            </p:nvSpPr>
            <p:spPr bwMode="auto">
              <a:xfrm>
                <a:off x="3488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 dirty="0"/>
              </a:p>
            </p:txBody>
          </p:sp>
          <p:sp>
            <p:nvSpPr>
              <p:cNvPr id="24" name="Rectangle 21"/>
              <p:cNvSpPr>
                <a:spLocks noChangeArrowheads="1"/>
              </p:cNvSpPr>
              <p:nvPr/>
            </p:nvSpPr>
            <p:spPr bwMode="auto">
              <a:xfrm>
                <a:off x="3630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25" name="Rectangle 22"/>
              <p:cNvSpPr>
                <a:spLocks noChangeArrowheads="1"/>
              </p:cNvSpPr>
              <p:nvPr/>
            </p:nvSpPr>
            <p:spPr bwMode="auto">
              <a:xfrm>
                <a:off x="3705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 dirty="0"/>
              </a:p>
            </p:txBody>
          </p:sp>
          <p:sp>
            <p:nvSpPr>
              <p:cNvPr id="26" name="Rectangle 23"/>
              <p:cNvSpPr>
                <a:spLocks noChangeArrowheads="1"/>
              </p:cNvSpPr>
              <p:nvPr/>
            </p:nvSpPr>
            <p:spPr bwMode="auto">
              <a:xfrm>
                <a:off x="2111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27" name="Rectangle 24"/>
              <p:cNvSpPr>
                <a:spLocks noChangeArrowheads="1"/>
              </p:cNvSpPr>
              <p:nvPr/>
            </p:nvSpPr>
            <p:spPr bwMode="auto">
              <a:xfrm>
                <a:off x="2186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28" name="Rectangle 25"/>
              <p:cNvSpPr>
                <a:spLocks noChangeArrowheads="1"/>
              </p:cNvSpPr>
              <p:nvPr/>
            </p:nvSpPr>
            <p:spPr bwMode="auto">
              <a:xfrm>
                <a:off x="2328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29" name="Rectangle 26"/>
              <p:cNvSpPr>
                <a:spLocks noChangeArrowheads="1"/>
              </p:cNvSpPr>
              <p:nvPr/>
            </p:nvSpPr>
            <p:spPr bwMode="auto">
              <a:xfrm>
                <a:off x="2403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30" name="Rectangle 27"/>
              <p:cNvSpPr>
                <a:spLocks noChangeArrowheads="1"/>
              </p:cNvSpPr>
              <p:nvPr/>
            </p:nvSpPr>
            <p:spPr bwMode="auto">
              <a:xfrm>
                <a:off x="2545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1" name="Rectangle 28"/>
              <p:cNvSpPr>
                <a:spLocks noChangeArrowheads="1"/>
              </p:cNvSpPr>
              <p:nvPr/>
            </p:nvSpPr>
            <p:spPr bwMode="auto">
              <a:xfrm>
                <a:off x="2620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 dirty="0"/>
              </a:p>
            </p:txBody>
          </p:sp>
          <p:sp>
            <p:nvSpPr>
              <p:cNvPr id="32" name="Rectangle 29"/>
              <p:cNvSpPr>
                <a:spLocks noChangeArrowheads="1"/>
              </p:cNvSpPr>
              <p:nvPr/>
            </p:nvSpPr>
            <p:spPr bwMode="auto">
              <a:xfrm>
                <a:off x="2762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3" name="Rectangle 30"/>
              <p:cNvSpPr>
                <a:spLocks noChangeArrowheads="1"/>
              </p:cNvSpPr>
              <p:nvPr/>
            </p:nvSpPr>
            <p:spPr bwMode="auto">
              <a:xfrm>
                <a:off x="2837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34" name="Rectangle 31"/>
              <p:cNvSpPr>
                <a:spLocks noChangeArrowheads="1"/>
              </p:cNvSpPr>
              <p:nvPr/>
            </p:nvSpPr>
            <p:spPr bwMode="auto">
              <a:xfrm>
                <a:off x="2979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5" name="Rectangle 32"/>
              <p:cNvSpPr>
                <a:spLocks noChangeArrowheads="1"/>
              </p:cNvSpPr>
              <p:nvPr/>
            </p:nvSpPr>
            <p:spPr bwMode="auto">
              <a:xfrm>
                <a:off x="3054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36" name="Rectangle 33"/>
              <p:cNvSpPr>
                <a:spLocks noChangeArrowheads="1"/>
              </p:cNvSpPr>
              <p:nvPr/>
            </p:nvSpPr>
            <p:spPr bwMode="auto">
              <a:xfrm>
                <a:off x="3196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7" name="Rectangle 34"/>
              <p:cNvSpPr>
                <a:spLocks noChangeArrowheads="1"/>
              </p:cNvSpPr>
              <p:nvPr/>
            </p:nvSpPr>
            <p:spPr bwMode="auto">
              <a:xfrm>
                <a:off x="3271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/>
              </a:p>
            </p:txBody>
          </p:sp>
          <p:sp>
            <p:nvSpPr>
              <p:cNvPr id="38" name="Rectangle 35"/>
              <p:cNvSpPr>
                <a:spLocks noChangeArrowheads="1"/>
              </p:cNvSpPr>
              <p:nvPr/>
            </p:nvSpPr>
            <p:spPr bwMode="auto">
              <a:xfrm>
                <a:off x="3413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9" name="Rectangle 36"/>
              <p:cNvSpPr>
                <a:spLocks noChangeArrowheads="1"/>
              </p:cNvSpPr>
              <p:nvPr/>
            </p:nvSpPr>
            <p:spPr bwMode="auto">
              <a:xfrm>
                <a:off x="3488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 dirty="0"/>
              </a:p>
            </p:txBody>
          </p:sp>
          <p:sp>
            <p:nvSpPr>
              <p:cNvPr id="40" name="Rectangle 37"/>
              <p:cNvSpPr>
                <a:spLocks noChangeArrowheads="1"/>
              </p:cNvSpPr>
              <p:nvPr/>
            </p:nvSpPr>
            <p:spPr bwMode="auto">
              <a:xfrm>
                <a:off x="3630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41" name="Rectangle 38"/>
              <p:cNvSpPr>
                <a:spLocks noChangeArrowheads="1"/>
              </p:cNvSpPr>
              <p:nvPr/>
            </p:nvSpPr>
            <p:spPr bwMode="auto">
              <a:xfrm>
                <a:off x="3705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b="1" dirty="0">
                    <a:solidFill>
                      <a:srgbClr val="000099"/>
                    </a:solidFill>
                    <a:latin typeface="Helvetica" pitchFamily="34" charset="0"/>
                  </a:rPr>
                  <a:t>0</a:t>
                </a:r>
                <a:endParaRPr lang="en-US" altLang="en-US" sz="1600" b="1" dirty="0">
                  <a:solidFill>
                    <a:srgbClr val="000099"/>
                  </a:solidFill>
                </a:endParaRPr>
              </a:p>
            </p:txBody>
          </p:sp>
        </p:grpSp>
        <p:sp>
          <p:nvSpPr>
            <p:cNvPr id="44" name="Rectangle 58"/>
            <p:cNvSpPr>
              <a:spLocks noChangeArrowheads="1"/>
            </p:cNvSpPr>
            <p:nvPr/>
          </p:nvSpPr>
          <p:spPr bwMode="auto">
            <a:xfrm>
              <a:off x="10828914" y="3875232"/>
              <a:ext cx="38725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600" dirty="0" smtClean="0">
                  <a:solidFill>
                    <a:srgbClr val="000000"/>
                  </a:solidFill>
                </a:rPr>
                <a:t>= 38</a:t>
              </a:r>
              <a:endParaRPr lang="en-US" altLang="en-US" sz="1600" dirty="0"/>
            </a:p>
          </p:txBody>
        </p:sp>
        <p:sp>
          <p:nvSpPr>
            <p:cNvPr id="79" name="Rectangle 58"/>
            <p:cNvSpPr>
              <a:spLocks noChangeArrowheads="1"/>
            </p:cNvSpPr>
            <p:nvPr/>
          </p:nvSpPr>
          <p:spPr bwMode="auto">
            <a:xfrm>
              <a:off x="7026853" y="3889856"/>
              <a:ext cx="59828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600" dirty="0" smtClean="0">
                  <a:solidFill>
                    <a:srgbClr val="000000"/>
                  </a:solidFill>
                </a:rPr>
                <a:t>Before</a:t>
              </a:r>
              <a:endParaRPr lang="en-US" altLang="en-US" sz="1600" dirty="0"/>
            </a:p>
          </p:txBody>
        </p:sp>
        <p:sp>
          <p:nvSpPr>
            <p:cNvPr id="80" name="Rectangle 58"/>
            <p:cNvSpPr>
              <a:spLocks noChangeArrowheads="1"/>
            </p:cNvSpPr>
            <p:nvPr/>
          </p:nvSpPr>
          <p:spPr bwMode="auto">
            <a:xfrm>
              <a:off x="7026853" y="4361748"/>
              <a:ext cx="45783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600" dirty="0" smtClean="0">
                  <a:solidFill>
                    <a:srgbClr val="000000"/>
                  </a:solidFill>
                </a:rPr>
                <a:t>After</a:t>
              </a:r>
              <a:endParaRPr lang="en-US" altLang="en-US" sz="1600" dirty="0"/>
            </a:p>
          </p:txBody>
        </p:sp>
        <p:sp>
          <p:nvSpPr>
            <p:cNvPr id="81" name="Rectangle 58"/>
            <p:cNvSpPr>
              <a:spLocks noChangeArrowheads="1"/>
            </p:cNvSpPr>
            <p:nvPr/>
          </p:nvSpPr>
          <p:spPr bwMode="auto">
            <a:xfrm>
              <a:off x="10828913" y="4361748"/>
              <a:ext cx="97932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en-US" sz="1600" dirty="0" smtClean="0">
                  <a:solidFill>
                    <a:srgbClr val="000000"/>
                  </a:solidFill>
                </a:rPr>
                <a:t>= 19, </a:t>
              </a:r>
              <a:r>
                <a:rPr lang="en-US" altLang="en-US" sz="1600" b="1" dirty="0" smtClean="0">
                  <a:solidFill>
                    <a:srgbClr val="000099"/>
                  </a:solidFill>
                </a:rPr>
                <a:t>r=0</a:t>
              </a:r>
              <a:endParaRPr lang="en-US" altLang="en-US" sz="1600" b="1" dirty="0">
                <a:solidFill>
                  <a:srgbClr val="000099"/>
                </a:solidFill>
              </a:endParaRPr>
            </a:p>
          </p:txBody>
        </p:sp>
      </p:grpSp>
      <p:sp>
        <p:nvSpPr>
          <p:cNvPr id="122" name="Content Placeholder 2"/>
          <p:cNvSpPr txBox="1">
            <a:spLocks/>
          </p:cNvSpPr>
          <p:nvPr/>
        </p:nvSpPr>
        <p:spPr bwMode="auto">
          <a:xfrm>
            <a:off x="317945" y="5387638"/>
            <a:ext cx="8667638" cy="1152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sz="2000" kern="0" dirty="0" smtClean="0"/>
              <a:t>Shifting the Bits to the Right by </a:t>
            </a:r>
            <a:r>
              <a:rPr lang="en-US" sz="2000" i="1" kern="0" dirty="0" smtClean="0"/>
              <a:t>n</a:t>
            </a:r>
            <a:r>
              <a:rPr lang="en-US" sz="2000" kern="0" dirty="0" smtClean="0"/>
              <a:t> bit positions is division by 2</a:t>
            </a:r>
            <a:r>
              <a:rPr lang="en-US" sz="2000" i="1" kern="0" baseline="30000" dirty="0" smtClean="0"/>
              <a:t>n</a:t>
            </a:r>
            <a:endParaRPr lang="en-US" sz="2000" i="1" kern="0" dirty="0" smtClean="0"/>
          </a:p>
          <a:p>
            <a:r>
              <a:rPr lang="en-US" sz="2000" kern="0" dirty="0" smtClean="0"/>
              <a:t>The </a:t>
            </a:r>
            <a:r>
              <a:rPr lang="en-US" sz="2000" b="1" kern="0" dirty="0" smtClean="0">
                <a:solidFill>
                  <a:srgbClr val="FF0000"/>
                </a:solidFill>
              </a:rPr>
              <a:t>remainder</a:t>
            </a:r>
            <a:r>
              <a:rPr lang="en-US" sz="2000" kern="0" dirty="0" smtClean="0">
                <a:solidFill>
                  <a:srgbClr val="FF0000"/>
                </a:solidFill>
              </a:rPr>
              <a:t> </a:t>
            </a:r>
            <a:r>
              <a:rPr lang="en-US" sz="2000" b="1" kern="0" dirty="0" smtClean="0">
                <a:solidFill>
                  <a:srgbClr val="FF0000"/>
                </a:solidFill>
              </a:rPr>
              <a:t>r</a:t>
            </a:r>
            <a:r>
              <a:rPr lang="en-US" sz="2000" kern="0" dirty="0" smtClean="0">
                <a:solidFill>
                  <a:srgbClr val="FF0000"/>
                </a:solidFill>
              </a:rPr>
              <a:t> </a:t>
            </a:r>
            <a:r>
              <a:rPr lang="en-US" sz="2000" kern="0" dirty="0" smtClean="0"/>
              <a:t>is the value of the bits that are </a:t>
            </a:r>
            <a:r>
              <a:rPr lang="en-US" sz="2000" b="1" kern="0" dirty="0" smtClean="0">
                <a:solidFill>
                  <a:srgbClr val="FF0000"/>
                </a:solidFill>
              </a:rPr>
              <a:t>shifted out</a:t>
            </a:r>
            <a:endParaRPr lang="en-US" sz="2000" b="1" kern="0" dirty="0">
              <a:solidFill>
                <a:srgbClr val="FF0000"/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6459173" y="1700791"/>
            <a:ext cx="10342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smtClean="0">
                <a:solidFill>
                  <a:srgbClr val="FF0000"/>
                </a:solidFill>
              </a:rPr>
              <a:t>Division</a:t>
            </a:r>
          </a:p>
          <a:p>
            <a:pPr algn="ctr">
              <a:lnSpc>
                <a:spcPct val="150000"/>
              </a:lnSpc>
            </a:pPr>
            <a:r>
              <a:rPr lang="en-US" sz="2000" b="1" dirty="0" smtClean="0">
                <a:solidFill>
                  <a:srgbClr val="FF0000"/>
                </a:solidFill>
              </a:rPr>
              <a:t>By 2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459173" y="3889857"/>
            <a:ext cx="10342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smtClean="0">
                <a:solidFill>
                  <a:srgbClr val="FF0000"/>
                </a:solidFill>
              </a:rPr>
              <a:t>Division</a:t>
            </a:r>
          </a:p>
          <a:p>
            <a:pPr algn="ctr">
              <a:lnSpc>
                <a:spcPct val="150000"/>
              </a:lnSpc>
            </a:pPr>
            <a:r>
              <a:rPr lang="en-US" sz="2000" b="1" dirty="0" smtClean="0">
                <a:solidFill>
                  <a:srgbClr val="FF0000"/>
                </a:solidFill>
              </a:rPr>
              <a:t>By 4</a:t>
            </a:r>
            <a:endParaRPr lang="en-US" sz="2000" b="1" dirty="0">
              <a:solidFill>
                <a:srgbClr val="FF0000"/>
              </a:solidFill>
            </a:endParaRPr>
          </a:p>
        </p:txBody>
      </p:sp>
      <p:grpSp>
        <p:nvGrpSpPr>
          <p:cNvPr id="125" name="Group 124"/>
          <p:cNvGrpSpPr/>
          <p:nvPr/>
        </p:nvGrpSpPr>
        <p:grpSpPr>
          <a:xfrm>
            <a:off x="1200017" y="3774642"/>
            <a:ext cx="4914078" cy="1324962"/>
            <a:chOff x="6599861" y="3601821"/>
            <a:chExt cx="5323585" cy="1324962"/>
          </a:xfrm>
        </p:grpSpPr>
        <p:sp>
          <p:nvSpPr>
            <p:cNvPr id="126" name="AutoShape 5"/>
            <p:cNvSpPr>
              <a:spLocks noChangeAspect="1" noChangeArrowheads="1" noTextEdit="1"/>
            </p:cNvSpPr>
            <p:nvPr/>
          </p:nvSpPr>
          <p:spPr bwMode="auto">
            <a:xfrm>
              <a:off x="6599861" y="3601821"/>
              <a:ext cx="5323585" cy="132496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600"/>
            </a:p>
          </p:txBody>
        </p:sp>
        <p:grpSp>
          <p:nvGrpSpPr>
            <p:cNvPr id="127" name="Group 76"/>
            <p:cNvGrpSpPr>
              <a:grpSpLocks/>
            </p:cNvGrpSpPr>
            <p:nvPr/>
          </p:nvGrpSpPr>
          <p:grpSpPr bwMode="auto">
            <a:xfrm>
              <a:off x="7753843" y="3832367"/>
              <a:ext cx="2985558" cy="863600"/>
              <a:chOff x="2111" y="2342"/>
              <a:chExt cx="1736" cy="544"/>
            </a:xfrm>
          </p:grpSpPr>
          <p:sp>
            <p:nvSpPr>
              <p:cNvPr id="132" name="Rectangle 7"/>
              <p:cNvSpPr>
                <a:spLocks noChangeArrowheads="1"/>
              </p:cNvSpPr>
              <p:nvPr/>
            </p:nvSpPr>
            <p:spPr bwMode="auto">
              <a:xfrm>
                <a:off x="2111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33" name="Rectangle 8"/>
              <p:cNvSpPr>
                <a:spLocks noChangeArrowheads="1"/>
              </p:cNvSpPr>
              <p:nvPr/>
            </p:nvSpPr>
            <p:spPr bwMode="auto">
              <a:xfrm>
                <a:off x="2186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134" name="Rectangle 9"/>
              <p:cNvSpPr>
                <a:spLocks noChangeArrowheads="1"/>
              </p:cNvSpPr>
              <p:nvPr/>
            </p:nvSpPr>
            <p:spPr bwMode="auto">
              <a:xfrm>
                <a:off x="2328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35" name="Rectangle 10"/>
              <p:cNvSpPr>
                <a:spLocks noChangeArrowheads="1"/>
              </p:cNvSpPr>
              <p:nvPr/>
            </p:nvSpPr>
            <p:spPr bwMode="auto">
              <a:xfrm>
                <a:off x="2403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136" name="Rectangle 11"/>
              <p:cNvSpPr>
                <a:spLocks noChangeArrowheads="1"/>
              </p:cNvSpPr>
              <p:nvPr/>
            </p:nvSpPr>
            <p:spPr bwMode="auto">
              <a:xfrm>
                <a:off x="2545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37" name="Rectangle 12"/>
              <p:cNvSpPr>
                <a:spLocks noChangeArrowheads="1"/>
              </p:cNvSpPr>
              <p:nvPr/>
            </p:nvSpPr>
            <p:spPr bwMode="auto">
              <a:xfrm>
                <a:off x="2620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138" name="Rectangle 13"/>
              <p:cNvSpPr>
                <a:spLocks noChangeArrowheads="1"/>
              </p:cNvSpPr>
              <p:nvPr/>
            </p:nvSpPr>
            <p:spPr bwMode="auto">
              <a:xfrm>
                <a:off x="2762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39" name="Rectangle 14"/>
              <p:cNvSpPr>
                <a:spLocks noChangeArrowheads="1"/>
              </p:cNvSpPr>
              <p:nvPr/>
            </p:nvSpPr>
            <p:spPr bwMode="auto">
              <a:xfrm>
                <a:off x="2837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140" name="Rectangle 15"/>
              <p:cNvSpPr>
                <a:spLocks noChangeArrowheads="1"/>
              </p:cNvSpPr>
              <p:nvPr/>
            </p:nvSpPr>
            <p:spPr bwMode="auto">
              <a:xfrm>
                <a:off x="2979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41" name="Rectangle 16"/>
              <p:cNvSpPr>
                <a:spLocks noChangeArrowheads="1"/>
              </p:cNvSpPr>
              <p:nvPr/>
            </p:nvSpPr>
            <p:spPr bwMode="auto">
              <a:xfrm>
                <a:off x="3054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 dirty="0"/>
              </a:p>
            </p:txBody>
          </p:sp>
          <p:sp>
            <p:nvSpPr>
              <p:cNvPr id="142" name="Rectangle 17"/>
              <p:cNvSpPr>
                <a:spLocks noChangeArrowheads="1"/>
              </p:cNvSpPr>
              <p:nvPr/>
            </p:nvSpPr>
            <p:spPr bwMode="auto">
              <a:xfrm>
                <a:off x="3196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43" name="Rectangle 18"/>
              <p:cNvSpPr>
                <a:spLocks noChangeArrowheads="1"/>
              </p:cNvSpPr>
              <p:nvPr/>
            </p:nvSpPr>
            <p:spPr bwMode="auto">
              <a:xfrm>
                <a:off x="3271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144" name="Rectangle 19"/>
              <p:cNvSpPr>
                <a:spLocks noChangeArrowheads="1"/>
              </p:cNvSpPr>
              <p:nvPr/>
            </p:nvSpPr>
            <p:spPr bwMode="auto">
              <a:xfrm>
                <a:off x="3413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45" name="Rectangle 20"/>
              <p:cNvSpPr>
                <a:spLocks noChangeArrowheads="1"/>
              </p:cNvSpPr>
              <p:nvPr/>
            </p:nvSpPr>
            <p:spPr bwMode="auto">
              <a:xfrm>
                <a:off x="3488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146" name="Rectangle 21"/>
              <p:cNvSpPr>
                <a:spLocks noChangeArrowheads="1"/>
              </p:cNvSpPr>
              <p:nvPr/>
            </p:nvSpPr>
            <p:spPr bwMode="auto">
              <a:xfrm>
                <a:off x="3630" y="2668"/>
                <a:ext cx="217" cy="21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47" name="Rectangle 22"/>
              <p:cNvSpPr>
                <a:spLocks noChangeArrowheads="1"/>
              </p:cNvSpPr>
              <p:nvPr/>
            </p:nvSpPr>
            <p:spPr bwMode="auto">
              <a:xfrm>
                <a:off x="3705" y="2706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 dirty="0"/>
              </a:p>
            </p:txBody>
          </p:sp>
          <p:sp>
            <p:nvSpPr>
              <p:cNvPr id="148" name="Rectangle 23"/>
              <p:cNvSpPr>
                <a:spLocks noChangeArrowheads="1"/>
              </p:cNvSpPr>
              <p:nvPr/>
            </p:nvSpPr>
            <p:spPr bwMode="auto">
              <a:xfrm>
                <a:off x="2111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49" name="Rectangle 24"/>
              <p:cNvSpPr>
                <a:spLocks noChangeArrowheads="1"/>
              </p:cNvSpPr>
              <p:nvPr/>
            </p:nvSpPr>
            <p:spPr bwMode="auto">
              <a:xfrm>
                <a:off x="2186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150" name="Rectangle 25"/>
              <p:cNvSpPr>
                <a:spLocks noChangeArrowheads="1"/>
              </p:cNvSpPr>
              <p:nvPr/>
            </p:nvSpPr>
            <p:spPr bwMode="auto">
              <a:xfrm>
                <a:off x="2328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51" name="Rectangle 26"/>
              <p:cNvSpPr>
                <a:spLocks noChangeArrowheads="1"/>
              </p:cNvSpPr>
              <p:nvPr/>
            </p:nvSpPr>
            <p:spPr bwMode="auto">
              <a:xfrm>
                <a:off x="2403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152" name="Rectangle 27"/>
              <p:cNvSpPr>
                <a:spLocks noChangeArrowheads="1"/>
              </p:cNvSpPr>
              <p:nvPr/>
            </p:nvSpPr>
            <p:spPr bwMode="auto">
              <a:xfrm>
                <a:off x="2545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53" name="Rectangle 28"/>
              <p:cNvSpPr>
                <a:spLocks noChangeArrowheads="1"/>
              </p:cNvSpPr>
              <p:nvPr/>
            </p:nvSpPr>
            <p:spPr bwMode="auto">
              <a:xfrm>
                <a:off x="2620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 dirty="0"/>
              </a:p>
            </p:txBody>
          </p:sp>
          <p:sp>
            <p:nvSpPr>
              <p:cNvPr id="154" name="Rectangle 29"/>
              <p:cNvSpPr>
                <a:spLocks noChangeArrowheads="1"/>
              </p:cNvSpPr>
              <p:nvPr/>
            </p:nvSpPr>
            <p:spPr bwMode="auto">
              <a:xfrm>
                <a:off x="2762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55" name="Rectangle 30"/>
              <p:cNvSpPr>
                <a:spLocks noChangeArrowheads="1"/>
              </p:cNvSpPr>
              <p:nvPr/>
            </p:nvSpPr>
            <p:spPr bwMode="auto">
              <a:xfrm>
                <a:off x="2837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dirty="0" smtClean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156" name="Rectangle 31"/>
              <p:cNvSpPr>
                <a:spLocks noChangeArrowheads="1"/>
              </p:cNvSpPr>
              <p:nvPr/>
            </p:nvSpPr>
            <p:spPr bwMode="auto">
              <a:xfrm>
                <a:off x="2979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57" name="Rectangle 32"/>
              <p:cNvSpPr>
                <a:spLocks noChangeArrowheads="1"/>
              </p:cNvSpPr>
              <p:nvPr/>
            </p:nvSpPr>
            <p:spPr bwMode="auto">
              <a:xfrm>
                <a:off x="3054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/>
              </a:p>
            </p:txBody>
          </p:sp>
          <p:sp>
            <p:nvSpPr>
              <p:cNvPr id="158" name="Rectangle 33"/>
              <p:cNvSpPr>
                <a:spLocks noChangeArrowheads="1"/>
              </p:cNvSpPr>
              <p:nvPr/>
            </p:nvSpPr>
            <p:spPr bwMode="auto">
              <a:xfrm>
                <a:off x="3196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59" name="Rectangle 34"/>
              <p:cNvSpPr>
                <a:spLocks noChangeArrowheads="1"/>
              </p:cNvSpPr>
              <p:nvPr/>
            </p:nvSpPr>
            <p:spPr bwMode="auto">
              <a:xfrm>
                <a:off x="3271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/>
              </a:p>
            </p:txBody>
          </p:sp>
          <p:sp>
            <p:nvSpPr>
              <p:cNvPr id="160" name="Rectangle 35"/>
              <p:cNvSpPr>
                <a:spLocks noChangeArrowheads="1"/>
              </p:cNvSpPr>
              <p:nvPr/>
            </p:nvSpPr>
            <p:spPr bwMode="auto">
              <a:xfrm>
                <a:off x="3413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1" name="Rectangle 36"/>
              <p:cNvSpPr>
                <a:spLocks noChangeArrowheads="1"/>
              </p:cNvSpPr>
              <p:nvPr/>
            </p:nvSpPr>
            <p:spPr bwMode="auto">
              <a:xfrm>
                <a:off x="3488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b="1" dirty="0" smtClean="0">
                    <a:solidFill>
                      <a:srgbClr val="000099"/>
                    </a:solidFill>
                    <a:latin typeface="Helvetica" pitchFamily="34" charset="0"/>
                  </a:rPr>
                  <a:t>1</a:t>
                </a:r>
                <a:endParaRPr lang="en-US" altLang="en-US" sz="1600" b="1" dirty="0">
                  <a:solidFill>
                    <a:srgbClr val="000099"/>
                  </a:solidFill>
                </a:endParaRPr>
              </a:p>
            </p:txBody>
          </p:sp>
          <p:sp>
            <p:nvSpPr>
              <p:cNvPr id="162" name="Rectangle 37"/>
              <p:cNvSpPr>
                <a:spLocks noChangeArrowheads="1"/>
              </p:cNvSpPr>
              <p:nvPr/>
            </p:nvSpPr>
            <p:spPr bwMode="auto">
              <a:xfrm>
                <a:off x="3630" y="2342"/>
                <a:ext cx="217" cy="217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3" name="Rectangle 38"/>
              <p:cNvSpPr>
                <a:spLocks noChangeArrowheads="1"/>
              </p:cNvSpPr>
              <p:nvPr/>
            </p:nvSpPr>
            <p:spPr bwMode="auto">
              <a:xfrm>
                <a:off x="3705" y="2380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 b="1" dirty="0" smtClean="0">
                    <a:solidFill>
                      <a:srgbClr val="000099"/>
                    </a:solidFill>
                    <a:latin typeface="Helvetica" pitchFamily="34" charset="0"/>
                  </a:rPr>
                  <a:t>0</a:t>
                </a:r>
                <a:endParaRPr lang="en-US" altLang="en-US" sz="1600" b="1" dirty="0">
                  <a:solidFill>
                    <a:srgbClr val="000099"/>
                  </a:solidFill>
                </a:endParaRPr>
              </a:p>
            </p:txBody>
          </p:sp>
        </p:grpSp>
        <p:sp>
          <p:nvSpPr>
            <p:cNvPr id="128" name="Rectangle 58"/>
            <p:cNvSpPr>
              <a:spLocks noChangeArrowheads="1"/>
            </p:cNvSpPr>
            <p:nvPr/>
          </p:nvSpPr>
          <p:spPr bwMode="auto">
            <a:xfrm>
              <a:off x="10828914" y="3875232"/>
              <a:ext cx="38725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600" dirty="0" smtClean="0">
                  <a:solidFill>
                    <a:srgbClr val="000000"/>
                  </a:solidFill>
                </a:rPr>
                <a:t>= 38</a:t>
              </a:r>
              <a:endParaRPr lang="en-US" altLang="en-US" sz="1600" dirty="0"/>
            </a:p>
          </p:txBody>
        </p:sp>
        <p:sp>
          <p:nvSpPr>
            <p:cNvPr id="129" name="Rectangle 58"/>
            <p:cNvSpPr>
              <a:spLocks noChangeArrowheads="1"/>
            </p:cNvSpPr>
            <p:nvPr/>
          </p:nvSpPr>
          <p:spPr bwMode="auto">
            <a:xfrm>
              <a:off x="7026853" y="3889856"/>
              <a:ext cx="59828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600" dirty="0" smtClean="0">
                  <a:solidFill>
                    <a:srgbClr val="000000"/>
                  </a:solidFill>
                </a:rPr>
                <a:t>Before</a:t>
              </a:r>
              <a:endParaRPr lang="en-US" altLang="en-US" sz="1600" dirty="0"/>
            </a:p>
          </p:txBody>
        </p:sp>
        <p:sp>
          <p:nvSpPr>
            <p:cNvPr id="130" name="Rectangle 58"/>
            <p:cNvSpPr>
              <a:spLocks noChangeArrowheads="1"/>
            </p:cNvSpPr>
            <p:nvPr/>
          </p:nvSpPr>
          <p:spPr bwMode="auto">
            <a:xfrm>
              <a:off x="7026853" y="4361748"/>
              <a:ext cx="45783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600" dirty="0" smtClean="0">
                  <a:solidFill>
                    <a:srgbClr val="000000"/>
                  </a:solidFill>
                </a:rPr>
                <a:t>After</a:t>
              </a:r>
              <a:endParaRPr lang="en-US" altLang="en-US" sz="1600" dirty="0"/>
            </a:p>
          </p:txBody>
        </p:sp>
        <p:sp>
          <p:nvSpPr>
            <p:cNvPr id="131" name="Rectangle 58"/>
            <p:cNvSpPr>
              <a:spLocks noChangeArrowheads="1"/>
            </p:cNvSpPr>
            <p:nvPr/>
          </p:nvSpPr>
          <p:spPr bwMode="auto">
            <a:xfrm>
              <a:off x="10828913" y="4361748"/>
              <a:ext cx="86410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en-US" sz="1600" dirty="0" smtClean="0">
                  <a:solidFill>
                    <a:srgbClr val="000000"/>
                  </a:solidFill>
                </a:rPr>
                <a:t>= 9, </a:t>
              </a:r>
              <a:r>
                <a:rPr lang="en-US" altLang="en-US" sz="1600" b="1" dirty="0" smtClean="0">
                  <a:solidFill>
                    <a:srgbClr val="000099"/>
                  </a:solidFill>
                </a:rPr>
                <a:t>r=2</a:t>
              </a:r>
              <a:endParaRPr lang="en-US" altLang="en-US" sz="1600" b="1" dirty="0">
                <a:solidFill>
                  <a:srgbClr val="00009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051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3" grpId="0"/>
      <p:bldP spid="12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792</Words>
  <Application>Microsoft Office PowerPoint</Application>
  <PresentationFormat>On-screen Show (4:3)</PresentationFormat>
  <Paragraphs>379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Binary Arithmetic</vt:lpstr>
      <vt:lpstr>Adding Bits</vt:lpstr>
      <vt:lpstr>Binary Addition</vt:lpstr>
      <vt:lpstr>Subtracting Bits</vt:lpstr>
      <vt:lpstr>Binary Subtraction</vt:lpstr>
      <vt:lpstr>Binary Multiplication</vt:lpstr>
      <vt:lpstr>Hexadecimal Addition</vt:lpstr>
      <vt:lpstr>Hexadecimal Subtraction</vt:lpstr>
      <vt:lpstr>Shifting the Bits to the Left</vt:lpstr>
      <vt:lpstr>Shifting the Bits to the Right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Digital Circuits</dc:title>
  <dc:creator>faisaliradat</dc:creator>
  <cp:lastModifiedBy>faisaliradat</cp:lastModifiedBy>
  <cp:revision>22</cp:revision>
  <dcterms:created xsi:type="dcterms:W3CDTF">2022-08-28T11:36:31Z</dcterms:created>
  <dcterms:modified xsi:type="dcterms:W3CDTF">2022-09-04T07:07:51Z</dcterms:modified>
</cp:coreProperties>
</file>