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06" r:id="rId2"/>
    <p:sldId id="335" r:id="rId3"/>
    <p:sldId id="336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FCF61-E080-4619-AD16-552260CD173C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DB0DA-DAA0-4B40-8FAF-1B8D38D40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3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1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6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7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606257"/>
            <a:ext cx="8229600" cy="2801938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US" altLang="en-US" sz="4400" dirty="0" smtClean="0"/>
              <a:t>Analysis of Sequential Circuits</a:t>
            </a:r>
            <a:endParaRPr lang="en-US" altLang="en-US" sz="2800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774642"/>
            <a:ext cx="8229600" cy="2476500"/>
          </a:xfrm>
        </p:spPr>
        <p:txBody>
          <a:bodyPr/>
          <a:lstStyle/>
          <a:p>
            <a:r>
              <a:rPr lang="en-US" altLang="en-US" sz="2800" dirty="0" smtClean="0"/>
              <a:t>Digital </a:t>
            </a:r>
            <a:r>
              <a:rPr lang="en-US" altLang="en-US" sz="2800" dirty="0"/>
              <a:t>Logic </a:t>
            </a:r>
            <a:r>
              <a:rPr lang="en-US" altLang="en-US" sz="2800" dirty="0" smtClean="0"/>
              <a:t>Design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7311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0037" y="998730"/>
            <a:ext cx="7729048" cy="5400600"/>
          </a:xfrm>
        </p:spPr>
        <p:txBody>
          <a:bodyPr>
            <a:normAutofit/>
          </a:bodyPr>
          <a:lstStyle/>
          <a:p>
            <a:pPr marL="444500" indent="-444500">
              <a:spcBef>
                <a:spcPts val="4000"/>
              </a:spcBef>
            </a:pPr>
            <a:r>
              <a:rPr lang="en-US" sz="2400" dirty="0" smtClean="0"/>
              <a:t>Analysis of Clocked Sequential </a:t>
            </a:r>
            <a:r>
              <a:rPr lang="en-US" sz="2400" dirty="0" smtClean="0"/>
              <a:t>circuits</a:t>
            </a:r>
          </a:p>
          <a:p>
            <a:pPr marL="895350" lvl="1" indent="-444500">
              <a:spcBef>
                <a:spcPts val="4000"/>
              </a:spcBef>
            </a:pPr>
            <a:r>
              <a:rPr lang="en-US" sz="2400" dirty="0" smtClean="0"/>
              <a:t>State and Output Equations</a:t>
            </a:r>
          </a:p>
          <a:p>
            <a:pPr marL="895350" lvl="1" indent="-444500">
              <a:spcBef>
                <a:spcPts val="4000"/>
              </a:spcBef>
            </a:pPr>
            <a:r>
              <a:rPr lang="en-US" sz="2400" dirty="0" smtClean="0"/>
              <a:t>State </a:t>
            </a:r>
            <a:r>
              <a:rPr lang="en-US" sz="2400" dirty="0" smtClean="0"/>
              <a:t>Table</a:t>
            </a:r>
          </a:p>
          <a:p>
            <a:pPr marL="895350" lvl="1" indent="-444500">
              <a:spcBef>
                <a:spcPts val="4000"/>
              </a:spcBef>
            </a:pPr>
            <a:r>
              <a:rPr lang="en-US" sz="2400" smtClean="0"/>
              <a:t>State </a:t>
            </a:r>
            <a:r>
              <a:rPr lang="en-US" sz="2400" smtClean="0"/>
              <a:t>Diagram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8353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Analysis of Clocked Sequential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865" y="908721"/>
            <a:ext cx="8100901" cy="553561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500"/>
              </a:spcBef>
              <a:buNone/>
            </a:pPr>
            <a:r>
              <a:rPr lang="en-US" sz="2400" dirty="0" smtClean="0"/>
              <a:t>Analysis is describing what a given circuit will do</a:t>
            </a:r>
          </a:p>
          <a:p>
            <a:pPr marL="0" indent="0">
              <a:lnSpc>
                <a:spcPct val="110000"/>
              </a:lnSpc>
              <a:spcBef>
                <a:spcPts val="1500"/>
              </a:spcBef>
              <a:buNone/>
            </a:pPr>
            <a:r>
              <a:rPr lang="en-US" sz="2400" dirty="0" smtClean="0"/>
              <a:t>The output of a clocked sequential circuit is determined by</a:t>
            </a:r>
          </a:p>
          <a:p>
            <a:pPr marL="357188" indent="-357188">
              <a:lnSpc>
                <a:spcPct val="11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2400" dirty="0" smtClean="0"/>
              <a:t>Inputs</a:t>
            </a:r>
          </a:p>
          <a:p>
            <a:pPr marL="357188" indent="-357188">
              <a:lnSpc>
                <a:spcPct val="11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2400" dirty="0" smtClean="0"/>
              <a:t>State of the Flip-Flops</a:t>
            </a:r>
          </a:p>
          <a:p>
            <a:pPr marL="0" indent="0">
              <a:lnSpc>
                <a:spcPct val="110000"/>
              </a:lnSpc>
              <a:spcBef>
                <a:spcPts val="3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Analysis Procedure:</a:t>
            </a:r>
          </a:p>
          <a:p>
            <a:pPr marL="357188" indent="-357188">
              <a:lnSpc>
                <a:spcPct val="11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2400" dirty="0" smtClean="0"/>
              <a:t>Obtain the equations at the inputs of the Flip-Flops</a:t>
            </a:r>
          </a:p>
          <a:p>
            <a:pPr marL="357188" indent="-357188">
              <a:lnSpc>
                <a:spcPct val="11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2400" dirty="0" smtClean="0"/>
              <a:t>Obtain the output equations</a:t>
            </a:r>
          </a:p>
          <a:p>
            <a:pPr marL="357188" indent="-357188">
              <a:lnSpc>
                <a:spcPct val="11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2400" dirty="0" smtClean="0"/>
              <a:t>Fill the state table for all possible input and state values</a:t>
            </a:r>
          </a:p>
          <a:p>
            <a:pPr marL="357188" indent="-357188">
              <a:lnSpc>
                <a:spcPct val="11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2400" dirty="0" smtClean="0"/>
              <a:t>Draw the state </a:t>
            </a:r>
            <a:r>
              <a:rPr lang="en-US" sz="2400" dirty="0" smtClean="0"/>
              <a:t>diagram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8776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Analysis Example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953726"/>
                <a:ext cx="5610352" cy="553561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Is this a clocked sequential circuit?</a:t>
                </a:r>
              </a:p>
              <a:p>
                <a:pPr marL="357188" indent="0">
                  <a:spcBef>
                    <a:spcPts val="1500"/>
                  </a:spcBef>
                  <a:buNone/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YES!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400" dirty="0"/>
                  <a:t>What type of </a:t>
                </a:r>
                <a:r>
                  <a:rPr lang="en-US" sz="2400" dirty="0" smtClean="0"/>
                  <a:t>Memory?</a:t>
                </a:r>
              </a:p>
              <a:p>
                <a:pPr marL="357188" indent="0">
                  <a:spcBef>
                    <a:spcPts val="1500"/>
                  </a:spcBef>
                  <a:buNone/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D Flip-Flops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How many state variables?</a:t>
                </a:r>
              </a:p>
              <a:p>
                <a:pPr marL="357188" indent="0">
                  <a:spcBef>
                    <a:spcPts val="1500"/>
                  </a:spcBef>
                  <a:buNone/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Two state variables: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400" b="1" dirty="0" smtClean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𝑩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What are the Inputs?</a:t>
                </a:r>
              </a:p>
              <a:p>
                <a:pPr marL="357188" indent="0">
                  <a:spcBef>
                    <a:spcPts val="1500"/>
                  </a:spcBef>
                  <a:buNone/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One Input: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</m:oMath>
                </a14:m>
                <a:endParaRPr lang="en-US" sz="2400" b="1" dirty="0" smtClean="0">
                  <a:solidFill>
                    <a:srgbClr val="FF0000"/>
                  </a:solidFill>
                </a:endParaRPr>
              </a:p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What are the Outputs?</a:t>
                </a:r>
              </a:p>
              <a:p>
                <a:pPr marL="357188" indent="0">
                  <a:spcBef>
                    <a:spcPts val="1500"/>
                  </a:spcBef>
                  <a:buNone/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One Output: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𝒚</m:t>
                    </m:r>
                  </m:oMath>
                </a14:m>
                <a:endParaRPr lang="en-US" sz="24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953726"/>
                <a:ext cx="5610352" cy="5535614"/>
              </a:xfrm>
              <a:blipFill rotWithShape="1">
                <a:blip r:embed="rId2"/>
                <a:stretch>
                  <a:fillRect l="-1413" t="-880" b="-1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C:\Users\mudawar\Documents\+COE 202\202 Lectures\SequentialCircui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511" y="1672259"/>
            <a:ext cx="4307598" cy="4682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83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mudawar\Documents\+COE 202\202 Lectures\SequentialCircui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511" y="1672259"/>
            <a:ext cx="4307598" cy="4682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Flip-Flop Input Equations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4606" y="953726"/>
                <a:ext cx="7685469" cy="562562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000"/>
                  </a:spcBef>
                </a:pPr>
                <a:r>
                  <a:rPr lang="en-US" sz="2000" dirty="0" smtClean="0"/>
                  <a:t>What are the equations on the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𝑫</m:t>
                    </m:r>
                  </m:oMath>
                </a14:m>
                <a:r>
                  <a:rPr lang="en-US" sz="2000" dirty="0" smtClean="0"/>
                  <a:t> inputs of the flip-flops?</a:t>
                </a:r>
              </a:p>
              <a:p>
                <a:pPr marL="357188" indent="0"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𝑨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𝑩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pPr marL="357188" indent="0"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𝑩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 smtClean="0">
                    <a:solidFill>
                      <a:schemeClr val="tx1"/>
                    </a:solidFill>
                  </a:rPr>
                  <a:t> </a:t>
                </a:r>
                <a:endParaRPr lang="en-US" sz="20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2000"/>
                  </a:spcBef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𝑩</m:t>
                    </m:r>
                  </m:oMath>
                </a14:m>
                <a:r>
                  <a:rPr lang="en-US" sz="2000" dirty="0" smtClean="0"/>
                  <a:t> are the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current state</a:t>
                </a:r>
              </a:p>
              <a:p>
                <a:pPr marL="357188" indent="0"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𝑨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𝒕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𝑨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,  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𝑩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𝒕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𝑩</m:t>
                    </m:r>
                  </m:oMath>
                </a14:m>
                <a:r>
                  <a:rPr lang="en-US" sz="2000" b="1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spcBef>
                    <a:spcPts val="2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000" dirty="0" smtClean="0"/>
                  <a:t> are the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next state</a:t>
                </a:r>
              </a:p>
              <a:p>
                <a:pPr marL="357188" indent="0"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𝑨</m:t>
                    </m:r>
                    <m:r>
                      <a:rPr lang="en-US" sz="2000" b="1" i="1">
                        <a:latin typeface="Cambria Math"/>
                      </a:rPr>
                      <m:t>(</m:t>
                    </m:r>
                    <m:r>
                      <a:rPr lang="en-US" sz="2000" b="1" i="1">
                        <a:latin typeface="Cambria Math"/>
                      </a:rPr>
                      <m:t>𝒕</m:t>
                    </m:r>
                    <m:r>
                      <a:rPr lang="en-US" sz="2000" b="1" i="1" smtClean="0">
                        <a:latin typeface="Cambria Math"/>
                      </a:rPr>
                      <m:t>+</m:t>
                    </m:r>
                    <m:r>
                      <a:rPr lang="en-US" sz="2000" b="1" i="1" smtClean="0"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𝑨</m:t>
                        </m:r>
                      </m:sub>
                    </m:sSub>
                    <m:r>
                      <a:rPr lang="en-US" sz="2000" b="1" i="1">
                        <a:latin typeface="Cambria Math"/>
                      </a:rPr>
                      <m:t>,   </m:t>
                    </m:r>
                    <m:r>
                      <a:rPr lang="en-US" sz="2000" b="1" i="1">
                        <a:latin typeface="Cambria Math"/>
                      </a:rPr>
                      <m:t>𝑩</m:t>
                    </m:r>
                    <m:r>
                      <a:rPr lang="en-US" sz="2000" b="1" i="1">
                        <a:latin typeface="Cambria Math"/>
                      </a:rPr>
                      <m:t>(</m:t>
                    </m:r>
                    <m:r>
                      <a:rPr lang="en-US" sz="2000" b="1" i="1">
                        <a:latin typeface="Cambria Math"/>
                      </a:rPr>
                      <m:t>𝒕</m:t>
                    </m:r>
                    <m:r>
                      <a:rPr lang="en-US" sz="2000" b="1" i="1" smtClean="0">
                        <a:latin typeface="Cambria Math"/>
                      </a:rPr>
                      <m:t>+</m:t>
                    </m:r>
                    <m:r>
                      <a:rPr lang="en-US" sz="2000" b="1" i="1" smtClean="0"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000" b="1" dirty="0"/>
                  <a:t> </a:t>
                </a:r>
              </a:p>
              <a:p>
                <a:pPr>
                  <a:spcBef>
                    <a:spcPts val="2000"/>
                  </a:spcBef>
                </a:pPr>
                <a:r>
                  <a:rPr lang="en-US" sz="2000" dirty="0" smtClean="0"/>
                  <a:t>The values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𝑩</m:t>
                    </m:r>
                  </m:oMath>
                </a14:m>
                <a:r>
                  <a:rPr lang="en-US" sz="2000" dirty="0" smtClean="0"/>
                  <a:t>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latin typeface="Cambria Math"/>
                          </a:rPr>
                          <m:t>𝑨</m:t>
                        </m:r>
                      </m:sub>
                    </m:sSub>
                  </m:oMath>
                </a14:m>
                <a:endParaRPr lang="en-US" sz="2000" b="1" dirty="0" smtClean="0"/>
              </a:p>
              <a:p>
                <a:pPr marL="357188" indent="0">
                  <a:spcBef>
                    <a:spcPts val="2000"/>
                  </a:spcBef>
                  <a:buNone/>
                </a:pPr>
                <a:r>
                  <a:rPr lang="en-US" sz="2000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latin typeface="Cambria Math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000" dirty="0" smtClean="0"/>
                  <a:t> at the next clock edge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606" y="953726"/>
                <a:ext cx="7685469" cy="5625625"/>
              </a:xfrm>
              <a:blipFill rotWithShape="1">
                <a:blip r:embed="rId3"/>
                <a:stretch>
                  <a:fillRect l="-714" t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07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udawar\Documents\+COE 202\202 Lectures\SequentialCircui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511" y="1672259"/>
            <a:ext cx="4307598" cy="4682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Next State and Output Equations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4606" y="1043735"/>
                <a:ext cx="8433246" cy="5400601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2500"/>
                  </a:spcBef>
                </a:pPr>
                <a:r>
                  <a:rPr lang="en-US" sz="2400" dirty="0" smtClean="0"/>
                  <a:t>The next state equations define the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next state</a:t>
                </a:r>
                <a:endParaRPr lang="en-US" sz="2400" dirty="0"/>
              </a:p>
              <a:p>
                <a:pPr marL="357188" indent="0">
                  <a:spcBef>
                    <a:spcPts val="2500"/>
                  </a:spcBef>
                  <a:buNone/>
                </a:pPr>
                <a:r>
                  <a:rPr lang="en-US" sz="2400" dirty="0" smtClean="0"/>
                  <a:t>At the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inputs</a:t>
                </a:r>
                <a:r>
                  <a:rPr lang="en-US" sz="2400" dirty="0" smtClean="0"/>
                  <a:t> of the Flip-Flops</a:t>
                </a:r>
              </a:p>
              <a:p>
                <a:pPr>
                  <a:spcBef>
                    <a:spcPts val="2500"/>
                  </a:spcBef>
                </a:pPr>
                <a:r>
                  <a:rPr lang="en-US" sz="2400" dirty="0" smtClean="0"/>
                  <a:t>Next state equations?</a:t>
                </a:r>
              </a:p>
              <a:p>
                <a:pPr marL="357188" indent="0">
                  <a:spcBef>
                    <a:spcPts val="2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sz="24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/>
                          </a:rPr>
                          <m:t>𝒕</m:t>
                        </m:r>
                        <m:r>
                          <a:rPr lang="en-US" sz="2400" b="1" i="1" smtClean="0">
                            <a:latin typeface="Cambria Math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sz="2400" b="1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b="1" i="1">
                            <a:latin typeface="Cambria Math"/>
                          </a:rPr>
                          <m:t>𝑨</m:t>
                        </m:r>
                      </m:sub>
                    </m:sSub>
                    <m:r>
                      <a:rPr lang="en-US" sz="2400" b="1" i="1">
                        <a:latin typeface="Cambria Math"/>
                      </a:rPr>
                      <m:t>=</m:t>
                    </m:r>
                    <m:r>
                      <a:rPr lang="en-US" sz="2400" b="1" i="1">
                        <a:latin typeface="Cambria Math"/>
                      </a:rPr>
                      <m:t>𝑨</m:t>
                    </m:r>
                    <m:r>
                      <a:rPr lang="en-US" sz="2400" b="1" i="1">
                        <a:latin typeface="Cambria Math"/>
                      </a:rPr>
                      <m:t> </m:t>
                    </m:r>
                    <m:r>
                      <a:rPr lang="en-US" sz="2400" b="1" i="1">
                        <a:latin typeface="Cambria Math"/>
                      </a:rPr>
                      <m:t>𝒙</m:t>
                    </m:r>
                    <m:r>
                      <a:rPr lang="en-US" sz="2400" b="1" i="1">
                        <a:latin typeface="Cambria Math"/>
                      </a:rPr>
                      <m:t>+</m:t>
                    </m:r>
                    <m:r>
                      <a:rPr lang="en-US" sz="2400" b="1" i="1">
                        <a:latin typeface="Cambria Math"/>
                      </a:rPr>
                      <m:t>𝑩</m:t>
                    </m:r>
                    <m:r>
                      <a:rPr lang="en-US" sz="2400" b="1" i="1">
                        <a:latin typeface="Cambria Math"/>
                      </a:rPr>
                      <m:t> </m:t>
                    </m:r>
                    <m:r>
                      <a:rPr lang="en-US" sz="2400" b="1" i="1">
                        <a:latin typeface="Cambria Math"/>
                      </a:rPr>
                      <m:t>𝒙</m:t>
                    </m:r>
                  </m:oMath>
                </a14:m>
                <a:r>
                  <a:rPr lang="en-US" sz="2400" b="1" dirty="0"/>
                  <a:t> </a:t>
                </a:r>
              </a:p>
              <a:p>
                <a:pPr marL="357188" indent="0">
                  <a:spcBef>
                    <a:spcPts val="2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sz="24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/>
                          </a:rPr>
                          <m:t>𝒕</m:t>
                        </m:r>
                        <m:r>
                          <a:rPr lang="en-US" sz="2400" b="1" i="1" smtClean="0">
                            <a:latin typeface="Cambria Math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sz="2400" b="1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b="1" i="1">
                            <a:latin typeface="Cambria Math"/>
                          </a:rPr>
                          <m:t>𝑩</m:t>
                        </m:r>
                      </m:sub>
                    </m:sSub>
                    <m:r>
                      <a:rPr lang="en-US" sz="2400" b="1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/>
                          </a:rPr>
                          <m:t>𝑨</m:t>
                        </m:r>
                      </m:e>
                      <m:sup>
                        <m:r>
                          <a:rPr lang="en-US" sz="2400" b="1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1" i="1">
                        <a:latin typeface="Cambria Math"/>
                      </a:rPr>
                      <m:t> </m:t>
                    </m:r>
                    <m:r>
                      <a:rPr lang="en-US" sz="2400" b="1" i="1">
                        <a:latin typeface="Cambria Math"/>
                      </a:rPr>
                      <m:t>𝒙</m:t>
                    </m:r>
                  </m:oMath>
                </a14:m>
                <a:r>
                  <a:rPr lang="en-US" sz="2400" b="1" dirty="0"/>
                  <a:t> </a:t>
                </a:r>
              </a:p>
              <a:p>
                <a:pPr>
                  <a:spcBef>
                    <a:spcPts val="2500"/>
                  </a:spcBef>
                </a:pPr>
                <a:r>
                  <a:rPr lang="en-US" sz="2400" dirty="0" smtClean="0"/>
                  <a:t>There is only one output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/>
                      </a:rPr>
                      <m:t>𝒚</m:t>
                    </m:r>
                  </m:oMath>
                </a14:m>
                <a:endParaRPr lang="en-US" sz="2400" b="1" dirty="0" smtClean="0"/>
              </a:p>
              <a:p>
                <a:pPr>
                  <a:spcBef>
                    <a:spcPts val="2500"/>
                  </a:spcBef>
                </a:pPr>
                <a:r>
                  <a:rPr lang="en-US" sz="2400" dirty="0" smtClean="0"/>
                  <a:t>What is the output equation?</a:t>
                </a:r>
              </a:p>
              <a:p>
                <a:pPr marL="357188" indent="0">
                  <a:spcBef>
                    <a:spcPts val="2500"/>
                  </a:spcBef>
                  <a:buNone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/>
                      </a:rPr>
                      <m:t>𝒚</m:t>
                    </m:r>
                    <m:r>
                      <a:rPr lang="en-US" sz="2400" b="1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4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/>
                          </a:rPr>
                          <m:t>𝑨</m:t>
                        </m:r>
                        <m:r>
                          <a:rPr lang="en-US" sz="2400" b="1" i="1" smtClean="0">
                            <a:latin typeface="Cambria Math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n-US" sz="2400" b="1" i="1" smtClean="0">
                        <a:latin typeface="Cambria Math"/>
                      </a:rPr>
                      <m:t> </m:t>
                    </m:r>
                    <m:r>
                      <a:rPr lang="en-US" sz="2400" b="1" i="1" smtClean="0">
                        <a:latin typeface="Cambria Math"/>
                      </a:rPr>
                      <m:t>𝒙</m:t>
                    </m:r>
                    <m:r>
                      <a:rPr lang="en-US" sz="2400" b="1" i="1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606" y="1043735"/>
                <a:ext cx="8433246" cy="5400601"/>
              </a:xfrm>
              <a:blipFill rotWithShape="1">
                <a:blip r:embed="rId3"/>
                <a:stretch>
                  <a:fillRect l="-1012" t="-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9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mudawar\Documents\+COE 202\202 Lectures\StateT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821" y="2888940"/>
            <a:ext cx="4034379" cy="355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State Table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908720"/>
                <a:ext cx="8557875" cy="18339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sz="2000" dirty="0"/>
                  <a:t>State table shows the Next State and Output in a tabular form</a:t>
                </a:r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sz="2000" dirty="0" smtClean="0"/>
                  <a:t>Next State Equations: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sz="20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/>
                          </a:rPr>
                          <m:t>𝒕</m:t>
                        </m:r>
                        <m:r>
                          <a:rPr lang="en-US" sz="2000" b="1" i="1">
                            <a:latin typeface="Cambria Math"/>
                          </a:rPr>
                          <m:t>+</m:t>
                        </m:r>
                        <m:r>
                          <a:rPr lang="en-US" sz="2000" b="1" i="1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sz="2000" b="1" i="1">
                        <a:latin typeface="Cambria Math"/>
                      </a:rPr>
                      <m:t>=</m:t>
                    </m:r>
                    <m:r>
                      <a:rPr lang="en-US" sz="2000" b="1" i="1">
                        <a:latin typeface="Cambria Math"/>
                      </a:rPr>
                      <m:t>𝑨</m:t>
                    </m:r>
                    <m:r>
                      <a:rPr lang="en-US" sz="2000" b="1" i="1">
                        <a:latin typeface="Cambria Math"/>
                      </a:rPr>
                      <m:t> </m:t>
                    </m:r>
                    <m:r>
                      <a:rPr lang="en-US" sz="2000" b="1" i="1">
                        <a:latin typeface="Cambria Math"/>
                      </a:rPr>
                      <m:t>𝒙</m:t>
                    </m:r>
                    <m:r>
                      <a:rPr lang="en-US" sz="2000" b="1" i="1">
                        <a:latin typeface="Cambria Math"/>
                      </a:rPr>
                      <m:t>+</m:t>
                    </m:r>
                    <m:r>
                      <a:rPr lang="en-US" sz="2000" b="1" i="1">
                        <a:latin typeface="Cambria Math"/>
                      </a:rPr>
                      <m:t>𝑩</m:t>
                    </m:r>
                    <m:r>
                      <a:rPr lang="en-US" sz="2000" b="1" i="1">
                        <a:latin typeface="Cambria Math"/>
                      </a:rPr>
                      <m:t> </m:t>
                    </m:r>
                    <m:r>
                      <a:rPr lang="en-US" sz="2000" b="1" i="1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 smtClean="0"/>
                  <a:t>and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sz="20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/>
                          </a:rPr>
                          <m:t>𝒕</m:t>
                        </m:r>
                        <m:r>
                          <a:rPr lang="en-US" sz="2000" b="1" i="1">
                            <a:latin typeface="Cambria Math"/>
                          </a:rPr>
                          <m:t>+</m:t>
                        </m:r>
                        <m:r>
                          <a:rPr lang="en-US" sz="2000" b="1" i="1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sz="2000" b="1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/>
                          </a:rPr>
                          <m:t>𝑨</m:t>
                        </m:r>
                      </m:e>
                      <m:sup>
                        <m:r>
                          <a:rPr lang="en-US" sz="2000" b="1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b="1" i="1">
                        <a:latin typeface="Cambria Math"/>
                      </a:rPr>
                      <m:t> </m:t>
                    </m:r>
                    <m:r>
                      <a:rPr lang="en-US" sz="2000" b="1" i="1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sz="2000" dirty="0" smtClean="0"/>
                  <a:t>Output Equation:	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𝒚</m:t>
                    </m:r>
                    <m:r>
                      <a:rPr lang="en-US" sz="2000" b="1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/>
                          </a:rPr>
                          <m:t>𝑨</m:t>
                        </m:r>
                        <m:r>
                          <a:rPr lang="en-US" sz="2000" b="1" i="1">
                            <a:latin typeface="Cambria Math"/>
                          </a:rPr>
                          <m:t>+</m:t>
                        </m:r>
                        <m:r>
                          <a:rPr lang="en-US" sz="2000" b="1" i="1"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n-US" sz="2000" b="1" i="1">
                        <a:latin typeface="Cambria Math"/>
                      </a:rPr>
                      <m:t> </m:t>
                    </m:r>
                    <m:r>
                      <a:rPr lang="en-US" sz="2000" b="1" i="1">
                        <a:latin typeface="Cambria Math"/>
                      </a:rPr>
                      <m:t>𝒙</m:t>
                    </m:r>
                    <m:r>
                      <a:rPr lang="en-US" sz="2000" b="1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 smtClean="0"/>
                  <a:t>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908720"/>
                <a:ext cx="8557875" cy="1833946"/>
              </a:xfrm>
              <a:blipFill rotWithShape="1">
                <a:blip r:embed="rId3"/>
                <a:stretch>
                  <a:fillRect l="-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97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State Diagram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7691" y="863715"/>
                <a:ext cx="8100901" cy="288032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State diagram is a graphical representation of a state table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The circles are the states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Two state variable </a:t>
                </a:r>
                <a:r>
                  <a:rPr lang="en-US" sz="2000" dirty="0" smtClean="0">
                    <a:sym typeface="Wingdings" panose="05000000000000000000" pitchFamily="2" charset="2"/>
                  </a:rPr>
                  <a:t> Four states (ALL values </a:t>
                </a:r>
                <a:r>
                  <a:rPr lang="en-US" sz="2000" dirty="0" smtClean="0"/>
                  <a:t>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𝑩</m:t>
                    </m:r>
                  </m:oMath>
                </a14:m>
                <a:r>
                  <a:rPr lang="en-US" sz="2000" dirty="0" smtClean="0"/>
                  <a:t>)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Arcs are the state transitions</a:t>
                </a:r>
              </a:p>
              <a:p>
                <a:pPr marL="357188" indent="0">
                  <a:spcBef>
                    <a:spcPts val="1500"/>
                  </a:spcBef>
                  <a:buNone/>
                </a:pPr>
                <a:r>
                  <a:rPr lang="en-US" sz="2000" dirty="0" smtClean="0"/>
                  <a:t>Labeled with: Input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 smtClean="0"/>
                  <a:t> / Output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𝒚</m:t>
                    </m:r>
                  </m:oMath>
                </a14:m>
                <a:endParaRPr lang="en-US" sz="2000" b="1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7691" y="863715"/>
                <a:ext cx="8100901" cy="2880320"/>
              </a:xfrm>
              <a:blipFill rotWithShape="1">
                <a:blip r:embed="rId2"/>
                <a:stretch>
                  <a:fillRect l="-678" t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:\Users\mudawar\Documents\+COE 202\202 Lectures\StateDiagra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689" y="2586358"/>
            <a:ext cx="3730479" cy="390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mudawar\Documents\+COE 202\202 Lectures\StateTabl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3303328"/>
            <a:ext cx="3657600" cy="322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10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Combinational versus Sequential Analysis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3735"/>
            <a:ext cx="8435280" cy="540060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500"/>
              </a:spcBef>
              <a:buNone/>
            </a:pPr>
            <a:r>
              <a:rPr lang="en-US" sz="2000" b="1" dirty="0" smtClean="0"/>
              <a:t>Analysis of Combinational Circuits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Obtain the Boolean Equations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Fill the Truth Table</a:t>
            </a:r>
          </a:p>
          <a:p>
            <a:pPr marL="0" indent="0">
              <a:lnSpc>
                <a:spcPct val="120000"/>
              </a:lnSpc>
              <a:spcBef>
                <a:spcPts val="3000"/>
              </a:spcBef>
              <a:buNone/>
            </a:pPr>
            <a:r>
              <a:rPr lang="en-US" sz="2000" b="1" dirty="0" smtClean="0"/>
              <a:t>Analysis of Sequential Circuits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Obtain the Next State Equations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Obtain the Output Equations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Fill the State Table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Draw the State Diagram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361318" y="1898831"/>
            <a:ext cx="3364990" cy="707886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</a:pPr>
            <a:r>
              <a:rPr lang="en-US" sz="2000" dirty="0"/>
              <a:t>Output </a:t>
            </a:r>
            <a:r>
              <a:rPr lang="en-US" sz="2000" dirty="0" smtClean="0"/>
              <a:t>is </a:t>
            </a:r>
            <a:r>
              <a:rPr lang="en-US" sz="2000" dirty="0"/>
              <a:t>a function of input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1319" y="5208294"/>
            <a:ext cx="3364989" cy="707886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</a:pPr>
            <a:r>
              <a:rPr lang="en-US" sz="2000" dirty="0"/>
              <a:t>Output </a:t>
            </a:r>
            <a:r>
              <a:rPr lang="en-US" sz="2000" dirty="0" smtClean="0"/>
              <a:t>is </a:t>
            </a:r>
            <a:r>
              <a:rPr lang="en-US" sz="2000" dirty="0"/>
              <a:t>a function of input </a:t>
            </a:r>
            <a:r>
              <a:rPr lang="en-US" sz="2000" dirty="0" smtClean="0"/>
              <a:t>and current state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5361319" y="4128174"/>
            <a:ext cx="3364989" cy="707886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</a:pPr>
            <a:r>
              <a:rPr lang="en-US" sz="2000" dirty="0" smtClean="0"/>
              <a:t>Next state is </a:t>
            </a:r>
            <a:r>
              <a:rPr lang="en-US" sz="2000" dirty="0"/>
              <a:t>a function of input </a:t>
            </a:r>
            <a:r>
              <a:rPr lang="en-US" sz="2000" dirty="0" smtClean="0"/>
              <a:t>and current state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5320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with Output = Current State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721"/>
                <a:ext cx="8229600" cy="283531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Analyze the sequential circuit shown below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Two inputs: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One state variable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𝐴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No separate output </a:t>
                </a:r>
                <a:r>
                  <a:rPr lang="en-US" sz="2000" dirty="0" smtClean="0">
                    <a:sym typeface="Wingdings" panose="05000000000000000000" pitchFamily="2" charset="2"/>
                  </a:rPr>
                  <a:t> </a:t>
                </a:r>
                <a:r>
                  <a:rPr lang="en-US" sz="2000" dirty="0" smtClean="0"/>
                  <a:t>Output = current state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𝐴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Obtain the next state equation, state table, and state diagram</a:t>
                </a: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1"/>
                <a:ext cx="8229600" cy="2835315"/>
              </a:xfrm>
              <a:blipFill rotWithShape="1">
                <a:blip r:embed="rId2"/>
                <a:stretch>
                  <a:fillRect l="-593" t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mudawar\Documents\+COE 202\202 Lectures\SequentialCircuit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62" y="3834046"/>
            <a:ext cx="7088057" cy="262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82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udawar\Documents\+COE 202\202 Lectures\SequentialCircuit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8" y="949974"/>
            <a:ext cx="6202050" cy="229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</a:t>
            </a:r>
            <a:r>
              <a:rPr lang="en-US" dirty="0"/>
              <a:t>with Output = Current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573906"/>
                <a:ext cx="6067325" cy="184520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000"/>
                  </a:spcBef>
                </a:pPr>
                <a:r>
                  <a:rPr lang="en-US" sz="2000" dirty="0" smtClean="0"/>
                  <a:t>Flip-Flop Input Equation:</a:t>
                </a:r>
              </a:p>
              <a:p>
                <a:pPr marL="357188" indent="0"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ambria Math"/>
                    <a:ea typeface="Cambria Math"/>
                  </a:rPr>
                  <a:t>⨁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>
                    <a:latin typeface="Cambria Math"/>
                    <a:ea typeface="Cambria Math"/>
                  </a:rPr>
                  <a:t>⨁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  <a:ea typeface="Cambria Math"/>
                      </a:rPr>
                      <m:t>𝑦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2000"/>
                  </a:spcBef>
                </a:pPr>
                <a:r>
                  <a:rPr lang="en-US" sz="2000" dirty="0" smtClean="0"/>
                  <a:t>Next State Equation: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𝑡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ambria Math"/>
                    <a:ea typeface="Cambria Math"/>
                  </a:rPr>
                  <a:t>⨁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ambria Math"/>
                    <a:ea typeface="Cambria Math"/>
                  </a:rPr>
                  <a:t>⨁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Cambria Math"/>
                      </a:rPr>
                      <m:t>𝑦</m:t>
                    </m:r>
                  </m:oMath>
                </a14:m>
                <a:endParaRPr lang="en-US" sz="20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573906"/>
                <a:ext cx="6067325" cy="1845205"/>
              </a:xfrm>
              <a:blipFill rotWithShape="1">
                <a:blip r:embed="rId3"/>
                <a:stretch>
                  <a:fillRect l="-804" t="-1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:\Users\mudawar\Documents\+COE 202\202 Lectures\StateTable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753" y="2798930"/>
            <a:ext cx="2184555" cy="358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mudawar\Documents\+COE 202\202 Lectures\StateDiagram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65" y="4785191"/>
            <a:ext cx="5687108" cy="147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30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udawar\Documents\+COE 202\202 Lectures\SequentialCircui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06" y="1043735"/>
            <a:ext cx="5953357" cy="551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Sequential Circuit with T Flip-Flops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05828" y="1943836"/>
                <a:ext cx="4445109" cy="4545505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dirty="0" smtClean="0"/>
                  <a:t>Circuit has two T Flip-Flops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dirty="0" smtClean="0"/>
                  <a:t>One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</m:oMath>
                </a14:m>
                <a:endParaRPr lang="en-US" sz="2000" dirty="0" smtClean="0"/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dirty="0" smtClean="0"/>
                  <a:t>One output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</m:oMath>
                </a14:m>
                <a:endParaRPr lang="en-US" sz="2000" dirty="0" smtClean="0"/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dirty="0" smtClean="0"/>
                  <a:t>Two state variables: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𝐵</m:t>
                    </m:r>
                  </m:oMath>
                </a14:m>
                <a:endParaRPr lang="en-US" sz="2000" dirty="0" smtClean="0"/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Obtain the T-FF input equations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Obtain the next state equations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Fill the state table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Draw the state diagram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05828" y="1943836"/>
                <a:ext cx="4445109" cy="4545505"/>
              </a:xfrm>
              <a:blipFill rotWithShape="1">
                <a:blip r:embed="rId3"/>
                <a:stretch>
                  <a:fillRect l="-1509" t="-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01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Recall: Flip-Flop Characteristic Equation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88741"/>
                <a:ext cx="8229600" cy="220524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3000"/>
                  </a:spcBef>
                </a:pPr>
                <a:r>
                  <a:rPr lang="en-US" sz="2000" dirty="0" smtClean="0"/>
                  <a:t>For D Flip-Flop: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𝐷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3000"/>
                  </a:spcBef>
                </a:pPr>
                <a:r>
                  <a:rPr lang="en-US" sz="2000" dirty="0"/>
                  <a:t>For T Flip-Flop: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  <m:r>
                          <a:rPr lang="en-US" sz="2000" i="1">
                            <a:latin typeface="Cambria Math"/>
                          </a:rPr>
                          <m:t>+</m:t>
                        </m:r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𝑇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ea typeface="Cambria Math"/>
                  </a:rPr>
                  <a:t>⨁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𝑄</m:t>
                    </m:r>
                    <m:r>
                      <a:rPr lang="en-US" sz="2000" i="1">
                        <a:latin typeface="Cambria Math"/>
                      </a:rPr>
                      <m:t>(</m:t>
                    </m:r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3000"/>
                  </a:spcBef>
                </a:pPr>
                <a:r>
                  <a:rPr lang="en-US" sz="2000" dirty="0" smtClean="0"/>
                  <a:t>For JK Flip-Flop: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  <m:r>
                          <a:rPr lang="en-US" sz="2000" i="1">
                            <a:latin typeface="Cambria Math"/>
                          </a:rPr>
                          <m:t>+</m:t>
                        </m:r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𝐽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</a:rPr>
                          <m:t>𝐾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𝑄</m:t>
                    </m:r>
                    <m:r>
                      <a:rPr lang="en-US" sz="2000" b="0" i="1" smtClean="0">
                        <a:latin typeface="Cambria Math"/>
                      </a:rPr>
                      <m:t>(</m:t>
                    </m:r>
                    <m:r>
                      <a:rPr lang="en-US" sz="2000" b="0" i="1" smtClean="0">
                        <a:latin typeface="Cambria Math"/>
                      </a:rPr>
                      <m:t>𝑡</m:t>
                    </m:r>
                    <m:r>
                      <a:rPr lang="en-US" sz="2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	</a:t>
                </a:r>
                <a:endParaRPr lang="en-US" sz="20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88741"/>
                <a:ext cx="8229600" cy="2205245"/>
              </a:xfrm>
              <a:blipFill rotWithShape="1">
                <a:blip r:embed="rId2"/>
                <a:stretch>
                  <a:fillRect l="-593" t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608434"/>
              </p:ext>
            </p:extLst>
          </p:nvPr>
        </p:nvGraphicFramePr>
        <p:xfrm>
          <a:off x="542322" y="3477762"/>
          <a:ext cx="1869438" cy="184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/>
                <a:gridCol w="1246292"/>
              </a:tblGrid>
              <a:tr h="512557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 Flip-Flop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endParaRPr lang="en-US" sz="1800" b="1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lang="en-US" sz="1800" b="1" i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8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en-US" sz="1800" b="1" i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+1)</a:t>
                      </a:r>
                      <a:endParaRPr lang="en-US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  </a:t>
                      </a:r>
                      <a:r>
                        <a:rPr lang="en-US" sz="18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Reset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</a:t>
                      </a:r>
                      <a:r>
                        <a:rPr lang="en-US" sz="18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800" baseline="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Set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583838"/>
              </p:ext>
            </p:extLst>
          </p:nvPr>
        </p:nvGraphicFramePr>
        <p:xfrm>
          <a:off x="5776749" y="3474006"/>
          <a:ext cx="3074187" cy="2733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318"/>
                <a:gridCol w="2284869"/>
              </a:tblGrid>
              <a:tr h="512557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JK Flip-Flop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J</a:t>
                      </a:r>
                      <a:r>
                        <a:rPr lang="en-US" sz="1800" b="1" i="1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K</a:t>
                      </a:r>
                      <a:endParaRPr lang="en-US" sz="1800" b="1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lang="en-US" sz="1800" b="1" i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8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en-US" sz="1800" b="1" i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+1)</a:t>
                      </a:r>
                      <a:endParaRPr lang="en-US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Q(t)  </a:t>
                      </a:r>
                      <a:r>
                        <a:rPr lang="en-US" sz="18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No change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0</a:t>
                      </a:r>
                      <a:r>
                        <a:rPr lang="en-US" sz="18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800" baseline="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Reset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1   </a:t>
                      </a:r>
                      <a:r>
                        <a:rPr lang="en-US" sz="18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Set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Q'(t) </a:t>
                      </a:r>
                      <a:r>
                        <a:rPr lang="en-US" sz="18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Complement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838760"/>
              </p:ext>
            </p:extLst>
          </p:nvPr>
        </p:nvGraphicFramePr>
        <p:xfrm>
          <a:off x="2661019" y="3474006"/>
          <a:ext cx="2866472" cy="184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689"/>
                <a:gridCol w="2201783"/>
              </a:tblGrid>
              <a:tr h="512557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 Flip-Flop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endParaRPr lang="en-US" sz="2000" b="1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lang="en-US" sz="1800" b="1" i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800" b="1" i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en-US" sz="1800" b="1" i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+1)</a:t>
                      </a:r>
                      <a:endParaRPr lang="en-US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Q(t)  </a:t>
                      </a:r>
                      <a:r>
                        <a:rPr lang="en-US" sz="18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No change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Q'(t) </a:t>
                      </a:r>
                      <a:r>
                        <a:rPr lang="en-US" sz="18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Complement</a:t>
                      </a:r>
                    </a:p>
                  </a:txBody>
                  <a:tcPr marL="84406" marR="8440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2921" y="1299466"/>
            <a:ext cx="2908016" cy="104941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90000" tIns="0" rIns="9000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 smtClean="0">
                <a:latin typeface="+mn-lt"/>
                <a:cs typeface="Times New Roman" panose="02020603050405020304" pitchFamily="18" charset="0"/>
              </a:rPr>
              <a:t>These equations define the Next State</a:t>
            </a:r>
          </a:p>
        </p:txBody>
      </p:sp>
    </p:spTree>
    <p:extLst>
      <p:ext uri="{BB962C8B-B14F-4D97-AF65-F5344CB8AC3E}">
        <p14:creationId xmlns:p14="http://schemas.microsoft.com/office/powerpoint/2010/main" val="302614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udawar\Documents\+COE 202\202 Lectures\SequentialCircui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06" y="1043735"/>
            <a:ext cx="5953357" cy="551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Sequential Circuit with T Flip-Flops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0" y="1988840"/>
                <a:ext cx="4320480" cy="4387670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b="1" dirty="0" smtClean="0"/>
                  <a:t>T Flip-Flop Input Equations: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000" i="1" dirty="0" smtClean="0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</a:rPr>
                      <m:t>𝐵</m:t>
                    </m:r>
                    <m:r>
                      <a:rPr lang="en-US" sz="2000" b="0" i="1" dirty="0" smtClean="0">
                        <a:latin typeface="Cambria Math"/>
                      </a:rPr>
                      <m:t> </m:t>
                    </m:r>
                    <m:r>
                      <a:rPr lang="en-US" sz="2000" b="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b="1" dirty="0" smtClean="0"/>
                  <a:t>Next State Equations: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𝐴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latin typeface="Cambria Math"/>
                      </a:rPr>
                      <m:t>1</m:t>
                    </m:r>
                    <m:r>
                      <a:rPr lang="en-US" sz="2000" i="1" dirty="0" smtClean="0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smtClean="0">
                    <a:latin typeface="Cambria Math"/>
                    <a:ea typeface="Cambria Math"/>
                  </a:rPr>
                  <a:t>⨁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𝐴</m:t>
                    </m:r>
                    <m:r>
                      <a:rPr lang="en-US" sz="2000" b="0" i="1" smtClean="0">
                        <a:latin typeface="Cambria Math"/>
                      </a:rPr>
                      <m:t>=(</m:t>
                    </m:r>
                    <m:r>
                      <a:rPr lang="en-US" sz="2000" b="0" i="1" smtClean="0">
                        <a:latin typeface="Cambria Math"/>
                      </a:rPr>
                      <m:t>𝐵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smtClean="0">
                    <a:latin typeface="Cambria Math"/>
                    <a:ea typeface="Cambria Math"/>
                  </a:rPr>
                  <a:t>⨁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endParaRPr lang="en-US" sz="2000" dirty="0" smtClean="0"/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𝐵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latin typeface="Cambria Math"/>
                      </a:rPr>
                      <m:t>1</m:t>
                    </m:r>
                    <m:r>
                      <a:rPr lang="en-US" sz="2000" i="1" dirty="0" smtClean="0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>
                    <a:latin typeface="Cambria Math"/>
                    <a:ea typeface="Cambria Math"/>
                  </a:rPr>
                  <a:t>⨁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𝐵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ambria Math"/>
                    <a:ea typeface="Cambria Math"/>
                  </a:rPr>
                  <a:t>⨁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𝐵</m:t>
                    </m:r>
                  </m:oMath>
                </a14:m>
                <a:endParaRPr lang="en-US" sz="2000" dirty="0" smtClean="0"/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b="1" dirty="0" smtClean="0"/>
                  <a:t>Output Equation: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𝑦</m:t>
                    </m:r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</a:rPr>
                      <m:t>𝐴</m:t>
                    </m:r>
                    <m:r>
                      <a:rPr lang="en-US" sz="2000" b="0" i="1" dirty="0" smtClean="0">
                        <a:latin typeface="Cambria Math"/>
                      </a:rPr>
                      <m:t> </m:t>
                    </m:r>
                    <m:r>
                      <a:rPr lang="en-US" sz="2000" b="0" i="1" dirty="0" smtClean="0">
                        <a:latin typeface="Cambria Math"/>
                      </a:rPr>
                      <m:t>𝐵</m:t>
                    </m:r>
                    <m:r>
                      <a:rPr lang="en-US" sz="2000" b="0" i="0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 smtClean="0"/>
                  <a:t>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0" y="1988840"/>
                <a:ext cx="4320480" cy="4387670"/>
              </a:xfrm>
              <a:blipFill rotWithShape="1">
                <a:blip r:embed="rId3"/>
                <a:stretch>
                  <a:fillRect l="-1410" t="-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1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From Next State Equations to State Table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7693" y="998731"/>
                <a:ext cx="3697334" cy="5355595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2500"/>
                  </a:spcBef>
                  <a:buNone/>
                </a:pPr>
                <a:r>
                  <a:rPr lang="en-US" sz="2000" dirty="0" smtClean="0"/>
                  <a:t>T Flip-Flop Input Equations:</a:t>
                </a:r>
              </a:p>
              <a:p>
                <a:pPr marL="0" indent="0">
                  <a:spcBef>
                    <a:spcPts val="2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i="1" dirty="0">
                        <a:latin typeface="Cambria Math"/>
                      </a:rPr>
                      <m:t>𝐵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spcBef>
                    <a:spcPts val="2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  </a:t>
                </a:r>
              </a:p>
              <a:p>
                <a:pPr marL="0" indent="0">
                  <a:spcBef>
                    <a:spcPts val="2500"/>
                  </a:spcBef>
                  <a:buNone/>
                </a:pPr>
                <a:r>
                  <a:rPr lang="en-US" sz="2000" dirty="0" smtClean="0"/>
                  <a:t>Next State </a:t>
                </a:r>
                <a:r>
                  <a:rPr lang="en-US" sz="2000" dirty="0"/>
                  <a:t>Equations:</a:t>
                </a:r>
              </a:p>
              <a:p>
                <a:pPr marL="0" indent="0">
                  <a:spcBef>
                    <a:spcPts val="2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+</m:t>
                        </m:r>
                        <m:r>
                          <a:rPr lang="en-US" sz="2000" i="1" dirty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</a:rPr>
                      <m:t>(</m:t>
                    </m:r>
                    <m:r>
                      <a:rPr lang="en-US" sz="2000" i="1">
                        <a:latin typeface="Cambria Math"/>
                      </a:rPr>
                      <m:t>𝐵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</a:rPr>
                      <m:t>𝑥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ambria Math"/>
                    <a:ea typeface="Cambria Math"/>
                  </a:rPr>
                  <a:t>⨁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endParaRPr lang="en-US" sz="2000" dirty="0"/>
              </a:p>
              <a:p>
                <a:pPr marL="0" indent="0">
                  <a:spcBef>
                    <a:spcPts val="2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𝐵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+</m:t>
                    </m:r>
                    <m:r>
                      <a:rPr lang="en-US" sz="2000" i="1" dirty="0">
                        <a:latin typeface="Cambria Math"/>
                      </a:rPr>
                      <m:t>1</m:t>
                    </m:r>
                    <m:r>
                      <a:rPr lang="en-US" sz="2000" i="1" dirty="0">
                        <a:latin typeface="Cambria Math"/>
                      </a:rPr>
                      <m:t>)=</m:t>
                    </m:r>
                    <m:r>
                      <a:rPr lang="en-US" sz="20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ambria Math"/>
                    <a:ea typeface="Cambria Math"/>
                  </a:rPr>
                  <a:t>⨁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𝐵</m:t>
                    </m:r>
                  </m:oMath>
                </a14:m>
                <a:endParaRPr lang="en-US" sz="2000" dirty="0"/>
              </a:p>
              <a:p>
                <a:pPr marL="0" indent="0">
                  <a:spcBef>
                    <a:spcPts val="2500"/>
                  </a:spcBef>
                  <a:buNone/>
                </a:pPr>
                <a:r>
                  <a:rPr lang="en-US" sz="2000" dirty="0"/>
                  <a:t>Output Equation:</a:t>
                </a:r>
              </a:p>
              <a:p>
                <a:pPr marL="0" indent="0">
                  <a:spcBef>
                    <a:spcPts val="2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𝑦</m:t>
                    </m:r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i="1" dirty="0">
                        <a:latin typeface="Cambria Math"/>
                      </a:rPr>
                      <m:t>𝐴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  <m:r>
                      <a:rPr lang="en-US" sz="2000" i="1" dirty="0">
                        <a:latin typeface="Cambria Math"/>
                      </a:rPr>
                      <m:t>𝐵</m:t>
                    </m:r>
                    <m:r>
                      <a:rPr lang="en-US" sz="2000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>
                  <a:spcBef>
                    <a:spcPts val="2500"/>
                  </a:spcBef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7693" y="998731"/>
                <a:ext cx="3697334" cy="5355595"/>
              </a:xfrm>
              <a:blipFill rotWithShape="1">
                <a:blip r:embed="rId2"/>
                <a:stretch>
                  <a:fillRect l="-1815" t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3" name="Picture 5" descr="C:\Users\mudawar\Documents\+COE 202\202 Lectures\StateTab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564" y="1564438"/>
            <a:ext cx="4723658" cy="321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919565" y="4914166"/>
                <a:ext cx="4723658" cy="1530169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lIns="180000" tIns="0" rIns="180000" bIns="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dirty="0" smtClean="0">
                    <a:cs typeface="Times New Roman" panose="02020603050405020304" pitchFamily="18" charset="0"/>
                  </a:rPr>
                  <a:t>Notice that the output is a function of the present state only.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2000" dirty="0" smtClean="0">
                    <a:cs typeface="Times New Roman" panose="02020603050405020304" pitchFamily="18" charset="0"/>
                  </a:rPr>
                  <a:t>It does </a:t>
                </a:r>
                <a:r>
                  <a:rPr lang="en-US" sz="2000" b="1" dirty="0" smtClean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NOT</a:t>
                </a:r>
                <a:r>
                  <a:rPr lang="en-US" sz="2000" dirty="0" smtClean="0">
                    <a:cs typeface="Times New Roman" panose="02020603050405020304" pitchFamily="18" charset="0"/>
                  </a:rPr>
                  <a:t> depend on the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sz="2000" dirty="0" smtClean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65" y="4914166"/>
                <a:ext cx="4723658" cy="153016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502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From State Table to State Diagram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869160"/>
                <a:ext cx="7604418" cy="1665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1800" dirty="0" smtClean="0"/>
                  <a:t>Four States: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𝐴𝐵</m:t>
                    </m:r>
                    <m:r>
                      <a:rPr lang="en-US" sz="1800" i="1" dirty="0" smtClean="0">
                        <a:latin typeface="Cambria Math"/>
                      </a:rPr>
                      <m:t>=</m:t>
                    </m:r>
                    <m:r>
                      <a:rPr lang="en-US" sz="1800" i="1" dirty="0" smtClean="0">
                        <a:latin typeface="Cambria Math"/>
                      </a:rPr>
                      <m:t>00</m:t>
                    </m:r>
                    <m:r>
                      <a:rPr lang="en-US" sz="1800" i="1" dirty="0" smtClean="0">
                        <a:latin typeface="Cambria Math"/>
                      </a:rPr>
                      <m:t>,  </m:t>
                    </m:r>
                    <m:r>
                      <a:rPr lang="en-US" sz="1800" i="1" dirty="0" smtClean="0">
                        <a:latin typeface="Cambria Math"/>
                      </a:rPr>
                      <m:t>01</m:t>
                    </m:r>
                    <m:r>
                      <a:rPr lang="en-US" sz="1800" i="1" dirty="0" smtClean="0">
                        <a:latin typeface="Cambria Math"/>
                      </a:rPr>
                      <m:t>,  </m:t>
                    </m:r>
                    <m:r>
                      <a:rPr lang="en-US" sz="1800" i="1" dirty="0" smtClean="0">
                        <a:latin typeface="Cambria Math"/>
                      </a:rPr>
                      <m:t>10</m:t>
                    </m:r>
                    <m:r>
                      <a:rPr lang="en-US" sz="1800" i="1" dirty="0" smtClean="0">
                        <a:latin typeface="Cambria Math"/>
                      </a:rPr>
                      <m:t>,  </m:t>
                    </m:r>
                    <m:r>
                      <a:rPr lang="en-US" sz="1800" i="1" dirty="0" smtClean="0">
                        <a:latin typeface="Cambria Math"/>
                      </a:rPr>
                      <m:t>11</m:t>
                    </m:r>
                  </m:oMath>
                </a14:m>
                <a:r>
                  <a:rPr lang="en-US" sz="1800" dirty="0" smtClean="0"/>
                  <a:t> (drawn as circles)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1800" dirty="0" smtClean="0"/>
                  <a:t>Output Equation: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𝑦</m:t>
                    </m:r>
                    <m:r>
                      <a:rPr lang="en-US" sz="1800" i="1" dirty="0">
                        <a:latin typeface="Cambria Math"/>
                      </a:rPr>
                      <m:t>=</m:t>
                    </m:r>
                    <m:r>
                      <a:rPr lang="en-US" sz="1800" i="1" dirty="0">
                        <a:latin typeface="Cambria Math"/>
                      </a:rPr>
                      <m:t>𝐴</m:t>
                    </m:r>
                    <m:r>
                      <a:rPr lang="en-US" sz="1800" i="1" dirty="0">
                        <a:latin typeface="Cambria Math"/>
                      </a:rPr>
                      <m:t> </m:t>
                    </m:r>
                    <m:r>
                      <a:rPr lang="en-US" sz="1800" i="1" dirty="0">
                        <a:latin typeface="Cambria Math"/>
                      </a:rPr>
                      <m:t>𝐵</m:t>
                    </m:r>
                    <m:r>
                      <a:rPr lang="en-US" sz="1800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 smtClean="0"/>
                  <a:t>(does not depend on input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1800" dirty="0" smtClean="0"/>
                  <a:t>)</a:t>
                </a:r>
                <a:endParaRPr lang="en-US" sz="1800" dirty="0"/>
              </a:p>
              <a:p>
                <a:pPr>
                  <a:spcBef>
                    <a:spcPts val="1500"/>
                  </a:spcBef>
                </a:pPr>
                <a:r>
                  <a:rPr lang="en-US" sz="1800" dirty="0" smtClean="0"/>
                  <a:t>Output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1800" dirty="0" smtClean="0"/>
                  <a:t> is shown inside the state circle (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𝐴𝐵</m:t>
                    </m:r>
                    <m:r>
                      <a:rPr lang="en-US" sz="1800" i="1" dirty="0" smtClean="0">
                        <a:latin typeface="Cambria Math"/>
                      </a:rPr>
                      <m:t>/</m:t>
                    </m:r>
                    <m:r>
                      <a:rPr lang="en-US" sz="18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1800" dirty="0" smtClean="0"/>
                  <a:t>)</a:t>
                </a:r>
                <a:endParaRPr lang="en-US"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869160"/>
                <a:ext cx="7604418" cy="1665185"/>
              </a:xfrm>
              <a:blipFill rotWithShape="1">
                <a:blip r:embed="rId2"/>
                <a:stretch>
                  <a:fillRect l="-481" t="-1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7" descr="C:\Users\mudawar\Documents\+COE 202\202 Lectures\StateDiagra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147" y="908722"/>
            <a:ext cx="2713075" cy="372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 descr="C:\Users\mudawar\Documents\+COE 202\202 Lectures\StateTabl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08" y="1133745"/>
            <a:ext cx="4723658" cy="321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936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mudawar\Documents\+COE 202\202 Lectures\SequentialCircuit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686" y="2829848"/>
            <a:ext cx="5575165" cy="374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Sequential Circuit with a </a:t>
            </a:r>
            <a:r>
              <a:rPr lang="en-US" dirty="0" smtClean="0"/>
              <a:t>JK Flip-Flops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3064" y="998731"/>
                <a:ext cx="8640960" cy="4230469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3000"/>
                  </a:spcBef>
                  <a:buNone/>
                </a:pPr>
                <a:r>
                  <a:rPr lang="en-US" sz="2000" dirty="0" smtClean="0"/>
                  <a:t>One Input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 smtClean="0"/>
                  <a:t> and two </a:t>
                </a:r>
                <a:r>
                  <a:rPr lang="en-US" sz="2000" dirty="0"/>
                  <a:t>state variables: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𝐵</m:t>
                    </m:r>
                  </m:oMath>
                </a14:m>
                <a:r>
                  <a:rPr lang="en-US" sz="2000" dirty="0" smtClean="0"/>
                  <a:t> (outputs of Flip-Flops)</a:t>
                </a:r>
                <a:endParaRPr lang="en-US" sz="2000" dirty="0"/>
              </a:p>
              <a:p>
                <a:pPr marL="0" indent="0">
                  <a:spcBef>
                    <a:spcPts val="3000"/>
                  </a:spcBef>
                  <a:buNone/>
                </a:pPr>
                <a:r>
                  <a:rPr lang="en-US" sz="2000" dirty="0" smtClean="0"/>
                  <a:t>No separate output </a:t>
                </a:r>
                <a:r>
                  <a:rPr lang="en-US" sz="2000" dirty="0" smtClean="0">
                    <a:sym typeface="Wingdings" panose="05000000000000000000" pitchFamily="2" charset="2"/>
                  </a:rPr>
                  <a:t> </a:t>
                </a:r>
                <a:r>
                  <a:rPr lang="en-US" sz="2000" dirty="0" smtClean="0"/>
                  <a:t>Output = Current state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𝐴</m:t>
                    </m:r>
                    <m:r>
                      <a:rPr lang="en-US" sz="2000" b="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𝐵</m:t>
                    </m:r>
                  </m:oMath>
                </a14:m>
                <a:endParaRPr lang="en-US" sz="2000" dirty="0" smtClean="0"/>
              </a:p>
              <a:p>
                <a:pPr marL="0" indent="0">
                  <a:spcBef>
                    <a:spcPts val="3000"/>
                  </a:spcBef>
                  <a:buNone/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Obtain the JK input equations</a:t>
                </a:r>
              </a:p>
              <a:p>
                <a:pPr marL="0" indent="0">
                  <a:spcBef>
                    <a:spcPts val="3000"/>
                  </a:spcBef>
                  <a:buNone/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Obtain the next state equations</a:t>
                </a:r>
              </a:p>
              <a:p>
                <a:pPr marL="0" indent="0">
                  <a:spcBef>
                    <a:spcPts val="3000"/>
                  </a:spcBef>
                  <a:buNone/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Fill the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state table</a:t>
                </a:r>
              </a:p>
              <a:p>
                <a:pPr marL="0" indent="0">
                  <a:spcBef>
                    <a:spcPts val="3000"/>
                  </a:spcBef>
                  <a:buNone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Draw the state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diagram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064" y="998731"/>
                <a:ext cx="8640960" cy="4230469"/>
              </a:xfrm>
              <a:blipFill rotWithShape="1">
                <a:blip r:embed="rId3"/>
                <a:stretch>
                  <a:fillRect l="-705" t="-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57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mudawar\Documents\+COE 202\202 Lectures\SequentialCircuit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686" y="1524703"/>
            <a:ext cx="5575165" cy="374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JK Input and Next State Equations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7693" y="953726"/>
                <a:ext cx="4278937" cy="1665185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b="1" dirty="0" smtClean="0"/>
                  <a:t>JK Flip-Flop Input Equations: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</a:rPr>
                      <m:t>𝐵</m:t>
                    </m:r>
                    <m:r>
                      <a:rPr lang="en-US" sz="2000" b="0" i="1" dirty="0" smtClean="0">
                        <a:latin typeface="Cambria Math"/>
                      </a:rPr>
                      <m:t> </m:t>
                    </m:r>
                    <m:r>
                      <a:rPr lang="en-US" sz="2000" b="0" i="1" dirty="0" smtClean="0">
                        <a:latin typeface="Cambria Math"/>
                      </a:rPr>
                      <m:t>𝑥</m:t>
                    </m:r>
                    <m:r>
                      <a:rPr lang="en-US" sz="2000" b="0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sz="2000" dirty="0" smtClean="0"/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</a:rPr>
                      <m:t>𝑥</m:t>
                    </m:r>
                    <m:r>
                      <a:rPr lang="en-US" sz="20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smtClean="0">
                    <a:latin typeface="Cambria Math"/>
                    <a:ea typeface="Cambria Math"/>
                  </a:rPr>
                  <a:t>⨁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Cambria Math"/>
                      </a:rPr>
                      <m:t>𝑥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7693" y="953726"/>
                <a:ext cx="4278937" cy="1665185"/>
              </a:xfrm>
              <a:blipFill rotWithShape="1">
                <a:blip r:embed="rId3"/>
                <a:stretch>
                  <a:fillRect l="-1569" t="-1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431441" y="3023955"/>
                <a:ext cx="2627964" cy="13080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b="1" dirty="0" smtClean="0"/>
                  <a:t>Next State Equations:</a:t>
                </a:r>
              </a:p>
              <a:p>
                <a:pPr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r>
                          <a:rPr lang="en-US" i="1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r>
                          <a:rPr lang="en-US" i="1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41" y="3023955"/>
                <a:ext cx="2627964" cy="1308050"/>
              </a:xfrm>
              <a:prstGeom prst="rect">
                <a:avLst/>
              </a:prstGeom>
              <a:blipFill rotWithShape="1">
                <a:blip r:embed="rId4"/>
                <a:stretch>
                  <a:fillRect l="-2088" t="-2326" b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28003" y="4949297"/>
                <a:ext cx="7633615" cy="13080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b="1" dirty="0" smtClean="0"/>
                  <a:t>Substituting:</a:t>
                </a:r>
              </a:p>
              <a:p>
                <a:pPr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r>
                          <a:rPr lang="en-US" i="1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𝐵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𝐵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𝐵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𝐴𝑥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r>
                          <a:rPr lang="en-US" i="1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 ⨁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𝐵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𝐵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𝐵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03" y="4949297"/>
                <a:ext cx="7633615" cy="1308050"/>
              </a:xfrm>
              <a:prstGeom prst="rect">
                <a:avLst/>
              </a:prstGeom>
              <a:blipFill rotWithShape="1">
                <a:blip r:embed="rId5"/>
                <a:stretch>
                  <a:fillRect l="-639" t="-2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405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From </a:t>
            </a:r>
            <a:r>
              <a:rPr lang="en-US" dirty="0" smtClean="0"/>
              <a:t>JK Input Equations </a:t>
            </a:r>
            <a:r>
              <a:rPr lang="en-US" dirty="0"/>
              <a:t>to State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4607" y="998731"/>
                <a:ext cx="8516331" cy="900100"/>
              </a:xfrm>
              <a:ln w="25400">
                <a:solidFill>
                  <a:srgbClr val="FF0000"/>
                </a:solidFill>
              </a:ln>
            </p:spPr>
            <p:txBody>
              <a:bodyPr anchor="ctr" anchorCtr="0">
                <a:noAutofit/>
              </a:bodyPr>
              <a:lstStyle/>
              <a:p>
                <a:pPr marL="0" indent="0" algn="ctr">
                  <a:spcBef>
                    <a:spcPts val="1500"/>
                  </a:spcBef>
                  <a:buNone/>
                </a:pPr>
                <a:r>
                  <a:rPr lang="en-US" sz="2400" b="1" dirty="0"/>
                  <a:t>JK </a:t>
                </a:r>
                <a:r>
                  <a:rPr lang="en-US" sz="2400" b="1" dirty="0" smtClean="0"/>
                  <a:t>Input </a:t>
                </a:r>
                <a:r>
                  <a:rPr lang="en-US" sz="2400" b="1" dirty="0"/>
                  <a:t>Equations</a:t>
                </a:r>
                <a:r>
                  <a:rPr lang="en-US" sz="2400" b="1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latin typeface="Cambria Math"/>
                      </a:rPr>
                      <m:t>𝐵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latin typeface="Cambria Math"/>
                      </a:rPr>
                      <m:t>𝐵</m:t>
                    </m:r>
                    <m:r>
                      <a:rPr lang="en-US" sz="2400" i="1" dirty="0">
                        <a:latin typeface="Cambria Math"/>
                      </a:rPr>
                      <m:t> 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 smtClean="0"/>
                  <a:t> 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latin typeface="Cambria Math"/>
                      </a:rPr>
                      <m:t>𝐴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Cambria Math"/>
                    <a:ea typeface="Cambria Math"/>
                  </a:rPr>
                  <a:t>⨁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</a:rPr>
                      <m:t>𝑥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607" y="998731"/>
                <a:ext cx="8516331" cy="900100"/>
              </a:xfrm>
              <a:blipFill rotWithShape="1">
                <a:blip r:embed="rId2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C:\Users\mudawar\Documents\+COE 202\202 Lectures\StateTable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7" y="2163148"/>
            <a:ext cx="7538034" cy="423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417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From State Table to State Diagram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65468" y="908720"/>
                <a:ext cx="7145408" cy="1035114"/>
              </a:xfrm>
              <a:ln w="25400">
                <a:solidFill>
                  <a:srgbClr val="FF0000"/>
                </a:solidFill>
              </a:ln>
            </p:spPr>
            <p:txBody>
              <a:bodyPr anchor="ctr" anchorCtr="0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800" dirty="0" smtClean="0"/>
                  <a:t>Four states: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𝐴</m:t>
                    </m:r>
                    <m:r>
                      <a:rPr lang="en-US" sz="1800" b="0" i="1" dirty="0" smtClean="0">
                        <a:latin typeface="Cambria Math"/>
                      </a:rPr>
                      <m:t> </m:t>
                    </m:r>
                    <m:r>
                      <a:rPr lang="en-US" sz="1800" i="1" dirty="0" smtClean="0">
                        <a:latin typeface="Cambria Math"/>
                      </a:rPr>
                      <m:t>𝐵</m:t>
                    </m:r>
                    <m:r>
                      <a:rPr lang="en-US" sz="1800" i="1" dirty="0" smtClean="0">
                        <a:latin typeface="Cambria Math"/>
                      </a:rPr>
                      <m:t>=00, 01, 10, </m:t>
                    </m:r>
                    <m:r>
                      <a:rPr lang="en-US" sz="1800" b="0" i="1" dirty="0" smtClean="0">
                        <a:latin typeface="Cambria Math"/>
                      </a:rPr>
                      <m:t>𝑎𝑛𝑑</m:t>
                    </m:r>
                    <m:r>
                      <a:rPr lang="en-US" sz="1800" b="0" i="1" dirty="0" smtClean="0">
                        <a:latin typeface="Cambria Math"/>
                      </a:rPr>
                      <m:t> 11</m:t>
                    </m:r>
                  </m:oMath>
                </a14:m>
                <a:r>
                  <a:rPr lang="en-US" sz="1800" dirty="0" smtClean="0"/>
                  <a:t> (drawn as circles)</a:t>
                </a:r>
              </a:p>
              <a:p>
                <a:pPr marL="0" indent="0" algn="ctr">
                  <a:buNone/>
                </a:pPr>
                <a:r>
                  <a:rPr lang="en-US" sz="1800" dirty="0" smtClean="0"/>
                  <a:t>Arcs show the input value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1800" dirty="0" smtClean="0"/>
                  <a:t> on the state transition</a:t>
                </a:r>
                <a:endParaRPr lang="en-US"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5468" y="908720"/>
                <a:ext cx="7145408" cy="1035114"/>
              </a:xfrm>
              <a:blipFill rotWithShape="1">
                <a:blip r:embed="rId2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C:\Users\mudawar\Documents\+COE 202\202 Lectures\StateDiagram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833" y="2123856"/>
            <a:ext cx="3523475" cy="4453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mudawar\Documents\+COE 202\202 Lectures\StateTable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25" y="2033845"/>
            <a:ext cx="4136405" cy="4540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16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1115</Words>
  <Application>Microsoft Office PowerPoint</Application>
  <PresentationFormat>On-screen Show (4:3)</PresentationFormat>
  <Paragraphs>164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Analysis of Sequential Circuits</vt:lpstr>
      <vt:lpstr>Outline</vt:lpstr>
      <vt:lpstr>Analysis of Clocked Sequential Circuits</vt:lpstr>
      <vt:lpstr>Analysis Example</vt:lpstr>
      <vt:lpstr>Flip-Flop Input Equations</vt:lpstr>
      <vt:lpstr>Next State and Output Equations</vt:lpstr>
      <vt:lpstr>State Table</vt:lpstr>
      <vt:lpstr>State Diagram</vt:lpstr>
      <vt:lpstr>Combinational versus Sequential Analysis</vt:lpstr>
      <vt:lpstr>Example with Output = Current State</vt:lpstr>
      <vt:lpstr>Example with Output = Current State</vt:lpstr>
      <vt:lpstr>Sequential Circuit with T Flip-Flops</vt:lpstr>
      <vt:lpstr>Recall: Flip-Flop Characteristic Equation</vt:lpstr>
      <vt:lpstr>Sequential Circuit with T Flip-Flops</vt:lpstr>
      <vt:lpstr>From Next State Equations to State Table</vt:lpstr>
      <vt:lpstr>From State Table to State Diagram</vt:lpstr>
      <vt:lpstr>Sequential Circuit with a JK Flip-Flops</vt:lpstr>
      <vt:lpstr>JK Input and Next State Equations</vt:lpstr>
      <vt:lpstr>From JK Input Equations to State Table</vt:lpstr>
      <vt:lpstr>From State Table to State Diagram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Circuits</dc:title>
  <dc:creator>faisaliradat</dc:creator>
  <cp:lastModifiedBy>faisaliradat</cp:lastModifiedBy>
  <cp:revision>124</cp:revision>
  <dcterms:created xsi:type="dcterms:W3CDTF">2022-08-28T11:36:31Z</dcterms:created>
  <dcterms:modified xsi:type="dcterms:W3CDTF">2022-11-01T07:34:36Z</dcterms:modified>
</cp:coreProperties>
</file>