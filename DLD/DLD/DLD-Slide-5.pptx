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7" r:id="rId2"/>
    <p:sldId id="306" r:id="rId3"/>
    <p:sldId id="307" r:id="rId4"/>
    <p:sldId id="308" r:id="rId5"/>
    <p:sldId id="309" r:id="rId6"/>
    <p:sldId id="310" r:id="rId7"/>
    <p:sldId id="311" r:id="rId8"/>
    <p:sldId id="312" r:id="rId9"/>
    <p:sldId id="313" r:id="rId10"/>
    <p:sldId id="314" r:id="rId11"/>
    <p:sldId id="315" r:id="rId12"/>
    <p:sldId id="316" r:id="rId13"/>
    <p:sldId id="317" r:id="rId14"/>
    <p:sldId id="318" r:id="rId15"/>
    <p:sldId id="319" r:id="rId16"/>
    <p:sldId id="320" r:id="rId17"/>
    <p:sldId id="321" r:id="rId18"/>
    <p:sldId id="322" r:id="rId1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1440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AEFCF61-E080-4619-AD16-552260CD173C}" type="datetimeFigureOut">
              <a:rPr lang="en-US" smtClean="0"/>
              <a:t>9/20/2022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8DB0DA-DAA0-4B40-8FAF-1B8D38D408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88588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BAC16-9A96-4602-9B8B-E7B018085D66}" type="datetimeFigureOut">
              <a:rPr lang="en-US" smtClean="0"/>
              <a:t>9/20/2022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5AAC4-CD67-4C68-8356-406120D451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70486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BAC16-9A96-4602-9B8B-E7B018085D66}" type="datetimeFigureOut">
              <a:rPr lang="en-US" smtClean="0"/>
              <a:t>9/20/2022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5AAC4-CD67-4C68-8356-406120D451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76388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BAC16-9A96-4602-9B8B-E7B018085D66}" type="datetimeFigureOut">
              <a:rPr lang="en-US" smtClean="0"/>
              <a:t>9/20/2022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5AAC4-CD67-4C68-8356-406120D451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97301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BAC16-9A96-4602-9B8B-E7B018085D66}" type="datetimeFigureOut">
              <a:rPr lang="en-US" smtClean="0"/>
              <a:t>9/20/2022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5AAC4-CD67-4C68-8356-406120D451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6116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BAC16-9A96-4602-9B8B-E7B018085D66}" type="datetimeFigureOut">
              <a:rPr lang="en-US" smtClean="0"/>
              <a:t>9/20/2022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5AAC4-CD67-4C68-8356-406120D451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6697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BAC16-9A96-4602-9B8B-E7B018085D66}" type="datetimeFigureOut">
              <a:rPr lang="en-US" smtClean="0"/>
              <a:t>9/20/2022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5AAC4-CD67-4C68-8356-406120D451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18284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BAC16-9A96-4602-9B8B-E7B018085D66}" type="datetimeFigureOut">
              <a:rPr lang="en-US" smtClean="0"/>
              <a:t>9/20/2022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5AAC4-CD67-4C68-8356-406120D451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1011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BAC16-9A96-4602-9B8B-E7B018085D66}" type="datetimeFigureOut">
              <a:rPr lang="en-US" smtClean="0"/>
              <a:t>9/20/2022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5AAC4-CD67-4C68-8356-406120D451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93072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BAC16-9A96-4602-9B8B-E7B018085D66}" type="datetimeFigureOut">
              <a:rPr lang="en-US" smtClean="0"/>
              <a:t>9/20/2022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5AAC4-CD67-4C68-8356-406120D451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48928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BAC16-9A96-4602-9B8B-E7B018085D66}" type="datetimeFigureOut">
              <a:rPr lang="en-US" smtClean="0"/>
              <a:t>9/20/2022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5AAC4-CD67-4C68-8356-406120D451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33730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BAC16-9A96-4602-9B8B-E7B018085D66}" type="datetimeFigureOut">
              <a:rPr lang="en-US" smtClean="0"/>
              <a:t>9/20/2022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5AAC4-CD67-4C68-8356-406120D451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49704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EBAC16-9A96-4602-9B8B-E7B018085D66}" type="datetimeFigureOut">
              <a:rPr lang="en-US" smtClean="0"/>
              <a:t>9/20/2022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E5AAC4-CD67-4C68-8356-406120D451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78050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107.png"/><Relationship Id="rId18" Type="http://schemas.openxmlformats.org/officeDocument/2006/relationships/image" Target="../media/image112.png"/><Relationship Id="rId3" Type="http://schemas.openxmlformats.org/officeDocument/2006/relationships/image" Target="../media/image102.png"/><Relationship Id="rId21" Type="http://schemas.openxmlformats.org/officeDocument/2006/relationships/image" Target="../media/image115.png"/><Relationship Id="rId7" Type="http://schemas.openxmlformats.org/officeDocument/2006/relationships/image" Target="../media/image19.png"/><Relationship Id="rId12" Type="http://schemas.openxmlformats.org/officeDocument/2006/relationships/image" Target="../media/image106.png"/><Relationship Id="rId17" Type="http://schemas.openxmlformats.org/officeDocument/2006/relationships/image" Target="../media/image111.png"/><Relationship Id="rId25" Type="http://schemas.openxmlformats.org/officeDocument/2006/relationships/image" Target="../media/image4.png"/><Relationship Id="rId2" Type="http://schemas.openxmlformats.org/officeDocument/2006/relationships/image" Target="../media/image14.png"/><Relationship Id="rId16" Type="http://schemas.openxmlformats.org/officeDocument/2006/relationships/image" Target="../media/image110.png"/><Relationship Id="rId20" Type="http://schemas.openxmlformats.org/officeDocument/2006/relationships/image" Target="../media/image1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3.png"/><Relationship Id="rId11" Type="http://schemas.openxmlformats.org/officeDocument/2006/relationships/image" Target="../media/image105.png"/><Relationship Id="rId24" Type="http://schemas.openxmlformats.org/officeDocument/2006/relationships/image" Target="../media/image3.png"/><Relationship Id="rId5" Type="http://schemas.openxmlformats.org/officeDocument/2006/relationships/image" Target="../media/image17.png"/><Relationship Id="rId15" Type="http://schemas.openxmlformats.org/officeDocument/2006/relationships/image" Target="../media/image109.png"/><Relationship Id="rId23" Type="http://schemas.openxmlformats.org/officeDocument/2006/relationships/image" Target="../media/image2.png"/><Relationship Id="rId10" Type="http://schemas.openxmlformats.org/officeDocument/2006/relationships/image" Target="../media/image104.png"/><Relationship Id="rId19" Type="http://schemas.openxmlformats.org/officeDocument/2006/relationships/image" Target="../media/image113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Relationship Id="rId14" Type="http://schemas.openxmlformats.org/officeDocument/2006/relationships/image" Target="../media/image108.png"/><Relationship Id="rId22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7.png"/><Relationship Id="rId7" Type="http://schemas.openxmlformats.org/officeDocument/2006/relationships/image" Target="../media/image121.png"/><Relationship Id="rId2" Type="http://schemas.openxmlformats.org/officeDocument/2006/relationships/image" Target="../media/image1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0.png"/><Relationship Id="rId5" Type="http://schemas.openxmlformats.org/officeDocument/2006/relationships/image" Target="../media/image119.png"/><Relationship Id="rId4" Type="http://schemas.openxmlformats.org/officeDocument/2006/relationships/image" Target="../media/image11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2.png"/><Relationship Id="rId7" Type="http://schemas.openxmlformats.org/officeDocument/2006/relationships/image" Target="../media/image136.png"/><Relationship Id="rId2" Type="http://schemas.openxmlformats.org/officeDocument/2006/relationships/image" Target="../media/image1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5.png"/><Relationship Id="rId5" Type="http://schemas.openxmlformats.org/officeDocument/2006/relationships/image" Target="../media/image134.png"/><Relationship Id="rId4" Type="http://schemas.openxmlformats.org/officeDocument/2006/relationships/image" Target="../media/image13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8.png"/><Relationship Id="rId3" Type="http://schemas.openxmlformats.org/officeDocument/2006/relationships/image" Target="../media/image123.png"/><Relationship Id="rId7" Type="http://schemas.openxmlformats.org/officeDocument/2006/relationships/image" Target="../media/image12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6.png"/><Relationship Id="rId5" Type="http://schemas.openxmlformats.org/officeDocument/2006/relationships/image" Target="../media/image125.png"/><Relationship Id="rId10" Type="http://schemas.openxmlformats.org/officeDocument/2006/relationships/image" Target="../media/image130.png"/><Relationship Id="rId4" Type="http://schemas.openxmlformats.org/officeDocument/2006/relationships/image" Target="../media/image124.png"/><Relationship Id="rId9" Type="http://schemas.openxmlformats.org/officeDocument/2006/relationships/image" Target="../media/image12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9.png"/><Relationship Id="rId3" Type="http://schemas.openxmlformats.org/officeDocument/2006/relationships/image" Target="../media/image123.png"/><Relationship Id="rId7" Type="http://schemas.openxmlformats.org/officeDocument/2006/relationships/image" Target="../media/image12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6.png"/><Relationship Id="rId5" Type="http://schemas.openxmlformats.org/officeDocument/2006/relationships/image" Target="../media/image138.png"/><Relationship Id="rId10" Type="http://schemas.openxmlformats.org/officeDocument/2006/relationships/image" Target="../media/image130.png"/><Relationship Id="rId4" Type="http://schemas.openxmlformats.org/officeDocument/2006/relationships/image" Target="../media/image124.png"/><Relationship Id="rId9" Type="http://schemas.openxmlformats.org/officeDocument/2006/relationships/image" Target="../media/image12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42.png"/><Relationship Id="rId18" Type="http://schemas.openxmlformats.org/officeDocument/2006/relationships/image" Target="../media/image147.png"/><Relationship Id="rId26" Type="http://schemas.openxmlformats.org/officeDocument/2006/relationships/image" Target="../media/image155.png"/><Relationship Id="rId21" Type="http://schemas.openxmlformats.org/officeDocument/2006/relationships/image" Target="../media/image150.png"/><Relationship Id="rId12" Type="http://schemas.openxmlformats.org/officeDocument/2006/relationships/image" Target="../media/image141.png"/><Relationship Id="rId17" Type="http://schemas.openxmlformats.org/officeDocument/2006/relationships/image" Target="../media/image146.png"/><Relationship Id="rId25" Type="http://schemas.openxmlformats.org/officeDocument/2006/relationships/image" Target="../media/image154.png"/><Relationship Id="rId33" Type="http://schemas.openxmlformats.org/officeDocument/2006/relationships/image" Target="../media/image162.png"/><Relationship Id="rId16" Type="http://schemas.openxmlformats.org/officeDocument/2006/relationships/image" Target="../media/image145.png"/><Relationship Id="rId20" Type="http://schemas.openxmlformats.org/officeDocument/2006/relationships/image" Target="../media/image149.png"/><Relationship Id="rId29" Type="http://schemas.openxmlformats.org/officeDocument/2006/relationships/image" Target="../media/image158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105.png"/><Relationship Id="rId24" Type="http://schemas.openxmlformats.org/officeDocument/2006/relationships/image" Target="../media/image153.png"/><Relationship Id="rId32" Type="http://schemas.openxmlformats.org/officeDocument/2006/relationships/image" Target="../media/image161.png"/><Relationship Id="rId15" Type="http://schemas.openxmlformats.org/officeDocument/2006/relationships/image" Target="../media/image144.png"/><Relationship Id="rId23" Type="http://schemas.openxmlformats.org/officeDocument/2006/relationships/image" Target="../media/image152.png"/><Relationship Id="rId28" Type="http://schemas.openxmlformats.org/officeDocument/2006/relationships/image" Target="../media/image157.png"/><Relationship Id="rId10" Type="http://schemas.openxmlformats.org/officeDocument/2006/relationships/image" Target="../media/image104.png"/><Relationship Id="rId19" Type="http://schemas.openxmlformats.org/officeDocument/2006/relationships/image" Target="../media/image148.png"/><Relationship Id="rId31" Type="http://schemas.openxmlformats.org/officeDocument/2006/relationships/image" Target="../media/image160.png"/><Relationship Id="rId14" Type="http://schemas.openxmlformats.org/officeDocument/2006/relationships/image" Target="../media/image143.png"/><Relationship Id="rId22" Type="http://schemas.openxmlformats.org/officeDocument/2006/relationships/image" Target="../media/image151.png"/><Relationship Id="rId27" Type="http://schemas.openxmlformats.org/officeDocument/2006/relationships/image" Target="../media/image156.png"/><Relationship Id="rId30" Type="http://schemas.openxmlformats.org/officeDocument/2006/relationships/image" Target="../media/image159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9.png"/><Relationship Id="rId13" Type="http://schemas.openxmlformats.org/officeDocument/2006/relationships/image" Target="../media/image174.png"/><Relationship Id="rId18" Type="http://schemas.openxmlformats.org/officeDocument/2006/relationships/image" Target="../media/image179.png"/><Relationship Id="rId3" Type="http://schemas.openxmlformats.org/officeDocument/2006/relationships/image" Target="../media/image164.png"/><Relationship Id="rId7" Type="http://schemas.openxmlformats.org/officeDocument/2006/relationships/image" Target="../media/image168.png"/><Relationship Id="rId12" Type="http://schemas.openxmlformats.org/officeDocument/2006/relationships/image" Target="../media/image173.png"/><Relationship Id="rId17" Type="http://schemas.openxmlformats.org/officeDocument/2006/relationships/image" Target="../media/image178.png"/><Relationship Id="rId2" Type="http://schemas.openxmlformats.org/officeDocument/2006/relationships/image" Target="../media/image8.png"/><Relationship Id="rId16" Type="http://schemas.openxmlformats.org/officeDocument/2006/relationships/image" Target="../media/image177.png"/><Relationship Id="rId20" Type="http://schemas.openxmlformats.org/officeDocument/2006/relationships/image" Target="../media/image18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7.png"/><Relationship Id="rId11" Type="http://schemas.openxmlformats.org/officeDocument/2006/relationships/image" Target="../media/image172.png"/><Relationship Id="rId5" Type="http://schemas.openxmlformats.org/officeDocument/2006/relationships/image" Target="../media/image166.png"/><Relationship Id="rId15" Type="http://schemas.openxmlformats.org/officeDocument/2006/relationships/image" Target="../media/image176.png"/><Relationship Id="rId10" Type="http://schemas.openxmlformats.org/officeDocument/2006/relationships/image" Target="../media/image171.png"/><Relationship Id="rId19" Type="http://schemas.openxmlformats.org/officeDocument/2006/relationships/image" Target="../media/image180.png"/><Relationship Id="rId4" Type="http://schemas.openxmlformats.org/officeDocument/2006/relationships/image" Target="../media/image165.png"/><Relationship Id="rId9" Type="http://schemas.openxmlformats.org/officeDocument/2006/relationships/image" Target="../media/image170.png"/><Relationship Id="rId14" Type="http://schemas.openxmlformats.org/officeDocument/2006/relationships/image" Target="../media/image175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9.png"/><Relationship Id="rId13" Type="http://schemas.openxmlformats.org/officeDocument/2006/relationships/image" Target="../media/image190.png"/><Relationship Id="rId18" Type="http://schemas.openxmlformats.org/officeDocument/2006/relationships/image" Target="../media/image195.png"/><Relationship Id="rId3" Type="http://schemas.openxmlformats.org/officeDocument/2006/relationships/image" Target="../media/image183.png"/><Relationship Id="rId7" Type="http://schemas.openxmlformats.org/officeDocument/2006/relationships/image" Target="../media/image168.png"/><Relationship Id="rId12" Type="http://schemas.openxmlformats.org/officeDocument/2006/relationships/image" Target="../media/image189.png"/><Relationship Id="rId17" Type="http://schemas.openxmlformats.org/officeDocument/2006/relationships/image" Target="../media/image194.png"/><Relationship Id="rId2" Type="http://schemas.openxmlformats.org/officeDocument/2006/relationships/image" Target="../media/image9.png"/><Relationship Id="rId16" Type="http://schemas.openxmlformats.org/officeDocument/2006/relationships/image" Target="../media/image193.png"/><Relationship Id="rId20" Type="http://schemas.openxmlformats.org/officeDocument/2006/relationships/image" Target="../media/image19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5.png"/><Relationship Id="rId11" Type="http://schemas.openxmlformats.org/officeDocument/2006/relationships/image" Target="../media/image188.png"/><Relationship Id="rId5" Type="http://schemas.openxmlformats.org/officeDocument/2006/relationships/image" Target="../media/image184.png"/><Relationship Id="rId15" Type="http://schemas.openxmlformats.org/officeDocument/2006/relationships/image" Target="../media/image192.png"/><Relationship Id="rId10" Type="http://schemas.openxmlformats.org/officeDocument/2006/relationships/image" Target="../media/image187.png"/><Relationship Id="rId19" Type="http://schemas.openxmlformats.org/officeDocument/2006/relationships/image" Target="../media/image196.png"/><Relationship Id="rId4" Type="http://schemas.openxmlformats.org/officeDocument/2006/relationships/image" Target="../media/image165.png"/><Relationship Id="rId9" Type="http://schemas.openxmlformats.org/officeDocument/2006/relationships/image" Target="../media/image186.png"/><Relationship Id="rId14" Type="http://schemas.openxmlformats.org/officeDocument/2006/relationships/image" Target="../media/image19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7" Type="http://schemas.openxmlformats.org/officeDocument/2006/relationships/image" Target="../media/image12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8.png"/><Relationship Id="rId3" Type="http://schemas.openxmlformats.org/officeDocument/2006/relationships/image" Target="../media/image90.png"/><Relationship Id="rId7" Type="http://schemas.openxmlformats.org/officeDocument/2006/relationships/image" Target="../media/image207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6.png"/><Relationship Id="rId5" Type="http://schemas.openxmlformats.org/officeDocument/2006/relationships/image" Target="../media/image205.png"/><Relationship Id="rId4" Type="http://schemas.openxmlformats.org/officeDocument/2006/relationships/image" Target="../media/image1511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5.png"/><Relationship Id="rId7" Type="http://schemas.openxmlformats.org/officeDocument/2006/relationships/image" Target="../media/image214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3.png"/><Relationship Id="rId5" Type="http://schemas.openxmlformats.org/officeDocument/2006/relationships/image" Target="../media/image212.png"/><Relationship Id="rId4" Type="http://schemas.openxmlformats.org/officeDocument/2006/relationships/image" Target="../media/image211.png"/><Relationship Id="rId9" Type="http://schemas.openxmlformats.org/officeDocument/2006/relationships/image" Target="../media/image23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122.png"/><Relationship Id="rId7" Type="http://schemas.openxmlformats.org/officeDocument/2006/relationships/image" Target="../media/image24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10.png"/><Relationship Id="rId11" Type="http://schemas.openxmlformats.org/officeDocument/2006/relationships/image" Target="../media/image27.png"/><Relationship Id="rId5" Type="http://schemas.openxmlformats.org/officeDocument/2006/relationships/image" Target="../media/image1510.png"/><Relationship Id="rId10" Type="http://schemas.openxmlformats.org/officeDocument/2006/relationships/image" Target="../media/image250.png"/><Relationship Id="rId4" Type="http://schemas.openxmlformats.org/officeDocument/2006/relationships/image" Target="../media/image137.png"/><Relationship Id="rId9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8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457200" y="800100"/>
            <a:ext cx="8229600" cy="2801938"/>
          </a:xfrm>
        </p:spPr>
        <p:txBody>
          <a:bodyPr/>
          <a:lstStyle/>
          <a:p>
            <a:pPr>
              <a:lnSpc>
                <a:spcPct val="160000"/>
              </a:lnSpc>
            </a:pPr>
            <a:r>
              <a:rPr lang="en-US" altLang="en-US" sz="4400" dirty="0" smtClean="0"/>
              <a:t>Additional Gates</a:t>
            </a:r>
            <a:endParaRPr lang="en-US" altLang="en-US" sz="2800" dirty="0"/>
          </a:p>
        </p:txBody>
      </p:sp>
      <p:sp>
        <p:nvSpPr>
          <p:cNvPr id="20889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457200" y="3948113"/>
            <a:ext cx="8229600" cy="2476500"/>
          </a:xfrm>
        </p:spPr>
        <p:txBody>
          <a:bodyPr>
            <a:normAutofit/>
          </a:bodyPr>
          <a:lstStyle/>
          <a:p>
            <a:r>
              <a:rPr lang="en-US" altLang="en-US" sz="2800" dirty="0" smtClean="0"/>
              <a:t>Digital </a:t>
            </a:r>
            <a:r>
              <a:rPr lang="en-US" altLang="en-US" sz="2800" dirty="0"/>
              <a:t>Logic </a:t>
            </a:r>
            <a:r>
              <a:rPr lang="en-US" altLang="en-US" sz="2800" dirty="0" smtClean="0"/>
              <a:t>Design</a:t>
            </a:r>
            <a:endParaRPr lang="en-US" altLang="en-US" sz="2800" dirty="0"/>
          </a:p>
        </p:txBody>
      </p:sp>
    </p:spTree>
    <p:extLst>
      <p:ext uri="{BB962C8B-B14F-4D97-AF65-F5344CB8AC3E}">
        <p14:creationId xmlns:p14="http://schemas.microsoft.com/office/powerpoint/2010/main" val="5815960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Presentation Outline</a:t>
            </a:r>
            <a:endParaRPr lang="en-US" dirty="0"/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849702" y="1067113"/>
            <a:ext cx="7550948" cy="53574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7663" indent="-347663" algn="l" rtl="0" fontAlgn="base">
              <a:spcBef>
                <a:spcPct val="40000"/>
              </a:spcBef>
              <a:spcAft>
                <a:spcPct val="0"/>
              </a:spcAft>
              <a:buFont typeface="Wingdings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98513" indent="-336550" algn="l" rtl="0" fontAlgn="base">
              <a:spcBef>
                <a:spcPct val="40000"/>
              </a:spcBef>
              <a:spcAft>
                <a:spcPct val="0"/>
              </a:spcAft>
              <a:buFont typeface="Wingdings" pitchFamily="2" charset="2"/>
              <a:buChar char="²"/>
              <a:defRPr sz="2000">
                <a:solidFill>
                  <a:schemeClr val="tx1"/>
                </a:solidFill>
                <a:latin typeface="+mn-lt"/>
                <a:cs typeface="+mn-cs"/>
              </a:defRPr>
            </a:lvl2pPr>
            <a:lvl3pPr marL="1144588" indent="-231775" algn="l" rtl="0" fontAlgn="base">
              <a:spcBef>
                <a:spcPct val="40000"/>
              </a:spcBef>
              <a:spcAft>
                <a:spcPct val="0"/>
              </a:spcAft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  <a:cs typeface="+mn-cs"/>
              </a:defRPr>
            </a:lvl3pPr>
            <a:lvl4pPr marL="1481138" indent="-222250" algn="l" rtl="0" fontAlgn="base">
              <a:spcBef>
                <a:spcPct val="40000"/>
              </a:spcBef>
              <a:spcAft>
                <a:spcPct val="0"/>
              </a:spcAft>
              <a:buChar char="–"/>
              <a:defRPr sz="1600">
                <a:solidFill>
                  <a:schemeClr val="tx1"/>
                </a:solidFill>
                <a:latin typeface="+mn-lt"/>
                <a:cs typeface="+mn-cs"/>
              </a:defRPr>
            </a:lvl4pPr>
            <a:lvl5pPr marL="1828800" indent="-233363" algn="l" rtl="0" fontAlgn="base">
              <a:spcBef>
                <a:spcPct val="4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  <a:cs typeface="+mn-cs"/>
              </a:defRPr>
            </a:lvl5pPr>
            <a:lvl6pPr marL="2286000" indent="-233363" algn="l" rtl="0" fontAlgn="base">
              <a:spcBef>
                <a:spcPct val="4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  <a:cs typeface="+mn-cs"/>
              </a:defRPr>
            </a:lvl6pPr>
            <a:lvl7pPr marL="2743200" indent="-233363" algn="l" rtl="0" fontAlgn="base">
              <a:spcBef>
                <a:spcPct val="4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  <a:cs typeface="+mn-cs"/>
              </a:defRPr>
            </a:lvl7pPr>
            <a:lvl8pPr marL="3200400" indent="-233363" algn="l" rtl="0" fontAlgn="base">
              <a:spcBef>
                <a:spcPct val="4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  <a:cs typeface="+mn-cs"/>
              </a:defRPr>
            </a:lvl8pPr>
            <a:lvl9pPr marL="3657600" indent="-233363" algn="l" rtl="0" fontAlgn="base">
              <a:spcBef>
                <a:spcPct val="4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>
              <a:lnSpc>
                <a:spcPct val="150000"/>
              </a:lnSpc>
              <a:spcBef>
                <a:spcPts val="2500"/>
              </a:spcBef>
            </a:pPr>
            <a:r>
              <a:rPr lang="en-US" altLang="en-US" kern="0" dirty="0" smtClean="0"/>
              <a:t>Additional Gates and Symbols</a:t>
            </a:r>
          </a:p>
          <a:p>
            <a:pPr>
              <a:lnSpc>
                <a:spcPct val="150000"/>
              </a:lnSpc>
              <a:spcBef>
                <a:spcPts val="2500"/>
              </a:spcBef>
            </a:pPr>
            <a:r>
              <a:rPr lang="en-US" altLang="en-US" kern="0" dirty="0" smtClean="0"/>
              <a:t>Universality of NAND and NOR gates</a:t>
            </a:r>
          </a:p>
          <a:p>
            <a:pPr>
              <a:lnSpc>
                <a:spcPct val="150000"/>
              </a:lnSpc>
              <a:spcBef>
                <a:spcPts val="2500"/>
              </a:spcBef>
            </a:pPr>
            <a:r>
              <a:rPr lang="en-US" altLang="en-US" kern="0" dirty="0" smtClean="0"/>
              <a:t>NAND-NAND and NOR-NOR implementations</a:t>
            </a:r>
          </a:p>
          <a:p>
            <a:pPr>
              <a:lnSpc>
                <a:spcPct val="150000"/>
              </a:lnSpc>
              <a:spcBef>
                <a:spcPts val="2500"/>
              </a:spcBef>
            </a:pPr>
            <a:r>
              <a:rPr lang="en-US" altLang="en-US" kern="0" dirty="0" smtClean="0"/>
              <a:t>Exclusive OR (XOR) and Exclusive NOR (XNOR) gates</a:t>
            </a:r>
          </a:p>
          <a:p>
            <a:pPr>
              <a:lnSpc>
                <a:spcPct val="150000"/>
              </a:lnSpc>
              <a:spcBef>
                <a:spcPts val="2500"/>
              </a:spcBef>
            </a:pPr>
            <a:r>
              <a:rPr lang="en-US" altLang="en-US" kern="0" dirty="0" smtClean="0"/>
              <a:t>Odd and Even functions</a:t>
            </a:r>
          </a:p>
          <a:p>
            <a:pPr>
              <a:spcBef>
                <a:spcPts val="2500"/>
              </a:spcBef>
            </a:pPr>
            <a:endParaRPr lang="en-US" altLang="en-US" kern="0" dirty="0" smtClean="0"/>
          </a:p>
          <a:p>
            <a:pPr>
              <a:spcBef>
                <a:spcPts val="2500"/>
              </a:spcBef>
            </a:pPr>
            <a:endParaRPr lang="en-US" altLang="en-US" kern="0" dirty="0" smtClean="0"/>
          </a:p>
        </p:txBody>
      </p:sp>
    </p:spTree>
    <p:extLst>
      <p:ext uri="{BB962C8B-B14F-4D97-AF65-F5344CB8AC3E}">
        <p14:creationId xmlns:p14="http://schemas.microsoft.com/office/powerpoint/2010/main" val="5566914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dirty="0" smtClean="0"/>
              <a:t>Additional Logic Gates and Symbols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59535"/>
            <a:ext cx="8229600" cy="1532539"/>
          </a:xfrm>
        </p:spPr>
        <p:txBody>
          <a:bodyPr>
            <a:noAutofit/>
          </a:bodyPr>
          <a:lstStyle/>
          <a:p>
            <a:r>
              <a:rPr lang="en-US" sz="2800" dirty="0" smtClean="0"/>
              <a:t>Why?</a:t>
            </a:r>
          </a:p>
          <a:p>
            <a:pPr lvl="1">
              <a:lnSpc>
                <a:spcPct val="120000"/>
              </a:lnSpc>
              <a:spcBef>
                <a:spcPts val="1000"/>
              </a:spcBef>
            </a:pPr>
            <a:r>
              <a:rPr lang="en-US" sz="2400" dirty="0"/>
              <a:t>Low cost implementation</a:t>
            </a:r>
          </a:p>
          <a:p>
            <a:pPr lvl="1">
              <a:lnSpc>
                <a:spcPct val="120000"/>
              </a:lnSpc>
              <a:spcBef>
                <a:spcPts val="1000"/>
              </a:spcBef>
            </a:pPr>
            <a:r>
              <a:rPr lang="en-US" sz="2400" dirty="0"/>
              <a:t>Useful in implementing Boolean </a:t>
            </a:r>
            <a:r>
              <a:rPr lang="en-US" sz="2400" dirty="0" smtClean="0"/>
              <a:t>functions</a:t>
            </a:r>
            <a:endParaRPr lang="en-US" sz="2400" dirty="0"/>
          </a:p>
        </p:txBody>
      </p:sp>
      <p:grpSp>
        <p:nvGrpSpPr>
          <p:cNvPr id="4" name="Group 3"/>
          <p:cNvGrpSpPr/>
          <p:nvPr/>
        </p:nvGrpSpPr>
        <p:grpSpPr>
          <a:xfrm>
            <a:off x="889394" y="2564895"/>
            <a:ext cx="2260334" cy="1084306"/>
            <a:chOff x="827545" y="1826231"/>
            <a:chExt cx="2260335" cy="1084306"/>
          </a:xfrm>
        </p:grpSpPr>
        <p:cxnSp>
          <p:nvCxnSpPr>
            <p:cNvPr id="5" name="Straight Connector 4"/>
            <p:cNvCxnSpPr/>
            <p:nvPr/>
          </p:nvCxnSpPr>
          <p:spPr>
            <a:xfrm>
              <a:off x="2037292" y="2173783"/>
              <a:ext cx="360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Flowchart: Delay 5"/>
            <p:cNvSpPr/>
            <p:nvPr/>
          </p:nvSpPr>
          <p:spPr>
            <a:xfrm>
              <a:off x="1510407" y="1903783"/>
              <a:ext cx="540000" cy="540000"/>
            </a:xfrm>
            <a:prstGeom prst="flowChartDelay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" name="Straight Connector 6"/>
            <p:cNvCxnSpPr/>
            <p:nvPr/>
          </p:nvCxnSpPr>
          <p:spPr>
            <a:xfrm>
              <a:off x="1150407" y="2022742"/>
              <a:ext cx="360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/>
          </p:nvCxnSpPr>
          <p:spPr>
            <a:xfrm>
              <a:off x="1150407" y="2310777"/>
              <a:ext cx="360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/>
                <p:cNvSpPr txBox="1"/>
                <p:nvPr/>
              </p:nvSpPr>
              <p:spPr>
                <a:xfrm>
                  <a:off x="827545" y="1826231"/>
                  <a:ext cx="367985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/>
                          </a:rPr>
                          <m:t>𝑥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9" name="TextBox 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7545" y="1826231"/>
                  <a:ext cx="379206" cy="369332"/>
                </a:xfrm>
                <a:prstGeom prst="rect">
                  <a:avLst/>
                </a:prstGeom>
                <a:blipFill rotWithShape="1"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/>
                <p:cNvSpPr txBox="1"/>
                <p:nvPr/>
              </p:nvSpPr>
              <p:spPr>
                <a:xfrm>
                  <a:off x="827545" y="2114266"/>
                  <a:ext cx="37138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latin typeface="Cambria Math"/>
                          </a:rPr>
                          <m:t>𝑦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0" name="TextBox 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7545" y="2114266"/>
                  <a:ext cx="353174" cy="369332"/>
                </a:xfrm>
                <a:prstGeom prst="rect">
                  <a:avLst/>
                </a:prstGeom>
                <a:blipFill rotWithShape="1">
                  <a:blip r:embed="rId3"/>
                  <a:stretch>
                    <a:fillRect b="-655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/>
                <p:cNvSpPr txBox="1"/>
                <p:nvPr/>
              </p:nvSpPr>
              <p:spPr>
                <a:xfrm>
                  <a:off x="2417761" y="1965135"/>
                  <a:ext cx="67011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latin typeface="Cambria Math"/>
                          </a:rPr>
                          <m:t>𝑥</m:t>
                        </m:r>
                        <m:r>
                          <a:rPr lang="en-US" b="0" i="1" dirty="0" smtClean="0">
                            <a:latin typeface="Cambria Math"/>
                          </a:rPr>
                          <m:t>·</m:t>
                        </m:r>
                        <m:r>
                          <a:rPr lang="en-US" b="0" i="1" dirty="0" smtClean="0">
                            <a:latin typeface="Cambria Math"/>
                          </a:rPr>
                          <m:t>𝑦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1" name="TextBox 1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17761" y="1965135"/>
                  <a:ext cx="681340" cy="369332"/>
                </a:xfrm>
                <a:prstGeom prst="rect">
                  <a:avLst/>
                </a:prstGeom>
                <a:blipFill rotWithShape="1">
                  <a:blip r:embed="rId4"/>
                  <a:stretch>
                    <a:fillRect b="-8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" name="TextBox 11"/>
            <p:cNvSpPr txBox="1"/>
            <p:nvPr/>
          </p:nvSpPr>
          <p:spPr>
            <a:xfrm>
              <a:off x="1175214" y="2541205"/>
              <a:ext cx="109379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0" i="0" dirty="0" smtClean="0">
                  <a:latin typeface="+mn-lt"/>
                </a:rPr>
                <a:t>AND gate</a:t>
              </a:r>
              <a:endParaRPr lang="en-US" dirty="0">
                <a:latin typeface="+mn-lt"/>
              </a:endParaRPr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3668014" y="2564895"/>
            <a:ext cx="2209274" cy="1084306"/>
            <a:chOff x="3601103" y="1816004"/>
            <a:chExt cx="2209274" cy="1084306"/>
          </a:xfrm>
        </p:grpSpPr>
        <p:cxnSp>
          <p:nvCxnSpPr>
            <p:cNvPr id="14" name="Straight Connector 13"/>
            <p:cNvCxnSpPr/>
            <p:nvPr/>
          </p:nvCxnSpPr>
          <p:spPr>
            <a:xfrm>
              <a:off x="4687214" y="2163556"/>
              <a:ext cx="360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>
              <a:off x="3923965" y="2012515"/>
              <a:ext cx="360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>
              <a:off x="3923965" y="2334467"/>
              <a:ext cx="360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/>
                <p:cNvSpPr txBox="1"/>
                <p:nvPr/>
              </p:nvSpPr>
              <p:spPr>
                <a:xfrm>
                  <a:off x="3601103" y="1816004"/>
                  <a:ext cx="367985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/>
                          </a:rPr>
                          <m:t>𝑥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9" name="TextBox 1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01103" y="1816004"/>
                  <a:ext cx="379206" cy="369332"/>
                </a:xfrm>
                <a:prstGeom prst="rect">
                  <a:avLst/>
                </a:prstGeom>
                <a:blipFill rotWithShape="1"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/>
                <p:cNvSpPr txBox="1"/>
                <p:nvPr/>
              </p:nvSpPr>
              <p:spPr>
                <a:xfrm>
                  <a:off x="3601103" y="2137956"/>
                  <a:ext cx="37138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latin typeface="Cambria Math"/>
                          </a:rPr>
                          <m:t>𝑦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8" name="TextBox 1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01103" y="2137956"/>
                  <a:ext cx="353174" cy="369332"/>
                </a:xfrm>
                <a:prstGeom prst="rect">
                  <a:avLst/>
                </a:prstGeom>
                <a:blipFill rotWithShape="1">
                  <a:blip r:embed="rId6"/>
                  <a:stretch>
                    <a:fillRect b="-655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/>
                <p:cNvSpPr txBox="1"/>
                <p:nvPr/>
              </p:nvSpPr>
              <p:spPr>
                <a:xfrm>
                  <a:off x="5032856" y="1954908"/>
                  <a:ext cx="77752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latin typeface="Cambria Math"/>
                          </a:rPr>
                          <m:t>𝑥</m:t>
                        </m:r>
                        <m:r>
                          <a:rPr lang="en-US" b="0" i="1" dirty="0" smtClean="0">
                            <a:latin typeface="Cambria Math"/>
                          </a:rPr>
                          <m:t>+</m:t>
                        </m:r>
                        <m:r>
                          <a:rPr lang="en-US" b="0" i="1" dirty="0" smtClean="0">
                            <a:latin typeface="Cambria Math"/>
                          </a:rPr>
                          <m:t>𝑦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1" name="TextBox 2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32856" y="1954908"/>
                  <a:ext cx="788742" cy="369332"/>
                </a:xfrm>
                <a:prstGeom prst="rect">
                  <a:avLst/>
                </a:prstGeom>
                <a:blipFill rotWithShape="1">
                  <a:blip r:embed="rId7"/>
                  <a:stretch>
                    <a:fillRect b="-8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0" name="TextBox 19"/>
            <p:cNvSpPr txBox="1"/>
            <p:nvPr/>
          </p:nvSpPr>
          <p:spPr>
            <a:xfrm>
              <a:off x="3857860" y="2530978"/>
              <a:ext cx="91794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0" i="0" dirty="0" smtClean="0">
                  <a:latin typeface="+mn-lt"/>
                </a:rPr>
                <a:t>OR gate</a:t>
              </a:r>
              <a:endParaRPr lang="en-US" dirty="0">
                <a:latin typeface="+mn-lt"/>
              </a:endParaRPr>
            </a:p>
          </p:txBody>
        </p:sp>
        <p:sp>
          <p:nvSpPr>
            <p:cNvPr id="21" name="Moon 20"/>
            <p:cNvSpPr/>
            <p:nvPr/>
          </p:nvSpPr>
          <p:spPr>
            <a:xfrm flipH="1">
              <a:off x="4180330" y="1903783"/>
              <a:ext cx="540000" cy="540000"/>
            </a:xfrm>
            <a:prstGeom prst="moon">
              <a:avLst>
                <a:gd name="adj" fmla="val 87500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6399214" y="2703799"/>
            <a:ext cx="2001436" cy="945402"/>
            <a:chOff x="6184996" y="1944681"/>
            <a:chExt cx="2001436" cy="945402"/>
          </a:xfrm>
        </p:grpSpPr>
        <p:cxnSp>
          <p:nvCxnSpPr>
            <p:cNvPr id="23" name="Straight Connector 22"/>
            <p:cNvCxnSpPr/>
            <p:nvPr/>
          </p:nvCxnSpPr>
          <p:spPr>
            <a:xfrm>
              <a:off x="7279529" y="2153329"/>
              <a:ext cx="360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/>
                <p:cNvSpPr txBox="1"/>
                <p:nvPr/>
              </p:nvSpPr>
              <p:spPr>
                <a:xfrm>
                  <a:off x="7639529" y="1944681"/>
                  <a:ext cx="331284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latin typeface="Cambria Math"/>
                          </a:rPr>
                          <m:t>𝑥</m:t>
                        </m:r>
                        <m:r>
                          <a:rPr lang="en-US" b="0" i="1" dirty="0" smtClean="0">
                            <a:latin typeface="Cambria Math"/>
                          </a:rPr>
                          <m:t>′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0" name="TextBox 2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39529" y="1944681"/>
                  <a:ext cx="331284" cy="369332"/>
                </a:xfrm>
                <a:prstGeom prst="rect">
                  <a:avLst/>
                </a:prstGeom>
                <a:blipFill rotWithShape="1">
                  <a:blip r:embed="rId8"/>
                  <a:stretch>
                    <a:fillRect r="-1090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5" name="Straight Connector 24"/>
            <p:cNvCxnSpPr/>
            <p:nvPr/>
          </p:nvCxnSpPr>
          <p:spPr>
            <a:xfrm>
              <a:off x="6515699" y="2161646"/>
              <a:ext cx="360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/>
                <p:cNvSpPr txBox="1"/>
                <p:nvPr/>
              </p:nvSpPr>
              <p:spPr>
                <a:xfrm>
                  <a:off x="6192837" y="1965135"/>
                  <a:ext cx="367985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/>
                          </a:rPr>
                          <m:t>𝑥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8" name="TextBox 2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92837" y="1965135"/>
                  <a:ext cx="379206" cy="369332"/>
                </a:xfrm>
                <a:prstGeom prst="rect">
                  <a:avLst/>
                </a:prstGeom>
                <a:blipFill rotWithShape="1"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7" name="TextBox 26"/>
            <p:cNvSpPr txBox="1"/>
            <p:nvPr/>
          </p:nvSpPr>
          <p:spPr>
            <a:xfrm>
              <a:off x="6184996" y="2520751"/>
              <a:ext cx="200143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0" i="0" dirty="0" smtClean="0">
                  <a:latin typeface="+mn-lt"/>
                </a:rPr>
                <a:t>NOT gate (inverter)</a:t>
              </a:r>
              <a:endParaRPr lang="en-US" dirty="0">
                <a:latin typeface="+mn-lt"/>
              </a:endParaRPr>
            </a:p>
          </p:txBody>
        </p:sp>
        <p:grpSp>
          <p:nvGrpSpPr>
            <p:cNvPr id="28" name="Group 27"/>
            <p:cNvGrpSpPr/>
            <p:nvPr/>
          </p:nvGrpSpPr>
          <p:grpSpPr>
            <a:xfrm>
              <a:off x="6875699" y="1952615"/>
              <a:ext cx="436491" cy="394371"/>
              <a:chOff x="5057221" y="3865491"/>
              <a:chExt cx="436491" cy="394371"/>
            </a:xfrm>
          </p:grpSpPr>
          <p:sp>
            <p:nvSpPr>
              <p:cNvPr id="29" name="Isosceles Triangle 28"/>
              <p:cNvSpPr/>
              <p:nvPr/>
            </p:nvSpPr>
            <p:spPr>
              <a:xfrm rot="5400000">
                <a:off x="5032856" y="3889856"/>
                <a:ext cx="394371" cy="345642"/>
              </a:xfrm>
              <a:prstGeom prst="triangl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" name="Oval 29"/>
              <p:cNvSpPr/>
              <p:nvPr/>
            </p:nvSpPr>
            <p:spPr>
              <a:xfrm>
                <a:off x="5385712" y="4005070"/>
                <a:ext cx="108000" cy="1080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52" name="Group 51"/>
          <p:cNvGrpSpPr/>
          <p:nvPr/>
        </p:nvGrpSpPr>
        <p:grpSpPr>
          <a:xfrm>
            <a:off x="889394" y="3957690"/>
            <a:ext cx="2520791" cy="1084306"/>
            <a:chOff x="875858" y="2920764"/>
            <a:chExt cx="2730857" cy="1084306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2186417" y="3268316"/>
              <a:ext cx="390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Flowchart: Delay 32"/>
            <p:cNvSpPr/>
            <p:nvPr/>
          </p:nvSpPr>
          <p:spPr>
            <a:xfrm>
              <a:off x="1615625" y="2998316"/>
              <a:ext cx="585000" cy="540000"/>
            </a:xfrm>
            <a:prstGeom prst="flowChartDelay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4" name="Straight Connector 33"/>
            <p:cNvCxnSpPr/>
            <p:nvPr/>
          </p:nvCxnSpPr>
          <p:spPr>
            <a:xfrm>
              <a:off x="1225625" y="3117275"/>
              <a:ext cx="390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/>
          </p:nvCxnSpPr>
          <p:spPr>
            <a:xfrm>
              <a:off x="1225625" y="3429000"/>
              <a:ext cx="390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TextBox 35"/>
                <p:cNvSpPr txBox="1"/>
                <p:nvPr/>
              </p:nvSpPr>
              <p:spPr>
                <a:xfrm>
                  <a:off x="875858" y="2920764"/>
                  <a:ext cx="39865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/>
                          </a:rPr>
                          <m:t>𝑥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6" name="TextBox 3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5858" y="2920764"/>
                  <a:ext cx="379206" cy="369332"/>
                </a:xfrm>
                <a:prstGeom prst="rect">
                  <a:avLst/>
                </a:prstGeom>
                <a:blipFill rotWithShape="1"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TextBox 36"/>
                <p:cNvSpPr txBox="1"/>
                <p:nvPr/>
              </p:nvSpPr>
              <p:spPr>
                <a:xfrm>
                  <a:off x="875858" y="3232489"/>
                  <a:ext cx="40233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latin typeface="Cambria Math"/>
                          </a:rPr>
                          <m:t>𝑦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7" name="TextBox 3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5858" y="3232489"/>
                  <a:ext cx="382605" cy="369332"/>
                </a:xfrm>
                <a:prstGeom prst="rect">
                  <a:avLst/>
                </a:prstGeom>
                <a:blipFill rotWithShape="1">
                  <a:blip r:embed="rId11"/>
                  <a:stretch>
                    <a:fillRect b="-8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TextBox 37"/>
                <p:cNvSpPr txBox="1"/>
                <p:nvPr/>
              </p:nvSpPr>
              <p:spPr>
                <a:xfrm>
                  <a:off x="2598591" y="3059668"/>
                  <a:ext cx="100812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b="0" i="1" dirty="0" smtClean="0">
                                <a:latin typeface="Cambria Math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b="0" i="1" dirty="0" smtClean="0">
                                    <a:latin typeface="Cambria Math"/>
                                  </a:rPr>
                                </m:ctrlPr>
                              </m:dPr>
                              <m:e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·</m:t>
                                </m:r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𝑦</m:t>
                                </m:r>
                              </m:e>
                            </m:d>
                          </m:e>
                          <m:sup>
                            <m:r>
                              <a:rPr lang="en-US" b="0" i="1" dirty="0" smtClean="0">
                                <a:latin typeface="Cambria Math"/>
                              </a:rPr>
                              <m:t>′</m:t>
                            </m:r>
                          </m:sup>
                        </m:s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8" name="TextBox 3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98591" y="3059668"/>
                  <a:ext cx="941796" cy="369332"/>
                </a:xfrm>
                <a:prstGeom prst="rect">
                  <a:avLst/>
                </a:prstGeom>
                <a:blipFill rotWithShape="1">
                  <a:blip r:embed="rId12"/>
                  <a:stretch>
                    <a:fillRect b="-655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9" name="TextBox 38"/>
            <p:cNvSpPr txBox="1"/>
            <p:nvPr/>
          </p:nvSpPr>
          <p:spPr>
            <a:xfrm>
              <a:off x="1252499" y="3635738"/>
              <a:ext cx="135165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0" i="0" dirty="0" smtClean="0">
                  <a:latin typeface="+mn-lt"/>
                </a:rPr>
                <a:t>NAND gate</a:t>
              </a:r>
              <a:endParaRPr lang="en-US" dirty="0">
                <a:latin typeface="+mn-lt"/>
              </a:endParaRPr>
            </a:p>
          </p:txBody>
        </p:sp>
        <p:sp>
          <p:nvSpPr>
            <p:cNvPr id="49" name="Oval 48"/>
            <p:cNvSpPr/>
            <p:nvPr/>
          </p:nvSpPr>
          <p:spPr>
            <a:xfrm>
              <a:off x="2201116" y="3211824"/>
              <a:ext cx="115214" cy="11521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1" name="Group 50"/>
          <p:cNvGrpSpPr/>
          <p:nvPr/>
        </p:nvGrpSpPr>
        <p:grpSpPr>
          <a:xfrm>
            <a:off x="3668013" y="3957690"/>
            <a:ext cx="2460946" cy="1084306"/>
            <a:chOff x="3880544" y="2920764"/>
            <a:chExt cx="2666024" cy="1084306"/>
          </a:xfrm>
        </p:grpSpPr>
        <p:cxnSp>
          <p:nvCxnSpPr>
            <p:cNvPr id="41" name="Straight Connector 40"/>
            <p:cNvCxnSpPr/>
            <p:nvPr/>
          </p:nvCxnSpPr>
          <p:spPr>
            <a:xfrm>
              <a:off x="5057164" y="3268316"/>
              <a:ext cx="390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/>
            <p:nvPr/>
          </p:nvCxnSpPr>
          <p:spPr>
            <a:xfrm>
              <a:off x="4230311" y="3117275"/>
              <a:ext cx="390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/>
            <p:nvPr/>
          </p:nvCxnSpPr>
          <p:spPr>
            <a:xfrm>
              <a:off x="4230311" y="3429000"/>
              <a:ext cx="390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TextBox 43"/>
                <p:cNvSpPr txBox="1"/>
                <p:nvPr/>
              </p:nvSpPr>
              <p:spPr>
                <a:xfrm>
                  <a:off x="3880544" y="2920764"/>
                  <a:ext cx="39865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/>
                          </a:rPr>
                          <m:t>𝑥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4" name="TextBox 4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80544" y="2920764"/>
                  <a:ext cx="379205" cy="369332"/>
                </a:xfrm>
                <a:prstGeom prst="rect">
                  <a:avLst/>
                </a:prstGeom>
                <a:blipFill rotWithShape="1"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TextBox 44"/>
                <p:cNvSpPr txBox="1"/>
                <p:nvPr/>
              </p:nvSpPr>
              <p:spPr>
                <a:xfrm>
                  <a:off x="3880544" y="3232489"/>
                  <a:ext cx="40233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latin typeface="Cambria Math"/>
                          </a:rPr>
                          <m:t>𝑦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5" name="TextBox 4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80544" y="3232489"/>
                  <a:ext cx="382605" cy="369332"/>
                </a:xfrm>
                <a:prstGeom prst="rect">
                  <a:avLst/>
                </a:prstGeom>
                <a:blipFill rotWithShape="1">
                  <a:blip r:embed="rId14"/>
                  <a:stretch>
                    <a:fillRect b="-8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TextBox 45"/>
                <p:cNvSpPr txBox="1"/>
                <p:nvPr/>
              </p:nvSpPr>
              <p:spPr>
                <a:xfrm>
                  <a:off x="5431609" y="3059668"/>
                  <a:ext cx="111495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latin typeface="Cambria Math"/>
                          </a:rPr>
                          <m:t>(</m:t>
                        </m:r>
                        <m:r>
                          <a:rPr lang="en-US" b="0" i="1" dirty="0" smtClean="0">
                            <a:latin typeface="Cambria Math"/>
                          </a:rPr>
                          <m:t>𝑥</m:t>
                        </m:r>
                        <m:r>
                          <a:rPr lang="en-US" b="0" i="1" dirty="0" smtClean="0">
                            <a:latin typeface="Cambria Math"/>
                          </a:rPr>
                          <m:t>+</m:t>
                        </m:r>
                        <m:r>
                          <a:rPr lang="en-US" b="0" i="1" dirty="0" smtClean="0">
                            <a:latin typeface="Cambria Math"/>
                          </a:rPr>
                          <m:t>𝑦</m:t>
                        </m:r>
                        <m:r>
                          <a:rPr lang="en-US" b="0" i="1" dirty="0" smtClean="0">
                            <a:latin typeface="Cambria Math"/>
                          </a:rPr>
                          <m:t>)′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6" name="TextBox 4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31609" y="3059668"/>
                  <a:ext cx="1040413" cy="369332"/>
                </a:xfrm>
                <a:prstGeom prst="rect">
                  <a:avLst/>
                </a:prstGeom>
                <a:blipFill rotWithShape="1">
                  <a:blip r:embed="rId15"/>
                  <a:stretch>
                    <a:fillRect b="-1311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7" name="TextBox 46"/>
            <p:cNvSpPr txBox="1"/>
            <p:nvPr/>
          </p:nvSpPr>
          <p:spPr>
            <a:xfrm>
              <a:off x="4158697" y="3635738"/>
              <a:ext cx="115594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0" i="0" dirty="0" smtClean="0">
                  <a:latin typeface="+mn-lt"/>
                </a:rPr>
                <a:t>NOR gate</a:t>
              </a:r>
              <a:endParaRPr lang="en-US" dirty="0">
                <a:latin typeface="+mn-lt"/>
              </a:endParaRPr>
            </a:p>
          </p:txBody>
        </p:sp>
        <p:sp>
          <p:nvSpPr>
            <p:cNvPr id="48" name="Moon 47"/>
            <p:cNvSpPr/>
            <p:nvPr/>
          </p:nvSpPr>
          <p:spPr>
            <a:xfrm flipH="1">
              <a:off x="4508040" y="3008543"/>
              <a:ext cx="585000" cy="540000"/>
            </a:xfrm>
            <a:prstGeom prst="moon">
              <a:avLst>
                <a:gd name="adj" fmla="val 87500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Oval 49"/>
            <p:cNvSpPr/>
            <p:nvPr/>
          </p:nvSpPr>
          <p:spPr>
            <a:xfrm>
              <a:off x="5091741" y="3209932"/>
              <a:ext cx="115214" cy="11521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7" name="Group 66"/>
          <p:cNvGrpSpPr/>
          <p:nvPr/>
        </p:nvGrpSpPr>
        <p:grpSpPr>
          <a:xfrm>
            <a:off x="889394" y="5340258"/>
            <a:ext cx="2372502" cy="1084306"/>
            <a:chOff x="862903" y="5397865"/>
            <a:chExt cx="2570211" cy="1084306"/>
          </a:xfrm>
        </p:grpSpPr>
        <p:cxnSp>
          <p:nvCxnSpPr>
            <p:cNvPr id="54" name="Straight Connector 53"/>
            <p:cNvCxnSpPr/>
            <p:nvPr/>
          </p:nvCxnSpPr>
          <p:spPr>
            <a:xfrm>
              <a:off x="2155574" y="5745417"/>
              <a:ext cx="390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5" name="Group 64"/>
            <p:cNvGrpSpPr/>
            <p:nvPr/>
          </p:nvGrpSpPr>
          <p:grpSpPr>
            <a:xfrm>
              <a:off x="1212669" y="5594376"/>
              <a:ext cx="533679" cy="311725"/>
              <a:chOff x="1212670" y="5594376"/>
              <a:chExt cx="390000" cy="311725"/>
            </a:xfrm>
          </p:grpSpPr>
          <p:cxnSp>
            <p:nvCxnSpPr>
              <p:cNvPr id="55" name="Straight Connector 54"/>
              <p:cNvCxnSpPr/>
              <p:nvPr/>
            </p:nvCxnSpPr>
            <p:spPr>
              <a:xfrm>
                <a:off x="1212670" y="5594376"/>
                <a:ext cx="390000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Straight Connector 55"/>
              <p:cNvCxnSpPr/>
              <p:nvPr/>
            </p:nvCxnSpPr>
            <p:spPr>
              <a:xfrm>
                <a:off x="1212670" y="5906101"/>
                <a:ext cx="390000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" name="TextBox 56"/>
                <p:cNvSpPr txBox="1"/>
                <p:nvPr/>
              </p:nvSpPr>
              <p:spPr>
                <a:xfrm>
                  <a:off x="862903" y="5397865"/>
                  <a:ext cx="39865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/>
                          </a:rPr>
                          <m:t>𝑥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7" name="TextBox 5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2903" y="5397865"/>
                  <a:ext cx="379205" cy="369332"/>
                </a:xfrm>
                <a:prstGeom prst="rect">
                  <a:avLst/>
                </a:prstGeom>
                <a:blipFill rotWithShape="1"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TextBox 57"/>
                <p:cNvSpPr txBox="1"/>
                <p:nvPr/>
              </p:nvSpPr>
              <p:spPr>
                <a:xfrm>
                  <a:off x="862903" y="5709590"/>
                  <a:ext cx="40233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latin typeface="Cambria Math"/>
                          </a:rPr>
                          <m:t>𝑦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8" name="TextBox 5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2903" y="5709590"/>
                  <a:ext cx="382605" cy="369332"/>
                </a:xfrm>
                <a:prstGeom prst="rect">
                  <a:avLst/>
                </a:prstGeom>
                <a:blipFill rotWithShape="1">
                  <a:blip r:embed="rId17"/>
                  <a:stretch>
                    <a:fillRect b="-8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TextBox 58"/>
                <p:cNvSpPr txBox="1"/>
                <p:nvPr/>
              </p:nvSpPr>
              <p:spPr>
                <a:xfrm>
                  <a:off x="2530019" y="5536769"/>
                  <a:ext cx="903095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>
                            <a:latin typeface="Cambria Math"/>
                          </a:rPr>
                          <m:t>𝑥</m:t>
                        </m:r>
                        <m:r>
                          <a:rPr lang="en-US" i="1" dirty="0">
                            <a:latin typeface="Cambria Math"/>
                          </a:rPr>
                          <m:t>⊕</m:t>
                        </m:r>
                        <m:r>
                          <a:rPr lang="en-US" i="1" dirty="0">
                            <a:latin typeface="Cambria Math"/>
                          </a:rPr>
                          <m:t>𝑦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9" name="TextBox 5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30019" y="5536769"/>
                  <a:ext cx="844847" cy="369332"/>
                </a:xfrm>
                <a:prstGeom prst="rect">
                  <a:avLst/>
                </a:prstGeom>
                <a:blipFill rotWithShape="1">
                  <a:blip r:embed="rId18"/>
                  <a:stretch>
                    <a:fillRect b="-655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0" name="TextBox 59"/>
            <p:cNvSpPr txBox="1"/>
            <p:nvPr/>
          </p:nvSpPr>
          <p:spPr>
            <a:xfrm>
              <a:off x="1141056" y="6112839"/>
              <a:ext cx="111773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0" i="0" dirty="0" smtClean="0">
                  <a:latin typeface="+mn-lt"/>
                </a:rPr>
                <a:t>XOR gate</a:t>
              </a:r>
              <a:endParaRPr lang="en-US" dirty="0">
                <a:latin typeface="+mn-lt"/>
              </a:endParaRPr>
            </a:p>
          </p:txBody>
        </p:sp>
        <p:sp>
          <p:nvSpPr>
            <p:cNvPr id="61" name="Moon 60"/>
            <p:cNvSpPr/>
            <p:nvPr/>
          </p:nvSpPr>
          <p:spPr>
            <a:xfrm flipH="1">
              <a:off x="1606450" y="5485644"/>
              <a:ext cx="585000" cy="540000"/>
            </a:xfrm>
            <a:prstGeom prst="moon">
              <a:avLst>
                <a:gd name="adj" fmla="val 87500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Arc 65"/>
            <p:cNvSpPr/>
            <p:nvPr/>
          </p:nvSpPr>
          <p:spPr>
            <a:xfrm>
              <a:off x="1438973" y="5485644"/>
              <a:ext cx="172821" cy="540000"/>
            </a:xfrm>
            <a:prstGeom prst="arc">
              <a:avLst>
                <a:gd name="adj1" fmla="val 16518021"/>
                <a:gd name="adj2" fmla="val 5242113"/>
              </a:avLst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8" name="Group 67"/>
          <p:cNvGrpSpPr/>
          <p:nvPr/>
        </p:nvGrpSpPr>
        <p:grpSpPr>
          <a:xfrm>
            <a:off x="3668014" y="5340258"/>
            <a:ext cx="2624172" cy="1084306"/>
            <a:chOff x="862903" y="5397865"/>
            <a:chExt cx="2842853" cy="1084306"/>
          </a:xfrm>
        </p:grpSpPr>
        <p:cxnSp>
          <p:nvCxnSpPr>
            <p:cNvPr id="69" name="Straight Connector 68"/>
            <p:cNvCxnSpPr/>
            <p:nvPr/>
          </p:nvCxnSpPr>
          <p:spPr>
            <a:xfrm>
              <a:off x="2155574" y="5745417"/>
              <a:ext cx="390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0" name="Group 69"/>
            <p:cNvGrpSpPr/>
            <p:nvPr/>
          </p:nvGrpSpPr>
          <p:grpSpPr>
            <a:xfrm>
              <a:off x="1212669" y="5594376"/>
              <a:ext cx="533679" cy="311725"/>
              <a:chOff x="1212670" y="5594376"/>
              <a:chExt cx="390000" cy="311725"/>
            </a:xfrm>
          </p:grpSpPr>
          <p:cxnSp>
            <p:nvCxnSpPr>
              <p:cNvPr id="78" name="Straight Connector 77"/>
              <p:cNvCxnSpPr/>
              <p:nvPr/>
            </p:nvCxnSpPr>
            <p:spPr>
              <a:xfrm>
                <a:off x="1212670" y="5594376"/>
                <a:ext cx="390000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Straight Connector 78"/>
              <p:cNvCxnSpPr/>
              <p:nvPr/>
            </p:nvCxnSpPr>
            <p:spPr>
              <a:xfrm>
                <a:off x="1212670" y="5906101"/>
                <a:ext cx="390000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1" name="TextBox 70"/>
                <p:cNvSpPr txBox="1"/>
                <p:nvPr/>
              </p:nvSpPr>
              <p:spPr>
                <a:xfrm>
                  <a:off x="862903" y="5397865"/>
                  <a:ext cx="39865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/>
                          </a:rPr>
                          <m:t>𝑥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1" name="TextBox 7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2903" y="5397865"/>
                  <a:ext cx="379205" cy="369332"/>
                </a:xfrm>
                <a:prstGeom prst="rect">
                  <a:avLst/>
                </a:prstGeom>
                <a:blipFill rotWithShape="1"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2" name="TextBox 71"/>
                <p:cNvSpPr txBox="1"/>
                <p:nvPr/>
              </p:nvSpPr>
              <p:spPr>
                <a:xfrm>
                  <a:off x="862903" y="5709590"/>
                  <a:ext cx="40233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latin typeface="Cambria Math"/>
                          </a:rPr>
                          <m:t>𝑦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2" name="TextBox 7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2903" y="5709590"/>
                  <a:ext cx="382605" cy="369332"/>
                </a:xfrm>
                <a:prstGeom prst="rect">
                  <a:avLst/>
                </a:prstGeom>
                <a:blipFill rotWithShape="1">
                  <a:blip r:embed="rId20"/>
                  <a:stretch>
                    <a:fillRect b="-8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3" name="TextBox 72"/>
                <p:cNvSpPr txBox="1"/>
                <p:nvPr/>
              </p:nvSpPr>
              <p:spPr>
                <a:xfrm>
                  <a:off x="2530018" y="5536769"/>
                  <a:ext cx="117573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latin typeface="Cambria Math"/>
                          </a:rPr>
                          <m:t>(</m:t>
                        </m:r>
                        <m:r>
                          <a:rPr lang="en-US" i="1" dirty="0">
                            <a:latin typeface="Cambria Math"/>
                          </a:rPr>
                          <m:t>𝑥</m:t>
                        </m:r>
                        <m:r>
                          <a:rPr lang="en-US" i="1" dirty="0">
                            <a:latin typeface="Cambria Math"/>
                          </a:rPr>
                          <m:t>⊕</m:t>
                        </m:r>
                        <m:r>
                          <a:rPr lang="en-US" i="1" dirty="0">
                            <a:latin typeface="Cambria Math"/>
                          </a:rPr>
                          <m:t>𝑦</m:t>
                        </m:r>
                        <m:r>
                          <a:rPr lang="en-US" b="0" i="1" dirty="0" smtClean="0">
                            <a:latin typeface="Cambria Math"/>
                          </a:rPr>
                          <m:t>)′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3" name="TextBox 7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30019" y="5536769"/>
                  <a:ext cx="1096519" cy="369332"/>
                </a:xfrm>
                <a:prstGeom prst="rect">
                  <a:avLst/>
                </a:prstGeom>
                <a:blipFill rotWithShape="1">
                  <a:blip r:embed="rId21"/>
                  <a:stretch>
                    <a:fillRect b="-1311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4" name="TextBox 73"/>
            <p:cNvSpPr txBox="1"/>
            <p:nvPr/>
          </p:nvSpPr>
          <p:spPr>
            <a:xfrm>
              <a:off x="1141056" y="6112839"/>
              <a:ext cx="128618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0" i="0" dirty="0" smtClean="0">
                  <a:latin typeface="+mn-lt"/>
                </a:rPr>
                <a:t>XNOR gate</a:t>
              </a:r>
              <a:endParaRPr lang="en-US" dirty="0">
                <a:latin typeface="+mn-lt"/>
              </a:endParaRPr>
            </a:p>
          </p:txBody>
        </p:sp>
        <p:sp>
          <p:nvSpPr>
            <p:cNvPr id="75" name="Moon 74"/>
            <p:cNvSpPr/>
            <p:nvPr/>
          </p:nvSpPr>
          <p:spPr>
            <a:xfrm flipH="1">
              <a:off x="1496046" y="5485644"/>
              <a:ext cx="585000" cy="540000"/>
            </a:xfrm>
            <a:prstGeom prst="moon">
              <a:avLst>
                <a:gd name="adj" fmla="val 87500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Oval 75"/>
            <p:cNvSpPr/>
            <p:nvPr/>
          </p:nvSpPr>
          <p:spPr>
            <a:xfrm>
              <a:off x="2079747" y="5687033"/>
              <a:ext cx="115214" cy="11521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" name="Arc 76"/>
            <p:cNvSpPr/>
            <p:nvPr/>
          </p:nvSpPr>
          <p:spPr>
            <a:xfrm>
              <a:off x="1328569" y="5485644"/>
              <a:ext cx="172821" cy="540000"/>
            </a:xfrm>
            <a:prstGeom prst="arc">
              <a:avLst>
                <a:gd name="adj1" fmla="val 16518021"/>
                <a:gd name="adj2" fmla="val 5242113"/>
              </a:avLst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0" name="Group 79"/>
          <p:cNvGrpSpPr/>
          <p:nvPr/>
        </p:nvGrpSpPr>
        <p:grpSpPr>
          <a:xfrm>
            <a:off x="6407058" y="4072904"/>
            <a:ext cx="1777976" cy="945402"/>
            <a:chOff x="6192837" y="1944681"/>
            <a:chExt cx="1777976" cy="94540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2" name="TextBox 81"/>
                <p:cNvSpPr txBox="1"/>
                <p:nvPr/>
              </p:nvSpPr>
              <p:spPr>
                <a:xfrm>
                  <a:off x="7639529" y="1944681"/>
                  <a:ext cx="331284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latin typeface="Cambria Math"/>
                          </a:rPr>
                          <m:t>𝑥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82" name="TextBox 8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39529" y="1944681"/>
                  <a:ext cx="331284" cy="369332"/>
                </a:xfrm>
                <a:prstGeom prst="rect">
                  <a:avLst/>
                </a:prstGeom>
                <a:blipFill rotWithShape="1">
                  <a:blip r:embed="rId2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3" name="Straight Connector 82"/>
            <p:cNvCxnSpPr/>
            <p:nvPr/>
          </p:nvCxnSpPr>
          <p:spPr>
            <a:xfrm>
              <a:off x="6515699" y="2148394"/>
              <a:ext cx="103262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4" name="TextBox 83"/>
                <p:cNvSpPr txBox="1"/>
                <p:nvPr/>
              </p:nvSpPr>
              <p:spPr>
                <a:xfrm>
                  <a:off x="6192837" y="1965135"/>
                  <a:ext cx="367985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/>
                          </a:rPr>
                          <m:t>𝑥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8" name="TextBox 2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92837" y="1965135"/>
                  <a:ext cx="379206" cy="369332"/>
                </a:xfrm>
                <a:prstGeom prst="rect">
                  <a:avLst/>
                </a:prstGeom>
                <a:blipFill rotWithShape="1"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5" name="TextBox 84"/>
            <p:cNvSpPr txBox="1"/>
            <p:nvPr/>
          </p:nvSpPr>
          <p:spPr>
            <a:xfrm>
              <a:off x="6653977" y="2520751"/>
              <a:ext cx="76014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0" i="0" dirty="0" smtClean="0">
                  <a:latin typeface="+mn-lt"/>
                </a:rPr>
                <a:t>Buffer</a:t>
              </a:r>
              <a:endParaRPr lang="en-US" dirty="0">
                <a:latin typeface="+mn-lt"/>
              </a:endParaRPr>
            </a:p>
          </p:txBody>
        </p:sp>
        <p:sp>
          <p:nvSpPr>
            <p:cNvPr id="87" name="Isosceles Triangle 86"/>
            <p:cNvSpPr/>
            <p:nvPr/>
          </p:nvSpPr>
          <p:spPr>
            <a:xfrm rot="5400000">
              <a:off x="6851333" y="1976981"/>
              <a:ext cx="394371" cy="345642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3" name="Group 52"/>
          <p:cNvGrpSpPr/>
          <p:nvPr/>
        </p:nvGrpSpPr>
        <p:grpSpPr>
          <a:xfrm>
            <a:off x="6409971" y="4984390"/>
            <a:ext cx="1777976" cy="1440175"/>
            <a:chOff x="6944135" y="4926782"/>
            <a:chExt cx="1926141" cy="1440175"/>
          </a:xfrm>
        </p:grpSpPr>
        <p:cxnSp>
          <p:nvCxnSpPr>
            <p:cNvPr id="92" name="Straight Connector 91"/>
            <p:cNvCxnSpPr/>
            <p:nvPr/>
          </p:nvCxnSpPr>
          <p:spPr>
            <a:xfrm>
              <a:off x="7867104" y="5282651"/>
              <a:ext cx="0" cy="27780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6" name="TextBox 85"/>
                <p:cNvSpPr txBox="1"/>
                <p:nvPr/>
              </p:nvSpPr>
              <p:spPr>
                <a:xfrm>
                  <a:off x="8511385" y="5421555"/>
                  <a:ext cx="358891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latin typeface="Cambria Math"/>
                          </a:rPr>
                          <m:t>𝑓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86" name="TextBox 8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11385" y="5421555"/>
                  <a:ext cx="358891" cy="369332"/>
                </a:xfrm>
                <a:prstGeom prst="rect">
                  <a:avLst/>
                </a:prstGeom>
                <a:blipFill rotWithShape="1">
                  <a:blip r:embed="rId23"/>
                  <a:stretch>
                    <a:fillRect b="-1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8" name="Straight Connector 87"/>
            <p:cNvCxnSpPr/>
            <p:nvPr/>
          </p:nvCxnSpPr>
          <p:spPr>
            <a:xfrm>
              <a:off x="7293902" y="5625268"/>
              <a:ext cx="1118676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9" name="TextBox 88"/>
                <p:cNvSpPr txBox="1"/>
                <p:nvPr/>
              </p:nvSpPr>
              <p:spPr>
                <a:xfrm>
                  <a:off x="6944135" y="5442009"/>
                  <a:ext cx="39865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/>
                          </a:rPr>
                          <m:t>𝑥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89" name="TextBox 8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44135" y="5442009"/>
                  <a:ext cx="379206" cy="369332"/>
                </a:xfrm>
                <a:prstGeom prst="rect">
                  <a:avLst/>
                </a:prstGeom>
                <a:blipFill rotWithShape="1">
                  <a:blip r:embed="rId2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0" name="TextBox 89"/>
            <p:cNvSpPr txBox="1"/>
            <p:nvPr/>
          </p:nvSpPr>
          <p:spPr>
            <a:xfrm>
              <a:off x="7179293" y="5997625"/>
              <a:ext cx="140294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0" i="0" dirty="0" smtClean="0">
                  <a:latin typeface="+mn-lt"/>
                </a:rPr>
                <a:t>3-state gate</a:t>
              </a:r>
              <a:endParaRPr lang="en-US" dirty="0">
                <a:latin typeface="+mn-lt"/>
              </a:endParaRPr>
            </a:p>
          </p:txBody>
        </p:sp>
        <p:sp>
          <p:nvSpPr>
            <p:cNvPr id="91" name="Isosceles Triangle 90"/>
            <p:cNvSpPr/>
            <p:nvPr/>
          </p:nvSpPr>
          <p:spPr>
            <a:xfrm rot="5400000">
              <a:off x="7673938" y="5439453"/>
              <a:ext cx="394371" cy="374446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3" name="TextBox 92"/>
                <p:cNvSpPr txBox="1"/>
                <p:nvPr/>
              </p:nvSpPr>
              <p:spPr>
                <a:xfrm>
                  <a:off x="7684572" y="4926782"/>
                  <a:ext cx="379895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latin typeface="Cambria Math"/>
                          </a:rPr>
                          <m:t>𝑐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93" name="TextBox 9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84572" y="4926782"/>
                  <a:ext cx="367665" cy="369332"/>
                </a:xfrm>
                <a:prstGeom prst="rect">
                  <a:avLst/>
                </a:prstGeom>
                <a:blipFill rotWithShape="1">
                  <a:blip r:embed="rId2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7608240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dirty="0" smtClean="0"/>
              <a:t>NAND Gate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94293"/>
            <a:ext cx="8156153" cy="5587879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  <a:spcBef>
                <a:spcPts val="1000"/>
              </a:spcBef>
            </a:pPr>
            <a:r>
              <a:rPr lang="en-US" sz="2400" dirty="0" smtClean="0"/>
              <a:t>The NAND gate has the following symbol and truth table</a:t>
            </a:r>
          </a:p>
          <a:p>
            <a:pPr>
              <a:lnSpc>
                <a:spcPct val="120000"/>
              </a:lnSpc>
              <a:spcBef>
                <a:spcPts val="1000"/>
              </a:spcBef>
            </a:pPr>
            <a:r>
              <a:rPr lang="en-US" sz="2400" dirty="0"/>
              <a:t>NAND represents </a:t>
            </a:r>
            <a:r>
              <a:rPr lang="en-US" sz="2400" b="1" dirty="0">
                <a:solidFill>
                  <a:srgbClr val="FF0000"/>
                </a:solidFill>
              </a:rPr>
              <a:t>N</a:t>
            </a:r>
            <a:r>
              <a:rPr lang="en-US" sz="2400" dirty="0"/>
              <a:t>OT </a:t>
            </a:r>
            <a:r>
              <a:rPr lang="en-US" sz="2400" b="1" dirty="0">
                <a:solidFill>
                  <a:srgbClr val="FF0000"/>
                </a:solidFill>
              </a:rPr>
              <a:t>AND</a:t>
            </a:r>
          </a:p>
          <a:p>
            <a:pPr>
              <a:lnSpc>
                <a:spcPct val="120000"/>
              </a:lnSpc>
              <a:spcBef>
                <a:spcPts val="1000"/>
              </a:spcBef>
            </a:pPr>
            <a:r>
              <a:rPr lang="en-US" sz="2400" dirty="0"/>
              <a:t>The small bubble circle represents the invert function</a:t>
            </a:r>
          </a:p>
          <a:p>
            <a:pPr>
              <a:lnSpc>
                <a:spcPct val="120000"/>
              </a:lnSpc>
              <a:spcBef>
                <a:spcPts val="1000"/>
              </a:spcBef>
            </a:pPr>
            <a:endParaRPr lang="en-US" sz="2400" dirty="0"/>
          </a:p>
          <a:p>
            <a:pPr>
              <a:lnSpc>
                <a:spcPct val="120000"/>
              </a:lnSpc>
              <a:spcBef>
                <a:spcPts val="1000"/>
              </a:spcBef>
            </a:pPr>
            <a:endParaRPr lang="en-US" sz="2400" dirty="0" smtClean="0"/>
          </a:p>
          <a:p>
            <a:pPr>
              <a:lnSpc>
                <a:spcPct val="120000"/>
              </a:lnSpc>
              <a:spcBef>
                <a:spcPts val="1000"/>
              </a:spcBef>
            </a:pPr>
            <a:endParaRPr lang="en-US" sz="2400" dirty="0"/>
          </a:p>
          <a:p>
            <a:pPr>
              <a:lnSpc>
                <a:spcPct val="120000"/>
              </a:lnSpc>
              <a:spcBef>
                <a:spcPts val="1000"/>
              </a:spcBef>
            </a:pPr>
            <a:endParaRPr lang="en-US" sz="2400" dirty="0" smtClean="0"/>
          </a:p>
          <a:p>
            <a:pPr>
              <a:lnSpc>
                <a:spcPct val="120000"/>
              </a:lnSpc>
              <a:spcBef>
                <a:spcPts val="1000"/>
              </a:spcBef>
            </a:pPr>
            <a:endParaRPr lang="en-US" sz="2400" dirty="0"/>
          </a:p>
          <a:p>
            <a:pPr>
              <a:lnSpc>
                <a:spcPct val="120000"/>
              </a:lnSpc>
              <a:spcBef>
                <a:spcPts val="1000"/>
              </a:spcBef>
            </a:pPr>
            <a:r>
              <a:rPr lang="en-US" sz="2400" dirty="0" smtClean="0"/>
              <a:t>NAND gate is implemented efficiently in CMOS technology</a:t>
            </a:r>
          </a:p>
          <a:p>
            <a:pPr lvl="1">
              <a:lnSpc>
                <a:spcPct val="120000"/>
              </a:lnSpc>
              <a:spcBef>
                <a:spcPts val="1000"/>
              </a:spcBef>
            </a:pPr>
            <a:r>
              <a:rPr lang="en-US" sz="2000" dirty="0" smtClean="0"/>
              <a:t>In terms of chip area and speed</a:t>
            </a:r>
            <a:endParaRPr lang="en-US" sz="2000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8232515"/>
              </p:ext>
            </p:extLst>
          </p:nvPr>
        </p:nvGraphicFramePr>
        <p:xfrm>
          <a:off x="6699027" y="2795323"/>
          <a:ext cx="1807973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7635"/>
                <a:gridCol w="1010338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onsolas" panose="020B0609020204030204" pitchFamily="49" charset="0"/>
                        </a:rPr>
                        <a:t>x</a:t>
                      </a:r>
                      <a:r>
                        <a:rPr lang="en-US" sz="2400" baseline="0" dirty="0" smtClean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onsolas" panose="020B0609020204030204" pitchFamily="49" charset="0"/>
                        </a:rPr>
                        <a:t>   y</a:t>
                      </a:r>
                      <a:endParaRPr lang="en-US" sz="24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onsolas" panose="020B0609020204030204" pitchFamily="49" charset="0"/>
                      </a:endParaRPr>
                    </a:p>
                  </a:txBody>
                  <a:tcPr marL="84406" marR="8440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onsolas" panose="020B0609020204030204" pitchFamily="49" charset="0"/>
                        </a:rPr>
                        <a:t>NAND</a:t>
                      </a:r>
                      <a:endParaRPr lang="en-US" sz="24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onsolas" panose="020B0609020204030204" pitchFamily="49" charset="0"/>
                      </a:endParaRPr>
                    </a:p>
                  </a:txBody>
                  <a:tcPr marL="84406" marR="84406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0  0</a:t>
                      </a:r>
                      <a:endParaRPr lang="en-US" sz="2400" dirty="0"/>
                    </a:p>
                  </a:txBody>
                  <a:tcPr marL="84406" marR="8440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1</a:t>
                      </a:r>
                      <a:endParaRPr lang="en-US" sz="2400" dirty="0"/>
                    </a:p>
                  </a:txBody>
                  <a:tcPr marL="84406" marR="84406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0  1</a:t>
                      </a:r>
                      <a:endParaRPr lang="en-US" sz="2400" dirty="0"/>
                    </a:p>
                  </a:txBody>
                  <a:tcPr marL="84406" marR="8440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1</a:t>
                      </a:r>
                      <a:endParaRPr lang="en-US" sz="2400" dirty="0"/>
                    </a:p>
                  </a:txBody>
                  <a:tcPr marL="84406" marR="84406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1  0</a:t>
                      </a:r>
                      <a:endParaRPr lang="en-US" sz="2400" dirty="0"/>
                    </a:p>
                  </a:txBody>
                  <a:tcPr marL="84406" marR="8440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1</a:t>
                      </a:r>
                      <a:endParaRPr lang="en-US" sz="2400" dirty="0"/>
                    </a:p>
                  </a:txBody>
                  <a:tcPr marL="84406" marR="84406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1  1</a:t>
                      </a:r>
                      <a:endParaRPr lang="en-US" sz="2400" dirty="0"/>
                    </a:p>
                  </a:txBody>
                  <a:tcPr marL="84406" marR="8440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0</a:t>
                      </a:r>
                      <a:endParaRPr lang="en-US" sz="2400" dirty="0"/>
                    </a:p>
                  </a:txBody>
                  <a:tcPr marL="84406" marR="84406"/>
                </a:tc>
              </a:tr>
            </a:tbl>
          </a:graphicData>
        </a:graphic>
      </p:graphicFrame>
      <p:grpSp>
        <p:nvGrpSpPr>
          <p:cNvPr id="5" name="Group 4"/>
          <p:cNvGrpSpPr/>
          <p:nvPr/>
        </p:nvGrpSpPr>
        <p:grpSpPr>
          <a:xfrm>
            <a:off x="889394" y="2947593"/>
            <a:ext cx="3681685" cy="1314734"/>
            <a:chOff x="875858" y="2920764"/>
            <a:chExt cx="3988492" cy="1314734"/>
          </a:xfrm>
        </p:grpSpPr>
        <p:cxnSp>
          <p:nvCxnSpPr>
            <p:cNvPr id="6" name="Straight Connector 5"/>
            <p:cNvCxnSpPr/>
            <p:nvPr/>
          </p:nvCxnSpPr>
          <p:spPr>
            <a:xfrm>
              <a:off x="2186417" y="3268316"/>
              <a:ext cx="390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Flowchart: Delay 6"/>
            <p:cNvSpPr/>
            <p:nvPr/>
          </p:nvSpPr>
          <p:spPr>
            <a:xfrm>
              <a:off x="1615625" y="2998316"/>
              <a:ext cx="585000" cy="540000"/>
            </a:xfrm>
            <a:prstGeom prst="flowChartDelay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" name="Straight Connector 7"/>
            <p:cNvCxnSpPr/>
            <p:nvPr/>
          </p:nvCxnSpPr>
          <p:spPr>
            <a:xfrm>
              <a:off x="1225625" y="3117275"/>
              <a:ext cx="390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1225625" y="3429000"/>
              <a:ext cx="390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/>
                <p:cNvSpPr txBox="1"/>
                <p:nvPr/>
              </p:nvSpPr>
              <p:spPr>
                <a:xfrm>
                  <a:off x="875858" y="2920764"/>
                  <a:ext cx="418587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 dirty="0" smtClean="0">
                            <a:latin typeface="Cambria Math"/>
                          </a:rPr>
                          <m:t>𝑥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10" name="TextBox 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5858" y="2920764"/>
                  <a:ext cx="399212" cy="400110"/>
                </a:xfrm>
                <a:prstGeom prst="rect">
                  <a:avLst/>
                </a:prstGeom>
                <a:blipFill rotWithShape="1"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/>
                <p:cNvSpPr txBox="1"/>
                <p:nvPr/>
              </p:nvSpPr>
              <p:spPr>
                <a:xfrm>
                  <a:off x="875858" y="3232489"/>
                  <a:ext cx="423588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dirty="0" smtClean="0">
                            <a:latin typeface="Cambria Math"/>
                          </a:rPr>
                          <m:t>𝑦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11" name="TextBox 1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5858" y="3232489"/>
                  <a:ext cx="403828" cy="400110"/>
                </a:xfrm>
                <a:prstGeom prst="rect">
                  <a:avLst/>
                </a:prstGeom>
                <a:blipFill rotWithShape="1">
                  <a:blip r:embed="rId3"/>
                  <a:stretch>
                    <a:fillRect b="-1076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/>
                <p:cNvSpPr txBox="1"/>
                <p:nvPr/>
              </p:nvSpPr>
              <p:spPr>
                <a:xfrm>
                  <a:off x="2598591" y="3059668"/>
                  <a:ext cx="2265759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sz="2000" b="0" i="1" dirty="0" smtClean="0">
                                <a:latin typeface="Cambria Math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2000" b="0" i="1" dirty="0" smtClean="0">
                                    <a:latin typeface="Cambria Math"/>
                                  </a:rPr>
                                </m:ctrlPr>
                              </m:dPr>
                              <m:e>
                                <m:r>
                                  <a:rPr lang="en-US" sz="2000" b="0" i="1" dirty="0" smtClean="0"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sz="2000" b="0" i="1" dirty="0" smtClean="0">
                                    <a:latin typeface="Cambria Math"/>
                                  </a:rPr>
                                  <m:t>·</m:t>
                                </m:r>
                                <m:r>
                                  <a:rPr lang="en-US" sz="2000" b="0" i="1" dirty="0" smtClean="0">
                                    <a:latin typeface="Cambria Math"/>
                                  </a:rPr>
                                  <m:t>𝑦</m:t>
                                </m:r>
                              </m:e>
                            </m:d>
                          </m:e>
                          <m:sup>
                            <m:r>
                              <a:rPr lang="en-US" sz="2000" b="0" i="1" dirty="0" smtClean="0">
                                <a:latin typeface="Cambria Math"/>
                              </a:rPr>
                              <m:t>′</m:t>
                            </m:r>
                          </m:sup>
                        </m:sSup>
                        <m:r>
                          <a:rPr lang="en-US" sz="2000" b="0" i="1" dirty="0" smtClean="0">
                            <a:latin typeface="Cambria Math"/>
                          </a:rPr>
                          <m:t>=</m:t>
                        </m:r>
                        <m:sSup>
                          <m:sSupPr>
                            <m:ctrlPr>
                              <a:rPr lang="en-US" sz="2000" b="0" i="1" dirty="0" smtClean="0"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US" sz="2000" b="0" i="1" dirty="0" smtClean="0">
                                <a:latin typeface="Cambria Math"/>
                              </a:rPr>
                              <m:t>𝑥</m:t>
                            </m:r>
                          </m:e>
                          <m:sup>
                            <m:r>
                              <a:rPr lang="en-US" sz="2000" b="0" i="1" dirty="0" smtClean="0">
                                <a:latin typeface="Cambria Math"/>
                              </a:rPr>
                              <m:t>′</m:t>
                            </m:r>
                          </m:sup>
                        </m:sSup>
                        <m:r>
                          <a:rPr lang="en-US" sz="2000" b="0" i="1" dirty="0" smtClean="0">
                            <a:latin typeface="Cambria Math"/>
                          </a:rPr>
                          <m:t>+</m:t>
                        </m:r>
                        <m:r>
                          <a:rPr lang="en-US" sz="2000" b="0" i="1" dirty="0" smtClean="0">
                            <a:latin typeface="Cambria Math"/>
                          </a:rPr>
                          <m:t>𝑦</m:t>
                        </m:r>
                        <m:r>
                          <a:rPr lang="en-US" sz="2000" b="0" i="1" dirty="0" smtClean="0">
                            <a:latin typeface="Cambria Math"/>
                          </a:rPr>
                          <m:t>′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12" name="TextBox 1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98591" y="3059668"/>
                  <a:ext cx="2104294" cy="400110"/>
                </a:xfrm>
                <a:prstGeom prst="rect">
                  <a:avLst/>
                </a:prstGeom>
                <a:blipFill rotWithShape="1">
                  <a:blip r:embed="rId4"/>
                  <a:stretch>
                    <a:fillRect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" name="TextBox 12"/>
            <p:cNvSpPr txBox="1"/>
            <p:nvPr/>
          </p:nvSpPr>
          <p:spPr>
            <a:xfrm>
              <a:off x="1063286" y="3773833"/>
              <a:ext cx="174278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0" i="0" dirty="0" smtClean="0">
                  <a:latin typeface="+mn-lt"/>
                </a:rPr>
                <a:t>NAND gate</a:t>
              </a:r>
              <a:endParaRPr lang="en-US" sz="2400" dirty="0">
                <a:latin typeface="+mn-lt"/>
              </a:endParaRPr>
            </a:p>
          </p:txBody>
        </p:sp>
        <p:sp>
          <p:nvSpPr>
            <p:cNvPr id="14" name="Oval 13"/>
            <p:cNvSpPr/>
            <p:nvPr/>
          </p:nvSpPr>
          <p:spPr>
            <a:xfrm>
              <a:off x="2201116" y="3211824"/>
              <a:ext cx="115214" cy="11521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5" name="Group 14"/>
          <p:cNvGrpSpPr/>
          <p:nvPr/>
        </p:nvGrpSpPr>
        <p:grpSpPr>
          <a:xfrm>
            <a:off x="3327346" y="3869306"/>
            <a:ext cx="2893100" cy="1172691"/>
            <a:chOff x="3470377" y="2920764"/>
            <a:chExt cx="3134192" cy="1172691"/>
          </a:xfrm>
        </p:grpSpPr>
        <p:cxnSp>
          <p:nvCxnSpPr>
            <p:cNvPr id="16" name="Straight Connector 15"/>
            <p:cNvCxnSpPr/>
            <p:nvPr/>
          </p:nvCxnSpPr>
          <p:spPr>
            <a:xfrm>
              <a:off x="5057164" y="3268316"/>
              <a:ext cx="390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>
              <a:off x="4230311" y="3117275"/>
              <a:ext cx="390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4230311" y="3429000"/>
              <a:ext cx="390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/>
                <p:cNvSpPr txBox="1"/>
                <p:nvPr/>
              </p:nvSpPr>
              <p:spPr>
                <a:xfrm>
                  <a:off x="3880544" y="2920764"/>
                  <a:ext cx="418587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 dirty="0" smtClean="0">
                            <a:latin typeface="Cambria Math"/>
                          </a:rPr>
                          <m:t>𝑥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19" name="TextBox 1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80544" y="2920764"/>
                  <a:ext cx="399212" cy="400110"/>
                </a:xfrm>
                <a:prstGeom prst="rect">
                  <a:avLst/>
                </a:prstGeom>
                <a:blipFill rotWithShape="1"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/>
                <p:cNvSpPr txBox="1"/>
                <p:nvPr/>
              </p:nvSpPr>
              <p:spPr>
                <a:xfrm>
                  <a:off x="3880544" y="3232489"/>
                  <a:ext cx="423588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dirty="0" smtClean="0">
                            <a:latin typeface="Cambria Math"/>
                          </a:rPr>
                          <m:t>𝑦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20" name="TextBox 1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80544" y="3232489"/>
                  <a:ext cx="403828" cy="400110"/>
                </a:xfrm>
                <a:prstGeom prst="rect">
                  <a:avLst/>
                </a:prstGeom>
                <a:blipFill rotWithShape="1">
                  <a:blip r:embed="rId6"/>
                  <a:stretch>
                    <a:fillRect b="-1076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/>
                <p:cNvSpPr txBox="1"/>
                <p:nvPr/>
              </p:nvSpPr>
              <p:spPr>
                <a:xfrm>
                  <a:off x="5394822" y="3059668"/>
                  <a:ext cx="104077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dirty="0" smtClean="0">
                            <a:latin typeface="Cambria Math"/>
                          </a:rPr>
                          <m:t>𝑥</m:t>
                        </m:r>
                        <m:r>
                          <a:rPr lang="en-US" sz="2000" b="0" i="1" dirty="0" smtClean="0">
                            <a:latin typeface="Cambria Math"/>
                          </a:rPr>
                          <m:t>′+</m:t>
                        </m:r>
                        <m:r>
                          <a:rPr lang="en-US" sz="2000" b="0" i="1" dirty="0" smtClean="0">
                            <a:latin typeface="Cambria Math"/>
                          </a:rPr>
                          <m:t>𝑦</m:t>
                        </m:r>
                        <m:r>
                          <a:rPr lang="en-US" sz="2000" b="0" i="1" dirty="0" smtClean="0">
                            <a:latin typeface="Cambria Math"/>
                          </a:rPr>
                          <m:t>′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21" name="TextBox 2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94822" y="3059668"/>
                  <a:ext cx="973535" cy="400110"/>
                </a:xfrm>
                <a:prstGeom prst="rect">
                  <a:avLst/>
                </a:prstGeom>
                <a:blipFill rotWithShape="1">
                  <a:blip r:embed="rId7"/>
                  <a:stretch>
                    <a:fillRect b="-909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2" name="TextBox 21"/>
            <p:cNvSpPr txBox="1"/>
            <p:nvPr/>
          </p:nvSpPr>
          <p:spPr>
            <a:xfrm>
              <a:off x="3470377" y="3693345"/>
              <a:ext cx="313419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b="0" i="0" dirty="0" smtClean="0">
                  <a:latin typeface="+mn-lt"/>
                </a:rPr>
                <a:t>Another symbol for NAND</a:t>
              </a:r>
              <a:endParaRPr lang="en-US" sz="2000" dirty="0">
                <a:latin typeface="+mn-lt"/>
              </a:endParaRPr>
            </a:p>
          </p:txBody>
        </p:sp>
        <p:sp>
          <p:nvSpPr>
            <p:cNvPr id="23" name="Moon 22"/>
            <p:cNvSpPr/>
            <p:nvPr/>
          </p:nvSpPr>
          <p:spPr>
            <a:xfrm flipH="1">
              <a:off x="4508040" y="3008543"/>
              <a:ext cx="585000" cy="540000"/>
            </a:xfrm>
            <a:prstGeom prst="moon">
              <a:avLst>
                <a:gd name="adj" fmla="val 87500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Oval 23"/>
            <p:cNvSpPr/>
            <p:nvPr/>
          </p:nvSpPr>
          <p:spPr>
            <a:xfrm>
              <a:off x="4422534" y="3060638"/>
              <a:ext cx="115214" cy="11521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/>
            <p:cNvSpPr/>
            <p:nvPr/>
          </p:nvSpPr>
          <p:spPr>
            <a:xfrm>
              <a:off x="4428214" y="3371393"/>
              <a:ext cx="115214" cy="11521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1058621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/>
          <a:lstStyle/>
          <a:p>
            <a:r>
              <a:rPr lang="en-US" dirty="0" smtClean="0"/>
              <a:t>NOR Gate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94293"/>
            <a:ext cx="8156153" cy="5587879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  <a:spcBef>
                <a:spcPts val="1000"/>
              </a:spcBef>
            </a:pPr>
            <a:r>
              <a:rPr lang="en-US" sz="2400" dirty="0" smtClean="0"/>
              <a:t>The NOR gate has the following symbol and truth table</a:t>
            </a:r>
          </a:p>
          <a:p>
            <a:pPr>
              <a:lnSpc>
                <a:spcPct val="120000"/>
              </a:lnSpc>
              <a:spcBef>
                <a:spcPts val="1000"/>
              </a:spcBef>
            </a:pPr>
            <a:r>
              <a:rPr lang="en-US" sz="2400" dirty="0" smtClean="0"/>
              <a:t>NOR </a:t>
            </a:r>
            <a:r>
              <a:rPr lang="en-US" sz="2400" dirty="0"/>
              <a:t>represents </a:t>
            </a:r>
            <a:r>
              <a:rPr lang="en-US" sz="2400" b="1" dirty="0">
                <a:solidFill>
                  <a:srgbClr val="FF0000"/>
                </a:solidFill>
              </a:rPr>
              <a:t>N</a:t>
            </a:r>
            <a:r>
              <a:rPr lang="en-US" sz="2400" dirty="0"/>
              <a:t>OT </a:t>
            </a:r>
            <a:r>
              <a:rPr lang="en-US" sz="2400" b="1" dirty="0" smtClean="0">
                <a:solidFill>
                  <a:srgbClr val="FF0000"/>
                </a:solidFill>
              </a:rPr>
              <a:t>OR</a:t>
            </a:r>
            <a:endParaRPr lang="en-US" sz="2400" b="1" dirty="0">
              <a:solidFill>
                <a:srgbClr val="FF0000"/>
              </a:solidFill>
            </a:endParaRPr>
          </a:p>
          <a:p>
            <a:pPr>
              <a:lnSpc>
                <a:spcPct val="120000"/>
              </a:lnSpc>
              <a:spcBef>
                <a:spcPts val="1000"/>
              </a:spcBef>
            </a:pPr>
            <a:r>
              <a:rPr lang="en-US" sz="2400" dirty="0"/>
              <a:t>The small bubble circle represents the invert function</a:t>
            </a:r>
          </a:p>
          <a:p>
            <a:pPr>
              <a:lnSpc>
                <a:spcPct val="120000"/>
              </a:lnSpc>
              <a:spcBef>
                <a:spcPts val="1000"/>
              </a:spcBef>
            </a:pPr>
            <a:endParaRPr lang="en-US" sz="2400" dirty="0"/>
          </a:p>
          <a:p>
            <a:pPr>
              <a:lnSpc>
                <a:spcPct val="120000"/>
              </a:lnSpc>
              <a:spcBef>
                <a:spcPts val="1000"/>
              </a:spcBef>
            </a:pPr>
            <a:endParaRPr lang="en-US" sz="2400" dirty="0" smtClean="0"/>
          </a:p>
          <a:p>
            <a:pPr>
              <a:lnSpc>
                <a:spcPct val="120000"/>
              </a:lnSpc>
              <a:spcBef>
                <a:spcPts val="1000"/>
              </a:spcBef>
            </a:pPr>
            <a:endParaRPr lang="en-US" sz="2400" dirty="0"/>
          </a:p>
          <a:p>
            <a:pPr>
              <a:lnSpc>
                <a:spcPct val="120000"/>
              </a:lnSpc>
              <a:spcBef>
                <a:spcPts val="1000"/>
              </a:spcBef>
            </a:pPr>
            <a:endParaRPr lang="en-US" sz="2400" dirty="0" smtClean="0"/>
          </a:p>
          <a:p>
            <a:pPr>
              <a:lnSpc>
                <a:spcPct val="120000"/>
              </a:lnSpc>
              <a:spcBef>
                <a:spcPts val="1000"/>
              </a:spcBef>
            </a:pPr>
            <a:endParaRPr lang="en-US" sz="2400" dirty="0"/>
          </a:p>
          <a:p>
            <a:pPr>
              <a:lnSpc>
                <a:spcPct val="120000"/>
              </a:lnSpc>
              <a:spcBef>
                <a:spcPts val="1000"/>
              </a:spcBef>
            </a:pPr>
            <a:r>
              <a:rPr lang="en-US" sz="2400" dirty="0" smtClean="0"/>
              <a:t>NOR gate is implemented efficiently in CMOS technology</a:t>
            </a:r>
          </a:p>
          <a:p>
            <a:pPr lvl="1">
              <a:lnSpc>
                <a:spcPct val="120000"/>
              </a:lnSpc>
              <a:spcBef>
                <a:spcPts val="1000"/>
              </a:spcBef>
            </a:pPr>
            <a:r>
              <a:rPr lang="en-US" sz="2000" dirty="0" smtClean="0"/>
              <a:t>In terms of chip area and speed</a:t>
            </a:r>
            <a:endParaRPr lang="en-US" sz="2000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6165498"/>
              </p:ext>
            </p:extLst>
          </p:nvPr>
        </p:nvGraphicFramePr>
        <p:xfrm>
          <a:off x="6858555" y="2795323"/>
          <a:ext cx="1648447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4460"/>
                <a:gridCol w="903987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onsolas" panose="020B0609020204030204" pitchFamily="49" charset="0"/>
                        </a:rPr>
                        <a:t>x</a:t>
                      </a:r>
                      <a:r>
                        <a:rPr lang="en-US" sz="2400" baseline="0" dirty="0" smtClean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onsolas" panose="020B0609020204030204" pitchFamily="49" charset="0"/>
                        </a:rPr>
                        <a:t>   y</a:t>
                      </a:r>
                      <a:endParaRPr lang="en-US" sz="24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onsolas" panose="020B0609020204030204" pitchFamily="49" charset="0"/>
                      </a:endParaRPr>
                    </a:p>
                  </a:txBody>
                  <a:tcPr marL="84406" marR="8440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onsolas" panose="020B0609020204030204" pitchFamily="49" charset="0"/>
                        </a:rPr>
                        <a:t>NOR</a:t>
                      </a:r>
                      <a:endParaRPr lang="en-US" sz="24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onsolas" panose="020B0609020204030204" pitchFamily="49" charset="0"/>
                      </a:endParaRPr>
                    </a:p>
                  </a:txBody>
                  <a:tcPr marL="84406" marR="84406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0  0</a:t>
                      </a:r>
                      <a:endParaRPr lang="en-US" sz="2400" dirty="0"/>
                    </a:p>
                  </a:txBody>
                  <a:tcPr marL="84406" marR="8440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1</a:t>
                      </a:r>
                      <a:endParaRPr lang="en-US" sz="2400" dirty="0"/>
                    </a:p>
                  </a:txBody>
                  <a:tcPr marL="84406" marR="84406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0  1</a:t>
                      </a:r>
                      <a:endParaRPr lang="en-US" sz="2400" dirty="0"/>
                    </a:p>
                  </a:txBody>
                  <a:tcPr marL="84406" marR="8440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0</a:t>
                      </a:r>
                      <a:endParaRPr lang="en-US" sz="2400" dirty="0"/>
                    </a:p>
                  </a:txBody>
                  <a:tcPr marL="84406" marR="84406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1  0</a:t>
                      </a:r>
                      <a:endParaRPr lang="en-US" sz="2400" dirty="0"/>
                    </a:p>
                  </a:txBody>
                  <a:tcPr marL="84406" marR="8440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0</a:t>
                      </a:r>
                      <a:endParaRPr lang="en-US" sz="2400" dirty="0"/>
                    </a:p>
                  </a:txBody>
                  <a:tcPr marL="84406" marR="84406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1  1</a:t>
                      </a:r>
                      <a:endParaRPr lang="en-US" sz="2400" dirty="0"/>
                    </a:p>
                  </a:txBody>
                  <a:tcPr marL="84406" marR="8440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0</a:t>
                      </a:r>
                      <a:endParaRPr lang="en-US" sz="2400" dirty="0"/>
                    </a:p>
                  </a:txBody>
                  <a:tcPr marL="84406" marR="84406"/>
                </a:tc>
              </a:tr>
            </a:tbl>
          </a:graphicData>
        </a:graphic>
      </p:graphicFrame>
      <p:grpSp>
        <p:nvGrpSpPr>
          <p:cNvPr id="28" name="Group 27"/>
          <p:cNvGrpSpPr/>
          <p:nvPr/>
        </p:nvGrpSpPr>
        <p:grpSpPr>
          <a:xfrm>
            <a:off x="889394" y="2947593"/>
            <a:ext cx="3681685" cy="1314734"/>
            <a:chOff x="963510" y="2947593"/>
            <a:chExt cx="3988492" cy="1314734"/>
          </a:xfrm>
        </p:grpSpPr>
        <p:cxnSp>
          <p:nvCxnSpPr>
            <p:cNvPr id="6" name="Straight Connector 5"/>
            <p:cNvCxnSpPr/>
            <p:nvPr/>
          </p:nvCxnSpPr>
          <p:spPr>
            <a:xfrm>
              <a:off x="2274069" y="3295145"/>
              <a:ext cx="390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7" name="Group 26"/>
            <p:cNvGrpSpPr/>
            <p:nvPr/>
          </p:nvGrpSpPr>
          <p:grpSpPr>
            <a:xfrm>
              <a:off x="1313277" y="3144104"/>
              <a:ext cx="471338" cy="311725"/>
              <a:chOff x="1313277" y="3144104"/>
              <a:chExt cx="390000" cy="311725"/>
            </a:xfrm>
          </p:grpSpPr>
          <p:cxnSp>
            <p:nvCxnSpPr>
              <p:cNvPr id="8" name="Straight Connector 7"/>
              <p:cNvCxnSpPr/>
              <p:nvPr/>
            </p:nvCxnSpPr>
            <p:spPr>
              <a:xfrm>
                <a:off x="1313277" y="3144104"/>
                <a:ext cx="390000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Connector 8"/>
              <p:cNvCxnSpPr/>
              <p:nvPr/>
            </p:nvCxnSpPr>
            <p:spPr>
              <a:xfrm>
                <a:off x="1313277" y="3455829"/>
                <a:ext cx="390000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/>
                <p:cNvSpPr txBox="1"/>
                <p:nvPr/>
              </p:nvSpPr>
              <p:spPr>
                <a:xfrm>
                  <a:off x="963510" y="2947593"/>
                  <a:ext cx="418587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 dirty="0" smtClean="0">
                            <a:latin typeface="Cambria Math"/>
                          </a:rPr>
                          <m:t>𝑥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10" name="TextBox 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3510" y="2947593"/>
                  <a:ext cx="399212" cy="400110"/>
                </a:xfrm>
                <a:prstGeom prst="rect">
                  <a:avLst/>
                </a:prstGeom>
                <a:blipFill rotWithShape="1"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/>
                <p:cNvSpPr txBox="1"/>
                <p:nvPr/>
              </p:nvSpPr>
              <p:spPr>
                <a:xfrm>
                  <a:off x="963510" y="3259318"/>
                  <a:ext cx="423588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dirty="0" smtClean="0">
                            <a:latin typeface="Cambria Math"/>
                          </a:rPr>
                          <m:t>𝑦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11" name="TextBox 1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3510" y="3259318"/>
                  <a:ext cx="403828" cy="400110"/>
                </a:xfrm>
                <a:prstGeom prst="rect">
                  <a:avLst/>
                </a:prstGeom>
                <a:blipFill rotWithShape="1">
                  <a:blip r:embed="rId3"/>
                  <a:stretch>
                    <a:fillRect b="-1076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/>
                <p:cNvSpPr txBox="1"/>
                <p:nvPr/>
              </p:nvSpPr>
              <p:spPr>
                <a:xfrm>
                  <a:off x="2686243" y="3086497"/>
                  <a:ext cx="2265759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sz="2000" b="0" i="1" dirty="0" smtClean="0">
                                <a:latin typeface="Cambria Math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2000" b="0" i="1" dirty="0" smtClean="0">
                                    <a:latin typeface="Cambria Math"/>
                                  </a:rPr>
                                </m:ctrlPr>
                              </m:dPr>
                              <m:e>
                                <m:r>
                                  <a:rPr lang="en-US" sz="2000" b="0" i="1" dirty="0" smtClean="0"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sz="2000" b="0" i="1" dirty="0" smtClean="0">
                                    <a:latin typeface="Cambria Math"/>
                                  </a:rPr>
                                  <m:t>+</m:t>
                                </m:r>
                                <m:r>
                                  <a:rPr lang="en-US" sz="2000" b="0" i="1" dirty="0" smtClean="0">
                                    <a:latin typeface="Cambria Math"/>
                                  </a:rPr>
                                  <m:t>𝑦</m:t>
                                </m:r>
                              </m:e>
                            </m:d>
                          </m:e>
                          <m:sup>
                            <m:r>
                              <a:rPr lang="en-US" sz="2000" b="0" i="1" dirty="0" smtClean="0">
                                <a:latin typeface="Cambria Math"/>
                              </a:rPr>
                              <m:t>′</m:t>
                            </m:r>
                          </m:sup>
                        </m:sSup>
                        <m:r>
                          <a:rPr lang="en-US" sz="2000" b="0" i="1" dirty="0" smtClean="0">
                            <a:latin typeface="Cambria Math"/>
                          </a:rPr>
                          <m:t>=</m:t>
                        </m:r>
                        <m:sSup>
                          <m:sSupPr>
                            <m:ctrlPr>
                              <a:rPr lang="en-US" sz="2000" b="0" i="1" dirty="0" smtClean="0"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US" sz="2000" b="0" i="1" dirty="0" smtClean="0">
                                <a:latin typeface="Cambria Math"/>
                              </a:rPr>
                              <m:t>𝑥</m:t>
                            </m:r>
                          </m:e>
                          <m:sup>
                            <m:r>
                              <a:rPr lang="en-US" sz="2000" b="0" i="1" dirty="0" smtClean="0">
                                <a:latin typeface="Cambria Math"/>
                              </a:rPr>
                              <m:t>′</m:t>
                            </m:r>
                          </m:sup>
                        </m:sSup>
                        <m:r>
                          <a:rPr lang="en-US" sz="2000" i="1" dirty="0">
                            <a:latin typeface="Cambria Math"/>
                          </a:rPr>
                          <m:t>·</m:t>
                        </m:r>
                        <m:r>
                          <a:rPr lang="en-US" sz="2000" b="0" i="1" dirty="0" smtClean="0">
                            <a:latin typeface="Cambria Math"/>
                          </a:rPr>
                          <m:t>𝑦</m:t>
                        </m:r>
                        <m:r>
                          <a:rPr lang="en-US" sz="2000" b="0" i="1" dirty="0" smtClean="0">
                            <a:latin typeface="Cambria Math"/>
                          </a:rPr>
                          <m:t>′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12" name="TextBox 1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86243" y="3086497"/>
                  <a:ext cx="2104294" cy="400110"/>
                </a:xfrm>
                <a:prstGeom prst="rect">
                  <a:avLst/>
                </a:prstGeom>
                <a:blipFill rotWithShape="1">
                  <a:blip r:embed="rId4"/>
                  <a:stretch>
                    <a:fillRect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" name="TextBox 12"/>
            <p:cNvSpPr txBox="1"/>
            <p:nvPr/>
          </p:nvSpPr>
          <p:spPr>
            <a:xfrm>
              <a:off x="1150937" y="3800662"/>
              <a:ext cx="147220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0" i="0" dirty="0" smtClean="0">
                  <a:latin typeface="+mn-lt"/>
                </a:rPr>
                <a:t>NOR gate</a:t>
              </a:r>
              <a:endParaRPr lang="en-US" sz="2400" dirty="0">
                <a:latin typeface="+mn-lt"/>
              </a:endParaRPr>
            </a:p>
          </p:txBody>
        </p:sp>
        <p:sp>
          <p:nvSpPr>
            <p:cNvPr id="14" name="Oval 13"/>
            <p:cNvSpPr/>
            <p:nvPr/>
          </p:nvSpPr>
          <p:spPr>
            <a:xfrm>
              <a:off x="2288768" y="3238653"/>
              <a:ext cx="115214" cy="11521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Moon 25"/>
            <p:cNvSpPr/>
            <p:nvPr/>
          </p:nvSpPr>
          <p:spPr>
            <a:xfrm flipH="1">
              <a:off x="1689069" y="3026260"/>
              <a:ext cx="585000" cy="540000"/>
            </a:xfrm>
            <a:prstGeom prst="moon">
              <a:avLst>
                <a:gd name="adj" fmla="val 87500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9" name="Group 28"/>
          <p:cNvGrpSpPr/>
          <p:nvPr/>
        </p:nvGrpSpPr>
        <p:grpSpPr>
          <a:xfrm>
            <a:off x="3527012" y="3869306"/>
            <a:ext cx="2746611" cy="1172691"/>
            <a:chOff x="3683974" y="3869305"/>
            <a:chExt cx="2975495" cy="1172691"/>
          </a:xfrm>
        </p:grpSpPr>
        <p:cxnSp>
          <p:nvCxnSpPr>
            <p:cNvPr id="16" name="Straight Connector 15"/>
            <p:cNvCxnSpPr/>
            <p:nvPr/>
          </p:nvCxnSpPr>
          <p:spPr>
            <a:xfrm>
              <a:off x="5191412" y="4216857"/>
              <a:ext cx="390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>
              <a:off x="4364559" y="4065816"/>
              <a:ext cx="390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4364559" y="4377541"/>
              <a:ext cx="390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/>
                <p:cNvSpPr txBox="1"/>
                <p:nvPr/>
              </p:nvSpPr>
              <p:spPr>
                <a:xfrm>
                  <a:off x="4014791" y="3869305"/>
                  <a:ext cx="418587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 dirty="0" smtClean="0">
                            <a:latin typeface="Cambria Math"/>
                          </a:rPr>
                          <m:t>𝑥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19" name="TextBox 1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14792" y="3869305"/>
                  <a:ext cx="399212" cy="400110"/>
                </a:xfrm>
                <a:prstGeom prst="rect">
                  <a:avLst/>
                </a:prstGeom>
                <a:blipFill rotWithShape="1"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/>
                <p:cNvSpPr txBox="1"/>
                <p:nvPr/>
              </p:nvSpPr>
              <p:spPr>
                <a:xfrm>
                  <a:off x="4014791" y="4181030"/>
                  <a:ext cx="423588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dirty="0" smtClean="0">
                            <a:latin typeface="Cambria Math"/>
                          </a:rPr>
                          <m:t>𝑦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20" name="TextBox 1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14792" y="4181030"/>
                  <a:ext cx="403828" cy="400110"/>
                </a:xfrm>
                <a:prstGeom prst="rect">
                  <a:avLst/>
                </a:prstGeom>
                <a:blipFill rotWithShape="1">
                  <a:blip r:embed="rId6"/>
                  <a:stretch>
                    <a:fillRect b="-1076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/>
                <p:cNvSpPr txBox="1"/>
                <p:nvPr/>
              </p:nvSpPr>
              <p:spPr>
                <a:xfrm>
                  <a:off x="5529070" y="4008209"/>
                  <a:ext cx="910526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dirty="0" smtClean="0">
                            <a:latin typeface="Cambria Math"/>
                          </a:rPr>
                          <m:t>𝑥</m:t>
                        </m:r>
                        <m:r>
                          <a:rPr lang="en-US" sz="2000" b="0" i="1" dirty="0" smtClean="0">
                            <a:latin typeface="Cambria Math"/>
                          </a:rPr>
                          <m:t>′·</m:t>
                        </m:r>
                        <m:r>
                          <a:rPr lang="en-US" sz="2000" b="0" i="1" dirty="0" smtClean="0">
                            <a:latin typeface="Cambria Math"/>
                          </a:rPr>
                          <m:t>𝑦</m:t>
                        </m:r>
                        <m:r>
                          <a:rPr lang="en-US" sz="2000" b="0" i="1" dirty="0" smtClean="0">
                            <a:latin typeface="Cambria Math"/>
                          </a:rPr>
                          <m:t>′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21" name="TextBox 2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29070" y="4008209"/>
                  <a:ext cx="853311" cy="400110"/>
                </a:xfrm>
                <a:prstGeom prst="rect">
                  <a:avLst/>
                </a:prstGeom>
                <a:blipFill rotWithShape="1">
                  <a:blip r:embed="rId7"/>
                  <a:stretch>
                    <a:fillRect b="-2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2" name="TextBox 21"/>
            <p:cNvSpPr txBox="1"/>
            <p:nvPr/>
          </p:nvSpPr>
          <p:spPr>
            <a:xfrm>
              <a:off x="3683974" y="4641886"/>
              <a:ext cx="297549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b="0" i="0" dirty="0" smtClean="0">
                  <a:latin typeface="+mn-lt"/>
                </a:rPr>
                <a:t>Another symbol for NOR</a:t>
              </a:r>
              <a:endParaRPr lang="en-US" sz="2000" dirty="0">
                <a:latin typeface="+mn-lt"/>
              </a:endParaRPr>
            </a:p>
          </p:txBody>
        </p:sp>
        <p:sp>
          <p:nvSpPr>
            <p:cNvPr id="24" name="Oval 23"/>
            <p:cNvSpPr/>
            <p:nvPr/>
          </p:nvSpPr>
          <p:spPr>
            <a:xfrm>
              <a:off x="4556782" y="4009179"/>
              <a:ext cx="115214" cy="11521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/>
            <p:cNvSpPr/>
            <p:nvPr/>
          </p:nvSpPr>
          <p:spPr>
            <a:xfrm>
              <a:off x="4562462" y="4319934"/>
              <a:ext cx="115214" cy="11521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Flowchart: Delay 6"/>
            <p:cNvSpPr/>
            <p:nvPr/>
          </p:nvSpPr>
          <p:spPr>
            <a:xfrm>
              <a:off x="4677676" y="3946857"/>
              <a:ext cx="585000" cy="540000"/>
            </a:xfrm>
            <a:prstGeom prst="flowChartDelay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8492781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/>
          <a:lstStyle/>
          <a:p>
            <a:r>
              <a:rPr lang="en-US" dirty="0" smtClean="0"/>
              <a:t>The NAND Gate is Universal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836686"/>
                <a:ext cx="8475207" cy="5587878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50000"/>
                  </a:lnSpc>
                  <a:spcBef>
                    <a:spcPts val="1300"/>
                  </a:spcBef>
                </a:pPr>
                <a:r>
                  <a:rPr lang="en-US" altLang="en-US" sz="2000" dirty="0">
                    <a:cs typeface="Times New Roman" pitchFamily="18" charset="0"/>
                  </a:rPr>
                  <a:t>NAND gates can implement any Boolean function</a:t>
                </a:r>
              </a:p>
              <a:p>
                <a:pPr>
                  <a:lnSpc>
                    <a:spcPct val="150000"/>
                  </a:lnSpc>
                  <a:spcBef>
                    <a:spcPts val="1300"/>
                  </a:spcBef>
                </a:pPr>
                <a:r>
                  <a:rPr lang="en-US" altLang="en-US" sz="2000" dirty="0">
                    <a:cs typeface="Times New Roman" pitchFamily="18" charset="0"/>
                  </a:rPr>
                  <a:t>NAND gates can be used as </a:t>
                </a:r>
                <a:r>
                  <a:rPr lang="en-US" altLang="en-US" sz="2000" dirty="0" smtClean="0">
                    <a:cs typeface="Times New Roman" pitchFamily="18" charset="0"/>
                  </a:rPr>
                  <a:t>inverters, or to implement AND/OR</a:t>
                </a:r>
              </a:p>
              <a:p>
                <a:pPr>
                  <a:lnSpc>
                    <a:spcPct val="150000"/>
                  </a:lnSpc>
                  <a:spcBef>
                    <a:spcPts val="1300"/>
                  </a:spcBef>
                </a:pPr>
                <a:r>
                  <a:rPr lang="en-US" altLang="en-US" sz="2000" dirty="0" smtClean="0">
                    <a:cs typeface="Times New Roman" pitchFamily="18" charset="0"/>
                  </a:rPr>
                  <a:t>A single-input NAND gate is an inverter</a:t>
                </a:r>
              </a:p>
              <a:p>
                <a:pPr marL="357188" indent="0">
                  <a:lnSpc>
                    <a:spcPct val="150000"/>
                  </a:lnSpc>
                  <a:spcBef>
                    <a:spcPts val="1300"/>
                  </a:spcBef>
                  <a:buNone/>
                </a:pPr>
                <a14:m>
                  <m:oMath xmlns:m="http://schemas.openxmlformats.org/officeDocument/2006/math">
                    <m:r>
                      <a:rPr lang="en-US" altLang="en-US" sz="2000" i="1" dirty="0" smtClean="0">
                        <a:latin typeface="Cambria Math"/>
                        <a:cs typeface="Times New Roman" pitchFamily="18" charset="0"/>
                      </a:rPr>
                      <m:t>𝑥</m:t>
                    </m:r>
                  </m:oMath>
                </a14:m>
                <a:r>
                  <a:rPr lang="en-US" altLang="en-US" sz="2000" dirty="0" smtClean="0">
                    <a:cs typeface="Times New Roman" pitchFamily="18" charset="0"/>
                  </a:rPr>
                  <a:t> NAND </a:t>
                </a:r>
                <a14:m>
                  <m:oMath xmlns:m="http://schemas.openxmlformats.org/officeDocument/2006/math">
                    <m:r>
                      <a:rPr lang="en-US" altLang="en-US" sz="2000" i="1" dirty="0" smtClean="0">
                        <a:latin typeface="Cambria Math"/>
                        <a:cs typeface="Times New Roman" pitchFamily="18" charset="0"/>
                      </a:rPr>
                      <m:t>𝑥</m:t>
                    </m:r>
                  </m:oMath>
                </a14:m>
                <a:r>
                  <a:rPr lang="en-US" altLang="en-US" sz="2000" dirty="0" smtClean="0">
                    <a:cs typeface="Times New Roman" pitchFamily="18" charset="0"/>
                  </a:rPr>
                  <a:t> = </a:t>
                </a:r>
                <a14:m>
                  <m:oMath xmlns:m="http://schemas.openxmlformats.org/officeDocument/2006/math">
                    <m:r>
                      <a:rPr lang="en-US" altLang="en-US" sz="2000" i="1" dirty="0" smtClean="0">
                        <a:latin typeface="Cambria Math"/>
                        <a:cs typeface="Times New Roman" pitchFamily="18" charset="0"/>
                      </a:rPr>
                      <m:t>(</m:t>
                    </m:r>
                    <m:r>
                      <a:rPr lang="en-US" altLang="en-US" sz="2000" i="1" dirty="0" err="1" smtClean="0">
                        <a:latin typeface="Cambria Math"/>
                        <a:cs typeface="Times New Roman" pitchFamily="18" charset="0"/>
                      </a:rPr>
                      <m:t>𝑥</m:t>
                    </m:r>
                    <m:r>
                      <a:rPr lang="en-US" altLang="en-US" sz="2000" i="1" dirty="0" smtClean="0">
                        <a:latin typeface="Cambria Math"/>
                        <a:ea typeface="Cambria Math"/>
                        <a:cs typeface="Times New Roman" pitchFamily="18" charset="0"/>
                      </a:rPr>
                      <m:t>·</m:t>
                    </m:r>
                    <m:r>
                      <a:rPr lang="en-US" altLang="en-US" sz="2000" i="1" dirty="0" err="1" smtClean="0">
                        <a:latin typeface="Cambria Math"/>
                        <a:cs typeface="Times New Roman" pitchFamily="18" charset="0"/>
                      </a:rPr>
                      <m:t>𝑥</m:t>
                    </m:r>
                    <m:r>
                      <a:rPr lang="en-US" altLang="en-US" sz="2000" i="1" dirty="0" smtClean="0">
                        <a:latin typeface="Cambria Math"/>
                        <a:cs typeface="Times New Roman" pitchFamily="18" charset="0"/>
                      </a:rPr>
                      <m:t>)′</m:t>
                    </m:r>
                  </m:oMath>
                </a14:m>
                <a:r>
                  <a:rPr lang="en-US" altLang="en-US" sz="2000" dirty="0" smtClean="0">
                    <a:cs typeface="Times New Roman" pitchFamily="18" charset="0"/>
                  </a:rPr>
                  <a:t> = </a:t>
                </a:r>
                <a14:m>
                  <m:oMath xmlns:m="http://schemas.openxmlformats.org/officeDocument/2006/math">
                    <m:r>
                      <a:rPr lang="en-US" altLang="en-US" sz="2000" i="1" dirty="0" smtClean="0">
                        <a:latin typeface="Cambria Math"/>
                        <a:cs typeface="Times New Roman" pitchFamily="18" charset="0"/>
                      </a:rPr>
                      <m:t>𝑥</m:t>
                    </m:r>
                    <m:r>
                      <a:rPr lang="en-US" altLang="en-US" sz="2000" i="1" dirty="0" smtClean="0">
                        <a:latin typeface="Cambria Math"/>
                        <a:cs typeface="Times New Roman" pitchFamily="18" charset="0"/>
                      </a:rPr>
                      <m:t>′</m:t>
                    </m:r>
                  </m:oMath>
                </a14:m>
                <a:endParaRPr lang="en-US" altLang="en-US" sz="2000" dirty="0" smtClean="0">
                  <a:cs typeface="Times New Roman" pitchFamily="18" charset="0"/>
                </a:endParaRPr>
              </a:p>
              <a:p>
                <a:pPr>
                  <a:lnSpc>
                    <a:spcPct val="150000"/>
                  </a:lnSpc>
                  <a:spcBef>
                    <a:spcPts val="1300"/>
                  </a:spcBef>
                </a:pPr>
                <a:r>
                  <a:rPr lang="en-US" altLang="en-US" sz="2000" dirty="0" smtClean="0">
                    <a:cs typeface="Times New Roman" pitchFamily="18" charset="0"/>
                  </a:rPr>
                  <a:t>AND is equivalent to NAND with </a:t>
                </a:r>
                <a:r>
                  <a:rPr lang="en-US" altLang="en-US" sz="2000" b="1" dirty="0" smtClean="0">
                    <a:solidFill>
                      <a:srgbClr val="FF0000"/>
                    </a:solidFill>
                    <a:cs typeface="Times New Roman" pitchFamily="18" charset="0"/>
                  </a:rPr>
                  <a:t>inverted output</a:t>
                </a:r>
              </a:p>
              <a:p>
                <a:pPr marL="357188" indent="0">
                  <a:lnSpc>
                    <a:spcPct val="150000"/>
                  </a:lnSpc>
                  <a:spcBef>
                    <a:spcPts val="1300"/>
                  </a:spcBef>
                  <a:buNone/>
                </a:pPr>
                <a:r>
                  <a:rPr lang="en-US" altLang="en-US" sz="2000" dirty="0" smtClean="0">
                    <a:cs typeface="Times New Roman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en-US" sz="2000" i="1" dirty="0" smtClean="0">
                        <a:latin typeface="Cambria Math"/>
                        <a:cs typeface="Times New Roman" pitchFamily="18" charset="0"/>
                      </a:rPr>
                      <m:t>𝑥</m:t>
                    </m:r>
                  </m:oMath>
                </a14:m>
                <a:r>
                  <a:rPr lang="en-US" altLang="en-US" sz="2000" dirty="0" smtClean="0">
                    <a:cs typeface="Times New Roman" pitchFamily="18" charset="0"/>
                  </a:rPr>
                  <a:t> NAND </a:t>
                </a:r>
                <a14:m>
                  <m:oMath xmlns:m="http://schemas.openxmlformats.org/officeDocument/2006/math">
                    <m:r>
                      <a:rPr lang="en-US" altLang="en-US" sz="2000" i="1" dirty="0" smtClean="0">
                        <a:latin typeface="Cambria Math"/>
                        <a:cs typeface="Times New Roman" pitchFamily="18" charset="0"/>
                      </a:rPr>
                      <m:t>𝑦</m:t>
                    </m:r>
                  </m:oMath>
                </a14:m>
                <a:r>
                  <a:rPr lang="en-US" altLang="en-US" sz="2000" dirty="0" smtClean="0">
                    <a:cs typeface="Times New Roman" pitchFamily="18" charset="0"/>
                  </a:rPr>
                  <a:t>)</a:t>
                </a:r>
                <a14:m>
                  <m:oMath xmlns:m="http://schemas.openxmlformats.org/officeDocument/2006/math">
                    <m:r>
                      <a:rPr lang="en-US" altLang="en-US" sz="2000" i="1" dirty="0" smtClean="0">
                        <a:latin typeface="Cambria Math"/>
                        <a:cs typeface="Times New Roman" pitchFamily="18" charset="0"/>
                      </a:rPr>
                      <m:t>′</m:t>
                    </m:r>
                  </m:oMath>
                </a14:m>
                <a:r>
                  <a:rPr lang="en-US" altLang="en-US" sz="2000" dirty="0" smtClean="0">
                    <a:cs typeface="Times New Roman" pitchFamily="18" charset="0"/>
                  </a:rPr>
                  <a:t> = </a:t>
                </a:r>
                <a14:m>
                  <m:oMath xmlns:m="http://schemas.openxmlformats.org/officeDocument/2006/math">
                    <m:r>
                      <a:rPr lang="en-US" altLang="en-US" sz="2000" i="1" dirty="0" smtClean="0">
                        <a:latin typeface="Cambria Math"/>
                        <a:cs typeface="Times New Roman" pitchFamily="18" charset="0"/>
                      </a:rPr>
                      <m:t>((</m:t>
                    </m:r>
                    <m:r>
                      <a:rPr lang="en-US" altLang="en-US" sz="2000" i="1" dirty="0" err="1" smtClean="0">
                        <a:latin typeface="Cambria Math"/>
                        <a:cs typeface="Times New Roman" pitchFamily="18" charset="0"/>
                      </a:rPr>
                      <m:t>𝑥</m:t>
                    </m:r>
                    <m:r>
                      <a:rPr lang="en-US" altLang="en-US" sz="2000" i="1" dirty="0" err="1" smtClean="0">
                        <a:latin typeface="Cambria Math"/>
                        <a:cs typeface="Times New Roman" pitchFamily="18" charset="0"/>
                      </a:rPr>
                      <m:t>·</m:t>
                    </m:r>
                    <m:r>
                      <a:rPr lang="en-US" altLang="en-US" sz="2000" i="1" dirty="0" err="1" smtClean="0">
                        <a:latin typeface="Cambria Math"/>
                        <a:cs typeface="Times New Roman" pitchFamily="18" charset="0"/>
                      </a:rPr>
                      <m:t>𝑦</m:t>
                    </m:r>
                    <m:r>
                      <a:rPr lang="en-US" altLang="en-US" sz="2000" i="1" dirty="0" smtClean="0">
                        <a:latin typeface="Cambria Math"/>
                        <a:cs typeface="Times New Roman" pitchFamily="18" charset="0"/>
                      </a:rPr>
                      <m:t>)′)′</m:t>
                    </m:r>
                  </m:oMath>
                </a14:m>
                <a:r>
                  <a:rPr lang="en-US" altLang="en-US" sz="2000" dirty="0" smtClean="0">
                    <a:cs typeface="Times New Roman" pitchFamily="18" charset="0"/>
                  </a:rPr>
                  <a:t> </a:t>
                </a:r>
                <a:r>
                  <a:rPr lang="en-US" altLang="en-US" sz="2000" dirty="0">
                    <a:cs typeface="Times New Roman" pitchFamily="18" charset="0"/>
                  </a:rPr>
                  <a:t>= </a:t>
                </a:r>
                <a14:m>
                  <m:oMath xmlns:m="http://schemas.openxmlformats.org/officeDocument/2006/math">
                    <m:r>
                      <a:rPr lang="en-US" altLang="en-US" sz="2000" i="1" dirty="0" smtClean="0">
                        <a:latin typeface="Cambria Math"/>
                        <a:cs typeface="Times New Roman" pitchFamily="18" charset="0"/>
                      </a:rPr>
                      <m:t>𝑥</m:t>
                    </m:r>
                    <m:r>
                      <a:rPr lang="en-US" altLang="en-US" sz="2000" i="1" dirty="0" smtClean="0">
                        <a:latin typeface="Cambria Math"/>
                        <a:cs typeface="Times New Roman" pitchFamily="18" charset="0"/>
                      </a:rPr>
                      <m:t>·</m:t>
                    </m:r>
                    <m:r>
                      <a:rPr lang="en-US" altLang="en-US" sz="2000" i="1" dirty="0" smtClean="0">
                        <a:latin typeface="Cambria Math"/>
                        <a:cs typeface="Times New Roman" pitchFamily="18" charset="0"/>
                      </a:rPr>
                      <m:t>𝑦</m:t>
                    </m:r>
                  </m:oMath>
                </a14:m>
                <a:r>
                  <a:rPr lang="en-US" altLang="en-US" sz="2000" dirty="0">
                    <a:cs typeface="Times New Roman" pitchFamily="18" charset="0"/>
                  </a:rPr>
                  <a:t> </a:t>
                </a:r>
                <a:r>
                  <a:rPr lang="en-US" altLang="en-US" sz="2000" dirty="0" smtClean="0">
                    <a:cs typeface="Times New Roman" pitchFamily="18" charset="0"/>
                  </a:rPr>
                  <a:t>(AND)</a:t>
                </a:r>
              </a:p>
              <a:p>
                <a:pPr>
                  <a:lnSpc>
                    <a:spcPct val="150000"/>
                  </a:lnSpc>
                  <a:spcBef>
                    <a:spcPts val="1300"/>
                  </a:spcBef>
                </a:pPr>
                <a:r>
                  <a:rPr lang="en-US" altLang="en-US" sz="2000" dirty="0" smtClean="0">
                    <a:cs typeface="Times New Roman" pitchFamily="18" charset="0"/>
                  </a:rPr>
                  <a:t>OR is equivalent to NAND with </a:t>
                </a:r>
                <a:r>
                  <a:rPr lang="en-US" altLang="en-US" sz="2000" b="1" dirty="0" smtClean="0">
                    <a:solidFill>
                      <a:srgbClr val="FF0000"/>
                    </a:solidFill>
                    <a:cs typeface="Times New Roman" pitchFamily="18" charset="0"/>
                  </a:rPr>
                  <a:t>inverted inputs</a:t>
                </a:r>
              </a:p>
              <a:p>
                <a:pPr marL="357188" indent="0">
                  <a:lnSpc>
                    <a:spcPct val="150000"/>
                  </a:lnSpc>
                  <a:spcBef>
                    <a:spcPts val="1300"/>
                  </a:spcBef>
                  <a:buNone/>
                </a:pPr>
                <a:r>
                  <a:rPr lang="en-US" altLang="en-US" sz="2000" dirty="0" smtClean="0">
                    <a:cs typeface="Times New Roman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en-US" sz="2000" i="1" dirty="0" smtClean="0">
                        <a:latin typeface="Cambria Math"/>
                        <a:cs typeface="Times New Roman" pitchFamily="18" charset="0"/>
                      </a:rPr>
                      <m:t>𝑥</m:t>
                    </m:r>
                    <m:r>
                      <a:rPr lang="en-US" altLang="en-US" sz="2000" i="1" dirty="0" smtClean="0">
                        <a:latin typeface="Cambria Math"/>
                        <a:cs typeface="Times New Roman" pitchFamily="18" charset="0"/>
                      </a:rPr>
                      <m:t>′</m:t>
                    </m:r>
                  </m:oMath>
                </a14:m>
                <a:r>
                  <a:rPr lang="en-US" altLang="en-US" sz="2000" dirty="0" smtClean="0">
                    <a:cs typeface="Times New Roman" pitchFamily="18" charset="0"/>
                  </a:rPr>
                  <a:t> NAND </a:t>
                </a:r>
                <a14:m>
                  <m:oMath xmlns:m="http://schemas.openxmlformats.org/officeDocument/2006/math">
                    <m:r>
                      <a:rPr lang="en-US" altLang="en-US" sz="2000" i="1" dirty="0" smtClean="0">
                        <a:latin typeface="Cambria Math"/>
                        <a:cs typeface="Times New Roman" pitchFamily="18" charset="0"/>
                      </a:rPr>
                      <m:t>𝑦</m:t>
                    </m:r>
                    <m:r>
                      <a:rPr lang="en-US" altLang="en-US" sz="2000" i="1" dirty="0" smtClean="0">
                        <a:latin typeface="Cambria Math"/>
                        <a:cs typeface="Times New Roman" pitchFamily="18" charset="0"/>
                      </a:rPr>
                      <m:t>′</m:t>
                    </m:r>
                  </m:oMath>
                </a14:m>
                <a:r>
                  <a:rPr lang="en-US" altLang="en-US" sz="2000" dirty="0" smtClean="0">
                    <a:cs typeface="Times New Roman" pitchFamily="18" charset="0"/>
                  </a:rPr>
                  <a:t>) = </a:t>
                </a:r>
                <a14:m>
                  <m:oMath xmlns:m="http://schemas.openxmlformats.org/officeDocument/2006/math">
                    <m:r>
                      <a:rPr lang="en-US" altLang="en-US" sz="2000" i="1" dirty="0" smtClean="0">
                        <a:latin typeface="Cambria Math"/>
                        <a:cs typeface="Times New Roman" pitchFamily="18" charset="0"/>
                      </a:rPr>
                      <m:t>(</m:t>
                    </m:r>
                    <m:r>
                      <a:rPr lang="en-US" altLang="en-US" sz="2000" i="1" dirty="0" err="1" smtClean="0">
                        <a:latin typeface="Cambria Math"/>
                        <a:cs typeface="Times New Roman" pitchFamily="18" charset="0"/>
                      </a:rPr>
                      <m:t>𝑥</m:t>
                    </m:r>
                    <m:r>
                      <a:rPr lang="en-US" altLang="en-US" sz="2000" i="1" dirty="0" err="1" smtClean="0">
                        <a:latin typeface="Cambria Math"/>
                        <a:cs typeface="Times New Roman" pitchFamily="18" charset="0"/>
                      </a:rPr>
                      <m:t>′·</m:t>
                    </m:r>
                    <m:r>
                      <a:rPr lang="en-US" altLang="en-US" sz="2000" i="1" dirty="0" err="1" smtClean="0">
                        <a:latin typeface="Cambria Math"/>
                        <a:cs typeface="Times New Roman" pitchFamily="18" charset="0"/>
                      </a:rPr>
                      <m:t>𝑦</m:t>
                    </m:r>
                    <m:r>
                      <a:rPr lang="en-US" altLang="en-US" sz="2000" i="1" dirty="0" smtClean="0">
                        <a:latin typeface="Cambria Math"/>
                        <a:cs typeface="Times New Roman" pitchFamily="18" charset="0"/>
                      </a:rPr>
                      <m:t>′)′</m:t>
                    </m:r>
                  </m:oMath>
                </a14:m>
                <a:r>
                  <a:rPr lang="en-US" altLang="en-US" sz="2000" dirty="0" smtClean="0">
                    <a:cs typeface="Times New Roman" pitchFamily="18" charset="0"/>
                  </a:rPr>
                  <a:t> = </a:t>
                </a:r>
                <a14:m>
                  <m:oMath xmlns:m="http://schemas.openxmlformats.org/officeDocument/2006/math">
                    <m:r>
                      <a:rPr lang="en-US" altLang="en-US" sz="2000" i="1" dirty="0" smtClean="0">
                        <a:latin typeface="Cambria Math"/>
                        <a:cs typeface="Times New Roman" pitchFamily="18" charset="0"/>
                      </a:rPr>
                      <m:t>𝑥</m:t>
                    </m:r>
                    <m:r>
                      <a:rPr lang="en-US" altLang="en-US" sz="2000" i="1" dirty="0" smtClean="0">
                        <a:latin typeface="Cambria Math"/>
                        <a:cs typeface="Times New Roman" pitchFamily="18" charset="0"/>
                      </a:rPr>
                      <m:t>+</m:t>
                    </m:r>
                    <m:r>
                      <a:rPr lang="en-US" altLang="en-US" sz="2000" i="1" dirty="0" smtClean="0">
                        <a:latin typeface="Cambria Math"/>
                        <a:cs typeface="Times New Roman" pitchFamily="18" charset="0"/>
                      </a:rPr>
                      <m:t>𝑦</m:t>
                    </m:r>
                  </m:oMath>
                </a14:m>
                <a:r>
                  <a:rPr lang="en-US" altLang="en-US" sz="2000" dirty="0" smtClean="0">
                    <a:cs typeface="Times New Roman" pitchFamily="18" charset="0"/>
                  </a:rPr>
                  <a:t> (OR)</a:t>
                </a:r>
                <a:endParaRPr lang="en-US" altLang="en-US" sz="2000" dirty="0"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836686"/>
                <a:ext cx="8475207" cy="5587878"/>
              </a:xfrm>
              <a:blipFill rotWithShape="1">
                <a:blip r:embed="rId2"/>
                <a:stretch>
                  <a:fillRect l="-5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7" name="Group 26"/>
          <p:cNvGrpSpPr/>
          <p:nvPr/>
        </p:nvGrpSpPr>
        <p:grpSpPr>
          <a:xfrm>
            <a:off x="6003440" y="4408320"/>
            <a:ext cx="2757455" cy="681057"/>
            <a:chOff x="6205747" y="4591367"/>
            <a:chExt cx="2987242" cy="681057"/>
          </a:xfrm>
        </p:grpSpPr>
        <p:cxnSp>
          <p:nvCxnSpPr>
            <p:cNvPr id="14" name="Straight Connector 13"/>
            <p:cNvCxnSpPr/>
            <p:nvPr/>
          </p:nvCxnSpPr>
          <p:spPr>
            <a:xfrm>
              <a:off x="7516306" y="4938919"/>
              <a:ext cx="950721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Flowchart: Delay 14"/>
            <p:cNvSpPr/>
            <p:nvPr/>
          </p:nvSpPr>
          <p:spPr>
            <a:xfrm>
              <a:off x="6945514" y="4668919"/>
              <a:ext cx="585000" cy="540000"/>
            </a:xfrm>
            <a:prstGeom prst="flowChartDelay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6" name="Straight Connector 15"/>
            <p:cNvCxnSpPr/>
            <p:nvPr/>
          </p:nvCxnSpPr>
          <p:spPr>
            <a:xfrm>
              <a:off x="6555514" y="4787878"/>
              <a:ext cx="390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>
              <a:off x="6555514" y="5099603"/>
              <a:ext cx="390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/>
                <p:cNvSpPr txBox="1"/>
                <p:nvPr/>
              </p:nvSpPr>
              <p:spPr>
                <a:xfrm>
                  <a:off x="6205747" y="4591367"/>
                  <a:ext cx="39865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/>
                          </a:rPr>
                          <m:t>𝑥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8" name="TextBox 1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05747" y="4591367"/>
                  <a:ext cx="379206" cy="369332"/>
                </a:xfrm>
                <a:prstGeom prst="rect">
                  <a:avLst/>
                </a:prstGeom>
                <a:blipFill rotWithShape="1"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/>
                <p:cNvSpPr txBox="1"/>
                <p:nvPr/>
              </p:nvSpPr>
              <p:spPr>
                <a:xfrm>
                  <a:off x="6205747" y="4903092"/>
                  <a:ext cx="40233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latin typeface="Cambria Math"/>
                          </a:rPr>
                          <m:t>𝑦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9" name="TextBox 1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05747" y="4903092"/>
                  <a:ext cx="382605" cy="369332"/>
                </a:xfrm>
                <a:prstGeom prst="rect">
                  <a:avLst/>
                </a:prstGeom>
                <a:blipFill rotWithShape="1">
                  <a:blip r:embed="rId4"/>
                  <a:stretch>
                    <a:fillRect b="-655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/>
                <p:cNvSpPr txBox="1"/>
                <p:nvPr/>
              </p:nvSpPr>
              <p:spPr>
                <a:xfrm>
                  <a:off x="8467027" y="4730271"/>
                  <a:ext cx="72596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/>
                          </a:rPr>
                          <m:t>𝑥</m:t>
                        </m:r>
                        <m:r>
                          <a:rPr lang="en-US" i="1" dirty="0" smtClean="0">
                            <a:latin typeface="Cambria Math"/>
                          </a:rPr>
                          <m:t>·</m:t>
                        </m:r>
                        <m:r>
                          <a:rPr lang="en-US" i="1" dirty="0" smtClean="0">
                            <a:latin typeface="Cambria Math"/>
                          </a:rPr>
                          <m:t>𝑦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0" name="TextBox 1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67027" y="4730271"/>
                  <a:ext cx="681340" cy="369332"/>
                </a:xfrm>
                <a:prstGeom prst="rect">
                  <a:avLst/>
                </a:prstGeom>
                <a:blipFill rotWithShape="1">
                  <a:blip r:embed="rId5"/>
                  <a:stretch>
                    <a:fillRect b="-655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2" name="Oval 21"/>
            <p:cNvSpPr/>
            <p:nvPr/>
          </p:nvSpPr>
          <p:spPr>
            <a:xfrm>
              <a:off x="7531005" y="4882427"/>
              <a:ext cx="115214" cy="11521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Oval 25"/>
            <p:cNvSpPr/>
            <p:nvPr/>
          </p:nvSpPr>
          <p:spPr>
            <a:xfrm>
              <a:off x="8092178" y="4886215"/>
              <a:ext cx="115214" cy="11521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Isosceles Triangle 23"/>
            <p:cNvSpPr/>
            <p:nvPr/>
          </p:nvSpPr>
          <p:spPr>
            <a:xfrm rot="5400000">
              <a:off x="7906671" y="4859946"/>
              <a:ext cx="201222" cy="162877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8" name="Group 57"/>
          <p:cNvGrpSpPr/>
          <p:nvPr/>
        </p:nvGrpSpPr>
        <p:grpSpPr>
          <a:xfrm>
            <a:off x="6007744" y="5560459"/>
            <a:ext cx="2814586" cy="1036926"/>
            <a:chOff x="6450782" y="5618066"/>
            <a:chExt cx="3049135" cy="1036926"/>
          </a:xfrm>
        </p:grpSpPr>
        <p:cxnSp>
          <p:nvCxnSpPr>
            <p:cNvPr id="29" name="Straight Connector 28"/>
            <p:cNvCxnSpPr/>
            <p:nvPr/>
          </p:nvCxnSpPr>
          <p:spPr>
            <a:xfrm>
              <a:off x="8317772" y="6148666"/>
              <a:ext cx="389627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9" name="Group 38"/>
            <p:cNvGrpSpPr/>
            <p:nvPr/>
          </p:nvGrpSpPr>
          <p:grpSpPr>
            <a:xfrm>
              <a:off x="6796424" y="5963707"/>
              <a:ext cx="965501" cy="369738"/>
              <a:chOff x="6948286" y="5997625"/>
              <a:chExt cx="390000" cy="311725"/>
            </a:xfrm>
          </p:grpSpPr>
          <p:cxnSp>
            <p:nvCxnSpPr>
              <p:cNvPr id="31" name="Straight Connector 30"/>
              <p:cNvCxnSpPr/>
              <p:nvPr/>
            </p:nvCxnSpPr>
            <p:spPr>
              <a:xfrm>
                <a:off x="6948286" y="5997625"/>
                <a:ext cx="390000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/>
              <p:cNvCxnSpPr/>
              <p:nvPr/>
            </p:nvCxnSpPr>
            <p:spPr>
              <a:xfrm>
                <a:off x="6948286" y="6309350"/>
                <a:ext cx="390000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TextBox 32"/>
                <p:cNvSpPr txBox="1"/>
                <p:nvPr/>
              </p:nvSpPr>
              <p:spPr>
                <a:xfrm>
                  <a:off x="6450782" y="5767197"/>
                  <a:ext cx="39865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/>
                          </a:rPr>
                          <m:t>𝑥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3" name="TextBox 3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50782" y="5767197"/>
                  <a:ext cx="379206" cy="369332"/>
                </a:xfrm>
                <a:prstGeom prst="rect">
                  <a:avLst/>
                </a:prstGeom>
                <a:blipFill rotWithShape="1"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TextBox 33"/>
                <p:cNvSpPr txBox="1"/>
                <p:nvPr/>
              </p:nvSpPr>
              <p:spPr>
                <a:xfrm>
                  <a:off x="6450782" y="6112839"/>
                  <a:ext cx="40233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latin typeface="Cambria Math"/>
                          </a:rPr>
                          <m:t>𝑦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4" name="TextBox 3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50782" y="6112839"/>
                  <a:ext cx="382605" cy="369332"/>
                </a:xfrm>
                <a:prstGeom prst="rect">
                  <a:avLst/>
                </a:prstGeom>
                <a:blipFill rotWithShape="1">
                  <a:blip r:embed="rId7"/>
                  <a:stretch>
                    <a:fillRect b="-655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TextBox 34"/>
                <p:cNvSpPr txBox="1"/>
                <p:nvPr/>
              </p:nvSpPr>
              <p:spPr>
                <a:xfrm>
                  <a:off x="8657603" y="5940018"/>
                  <a:ext cx="84231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/>
                          </a:rPr>
                          <m:t>𝑥</m:t>
                        </m:r>
                        <m:r>
                          <a:rPr lang="en-US" b="0" i="1" dirty="0" smtClean="0">
                            <a:latin typeface="Cambria Math"/>
                          </a:rPr>
                          <m:t>+</m:t>
                        </m:r>
                        <m:r>
                          <a:rPr lang="en-US" i="1" dirty="0" smtClean="0">
                            <a:latin typeface="Cambria Math"/>
                          </a:rPr>
                          <m:t>𝑦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5" name="TextBox 3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57604" y="5940018"/>
                  <a:ext cx="788742" cy="369332"/>
                </a:xfrm>
                <a:prstGeom prst="rect">
                  <a:avLst/>
                </a:prstGeom>
                <a:blipFill rotWithShape="1">
                  <a:blip r:embed="rId8"/>
                  <a:stretch>
                    <a:fillRect b="-655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6" name="Oval 35"/>
            <p:cNvSpPr/>
            <p:nvPr/>
          </p:nvSpPr>
          <p:spPr>
            <a:xfrm>
              <a:off x="8332471" y="6092174"/>
              <a:ext cx="115214" cy="11521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45" name="Group 44"/>
            <p:cNvGrpSpPr/>
            <p:nvPr/>
          </p:nvGrpSpPr>
          <p:grpSpPr>
            <a:xfrm>
              <a:off x="7011956" y="5863096"/>
              <a:ext cx="288574" cy="201222"/>
              <a:chOff x="6795885" y="5863096"/>
              <a:chExt cx="288574" cy="201222"/>
            </a:xfrm>
          </p:grpSpPr>
          <p:sp>
            <p:nvSpPr>
              <p:cNvPr id="37" name="Oval 36"/>
              <p:cNvSpPr/>
              <p:nvPr/>
            </p:nvSpPr>
            <p:spPr>
              <a:xfrm>
                <a:off x="6969245" y="5906101"/>
                <a:ext cx="115214" cy="115214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4" name="Isosceles Triangle 43"/>
              <p:cNvSpPr/>
              <p:nvPr/>
            </p:nvSpPr>
            <p:spPr>
              <a:xfrm rot="5400000">
                <a:off x="6776713" y="5882268"/>
                <a:ext cx="201222" cy="162877"/>
              </a:xfrm>
              <a:prstGeom prst="triangl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6" name="Group 45"/>
            <p:cNvGrpSpPr/>
            <p:nvPr/>
          </p:nvGrpSpPr>
          <p:grpSpPr>
            <a:xfrm>
              <a:off x="7012495" y="6229022"/>
              <a:ext cx="288574" cy="201222"/>
              <a:chOff x="6795885" y="5863096"/>
              <a:chExt cx="288574" cy="201222"/>
            </a:xfrm>
          </p:grpSpPr>
          <p:sp>
            <p:nvSpPr>
              <p:cNvPr id="47" name="Oval 46"/>
              <p:cNvSpPr/>
              <p:nvPr/>
            </p:nvSpPr>
            <p:spPr>
              <a:xfrm>
                <a:off x="6969245" y="5906101"/>
                <a:ext cx="115214" cy="115214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" name="Isosceles Triangle 47"/>
              <p:cNvSpPr/>
              <p:nvPr/>
            </p:nvSpPr>
            <p:spPr>
              <a:xfrm rot="5400000">
                <a:off x="6776713" y="5882268"/>
                <a:ext cx="201222" cy="162877"/>
              </a:xfrm>
              <a:prstGeom prst="triangl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0" name="Flowchart: Delay 29"/>
            <p:cNvSpPr/>
            <p:nvPr/>
          </p:nvSpPr>
          <p:spPr>
            <a:xfrm>
              <a:off x="7746980" y="5878666"/>
              <a:ext cx="585000" cy="540000"/>
            </a:xfrm>
            <a:prstGeom prst="flowChartDelay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TextBox 51"/>
                <p:cNvSpPr txBox="1"/>
                <p:nvPr/>
              </p:nvSpPr>
              <p:spPr>
                <a:xfrm>
                  <a:off x="7325112" y="5618066"/>
                  <a:ext cx="45533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/>
                          </a:rPr>
                          <m:t>𝑥</m:t>
                        </m:r>
                        <m:r>
                          <a:rPr lang="en-US" b="0" i="1" dirty="0" smtClean="0">
                            <a:latin typeface="Cambria Math"/>
                          </a:rPr>
                          <m:t>′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2" name="TextBox 5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25112" y="5618066"/>
                  <a:ext cx="431528" cy="369332"/>
                </a:xfrm>
                <a:prstGeom prst="rect">
                  <a:avLst/>
                </a:prstGeom>
                <a:blipFill rotWithShape="1"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TextBox 52"/>
                <p:cNvSpPr txBox="1"/>
                <p:nvPr/>
              </p:nvSpPr>
              <p:spPr>
                <a:xfrm>
                  <a:off x="7344215" y="6285660"/>
                  <a:ext cx="46228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latin typeface="Cambria Math"/>
                          </a:rPr>
                          <m:t>𝑦</m:t>
                        </m:r>
                        <m:r>
                          <a:rPr lang="en-US" b="0" i="1" dirty="0" smtClean="0">
                            <a:latin typeface="Cambria Math"/>
                          </a:rPr>
                          <m:t>′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3" name="TextBox 5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44215" y="6285660"/>
                  <a:ext cx="437940" cy="369332"/>
                </a:xfrm>
                <a:prstGeom prst="rect">
                  <a:avLst/>
                </a:prstGeom>
                <a:blipFill rotWithShape="1">
                  <a:blip r:embed="rId10"/>
                  <a:stretch>
                    <a:fillRect b="-1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771158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dirty="0" smtClean="0"/>
              <a:t>The NOR Gate is also Universal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836686"/>
                <a:ext cx="8475206" cy="5760699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50000"/>
                  </a:lnSpc>
                  <a:spcBef>
                    <a:spcPts val="1300"/>
                  </a:spcBef>
                </a:pPr>
                <a:r>
                  <a:rPr lang="en-US" altLang="en-US" sz="2400" dirty="0" smtClean="0">
                    <a:cs typeface="Times New Roman" pitchFamily="18" charset="0"/>
                  </a:rPr>
                  <a:t>NOR </a:t>
                </a:r>
                <a:r>
                  <a:rPr lang="en-US" altLang="en-US" sz="2400" dirty="0">
                    <a:cs typeface="Times New Roman" pitchFamily="18" charset="0"/>
                  </a:rPr>
                  <a:t>gates can implement any Boolean function</a:t>
                </a:r>
              </a:p>
              <a:p>
                <a:pPr>
                  <a:lnSpc>
                    <a:spcPct val="150000"/>
                  </a:lnSpc>
                  <a:spcBef>
                    <a:spcPts val="1300"/>
                  </a:spcBef>
                </a:pPr>
                <a:r>
                  <a:rPr lang="en-US" altLang="en-US" sz="2400" dirty="0" smtClean="0">
                    <a:cs typeface="Times New Roman" pitchFamily="18" charset="0"/>
                  </a:rPr>
                  <a:t>NOR </a:t>
                </a:r>
                <a:r>
                  <a:rPr lang="en-US" altLang="en-US" sz="2400" dirty="0">
                    <a:cs typeface="Times New Roman" pitchFamily="18" charset="0"/>
                  </a:rPr>
                  <a:t>gates can be used as </a:t>
                </a:r>
                <a:r>
                  <a:rPr lang="en-US" altLang="en-US" sz="2400" dirty="0" smtClean="0">
                    <a:cs typeface="Times New Roman" pitchFamily="18" charset="0"/>
                  </a:rPr>
                  <a:t>inverters, or to implement AND/OR</a:t>
                </a:r>
              </a:p>
              <a:p>
                <a:pPr>
                  <a:lnSpc>
                    <a:spcPct val="150000"/>
                  </a:lnSpc>
                  <a:spcBef>
                    <a:spcPts val="1300"/>
                  </a:spcBef>
                </a:pPr>
                <a:r>
                  <a:rPr lang="en-US" altLang="en-US" sz="2400" dirty="0" smtClean="0">
                    <a:cs typeface="Times New Roman" pitchFamily="18" charset="0"/>
                  </a:rPr>
                  <a:t>A single-input NOR gate is an inverter</a:t>
                </a:r>
              </a:p>
              <a:p>
                <a:pPr marL="357188" indent="0">
                  <a:lnSpc>
                    <a:spcPct val="150000"/>
                  </a:lnSpc>
                  <a:spcBef>
                    <a:spcPts val="1300"/>
                  </a:spcBef>
                  <a:buNone/>
                </a:pPr>
                <a14:m>
                  <m:oMath xmlns:m="http://schemas.openxmlformats.org/officeDocument/2006/math">
                    <m:r>
                      <a:rPr lang="en-US" altLang="en-US" sz="2400" i="1" dirty="0" smtClean="0">
                        <a:latin typeface="Cambria Math"/>
                        <a:cs typeface="Times New Roman" pitchFamily="18" charset="0"/>
                      </a:rPr>
                      <m:t>𝑥</m:t>
                    </m:r>
                  </m:oMath>
                </a14:m>
                <a:r>
                  <a:rPr lang="en-US" altLang="en-US" sz="2400" dirty="0" smtClean="0">
                    <a:cs typeface="Times New Roman" pitchFamily="18" charset="0"/>
                  </a:rPr>
                  <a:t> NOR </a:t>
                </a:r>
                <a14:m>
                  <m:oMath xmlns:m="http://schemas.openxmlformats.org/officeDocument/2006/math">
                    <m:r>
                      <a:rPr lang="en-US" altLang="en-US" sz="2400" i="1" dirty="0" smtClean="0">
                        <a:latin typeface="Cambria Math"/>
                        <a:cs typeface="Times New Roman" pitchFamily="18" charset="0"/>
                      </a:rPr>
                      <m:t>𝑥</m:t>
                    </m:r>
                  </m:oMath>
                </a14:m>
                <a:r>
                  <a:rPr lang="en-US" altLang="en-US" sz="2400" dirty="0" smtClean="0">
                    <a:cs typeface="Times New Roman" pitchFamily="18" charset="0"/>
                  </a:rPr>
                  <a:t> = </a:t>
                </a:r>
                <a14:m>
                  <m:oMath xmlns:m="http://schemas.openxmlformats.org/officeDocument/2006/math">
                    <m:r>
                      <a:rPr lang="en-US" altLang="en-US" sz="2400" i="1" dirty="0" smtClean="0">
                        <a:latin typeface="Cambria Math"/>
                        <a:cs typeface="Times New Roman" pitchFamily="18" charset="0"/>
                      </a:rPr>
                      <m:t>(</m:t>
                    </m:r>
                    <m:r>
                      <a:rPr lang="en-US" altLang="en-US" sz="2400" i="1" dirty="0" err="1" smtClean="0">
                        <a:latin typeface="Cambria Math"/>
                        <a:cs typeface="Times New Roman" pitchFamily="18" charset="0"/>
                      </a:rPr>
                      <m:t>𝑥</m:t>
                    </m:r>
                    <m:r>
                      <a:rPr lang="en-US" altLang="en-US" sz="2400" b="0" i="1" dirty="0" smtClean="0">
                        <a:latin typeface="Cambria Math"/>
                        <a:ea typeface="Cambria Math"/>
                        <a:cs typeface="Times New Roman" pitchFamily="18" charset="0"/>
                      </a:rPr>
                      <m:t>+</m:t>
                    </m:r>
                    <m:r>
                      <a:rPr lang="en-US" altLang="en-US" sz="2400" i="1" dirty="0" err="1" smtClean="0">
                        <a:latin typeface="Cambria Math"/>
                        <a:cs typeface="Times New Roman" pitchFamily="18" charset="0"/>
                      </a:rPr>
                      <m:t>𝑥</m:t>
                    </m:r>
                    <m:r>
                      <a:rPr lang="en-US" altLang="en-US" sz="2400" i="1" dirty="0" smtClean="0">
                        <a:latin typeface="Cambria Math"/>
                        <a:cs typeface="Times New Roman" pitchFamily="18" charset="0"/>
                      </a:rPr>
                      <m:t>)′</m:t>
                    </m:r>
                  </m:oMath>
                </a14:m>
                <a:r>
                  <a:rPr lang="en-US" altLang="en-US" sz="2400" dirty="0" smtClean="0">
                    <a:cs typeface="Times New Roman" pitchFamily="18" charset="0"/>
                  </a:rPr>
                  <a:t> = </a:t>
                </a:r>
                <a14:m>
                  <m:oMath xmlns:m="http://schemas.openxmlformats.org/officeDocument/2006/math">
                    <m:r>
                      <a:rPr lang="en-US" altLang="en-US" sz="2400" i="1" dirty="0" smtClean="0">
                        <a:latin typeface="Cambria Math"/>
                        <a:cs typeface="Times New Roman" pitchFamily="18" charset="0"/>
                      </a:rPr>
                      <m:t>𝑥</m:t>
                    </m:r>
                    <m:r>
                      <a:rPr lang="en-US" altLang="en-US" sz="2400" i="1" dirty="0" smtClean="0">
                        <a:latin typeface="Cambria Math"/>
                        <a:cs typeface="Times New Roman" pitchFamily="18" charset="0"/>
                      </a:rPr>
                      <m:t>′</m:t>
                    </m:r>
                  </m:oMath>
                </a14:m>
                <a:endParaRPr lang="en-US" altLang="en-US" sz="2400" dirty="0" smtClean="0">
                  <a:cs typeface="Times New Roman" pitchFamily="18" charset="0"/>
                </a:endParaRPr>
              </a:p>
              <a:p>
                <a:pPr>
                  <a:lnSpc>
                    <a:spcPct val="150000"/>
                  </a:lnSpc>
                  <a:spcBef>
                    <a:spcPts val="1300"/>
                  </a:spcBef>
                </a:pPr>
                <a:r>
                  <a:rPr lang="en-US" altLang="en-US" sz="2400" dirty="0" smtClean="0">
                    <a:cs typeface="Times New Roman" pitchFamily="18" charset="0"/>
                  </a:rPr>
                  <a:t>OR is equivalent to NOR with </a:t>
                </a:r>
                <a:r>
                  <a:rPr lang="en-US" altLang="en-US" sz="2400" b="1" dirty="0" smtClean="0">
                    <a:solidFill>
                      <a:srgbClr val="FF0000"/>
                    </a:solidFill>
                    <a:cs typeface="Times New Roman" pitchFamily="18" charset="0"/>
                  </a:rPr>
                  <a:t>inverted output</a:t>
                </a:r>
              </a:p>
              <a:p>
                <a:pPr marL="357188" indent="0">
                  <a:lnSpc>
                    <a:spcPct val="150000"/>
                  </a:lnSpc>
                  <a:spcBef>
                    <a:spcPts val="1300"/>
                  </a:spcBef>
                  <a:buNone/>
                </a:pPr>
                <a:r>
                  <a:rPr lang="en-US" altLang="en-US" sz="2400" dirty="0" smtClean="0">
                    <a:cs typeface="Times New Roman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en-US" sz="2400" i="1" dirty="0" smtClean="0">
                        <a:latin typeface="Cambria Math"/>
                        <a:cs typeface="Times New Roman" pitchFamily="18" charset="0"/>
                      </a:rPr>
                      <m:t>𝑥</m:t>
                    </m:r>
                  </m:oMath>
                </a14:m>
                <a:r>
                  <a:rPr lang="en-US" altLang="en-US" sz="2400" dirty="0" smtClean="0">
                    <a:cs typeface="Times New Roman" pitchFamily="18" charset="0"/>
                  </a:rPr>
                  <a:t> NOR </a:t>
                </a:r>
                <a14:m>
                  <m:oMath xmlns:m="http://schemas.openxmlformats.org/officeDocument/2006/math">
                    <m:r>
                      <a:rPr lang="en-US" altLang="en-US" sz="2400" i="1" dirty="0" smtClean="0">
                        <a:latin typeface="Cambria Math"/>
                        <a:cs typeface="Times New Roman" pitchFamily="18" charset="0"/>
                      </a:rPr>
                      <m:t>𝑦</m:t>
                    </m:r>
                  </m:oMath>
                </a14:m>
                <a:r>
                  <a:rPr lang="en-US" altLang="en-US" sz="2400" dirty="0" smtClean="0">
                    <a:cs typeface="Times New Roman" pitchFamily="18" charset="0"/>
                  </a:rPr>
                  <a:t>)</a:t>
                </a:r>
                <a14:m>
                  <m:oMath xmlns:m="http://schemas.openxmlformats.org/officeDocument/2006/math">
                    <m:r>
                      <a:rPr lang="en-US" altLang="en-US" sz="2400" i="1" dirty="0" smtClean="0">
                        <a:latin typeface="Cambria Math"/>
                        <a:cs typeface="Times New Roman" pitchFamily="18" charset="0"/>
                      </a:rPr>
                      <m:t>′</m:t>
                    </m:r>
                  </m:oMath>
                </a14:m>
                <a:r>
                  <a:rPr lang="en-US" altLang="en-US" sz="2400" dirty="0" smtClean="0">
                    <a:cs typeface="Times New Roman" pitchFamily="18" charset="0"/>
                  </a:rPr>
                  <a:t> = </a:t>
                </a:r>
                <a14:m>
                  <m:oMath xmlns:m="http://schemas.openxmlformats.org/officeDocument/2006/math">
                    <m:r>
                      <a:rPr lang="en-US" altLang="en-US" sz="2400" i="1" dirty="0" smtClean="0">
                        <a:latin typeface="Cambria Math"/>
                        <a:cs typeface="Times New Roman" pitchFamily="18" charset="0"/>
                      </a:rPr>
                      <m:t>((</m:t>
                    </m:r>
                    <m:r>
                      <a:rPr lang="en-US" altLang="en-US" sz="2400" i="1" dirty="0" err="1" smtClean="0">
                        <a:latin typeface="Cambria Math"/>
                        <a:cs typeface="Times New Roman" pitchFamily="18" charset="0"/>
                      </a:rPr>
                      <m:t>𝑥</m:t>
                    </m:r>
                    <m:r>
                      <a:rPr lang="en-US" altLang="en-US" sz="2400" b="0" i="1" dirty="0" smtClean="0">
                        <a:latin typeface="Cambria Math"/>
                        <a:cs typeface="Times New Roman" pitchFamily="18" charset="0"/>
                      </a:rPr>
                      <m:t>+</m:t>
                    </m:r>
                    <m:r>
                      <a:rPr lang="en-US" altLang="en-US" sz="2400" i="1" dirty="0" err="1" smtClean="0">
                        <a:latin typeface="Cambria Math"/>
                        <a:cs typeface="Times New Roman" pitchFamily="18" charset="0"/>
                      </a:rPr>
                      <m:t>𝑦</m:t>
                    </m:r>
                    <m:r>
                      <a:rPr lang="en-US" altLang="en-US" sz="2400" i="1" dirty="0" smtClean="0">
                        <a:latin typeface="Cambria Math"/>
                        <a:cs typeface="Times New Roman" pitchFamily="18" charset="0"/>
                      </a:rPr>
                      <m:t>)′)′</m:t>
                    </m:r>
                  </m:oMath>
                </a14:m>
                <a:r>
                  <a:rPr lang="en-US" altLang="en-US" sz="2400" dirty="0" smtClean="0">
                    <a:cs typeface="Times New Roman" pitchFamily="18" charset="0"/>
                  </a:rPr>
                  <a:t> </a:t>
                </a:r>
                <a:r>
                  <a:rPr lang="en-US" altLang="en-US" sz="2400" dirty="0">
                    <a:cs typeface="Times New Roman" pitchFamily="18" charset="0"/>
                  </a:rPr>
                  <a:t>= </a:t>
                </a:r>
                <a14:m>
                  <m:oMath xmlns:m="http://schemas.openxmlformats.org/officeDocument/2006/math">
                    <m:r>
                      <a:rPr lang="en-US" altLang="en-US" sz="2400" i="1" dirty="0" smtClean="0">
                        <a:latin typeface="Cambria Math"/>
                        <a:cs typeface="Times New Roman" pitchFamily="18" charset="0"/>
                      </a:rPr>
                      <m:t>𝑥</m:t>
                    </m:r>
                    <m:r>
                      <a:rPr lang="en-US" altLang="en-US" sz="2400" b="0" i="1" dirty="0" smtClean="0">
                        <a:latin typeface="Cambria Math"/>
                        <a:cs typeface="Times New Roman" pitchFamily="18" charset="0"/>
                      </a:rPr>
                      <m:t>+</m:t>
                    </m:r>
                    <m:r>
                      <a:rPr lang="en-US" altLang="en-US" sz="2400" i="1" dirty="0" smtClean="0">
                        <a:latin typeface="Cambria Math"/>
                        <a:cs typeface="Times New Roman" pitchFamily="18" charset="0"/>
                      </a:rPr>
                      <m:t>𝑦</m:t>
                    </m:r>
                  </m:oMath>
                </a14:m>
                <a:r>
                  <a:rPr lang="en-US" altLang="en-US" sz="2400" dirty="0">
                    <a:cs typeface="Times New Roman" pitchFamily="18" charset="0"/>
                  </a:rPr>
                  <a:t> </a:t>
                </a:r>
                <a:r>
                  <a:rPr lang="en-US" altLang="en-US" sz="2400" dirty="0" smtClean="0">
                    <a:cs typeface="Times New Roman" pitchFamily="18" charset="0"/>
                  </a:rPr>
                  <a:t>(OR)</a:t>
                </a:r>
              </a:p>
              <a:p>
                <a:pPr>
                  <a:lnSpc>
                    <a:spcPct val="150000"/>
                  </a:lnSpc>
                  <a:spcBef>
                    <a:spcPts val="1300"/>
                  </a:spcBef>
                </a:pPr>
                <a:r>
                  <a:rPr lang="en-US" altLang="en-US" sz="2400" dirty="0" smtClean="0">
                    <a:cs typeface="Times New Roman" pitchFamily="18" charset="0"/>
                  </a:rPr>
                  <a:t>AND is equivalent to NOR with </a:t>
                </a:r>
                <a:r>
                  <a:rPr lang="en-US" altLang="en-US" sz="2400" b="1" dirty="0" smtClean="0">
                    <a:solidFill>
                      <a:srgbClr val="FF0000"/>
                    </a:solidFill>
                    <a:cs typeface="Times New Roman" pitchFamily="18" charset="0"/>
                  </a:rPr>
                  <a:t>inverted inputs</a:t>
                </a:r>
              </a:p>
              <a:p>
                <a:pPr marL="357188" indent="0">
                  <a:lnSpc>
                    <a:spcPct val="150000"/>
                  </a:lnSpc>
                  <a:spcBef>
                    <a:spcPts val="1300"/>
                  </a:spcBef>
                  <a:buNone/>
                </a:pPr>
                <a:r>
                  <a:rPr lang="en-US" altLang="en-US" sz="2400" dirty="0" smtClean="0">
                    <a:cs typeface="Times New Roman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en-US" sz="2400" i="1" dirty="0" smtClean="0">
                        <a:latin typeface="Cambria Math"/>
                        <a:cs typeface="Times New Roman" pitchFamily="18" charset="0"/>
                      </a:rPr>
                      <m:t>𝑥</m:t>
                    </m:r>
                    <m:r>
                      <a:rPr lang="en-US" altLang="en-US" sz="2400" i="1" dirty="0" smtClean="0">
                        <a:latin typeface="Cambria Math"/>
                        <a:cs typeface="Times New Roman" pitchFamily="18" charset="0"/>
                      </a:rPr>
                      <m:t>′</m:t>
                    </m:r>
                  </m:oMath>
                </a14:m>
                <a:r>
                  <a:rPr lang="en-US" altLang="en-US" sz="2400" dirty="0" smtClean="0">
                    <a:cs typeface="Times New Roman" pitchFamily="18" charset="0"/>
                  </a:rPr>
                  <a:t> NOR </a:t>
                </a:r>
                <a14:m>
                  <m:oMath xmlns:m="http://schemas.openxmlformats.org/officeDocument/2006/math">
                    <m:r>
                      <a:rPr lang="en-US" altLang="en-US" sz="2400" i="1" dirty="0" smtClean="0">
                        <a:latin typeface="Cambria Math"/>
                        <a:cs typeface="Times New Roman" pitchFamily="18" charset="0"/>
                      </a:rPr>
                      <m:t>𝑦</m:t>
                    </m:r>
                    <m:r>
                      <a:rPr lang="en-US" altLang="en-US" sz="2400" i="1" dirty="0" smtClean="0">
                        <a:latin typeface="Cambria Math"/>
                        <a:cs typeface="Times New Roman" pitchFamily="18" charset="0"/>
                      </a:rPr>
                      <m:t>′</m:t>
                    </m:r>
                  </m:oMath>
                </a14:m>
                <a:r>
                  <a:rPr lang="en-US" altLang="en-US" sz="2400" dirty="0" smtClean="0">
                    <a:cs typeface="Times New Roman" pitchFamily="18" charset="0"/>
                  </a:rPr>
                  <a:t>) = </a:t>
                </a:r>
                <a14:m>
                  <m:oMath xmlns:m="http://schemas.openxmlformats.org/officeDocument/2006/math">
                    <m:r>
                      <a:rPr lang="en-US" altLang="en-US" sz="2400" i="1" dirty="0" smtClean="0">
                        <a:latin typeface="Cambria Math"/>
                        <a:cs typeface="Times New Roman" pitchFamily="18" charset="0"/>
                      </a:rPr>
                      <m:t>(</m:t>
                    </m:r>
                    <m:sSup>
                      <m:sSupPr>
                        <m:ctrlPr>
                          <a:rPr lang="en-US" altLang="en-US" sz="2400" i="1" dirty="0" err="1" smtClean="0">
                            <a:latin typeface="Cambria Math"/>
                            <a:cs typeface="Times New Roman" pitchFamily="18" charset="0"/>
                          </a:rPr>
                        </m:ctrlPr>
                      </m:sSupPr>
                      <m:e>
                        <m:r>
                          <a:rPr lang="en-US" altLang="en-US" sz="2400" i="1" dirty="0" err="1" smtClean="0">
                            <a:latin typeface="Cambria Math"/>
                            <a:cs typeface="Times New Roman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en-US" sz="2400" i="1" dirty="0" err="1" smtClean="0">
                            <a:latin typeface="Cambria Math"/>
                            <a:cs typeface="Times New Roman" pitchFamily="18" charset="0"/>
                          </a:rPr>
                          <m:t>′</m:t>
                        </m:r>
                      </m:sup>
                    </m:sSup>
                    <m:r>
                      <a:rPr lang="en-US" altLang="en-US" sz="2400" b="0" i="1" dirty="0" smtClean="0">
                        <a:latin typeface="Cambria Math"/>
                        <a:cs typeface="Times New Roman" pitchFamily="18" charset="0"/>
                      </a:rPr>
                      <m:t>+</m:t>
                    </m:r>
                    <m:r>
                      <a:rPr lang="en-US" altLang="en-US" sz="2400" i="1" dirty="0" err="1" smtClean="0">
                        <a:latin typeface="Cambria Math"/>
                        <a:cs typeface="Times New Roman" pitchFamily="18" charset="0"/>
                      </a:rPr>
                      <m:t>𝑦</m:t>
                    </m:r>
                    <m:r>
                      <a:rPr lang="en-US" altLang="en-US" sz="2400" i="1" dirty="0" smtClean="0">
                        <a:latin typeface="Cambria Math"/>
                        <a:cs typeface="Times New Roman" pitchFamily="18" charset="0"/>
                      </a:rPr>
                      <m:t>′)′</m:t>
                    </m:r>
                  </m:oMath>
                </a14:m>
                <a:r>
                  <a:rPr lang="en-US" altLang="en-US" sz="2400" dirty="0" smtClean="0">
                    <a:cs typeface="Times New Roman" pitchFamily="18" charset="0"/>
                  </a:rPr>
                  <a:t> = </a:t>
                </a:r>
                <a14:m>
                  <m:oMath xmlns:m="http://schemas.openxmlformats.org/officeDocument/2006/math">
                    <m:r>
                      <a:rPr lang="en-US" altLang="en-US" sz="2400" i="1" dirty="0">
                        <a:latin typeface="Cambria Math"/>
                        <a:cs typeface="Times New Roman" pitchFamily="18" charset="0"/>
                      </a:rPr>
                      <m:t>𝑥</m:t>
                    </m:r>
                    <m:r>
                      <a:rPr lang="en-US" altLang="en-US" sz="2400" i="1" dirty="0">
                        <a:latin typeface="Cambria Math"/>
                        <a:cs typeface="Times New Roman" pitchFamily="18" charset="0"/>
                      </a:rPr>
                      <m:t>·</m:t>
                    </m:r>
                    <m:r>
                      <a:rPr lang="en-US" altLang="en-US" sz="2400" i="1" dirty="0">
                        <a:latin typeface="Cambria Math"/>
                        <a:cs typeface="Times New Roman" pitchFamily="18" charset="0"/>
                      </a:rPr>
                      <m:t>𝑦</m:t>
                    </m:r>
                  </m:oMath>
                </a14:m>
                <a:r>
                  <a:rPr lang="en-US" altLang="en-US" sz="2400" dirty="0" smtClean="0">
                    <a:cs typeface="Times New Roman" pitchFamily="18" charset="0"/>
                  </a:rPr>
                  <a:t> (AND)</a:t>
                </a:r>
                <a:endParaRPr lang="en-US" altLang="en-US" sz="2400" dirty="0"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836686"/>
                <a:ext cx="8475206" cy="5760699"/>
              </a:xfrm>
              <a:blipFill rotWithShape="1">
                <a:blip r:embed="rId2"/>
                <a:stretch>
                  <a:fillRect l="-9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Group 4"/>
          <p:cNvGrpSpPr/>
          <p:nvPr/>
        </p:nvGrpSpPr>
        <p:grpSpPr>
          <a:xfrm>
            <a:off x="6003439" y="4360940"/>
            <a:ext cx="2864856" cy="681057"/>
            <a:chOff x="6503726" y="4476153"/>
            <a:chExt cx="3103594" cy="681057"/>
          </a:xfrm>
        </p:grpSpPr>
        <p:cxnSp>
          <p:nvCxnSpPr>
            <p:cNvPr id="14" name="Straight Connector 13"/>
            <p:cNvCxnSpPr/>
            <p:nvPr/>
          </p:nvCxnSpPr>
          <p:spPr>
            <a:xfrm>
              <a:off x="7814285" y="4823705"/>
              <a:ext cx="950721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" name="Group 3"/>
            <p:cNvGrpSpPr/>
            <p:nvPr/>
          </p:nvGrpSpPr>
          <p:grpSpPr>
            <a:xfrm>
              <a:off x="6853493" y="4672664"/>
              <a:ext cx="483288" cy="311725"/>
              <a:chOff x="6853493" y="4672664"/>
              <a:chExt cx="390000" cy="311725"/>
            </a:xfrm>
          </p:grpSpPr>
          <p:cxnSp>
            <p:nvCxnSpPr>
              <p:cNvPr id="16" name="Straight Connector 15"/>
              <p:cNvCxnSpPr/>
              <p:nvPr/>
            </p:nvCxnSpPr>
            <p:spPr>
              <a:xfrm>
                <a:off x="6853493" y="4672664"/>
                <a:ext cx="390000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/>
              <p:cNvCxnSpPr/>
              <p:nvPr/>
            </p:nvCxnSpPr>
            <p:spPr>
              <a:xfrm>
                <a:off x="6853493" y="4984389"/>
                <a:ext cx="390000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/>
                <p:cNvSpPr txBox="1"/>
                <p:nvPr/>
              </p:nvSpPr>
              <p:spPr>
                <a:xfrm>
                  <a:off x="6503726" y="4476153"/>
                  <a:ext cx="39865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/>
                          </a:rPr>
                          <m:t>𝑥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8" name="TextBox 1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03726" y="4476153"/>
                  <a:ext cx="379206" cy="369332"/>
                </a:xfrm>
                <a:prstGeom prst="rect">
                  <a:avLst/>
                </a:prstGeom>
                <a:blipFill rotWithShape="1"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/>
                <p:cNvSpPr txBox="1"/>
                <p:nvPr/>
              </p:nvSpPr>
              <p:spPr>
                <a:xfrm>
                  <a:off x="6503726" y="4787878"/>
                  <a:ext cx="40233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latin typeface="Cambria Math"/>
                          </a:rPr>
                          <m:t>𝑦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9" name="TextBox 1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03726" y="4787878"/>
                  <a:ext cx="382605" cy="369332"/>
                </a:xfrm>
                <a:prstGeom prst="rect">
                  <a:avLst/>
                </a:prstGeom>
                <a:blipFill rotWithShape="1">
                  <a:blip r:embed="rId4"/>
                  <a:stretch>
                    <a:fillRect b="-655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/>
                <p:cNvSpPr txBox="1"/>
                <p:nvPr/>
              </p:nvSpPr>
              <p:spPr>
                <a:xfrm>
                  <a:off x="8765006" y="4615057"/>
                  <a:ext cx="84231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/>
                          </a:rPr>
                          <m:t>𝑥</m:t>
                        </m:r>
                        <m:r>
                          <a:rPr lang="en-US" b="0" i="1" dirty="0" smtClean="0">
                            <a:latin typeface="Cambria Math"/>
                          </a:rPr>
                          <m:t>+</m:t>
                        </m:r>
                        <m:r>
                          <a:rPr lang="en-US" i="1" dirty="0" smtClean="0">
                            <a:latin typeface="Cambria Math"/>
                          </a:rPr>
                          <m:t>𝑦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0" name="TextBox 1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65006" y="4615057"/>
                  <a:ext cx="788742" cy="369332"/>
                </a:xfrm>
                <a:prstGeom prst="rect">
                  <a:avLst/>
                </a:prstGeom>
                <a:blipFill rotWithShape="1">
                  <a:blip r:embed="rId5"/>
                  <a:stretch>
                    <a:fillRect b="-655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2" name="Oval 21"/>
            <p:cNvSpPr/>
            <p:nvPr/>
          </p:nvSpPr>
          <p:spPr>
            <a:xfrm>
              <a:off x="7828984" y="4767213"/>
              <a:ext cx="115214" cy="11521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Oval 25"/>
            <p:cNvSpPr/>
            <p:nvPr/>
          </p:nvSpPr>
          <p:spPr>
            <a:xfrm>
              <a:off x="8390157" y="4771001"/>
              <a:ext cx="115214" cy="11521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Isosceles Triangle 23"/>
            <p:cNvSpPr/>
            <p:nvPr/>
          </p:nvSpPr>
          <p:spPr>
            <a:xfrm rot="5400000">
              <a:off x="8204650" y="4744732"/>
              <a:ext cx="201222" cy="162877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Moon 37"/>
            <p:cNvSpPr/>
            <p:nvPr/>
          </p:nvSpPr>
          <p:spPr>
            <a:xfrm flipH="1">
              <a:off x="7241724" y="4552977"/>
              <a:ext cx="585000" cy="540000"/>
            </a:xfrm>
            <a:prstGeom prst="moon">
              <a:avLst>
                <a:gd name="adj" fmla="val 87500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" name="Group 5"/>
          <p:cNvGrpSpPr/>
          <p:nvPr/>
        </p:nvGrpSpPr>
        <p:grpSpPr>
          <a:xfrm>
            <a:off x="6007745" y="5560459"/>
            <a:ext cx="2707186" cy="1036926"/>
            <a:chOff x="6508389" y="5560459"/>
            <a:chExt cx="2932784" cy="1036926"/>
          </a:xfrm>
        </p:grpSpPr>
        <p:cxnSp>
          <p:nvCxnSpPr>
            <p:cNvPr id="29" name="Straight Connector 28"/>
            <p:cNvCxnSpPr/>
            <p:nvPr/>
          </p:nvCxnSpPr>
          <p:spPr>
            <a:xfrm>
              <a:off x="8375379" y="6091059"/>
              <a:ext cx="389627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9" name="Group 38"/>
            <p:cNvGrpSpPr/>
            <p:nvPr/>
          </p:nvGrpSpPr>
          <p:grpSpPr>
            <a:xfrm>
              <a:off x="6854031" y="5906100"/>
              <a:ext cx="965501" cy="369738"/>
              <a:chOff x="6948286" y="5997625"/>
              <a:chExt cx="390000" cy="311725"/>
            </a:xfrm>
          </p:grpSpPr>
          <p:cxnSp>
            <p:nvCxnSpPr>
              <p:cNvPr id="31" name="Straight Connector 30"/>
              <p:cNvCxnSpPr/>
              <p:nvPr/>
            </p:nvCxnSpPr>
            <p:spPr>
              <a:xfrm>
                <a:off x="6948286" y="5997625"/>
                <a:ext cx="390000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/>
              <p:cNvCxnSpPr/>
              <p:nvPr/>
            </p:nvCxnSpPr>
            <p:spPr>
              <a:xfrm>
                <a:off x="6948286" y="6309350"/>
                <a:ext cx="390000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TextBox 32"/>
                <p:cNvSpPr txBox="1"/>
                <p:nvPr/>
              </p:nvSpPr>
              <p:spPr>
                <a:xfrm>
                  <a:off x="6508389" y="5709590"/>
                  <a:ext cx="39865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/>
                          </a:rPr>
                          <m:t>𝑥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3" name="TextBox 3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08389" y="5709590"/>
                  <a:ext cx="379206" cy="369332"/>
                </a:xfrm>
                <a:prstGeom prst="rect">
                  <a:avLst/>
                </a:prstGeom>
                <a:blipFill rotWithShape="1"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TextBox 33"/>
                <p:cNvSpPr txBox="1"/>
                <p:nvPr/>
              </p:nvSpPr>
              <p:spPr>
                <a:xfrm>
                  <a:off x="6508389" y="6055232"/>
                  <a:ext cx="40233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latin typeface="Cambria Math"/>
                          </a:rPr>
                          <m:t>𝑦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4" name="TextBox 3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08389" y="6055232"/>
                  <a:ext cx="382605" cy="369332"/>
                </a:xfrm>
                <a:prstGeom prst="rect">
                  <a:avLst/>
                </a:prstGeom>
                <a:blipFill rotWithShape="1">
                  <a:blip r:embed="rId7"/>
                  <a:stretch>
                    <a:fillRect b="-655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TextBox 34"/>
                <p:cNvSpPr txBox="1"/>
                <p:nvPr/>
              </p:nvSpPr>
              <p:spPr>
                <a:xfrm>
                  <a:off x="8715211" y="5882411"/>
                  <a:ext cx="72596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>
                            <a:latin typeface="Cambria Math"/>
                          </a:rPr>
                          <m:t>𝑥</m:t>
                        </m:r>
                        <m:r>
                          <a:rPr lang="en-US" i="1" dirty="0">
                            <a:latin typeface="Cambria Math"/>
                          </a:rPr>
                          <m:t>·</m:t>
                        </m:r>
                        <m:r>
                          <a:rPr lang="en-US" i="1" dirty="0">
                            <a:latin typeface="Cambria Math"/>
                          </a:rPr>
                          <m:t>𝑦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5" name="TextBox 3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15211" y="5882411"/>
                  <a:ext cx="681340" cy="369332"/>
                </a:xfrm>
                <a:prstGeom prst="rect">
                  <a:avLst/>
                </a:prstGeom>
                <a:blipFill rotWithShape="1">
                  <a:blip r:embed="rId8"/>
                  <a:stretch>
                    <a:fillRect b="-655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6" name="Oval 35"/>
            <p:cNvSpPr/>
            <p:nvPr/>
          </p:nvSpPr>
          <p:spPr>
            <a:xfrm>
              <a:off x="8390078" y="6034567"/>
              <a:ext cx="115214" cy="11521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45" name="Group 44"/>
            <p:cNvGrpSpPr/>
            <p:nvPr/>
          </p:nvGrpSpPr>
          <p:grpSpPr>
            <a:xfrm>
              <a:off x="7069563" y="5805489"/>
              <a:ext cx="288574" cy="201222"/>
              <a:chOff x="6795885" y="5863096"/>
              <a:chExt cx="288574" cy="201222"/>
            </a:xfrm>
          </p:grpSpPr>
          <p:sp>
            <p:nvSpPr>
              <p:cNvPr id="37" name="Oval 36"/>
              <p:cNvSpPr/>
              <p:nvPr/>
            </p:nvSpPr>
            <p:spPr>
              <a:xfrm>
                <a:off x="6969245" y="5906101"/>
                <a:ext cx="115214" cy="115214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4" name="Isosceles Triangle 43"/>
              <p:cNvSpPr/>
              <p:nvPr/>
            </p:nvSpPr>
            <p:spPr>
              <a:xfrm rot="5400000">
                <a:off x="6776713" y="5882268"/>
                <a:ext cx="201222" cy="162877"/>
              </a:xfrm>
              <a:prstGeom prst="triangl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6" name="Group 45"/>
            <p:cNvGrpSpPr/>
            <p:nvPr/>
          </p:nvGrpSpPr>
          <p:grpSpPr>
            <a:xfrm>
              <a:off x="7070102" y="6171415"/>
              <a:ext cx="288574" cy="201222"/>
              <a:chOff x="6795885" y="5863096"/>
              <a:chExt cx="288574" cy="201222"/>
            </a:xfrm>
          </p:grpSpPr>
          <p:sp>
            <p:nvSpPr>
              <p:cNvPr id="47" name="Oval 46"/>
              <p:cNvSpPr/>
              <p:nvPr/>
            </p:nvSpPr>
            <p:spPr>
              <a:xfrm>
                <a:off x="6969245" y="5906101"/>
                <a:ext cx="115214" cy="115214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" name="Isosceles Triangle 47"/>
              <p:cNvSpPr/>
              <p:nvPr/>
            </p:nvSpPr>
            <p:spPr>
              <a:xfrm rot="5400000">
                <a:off x="6776713" y="5882268"/>
                <a:ext cx="201222" cy="162877"/>
              </a:xfrm>
              <a:prstGeom prst="triangl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TextBox 51"/>
                <p:cNvSpPr txBox="1"/>
                <p:nvPr/>
              </p:nvSpPr>
              <p:spPr>
                <a:xfrm>
                  <a:off x="7382719" y="5560459"/>
                  <a:ext cx="45533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/>
                          </a:rPr>
                          <m:t>𝑥</m:t>
                        </m:r>
                        <m:r>
                          <a:rPr lang="en-US" b="0" i="1" dirty="0" smtClean="0">
                            <a:latin typeface="Cambria Math"/>
                          </a:rPr>
                          <m:t>′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2" name="TextBox 5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82719" y="5560459"/>
                  <a:ext cx="431528" cy="369332"/>
                </a:xfrm>
                <a:prstGeom prst="rect">
                  <a:avLst/>
                </a:prstGeom>
                <a:blipFill rotWithShape="1"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TextBox 52"/>
                <p:cNvSpPr txBox="1"/>
                <p:nvPr/>
              </p:nvSpPr>
              <p:spPr>
                <a:xfrm>
                  <a:off x="7401822" y="6228053"/>
                  <a:ext cx="46228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latin typeface="Cambria Math"/>
                          </a:rPr>
                          <m:t>𝑦</m:t>
                        </m:r>
                        <m:r>
                          <a:rPr lang="en-US" b="0" i="1" dirty="0" smtClean="0">
                            <a:latin typeface="Cambria Math"/>
                          </a:rPr>
                          <m:t>′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3" name="TextBox 5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01822" y="6228053"/>
                  <a:ext cx="437940" cy="369332"/>
                </a:xfrm>
                <a:prstGeom prst="rect">
                  <a:avLst/>
                </a:prstGeom>
                <a:blipFill rotWithShape="1">
                  <a:blip r:embed="rId10"/>
                  <a:stretch>
                    <a:fillRect b="-1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0" name="Moon 39"/>
            <p:cNvSpPr/>
            <p:nvPr/>
          </p:nvSpPr>
          <p:spPr>
            <a:xfrm flipH="1">
              <a:off x="7788995" y="5820591"/>
              <a:ext cx="585000" cy="545420"/>
            </a:xfrm>
            <a:prstGeom prst="moon">
              <a:avLst>
                <a:gd name="adj" fmla="val 87500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6451173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>
            <a:normAutofit/>
          </a:bodyPr>
          <a:lstStyle/>
          <a:p>
            <a:r>
              <a:rPr lang="en-US" sz="3600" dirty="0" smtClean="0"/>
              <a:t>Non-Associative NAND / NOR Operations</a:t>
            </a:r>
            <a:endParaRPr lang="en-US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199" y="951899"/>
                <a:ext cx="8315680" cy="5530272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30000"/>
                  </a:lnSpc>
                  <a:spcBef>
                    <a:spcPts val="1500"/>
                  </a:spcBef>
                </a:pPr>
                <a:r>
                  <a:rPr lang="en-US" sz="2000" dirty="0" smtClean="0"/>
                  <a:t>Unlike AND, NAND operation is NOT associative</a:t>
                </a:r>
              </a:p>
              <a:p>
                <a:pPr marL="357188" indent="0">
                  <a:lnSpc>
                    <a:spcPct val="130000"/>
                  </a:lnSpc>
                  <a:spcBef>
                    <a:spcPts val="1500"/>
                  </a:spcBef>
                  <a:buNone/>
                </a:pPr>
                <a:r>
                  <a:rPr lang="en-US" sz="2000" dirty="0" smtClean="0"/>
                  <a:t>(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/>
                      </a:rPr>
                      <m:t>𝑥</m:t>
                    </m:r>
                  </m:oMath>
                </a14:m>
                <a:r>
                  <a:rPr lang="en-US" sz="2000" dirty="0" smtClean="0"/>
                  <a:t> NAND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/>
                      </a:rPr>
                      <m:t>𝑦</m:t>
                    </m:r>
                  </m:oMath>
                </a14:m>
                <a:r>
                  <a:rPr lang="en-US" sz="2000" dirty="0" smtClean="0"/>
                  <a:t>) NAND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/>
                      </a:rPr>
                      <m:t>𝑧</m:t>
                    </m:r>
                  </m:oMath>
                </a14:m>
                <a:r>
                  <a:rPr lang="en-US" sz="2000" dirty="0" smtClean="0"/>
                  <a:t> ≠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/>
                      </a:rPr>
                      <m:t>𝑥</m:t>
                    </m:r>
                  </m:oMath>
                </a14:m>
                <a:r>
                  <a:rPr lang="en-US" sz="2000" dirty="0" smtClean="0"/>
                  <a:t> NAND (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/>
                      </a:rPr>
                      <m:t>𝑦</m:t>
                    </m:r>
                  </m:oMath>
                </a14:m>
                <a:r>
                  <a:rPr lang="en-US" sz="2000" dirty="0" smtClean="0"/>
                  <a:t> NAND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/>
                      </a:rPr>
                      <m:t>𝑧</m:t>
                    </m:r>
                  </m:oMath>
                </a14:m>
                <a:r>
                  <a:rPr lang="en-US" sz="2000" dirty="0" smtClean="0"/>
                  <a:t>)</a:t>
                </a:r>
              </a:p>
              <a:p>
                <a:pPr marL="357188" indent="0">
                  <a:lnSpc>
                    <a:spcPct val="130000"/>
                  </a:lnSpc>
                  <a:spcBef>
                    <a:spcPts val="1500"/>
                  </a:spcBef>
                  <a:buNone/>
                </a:pPr>
                <a:r>
                  <a:rPr lang="en-US" sz="2000" dirty="0" smtClean="0"/>
                  <a:t>(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/>
                      </a:rPr>
                      <m:t>𝑥</m:t>
                    </m:r>
                  </m:oMath>
                </a14:m>
                <a:r>
                  <a:rPr lang="en-US" sz="2000" dirty="0"/>
                  <a:t> NAND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/>
                      </a:rPr>
                      <m:t>𝑦</m:t>
                    </m:r>
                  </m:oMath>
                </a14:m>
                <a:r>
                  <a:rPr lang="en-US" sz="2000" dirty="0"/>
                  <a:t>) NAND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/>
                      </a:rPr>
                      <m:t>𝑧</m:t>
                    </m:r>
                  </m:oMath>
                </a14:m>
                <a:r>
                  <a:rPr lang="en-US" sz="2000" dirty="0"/>
                  <a:t> </a:t>
                </a:r>
                <a:r>
                  <a:rPr lang="en-US" sz="2000" dirty="0" smtClean="0"/>
                  <a:t>=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/>
                      </a:rPr>
                      <m:t>((</m:t>
                    </m:r>
                    <m:r>
                      <a:rPr lang="en-US" sz="2000" i="1" dirty="0" err="1" smtClean="0">
                        <a:latin typeface="Cambria Math"/>
                      </a:rPr>
                      <m:t>𝑥𝑦</m:t>
                    </m:r>
                    <m:r>
                      <a:rPr lang="en-US" sz="2000" i="1" dirty="0" smtClean="0">
                        <a:latin typeface="Cambria Math"/>
                      </a:rPr>
                      <m:t>)′</m:t>
                    </m:r>
                    <m:r>
                      <a:rPr lang="en-US" sz="2000" i="1" dirty="0" smtClean="0">
                        <a:latin typeface="Cambria Math"/>
                      </a:rPr>
                      <m:t>𝑧</m:t>
                    </m:r>
                    <m:r>
                      <a:rPr lang="en-US" sz="2000" i="1" dirty="0" smtClean="0">
                        <a:latin typeface="Cambria Math"/>
                      </a:rPr>
                      <m:t>)′=((</m:t>
                    </m:r>
                    <m:r>
                      <a:rPr lang="en-US" sz="2000" i="1" dirty="0" err="1" smtClean="0">
                        <a:latin typeface="Cambria Math"/>
                      </a:rPr>
                      <m:t>𝑥</m:t>
                    </m:r>
                    <m:r>
                      <a:rPr lang="en-US" sz="2000" i="1" dirty="0" err="1" smtClean="0">
                        <a:latin typeface="Cambria Math"/>
                      </a:rPr>
                      <m:t>′+</m:t>
                    </m:r>
                    <m:r>
                      <a:rPr lang="en-US" sz="2000" i="1" dirty="0" err="1" smtClean="0">
                        <a:latin typeface="Cambria Math"/>
                      </a:rPr>
                      <m:t>𝑦</m:t>
                    </m:r>
                    <m:r>
                      <a:rPr lang="en-US" sz="2000" i="1" dirty="0" smtClean="0">
                        <a:latin typeface="Cambria Math"/>
                      </a:rPr>
                      <m:t>′)</m:t>
                    </m:r>
                    <m:r>
                      <a:rPr lang="en-US" sz="2000" i="1" dirty="0" smtClean="0">
                        <a:latin typeface="Cambria Math"/>
                      </a:rPr>
                      <m:t>𝑧</m:t>
                    </m:r>
                    <m:r>
                      <a:rPr lang="en-US" sz="2000" i="1" dirty="0" smtClean="0">
                        <a:latin typeface="Cambria Math"/>
                      </a:rPr>
                      <m:t>)′=</m:t>
                    </m:r>
                    <m:r>
                      <a:rPr lang="en-US" sz="2000" i="1" dirty="0" err="1" smtClean="0">
                        <a:latin typeface="Cambria Math"/>
                      </a:rPr>
                      <m:t>𝑥𝑦</m:t>
                    </m:r>
                    <m:r>
                      <a:rPr lang="en-US" sz="2000" i="1" dirty="0" err="1" smtClean="0">
                        <a:latin typeface="Cambria Math"/>
                      </a:rPr>
                      <m:t>+</m:t>
                    </m:r>
                    <m:r>
                      <a:rPr lang="en-US" sz="2000" i="1" dirty="0" err="1" smtClean="0">
                        <a:latin typeface="Cambria Math"/>
                      </a:rPr>
                      <m:t>𝑧</m:t>
                    </m:r>
                    <m:r>
                      <a:rPr lang="en-US" sz="2000" i="1" dirty="0" smtClean="0">
                        <a:latin typeface="Cambria Math"/>
                      </a:rPr>
                      <m:t>′</m:t>
                    </m:r>
                  </m:oMath>
                </a14:m>
                <a:endParaRPr lang="en-US" sz="2000" dirty="0" smtClean="0"/>
              </a:p>
              <a:p>
                <a:pPr marL="357188" indent="0">
                  <a:lnSpc>
                    <a:spcPct val="130000"/>
                  </a:lnSpc>
                  <a:spcBef>
                    <a:spcPts val="1500"/>
                  </a:spcBef>
                  <a:buNone/>
                </a:pPr>
                <a14:m>
                  <m:oMath xmlns:m="http://schemas.openxmlformats.org/officeDocument/2006/math">
                    <m:r>
                      <a:rPr lang="en-US" sz="2000" i="1" dirty="0">
                        <a:latin typeface="Cambria Math"/>
                      </a:rPr>
                      <m:t>𝑥</m:t>
                    </m:r>
                  </m:oMath>
                </a14:m>
                <a:r>
                  <a:rPr lang="en-US" sz="2000" dirty="0"/>
                  <a:t> NAND (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/>
                      </a:rPr>
                      <m:t>𝑦</m:t>
                    </m:r>
                  </m:oMath>
                </a14:m>
                <a:r>
                  <a:rPr lang="en-US" sz="2000" dirty="0"/>
                  <a:t> NAND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/>
                      </a:rPr>
                      <m:t>𝑧</m:t>
                    </m:r>
                  </m:oMath>
                </a14:m>
                <a:r>
                  <a:rPr lang="en-US" sz="2000" dirty="0"/>
                  <a:t>) </a:t>
                </a:r>
                <a:r>
                  <a:rPr lang="en-US" sz="2000" dirty="0" smtClean="0"/>
                  <a:t>=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/>
                      </a:rPr>
                      <m:t>(</m:t>
                    </m:r>
                    <m:r>
                      <a:rPr lang="en-US" sz="2000" i="1" dirty="0" smtClean="0">
                        <a:latin typeface="Cambria Math"/>
                      </a:rPr>
                      <m:t>𝑥</m:t>
                    </m:r>
                    <m:r>
                      <a:rPr lang="en-US" sz="2000" i="1" dirty="0" smtClean="0">
                        <a:latin typeface="Cambria Math"/>
                      </a:rPr>
                      <m:t>(</m:t>
                    </m:r>
                    <m:r>
                      <a:rPr lang="en-US" sz="2000" i="1" dirty="0" err="1" smtClean="0">
                        <a:latin typeface="Cambria Math"/>
                      </a:rPr>
                      <m:t>𝑦𝑧</m:t>
                    </m:r>
                    <m:r>
                      <a:rPr lang="en-US" sz="2000" i="1" dirty="0" smtClean="0">
                        <a:latin typeface="Cambria Math"/>
                      </a:rPr>
                      <m:t>)′)′=(</m:t>
                    </m:r>
                    <m:r>
                      <a:rPr lang="en-US" sz="2000" i="1" dirty="0" smtClean="0">
                        <a:latin typeface="Cambria Math"/>
                      </a:rPr>
                      <m:t>𝑥</m:t>
                    </m:r>
                    <m:r>
                      <a:rPr lang="en-US" sz="2000" i="1" dirty="0" smtClean="0">
                        <a:latin typeface="Cambria Math"/>
                      </a:rPr>
                      <m:t>(</m:t>
                    </m:r>
                    <m:r>
                      <a:rPr lang="en-US" sz="2000" i="1" dirty="0" err="1" smtClean="0">
                        <a:latin typeface="Cambria Math"/>
                      </a:rPr>
                      <m:t>𝑦</m:t>
                    </m:r>
                    <m:r>
                      <a:rPr lang="en-US" sz="2000" i="1" dirty="0" err="1" smtClean="0">
                        <a:latin typeface="Cambria Math"/>
                      </a:rPr>
                      <m:t>′+</m:t>
                    </m:r>
                    <m:r>
                      <a:rPr lang="en-US" sz="2000" i="1" dirty="0" err="1" smtClean="0">
                        <a:latin typeface="Cambria Math"/>
                      </a:rPr>
                      <m:t>𝑧</m:t>
                    </m:r>
                    <m:r>
                      <a:rPr lang="en-US" sz="2000" i="1" dirty="0" smtClean="0">
                        <a:latin typeface="Cambria Math"/>
                      </a:rPr>
                      <m:t>′))′=</m:t>
                    </m:r>
                    <m:r>
                      <a:rPr lang="en-US" sz="2000" i="1" dirty="0" smtClean="0">
                        <a:latin typeface="Cambria Math"/>
                      </a:rPr>
                      <m:t>𝑥</m:t>
                    </m:r>
                    <m:r>
                      <a:rPr lang="en-US" sz="2000" i="1" dirty="0" smtClean="0">
                        <a:latin typeface="Cambria Math"/>
                      </a:rPr>
                      <m:t>′+</m:t>
                    </m:r>
                    <m:r>
                      <a:rPr lang="en-US" sz="2000" i="1" dirty="0" err="1" smtClean="0">
                        <a:latin typeface="Cambria Math"/>
                      </a:rPr>
                      <m:t>𝑦𝑧</m:t>
                    </m:r>
                  </m:oMath>
                </a14:m>
                <a:endParaRPr lang="en-US" sz="2000" dirty="0" smtClean="0"/>
              </a:p>
              <a:p>
                <a:pPr>
                  <a:lnSpc>
                    <a:spcPct val="130000"/>
                  </a:lnSpc>
                  <a:spcBef>
                    <a:spcPts val="1500"/>
                  </a:spcBef>
                </a:pPr>
                <a:r>
                  <a:rPr lang="en-US" sz="2000" dirty="0" smtClean="0"/>
                  <a:t>Unlike OR, NOR operation is NOT associative</a:t>
                </a:r>
              </a:p>
              <a:p>
                <a:pPr marL="357188" indent="0">
                  <a:lnSpc>
                    <a:spcPct val="130000"/>
                  </a:lnSpc>
                  <a:spcBef>
                    <a:spcPts val="1500"/>
                  </a:spcBef>
                  <a:buNone/>
                </a:pPr>
                <a:r>
                  <a:rPr lang="en-US" sz="2000" dirty="0" smtClean="0"/>
                  <a:t>(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/>
                      </a:rPr>
                      <m:t>𝑥</m:t>
                    </m:r>
                  </m:oMath>
                </a14:m>
                <a:r>
                  <a:rPr lang="en-US" sz="2000" dirty="0" smtClean="0"/>
                  <a:t> NOR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/>
                      </a:rPr>
                      <m:t>𝑦</m:t>
                    </m:r>
                  </m:oMath>
                </a14:m>
                <a:r>
                  <a:rPr lang="en-US" sz="2000" dirty="0" smtClean="0"/>
                  <a:t>) NOR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/>
                      </a:rPr>
                      <m:t>𝑧</m:t>
                    </m:r>
                  </m:oMath>
                </a14:m>
                <a:r>
                  <a:rPr lang="en-US" sz="2000" dirty="0" smtClean="0"/>
                  <a:t> </a:t>
                </a:r>
                <a:r>
                  <a:rPr lang="en-US" sz="2000" dirty="0"/>
                  <a:t>≠</a:t>
                </a:r>
                <a:r>
                  <a:rPr lang="en-US" sz="2000" dirty="0" smtClean="0"/>
                  <a:t>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/>
                      </a:rPr>
                      <m:t>𝑥</m:t>
                    </m:r>
                  </m:oMath>
                </a14:m>
                <a:r>
                  <a:rPr lang="en-US" sz="2000" dirty="0" smtClean="0"/>
                  <a:t> NOR (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/>
                      </a:rPr>
                      <m:t>𝑦</m:t>
                    </m:r>
                  </m:oMath>
                </a14:m>
                <a:r>
                  <a:rPr lang="en-US" sz="2000" dirty="0" smtClean="0"/>
                  <a:t> NOR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/>
                      </a:rPr>
                      <m:t>𝑧</m:t>
                    </m:r>
                  </m:oMath>
                </a14:m>
                <a:r>
                  <a:rPr lang="en-US" sz="2000" dirty="0" smtClean="0"/>
                  <a:t>)</a:t>
                </a:r>
              </a:p>
              <a:p>
                <a:pPr marL="357188" indent="0">
                  <a:lnSpc>
                    <a:spcPct val="130000"/>
                  </a:lnSpc>
                  <a:spcBef>
                    <a:spcPts val="1500"/>
                  </a:spcBef>
                  <a:buNone/>
                </a:pP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/>
                      </a:rPr>
                      <m:t>𝑥</m:t>
                    </m:r>
                  </m:oMath>
                </a14:m>
                <a:r>
                  <a:rPr lang="en-US" sz="2000" dirty="0"/>
                  <a:t> </a:t>
                </a:r>
                <a:r>
                  <a:rPr lang="en-US" sz="2000" dirty="0" smtClean="0"/>
                  <a:t>NOR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/>
                      </a:rPr>
                      <m:t>𝑦</m:t>
                    </m:r>
                  </m:oMath>
                </a14:m>
                <a:r>
                  <a:rPr lang="en-US" sz="2000" dirty="0"/>
                  <a:t>) </a:t>
                </a:r>
                <a:r>
                  <a:rPr lang="en-US" sz="2000" dirty="0" smtClean="0"/>
                  <a:t>NOR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/>
                      </a:rPr>
                      <m:t>𝑧</m:t>
                    </m:r>
                  </m:oMath>
                </a14:m>
                <a:r>
                  <a:rPr lang="en-US" sz="2000" dirty="0"/>
                  <a:t>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0" i="1" dirty="0" smtClean="0">
                            <a:latin typeface="Cambria Math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000" b="0" i="1" dirty="0" smtClean="0">
                                <a:latin typeface="Cambria Math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2000" b="0" i="1" dirty="0" smtClean="0">
                                    <a:latin typeface="Cambria Math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sz="2000" b="0" i="1" dirty="0" smtClean="0">
                                        <a:latin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b="0" i="1" dirty="0" smtClean="0">
                                        <a:latin typeface="Cambria Math"/>
                                      </a:rPr>
                                      <m:t>𝑥</m:t>
                                    </m:r>
                                    <m:r>
                                      <a:rPr lang="en-US" sz="2000" b="0" i="1" dirty="0" smtClean="0">
                                        <a:latin typeface="Cambria Math"/>
                                      </a:rPr>
                                      <m:t>+</m:t>
                                    </m:r>
                                    <m:r>
                                      <a:rPr lang="en-US" sz="2000" b="0" i="1" dirty="0" smtClean="0">
                                        <a:latin typeface="Cambria Math"/>
                                      </a:rPr>
                                      <m:t>𝑦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n-US" sz="2000" b="0" i="1" dirty="0" smtClean="0">
                                    <a:latin typeface="Cambria Math"/>
                                  </a:rPr>
                                  <m:t>′</m:t>
                                </m:r>
                              </m:sup>
                            </m:sSup>
                            <m:r>
                              <a:rPr lang="en-US" sz="2000" b="0" i="1" dirty="0" smtClean="0">
                                <a:latin typeface="Cambria Math"/>
                              </a:rPr>
                              <m:t>+</m:t>
                            </m:r>
                            <m:r>
                              <a:rPr lang="en-US" sz="2000" i="1" dirty="0">
                                <a:latin typeface="Cambria Math"/>
                              </a:rPr>
                              <m:t>𝑧</m:t>
                            </m:r>
                          </m:e>
                        </m:d>
                      </m:e>
                      <m:sup>
                        <m:r>
                          <a:rPr lang="en-US" sz="2000" i="1" dirty="0">
                            <a:latin typeface="Cambria Math"/>
                          </a:rPr>
                          <m:t>′</m:t>
                        </m:r>
                      </m:sup>
                    </m:sSup>
                    <m:r>
                      <a:rPr lang="en-US" sz="2000" i="1" dirty="0"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en-US" sz="2000" i="1" dirty="0">
                            <a:latin typeface="Cambria Math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000" i="1" dirty="0">
                                <a:latin typeface="Cambria Math"/>
                              </a:rPr>
                            </m:ctrlPr>
                          </m:dPr>
                          <m:e>
                            <m:d>
                              <m:dPr>
                                <m:ctrlPr>
                                  <a:rPr lang="en-US" sz="2000" b="0" i="1" dirty="0" smtClean="0">
                                    <a:latin typeface="Cambria Math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sz="2000" b="0" i="1" dirty="0" smtClean="0">
                                        <a:latin typeface="Cambria Math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b="0" i="1" dirty="0" smtClean="0">
                                        <a:latin typeface="Cambria Math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sz="2000" b="0" i="1" dirty="0" smtClean="0">
                                        <a:latin typeface="Cambria Math"/>
                                      </a:rPr>
                                      <m:t>′</m:t>
                                    </m:r>
                                  </m:sup>
                                </m:sSup>
                                <m:sSup>
                                  <m:sSupPr>
                                    <m:ctrlPr>
                                      <a:rPr lang="en-US" sz="2000" b="0" i="1" dirty="0" smtClean="0">
                                        <a:latin typeface="Cambria Math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b="0" i="1" dirty="0" smtClean="0">
                                        <a:latin typeface="Cambria Math"/>
                                      </a:rPr>
                                      <m:t>𝑦</m:t>
                                    </m:r>
                                  </m:e>
                                  <m:sup>
                                    <m:r>
                                      <a:rPr lang="en-US" sz="2000" b="0" i="1" dirty="0" smtClean="0">
                                        <a:latin typeface="Cambria Math"/>
                                      </a:rPr>
                                      <m:t>′</m:t>
                                    </m:r>
                                  </m:sup>
                                </m:sSup>
                              </m:e>
                            </m:d>
                            <m:r>
                              <a:rPr lang="en-US" sz="2000" b="0" i="1" dirty="0" smtClean="0">
                                <a:latin typeface="Cambria Math"/>
                              </a:rPr>
                              <m:t>+</m:t>
                            </m:r>
                            <m:r>
                              <a:rPr lang="en-US" sz="2000" i="1" dirty="0">
                                <a:latin typeface="Cambria Math"/>
                              </a:rPr>
                              <m:t>𝑧</m:t>
                            </m:r>
                          </m:e>
                        </m:d>
                      </m:e>
                      <m:sup>
                        <m:r>
                          <a:rPr lang="en-US" sz="2000" i="1" dirty="0">
                            <a:latin typeface="Cambria Math"/>
                          </a:rPr>
                          <m:t>′</m:t>
                        </m:r>
                      </m:sup>
                    </m:sSup>
                    <m:r>
                      <a:rPr lang="en-US" sz="2000" i="1" dirty="0">
                        <a:latin typeface="Cambria Math"/>
                      </a:rPr>
                      <m:t>=</m:t>
                    </m:r>
                    <m:r>
                      <a:rPr lang="en-US" sz="2000" b="0" i="1" dirty="0" smtClean="0">
                        <a:latin typeface="Cambria Math"/>
                      </a:rPr>
                      <m:t>(</m:t>
                    </m:r>
                    <m:r>
                      <a:rPr lang="en-US" sz="2000" i="1" dirty="0" err="1">
                        <a:latin typeface="Cambria Math"/>
                      </a:rPr>
                      <m:t>𝑥</m:t>
                    </m:r>
                    <m:r>
                      <a:rPr lang="en-US" sz="2000" b="0" i="1" dirty="0" smtClean="0">
                        <a:latin typeface="Cambria Math"/>
                      </a:rPr>
                      <m:t>+</m:t>
                    </m:r>
                    <m:r>
                      <a:rPr lang="en-US" sz="2000" i="1" dirty="0" err="1">
                        <a:latin typeface="Cambria Math"/>
                      </a:rPr>
                      <m:t>𝑦</m:t>
                    </m:r>
                    <m:r>
                      <a:rPr lang="en-US" sz="2000" b="0" i="1" dirty="0" smtClean="0">
                        <a:latin typeface="Cambria Math"/>
                      </a:rPr>
                      <m:t>)</m:t>
                    </m:r>
                    <m:r>
                      <a:rPr lang="en-US" sz="2000" i="1" dirty="0" err="1">
                        <a:latin typeface="Cambria Math"/>
                      </a:rPr>
                      <m:t>𝑧</m:t>
                    </m:r>
                    <m:r>
                      <a:rPr lang="en-US" sz="2000" i="1" dirty="0">
                        <a:latin typeface="Cambria Math"/>
                      </a:rPr>
                      <m:t>′</m:t>
                    </m:r>
                  </m:oMath>
                </a14:m>
                <a:endParaRPr lang="en-US" sz="2000" dirty="0"/>
              </a:p>
              <a:p>
                <a:pPr marL="357188" indent="0">
                  <a:lnSpc>
                    <a:spcPct val="130000"/>
                  </a:lnSpc>
                  <a:spcBef>
                    <a:spcPts val="1500"/>
                  </a:spcBef>
                  <a:buNone/>
                </a:pPr>
                <a14:m>
                  <m:oMath xmlns:m="http://schemas.openxmlformats.org/officeDocument/2006/math">
                    <m:r>
                      <a:rPr lang="en-US" sz="2000" i="1" dirty="0">
                        <a:latin typeface="Cambria Math"/>
                      </a:rPr>
                      <m:t>𝑥</m:t>
                    </m:r>
                  </m:oMath>
                </a14:m>
                <a:r>
                  <a:rPr lang="en-US" sz="2000" dirty="0"/>
                  <a:t> </a:t>
                </a:r>
                <a:r>
                  <a:rPr lang="en-US" sz="2000" dirty="0" smtClean="0"/>
                  <a:t>NOR (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/>
                      </a:rPr>
                      <m:t>𝑦</m:t>
                    </m:r>
                  </m:oMath>
                </a14:m>
                <a:r>
                  <a:rPr lang="en-US" sz="2000" dirty="0"/>
                  <a:t> </a:t>
                </a:r>
                <a:r>
                  <a:rPr lang="en-US" sz="2000" dirty="0" smtClean="0"/>
                  <a:t>NOR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/>
                      </a:rPr>
                      <m:t>𝑧</m:t>
                    </m:r>
                  </m:oMath>
                </a14:m>
                <a:r>
                  <a:rPr lang="en-US" sz="2000" dirty="0"/>
                  <a:t>)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0" i="1" dirty="0" smtClean="0">
                            <a:latin typeface="Cambria Math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000" b="0" i="1" dirty="0" smtClean="0"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a:rPr lang="en-US" sz="2000" b="0" i="1" dirty="0" smtClean="0">
                                <a:latin typeface="Cambria Math"/>
                              </a:rPr>
                              <m:t>𝑥</m:t>
                            </m:r>
                            <m:r>
                              <a:rPr lang="en-US" sz="2000" b="0" i="1" dirty="0" smtClean="0">
                                <a:latin typeface="Cambria Math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US" sz="2000" b="0" i="1" dirty="0" smtClean="0">
                                    <a:latin typeface="Cambria Math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sz="2000" b="0" i="1" dirty="0" smtClean="0">
                                        <a:latin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b="0" i="1" dirty="0" smtClean="0">
                                        <a:latin typeface="Cambria Math"/>
                                      </a:rPr>
                                      <m:t>𝑦</m:t>
                                    </m:r>
                                    <m:r>
                                      <a:rPr lang="en-US" sz="2000" b="0" i="1" dirty="0" smtClean="0">
                                        <a:latin typeface="Cambria Math"/>
                                      </a:rPr>
                                      <m:t>+</m:t>
                                    </m:r>
                                    <m:r>
                                      <a:rPr lang="en-US" sz="2000" b="0" i="1" dirty="0" smtClean="0">
                                        <a:latin typeface="Cambria Math"/>
                                      </a:rPr>
                                      <m:t>𝑧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n-US" sz="2000" b="0" i="1" dirty="0" smtClean="0">
                                    <a:latin typeface="Cambria Math"/>
                                  </a:rPr>
                                  <m:t>′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US" sz="2000" b="0" i="1" dirty="0" smtClean="0">
                            <a:latin typeface="Cambria Math"/>
                          </a:rPr>
                          <m:t>′</m:t>
                        </m:r>
                      </m:sup>
                    </m:sSup>
                    <m:r>
                      <a:rPr lang="en-US" sz="2000" b="0" i="1" dirty="0" smtClean="0"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en-US" sz="2000" b="0" i="1" dirty="0" smtClean="0">
                            <a:latin typeface="Cambria Math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000" b="0" i="1" dirty="0" smtClean="0"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a:rPr lang="en-US" sz="2000" b="0" i="1" dirty="0" smtClean="0">
                                <a:latin typeface="Cambria Math"/>
                              </a:rPr>
                              <m:t>𝑥</m:t>
                            </m:r>
                            <m:r>
                              <a:rPr lang="en-US" sz="2000" b="0" i="1" dirty="0" smtClean="0">
                                <a:latin typeface="Cambria Math"/>
                              </a:rPr>
                              <m:t>+</m:t>
                            </m:r>
                            <m:d>
                              <m:dPr>
                                <m:ctrlPr>
                                  <a:rPr lang="en-US" sz="2000" b="0" i="1" dirty="0" smtClean="0">
                                    <a:latin typeface="Cambria Math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sz="2000" b="0" i="1" dirty="0" smtClean="0">
                                        <a:latin typeface="Cambria Math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b="0" i="1" dirty="0" smtClean="0">
                                        <a:latin typeface="Cambria Math"/>
                                      </a:rPr>
                                      <m:t>𝑦</m:t>
                                    </m:r>
                                  </m:e>
                                  <m:sup>
                                    <m:r>
                                      <a:rPr lang="en-US" sz="2000" b="0" i="1" dirty="0" smtClean="0">
                                        <a:latin typeface="Cambria Math"/>
                                      </a:rPr>
                                      <m:t>′</m:t>
                                    </m:r>
                                  </m:sup>
                                </m:sSup>
                                <m:sSup>
                                  <m:sSupPr>
                                    <m:ctrlPr>
                                      <a:rPr lang="en-US" sz="2000" b="0" i="1" dirty="0" smtClean="0">
                                        <a:latin typeface="Cambria Math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b="0" i="1" dirty="0" smtClean="0">
                                        <a:latin typeface="Cambria Math"/>
                                      </a:rPr>
                                      <m:t>𝑧</m:t>
                                    </m:r>
                                  </m:e>
                                  <m:sup>
                                    <m:r>
                                      <a:rPr lang="en-US" sz="2000" b="0" i="1" dirty="0" smtClean="0">
                                        <a:latin typeface="Cambria Math"/>
                                      </a:rPr>
                                      <m:t>′</m:t>
                                    </m:r>
                                  </m:sup>
                                </m:sSup>
                              </m:e>
                            </m:d>
                          </m:e>
                        </m:d>
                      </m:e>
                      <m:sup>
                        <m:r>
                          <a:rPr lang="en-US" sz="2000" b="0" i="1" dirty="0" smtClean="0">
                            <a:latin typeface="Cambria Math"/>
                          </a:rPr>
                          <m:t>′</m:t>
                        </m:r>
                      </m:sup>
                    </m:sSup>
                    <m:r>
                      <a:rPr lang="en-US" sz="2000" b="0" i="1" dirty="0" smtClean="0">
                        <a:latin typeface="Cambria Math"/>
                      </a:rPr>
                      <m:t>=</m:t>
                    </m:r>
                    <m:r>
                      <a:rPr lang="en-US" sz="2000" b="0" i="1" dirty="0" smtClean="0">
                        <a:latin typeface="Cambria Math"/>
                      </a:rPr>
                      <m:t>𝑥</m:t>
                    </m:r>
                    <m:r>
                      <a:rPr lang="en-US" sz="2000" b="0" i="1" dirty="0" smtClean="0">
                        <a:latin typeface="Cambria Math"/>
                      </a:rPr>
                      <m:t>′(</m:t>
                    </m:r>
                    <m:r>
                      <a:rPr lang="en-US" sz="2000" b="0" i="1" dirty="0" smtClean="0">
                        <a:latin typeface="Cambria Math"/>
                      </a:rPr>
                      <m:t>𝑦</m:t>
                    </m:r>
                    <m:r>
                      <a:rPr lang="en-US" sz="2000" b="0" i="1" dirty="0" smtClean="0">
                        <a:latin typeface="Cambria Math"/>
                      </a:rPr>
                      <m:t>+</m:t>
                    </m:r>
                    <m:r>
                      <a:rPr lang="en-US" sz="2000" b="0" i="1" dirty="0" smtClean="0">
                        <a:latin typeface="Cambria Math"/>
                      </a:rPr>
                      <m:t>𝑧</m:t>
                    </m:r>
                    <m:r>
                      <a:rPr lang="en-US" sz="2000" b="0" i="1" dirty="0" smtClean="0">
                        <a:latin typeface="Cambria Math"/>
                      </a:rPr>
                      <m:t>)</m:t>
                    </m:r>
                  </m:oMath>
                </a14:m>
                <a:endParaRPr lang="en-US" sz="2000" dirty="0" smtClean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199" y="951899"/>
                <a:ext cx="8315680" cy="5530272"/>
              </a:xfrm>
              <a:blipFill rotWithShape="1">
                <a:blip r:embed="rId2"/>
                <a:stretch>
                  <a:fillRect l="-5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711901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/>
          <a:lstStyle/>
          <a:p>
            <a:r>
              <a:rPr lang="en-US" dirty="0" smtClean="0"/>
              <a:t>Multiple-Input NAND / NOR Gates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1594" y="951900"/>
            <a:ext cx="8767007" cy="691284"/>
          </a:xfrm>
        </p:spPr>
        <p:txBody>
          <a:bodyPr>
            <a:normAutofit fontScale="70000" lnSpcReduction="2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dirty="0" smtClean="0"/>
              <a:t>NAND/NOR gates can have multiple inputs, similar to AND/OR gates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477472" y="1968947"/>
            <a:ext cx="2520791" cy="1084306"/>
            <a:chOff x="875858" y="2920764"/>
            <a:chExt cx="2730857" cy="1084306"/>
          </a:xfrm>
        </p:grpSpPr>
        <p:cxnSp>
          <p:nvCxnSpPr>
            <p:cNvPr id="5" name="Straight Connector 4"/>
            <p:cNvCxnSpPr/>
            <p:nvPr/>
          </p:nvCxnSpPr>
          <p:spPr>
            <a:xfrm>
              <a:off x="2186417" y="3268316"/>
              <a:ext cx="390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Flowchart: Delay 5"/>
            <p:cNvSpPr/>
            <p:nvPr/>
          </p:nvSpPr>
          <p:spPr>
            <a:xfrm>
              <a:off x="1615625" y="2998316"/>
              <a:ext cx="585000" cy="540000"/>
            </a:xfrm>
            <a:prstGeom prst="flowChartDelay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" name="Straight Connector 6"/>
            <p:cNvCxnSpPr/>
            <p:nvPr/>
          </p:nvCxnSpPr>
          <p:spPr>
            <a:xfrm>
              <a:off x="1225625" y="3117275"/>
              <a:ext cx="390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/>
          </p:nvCxnSpPr>
          <p:spPr>
            <a:xfrm>
              <a:off x="1225625" y="3429000"/>
              <a:ext cx="390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/>
                <p:cNvSpPr txBox="1"/>
                <p:nvPr/>
              </p:nvSpPr>
              <p:spPr>
                <a:xfrm>
                  <a:off x="875858" y="2920764"/>
                  <a:ext cx="39865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/>
                          </a:rPr>
                          <m:t>𝑥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6" name="TextBox 3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5858" y="2920764"/>
                  <a:ext cx="379206" cy="369332"/>
                </a:xfrm>
                <a:prstGeom prst="rect">
                  <a:avLst/>
                </a:prstGeom>
                <a:blipFill rotWithShape="1"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/>
                <p:cNvSpPr txBox="1"/>
                <p:nvPr/>
              </p:nvSpPr>
              <p:spPr>
                <a:xfrm>
                  <a:off x="875858" y="3232489"/>
                  <a:ext cx="40233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latin typeface="Cambria Math"/>
                          </a:rPr>
                          <m:t>𝑦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7" name="TextBox 3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5858" y="3232489"/>
                  <a:ext cx="382605" cy="369332"/>
                </a:xfrm>
                <a:prstGeom prst="rect">
                  <a:avLst/>
                </a:prstGeom>
                <a:blipFill rotWithShape="1">
                  <a:blip r:embed="rId11"/>
                  <a:stretch>
                    <a:fillRect b="-8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/>
                <p:cNvSpPr txBox="1"/>
                <p:nvPr/>
              </p:nvSpPr>
              <p:spPr>
                <a:xfrm>
                  <a:off x="2598591" y="3059668"/>
                  <a:ext cx="100812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b="0" i="1" dirty="0" smtClean="0">
                                <a:latin typeface="Cambria Math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b="0" i="1" dirty="0" smtClean="0">
                                    <a:latin typeface="Cambria Math"/>
                                  </a:rPr>
                                </m:ctrlPr>
                              </m:dPr>
                              <m:e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·</m:t>
                                </m:r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𝑦</m:t>
                                </m:r>
                              </m:e>
                            </m:d>
                          </m:e>
                          <m:sup>
                            <m:r>
                              <a:rPr lang="en-US" b="0" i="1" dirty="0" smtClean="0">
                                <a:latin typeface="Cambria Math"/>
                              </a:rPr>
                              <m:t>′</m:t>
                            </m:r>
                          </m:sup>
                        </m:s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1" name="TextBox 1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98591" y="3059668"/>
                  <a:ext cx="941796" cy="369332"/>
                </a:xfrm>
                <a:prstGeom prst="rect">
                  <a:avLst/>
                </a:prstGeom>
                <a:blipFill rotWithShape="1">
                  <a:blip r:embed="rId12"/>
                  <a:stretch>
                    <a:fillRect b="-8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" name="TextBox 11"/>
            <p:cNvSpPr txBox="1"/>
            <p:nvPr/>
          </p:nvSpPr>
          <p:spPr>
            <a:xfrm>
              <a:off x="1005679" y="3635738"/>
              <a:ext cx="212109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0" i="0" dirty="0" smtClean="0">
                  <a:latin typeface="+mn-lt"/>
                </a:rPr>
                <a:t>2-input NAND gate</a:t>
              </a:r>
              <a:endParaRPr lang="en-US" dirty="0">
                <a:latin typeface="+mn-lt"/>
              </a:endParaRPr>
            </a:p>
          </p:txBody>
        </p:sp>
        <p:sp>
          <p:nvSpPr>
            <p:cNvPr id="13" name="Oval 12"/>
            <p:cNvSpPr/>
            <p:nvPr/>
          </p:nvSpPr>
          <p:spPr>
            <a:xfrm>
              <a:off x="2201116" y="3211824"/>
              <a:ext cx="115214" cy="11521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3" name="Group 42"/>
          <p:cNvGrpSpPr/>
          <p:nvPr/>
        </p:nvGrpSpPr>
        <p:grpSpPr>
          <a:xfrm>
            <a:off x="3029905" y="1830043"/>
            <a:ext cx="2703996" cy="1223210"/>
            <a:chOff x="3628039" y="1792314"/>
            <a:chExt cx="2929329" cy="1223210"/>
          </a:xfrm>
        </p:grpSpPr>
        <p:cxnSp>
          <p:nvCxnSpPr>
            <p:cNvPr id="15" name="Straight Connector 14"/>
            <p:cNvCxnSpPr/>
            <p:nvPr/>
          </p:nvCxnSpPr>
          <p:spPr>
            <a:xfrm>
              <a:off x="3977806" y="2218138"/>
              <a:ext cx="1350792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>
              <a:off x="3977806" y="1988825"/>
              <a:ext cx="390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3977806" y="2449681"/>
              <a:ext cx="390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/>
                <p:cNvSpPr txBox="1"/>
                <p:nvPr/>
              </p:nvSpPr>
              <p:spPr>
                <a:xfrm>
                  <a:off x="3628039" y="1792314"/>
                  <a:ext cx="39865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/>
                          </a:rPr>
                          <m:t>𝑥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9" name="TextBox 1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28039" y="1792314"/>
                  <a:ext cx="379206" cy="369332"/>
                </a:xfrm>
                <a:prstGeom prst="rect">
                  <a:avLst/>
                </a:prstGeom>
                <a:blipFill rotWithShape="1"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/>
                <p:cNvSpPr txBox="1"/>
                <p:nvPr/>
              </p:nvSpPr>
              <p:spPr>
                <a:xfrm>
                  <a:off x="3628039" y="2242943"/>
                  <a:ext cx="38323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latin typeface="Cambria Math"/>
                          </a:rPr>
                          <m:t>𝑧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0" name="TextBox 1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28039" y="2242943"/>
                  <a:ext cx="364972" cy="369332"/>
                </a:xfrm>
                <a:prstGeom prst="rect">
                  <a:avLst/>
                </a:prstGeom>
                <a:blipFill rotWithShape="1"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/>
                <p:cNvSpPr txBox="1"/>
                <p:nvPr/>
              </p:nvSpPr>
              <p:spPr>
                <a:xfrm>
                  <a:off x="5241036" y="2030366"/>
                  <a:ext cx="131633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b="0" i="1" dirty="0" smtClean="0">
                                <a:latin typeface="Cambria Math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b="0" i="1" dirty="0" smtClean="0">
                                    <a:latin typeface="Cambria Math"/>
                                  </a:rPr>
                                </m:ctrlPr>
                              </m:dPr>
                              <m:e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·</m:t>
                                </m:r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𝑦</m:t>
                                </m:r>
                                <m:r>
                                  <a:rPr lang="en-US" i="1" dirty="0">
                                    <a:latin typeface="Cambria Math"/>
                                  </a:rPr>
                                  <m:t>·</m:t>
                                </m:r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𝑧</m:t>
                                </m:r>
                              </m:e>
                            </m:d>
                          </m:e>
                          <m:sup>
                            <m:r>
                              <a:rPr lang="en-US" b="0" i="1" dirty="0" smtClean="0">
                                <a:latin typeface="Cambria Math"/>
                              </a:rPr>
                              <m:t>′</m:t>
                            </m:r>
                          </m:sup>
                        </m:s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1" name="TextBox 2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41035" y="2030366"/>
                  <a:ext cx="1226298" cy="369332"/>
                </a:xfrm>
                <a:prstGeom prst="rect">
                  <a:avLst/>
                </a:prstGeom>
                <a:blipFill rotWithShape="1">
                  <a:blip r:embed="rId15"/>
                  <a:stretch>
                    <a:fillRect b="-655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2" name="TextBox 21"/>
            <p:cNvSpPr txBox="1"/>
            <p:nvPr/>
          </p:nvSpPr>
          <p:spPr>
            <a:xfrm>
              <a:off x="3757860" y="2646192"/>
              <a:ext cx="212109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0" i="0" dirty="0" smtClean="0">
                  <a:latin typeface="+mn-lt"/>
                </a:rPr>
                <a:t>3-input NAND gate</a:t>
              </a:r>
              <a:endParaRPr lang="en-US" dirty="0">
                <a:latin typeface="+mn-lt"/>
              </a:endParaRPr>
            </a:p>
          </p:txBody>
        </p:sp>
        <p:sp>
          <p:nvSpPr>
            <p:cNvPr id="23" name="Oval 22"/>
            <p:cNvSpPr/>
            <p:nvPr/>
          </p:nvSpPr>
          <p:spPr>
            <a:xfrm>
              <a:off x="4953297" y="2161646"/>
              <a:ext cx="115214" cy="11521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/>
                <p:cNvSpPr txBox="1"/>
                <p:nvPr/>
              </p:nvSpPr>
              <p:spPr>
                <a:xfrm>
                  <a:off x="3628039" y="2006676"/>
                  <a:ext cx="40233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latin typeface="Cambria Math"/>
                          </a:rPr>
                          <m:t>𝑦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5" name="TextBox 2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28039" y="2006676"/>
                  <a:ext cx="379206" cy="369332"/>
                </a:xfrm>
                <a:prstGeom prst="rect">
                  <a:avLst/>
                </a:prstGeom>
                <a:blipFill rotWithShape="1">
                  <a:blip r:embed="rId16"/>
                  <a:stretch>
                    <a:fillRect b="-655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6" name="Flowchart: Delay 15"/>
            <p:cNvSpPr/>
            <p:nvPr/>
          </p:nvSpPr>
          <p:spPr>
            <a:xfrm>
              <a:off x="4218716" y="1873611"/>
              <a:ext cx="734090" cy="675159"/>
            </a:xfrm>
            <a:prstGeom prst="flowChartDelay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2" name="Group 41"/>
          <p:cNvGrpSpPr/>
          <p:nvPr/>
        </p:nvGrpSpPr>
        <p:grpSpPr>
          <a:xfrm>
            <a:off x="5795041" y="1758398"/>
            <a:ext cx="3059183" cy="1298457"/>
            <a:chOff x="6612529" y="1720668"/>
            <a:chExt cx="3314115" cy="1298457"/>
          </a:xfrm>
        </p:grpSpPr>
        <p:cxnSp>
          <p:nvCxnSpPr>
            <p:cNvPr id="38" name="Straight Connector 37"/>
            <p:cNvCxnSpPr/>
            <p:nvPr/>
          </p:nvCxnSpPr>
          <p:spPr>
            <a:xfrm>
              <a:off x="6962616" y="2120560"/>
              <a:ext cx="390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/>
            <p:nvPr/>
          </p:nvCxnSpPr>
          <p:spPr>
            <a:xfrm>
              <a:off x="6962936" y="2293924"/>
              <a:ext cx="390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/>
          </p:nvCxnSpPr>
          <p:spPr>
            <a:xfrm>
              <a:off x="7802896" y="2221739"/>
              <a:ext cx="510192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/>
          </p:nvCxnSpPr>
          <p:spPr>
            <a:xfrm>
              <a:off x="6962296" y="1954908"/>
              <a:ext cx="390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6962296" y="2459908"/>
              <a:ext cx="390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/>
                <p:cNvSpPr txBox="1"/>
                <p:nvPr/>
              </p:nvSpPr>
              <p:spPr>
                <a:xfrm>
                  <a:off x="6612529" y="1720668"/>
                  <a:ext cx="44873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/>
                          </a:rPr>
                          <m:t>𝑤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0" name="TextBox 2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12529" y="1720668"/>
                  <a:ext cx="425436" cy="369332"/>
                </a:xfrm>
                <a:prstGeom prst="rect">
                  <a:avLst/>
                </a:prstGeom>
                <a:blipFill rotWithShape="1"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TextBox 30"/>
                <p:cNvSpPr txBox="1"/>
                <p:nvPr/>
              </p:nvSpPr>
              <p:spPr>
                <a:xfrm>
                  <a:off x="6612529" y="2296738"/>
                  <a:ext cx="38323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latin typeface="Cambria Math"/>
                          </a:rPr>
                          <m:t>𝑧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1" name="TextBox 3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12529" y="2296738"/>
                  <a:ext cx="364972" cy="369332"/>
                </a:xfrm>
                <a:prstGeom prst="rect">
                  <a:avLst/>
                </a:prstGeom>
                <a:blipFill rotWithShape="1"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TextBox 31"/>
                <p:cNvSpPr txBox="1"/>
                <p:nvPr/>
              </p:nvSpPr>
              <p:spPr>
                <a:xfrm>
                  <a:off x="8236598" y="2022742"/>
                  <a:ext cx="169004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b="0" i="1" dirty="0" smtClean="0">
                                <a:latin typeface="Cambria Math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b="0" i="1" dirty="0" smtClean="0">
                                    <a:latin typeface="Cambria Math"/>
                                  </a:rPr>
                                </m:ctrlPr>
                              </m:dPr>
                              <m:e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𝑤</m:t>
                                </m:r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·</m:t>
                                </m:r>
                                <m:r>
                                  <a:rPr lang="en-US" i="1" dirty="0"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i="1" dirty="0">
                                    <a:latin typeface="Cambria Math"/>
                                  </a:rPr>
                                  <m:t>·</m:t>
                                </m:r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𝑦</m:t>
                                </m:r>
                                <m:r>
                                  <a:rPr lang="en-US" i="1" dirty="0">
                                    <a:latin typeface="Cambria Math"/>
                                  </a:rPr>
                                  <m:t>·</m:t>
                                </m:r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𝑧</m:t>
                                </m:r>
                              </m:e>
                            </m:d>
                          </m:e>
                          <m:sup>
                            <m:r>
                              <a:rPr lang="en-US" b="0" i="1" dirty="0" smtClean="0">
                                <a:latin typeface="Cambria Math"/>
                              </a:rPr>
                              <m:t>′</m:t>
                            </m:r>
                          </m:sup>
                        </m:s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2" name="TextBox 3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36599" y="2022742"/>
                  <a:ext cx="1571264" cy="369332"/>
                </a:xfrm>
                <a:prstGeom prst="rect">
                  <a:avLst/>
                </a:prstGeom>
                <a:blipFill rotWithShape="1">
                  <a:blip r:embed="rId19"/>
                  <a:stretch>
                    <a:fillRect b="-655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3" name="TextBox 32"/>
            <p:cNvSpPr txBox="1"/>
            <p:nvPr/>
          </p:nvSpPr>
          <p:spPr>
            <a:xfrm>
              <a:off x="6742350" y="2649793"/>
              <a:ext cx="212109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0" i="0" dirty="0" smtClean="0">
                  <a:latin typeface="+mn-lt"/>
                </a:rPr>
                <a:t>4-input NAND gate</a:t>
              </a:r>
              <a:endParaRPr lang="en-US" dirty="0">
                <a:latin typeface="+mn-lt"/>
              </a:endParaRPr>
            </a:p>
          </p:txBody>
        </p:sp>
        <p:sp>
          <p:nvSpPr>
            <p:cNvPr id="34" name="Oval 33"/>
            <p:cNvSpPr/>
            <p:nvPr/>
          </p:nvSpPr>
          <p:spPr>
            <a:xfrm>
              <a:off x="7937787" y="2165247"/>
              <a:ext cx="115214" cy="11521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TextBox 34"/>
                <p:cNvSpPr txBox="1"/>
                <p:nvPr/>
              </p:nvSpPr>
              <p:spPr>
                <a:xfrm>
                  <a:off x="6612529" y="2080349"/>
                  <a:ext cx="40233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latin typeface="Cambria Math"/>
                          </a:rPr>
                          <m:t>𝑦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5" name="TextBox 3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12529" y="2080349"/>
                  <a:ext cx="379206" cy="369332"/>
                </a:xfrm>
                <a:prstGeom prst="rect">
                  <a:avLst/>
                </a:prstGeom>
                <a:blipFill rotWithShape="1">
                  <a:blip r:embed="rId20"/>
                  <a:stretch>
                    <a:fillRect b="-655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6" name="Flowchart: Delay 35"/>
            <p:cNvSpPr/>
            <p:nvPr/>
          </p:nvSpPr>
          <p:spPr>
            <a:xfrm>
              <a:off x="7203206" y="1877212"/>
              <a:ext cx="734090" cy="675159"/>
            </a:xfrm>
            <a:prstGeom prst="flowChartDelay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TextBox 38"/>
                <p:cNvSpPr txBox="1"/>
                <p:nvPr/>
              </p:nvSpPr>
              <p:spPr>
                <a:xfrm>
                  <a:off x="6612529" y="1910797"/>
                  <a:ext cx="39865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/>
                          </a:rPr>
                          <m:t>𝑥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9" name="TextBox 3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12529" y="1910797"/>
                  <a:ext cx="379206" cy="369332"/>
                </a:xfrm>
                <a:prstGeom prst="rect">
                  <a:avLst/>
                </a:prstGeom>
                <a:blipFill rotWithShape="1">
                  <a:blip r:embed="rId2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3" name="Group 82"/>
          <p:cNvGrpSpPr/>
          <p:nvPr/>
        </p:nvGrpSpPr>
        <p:grpSpPr>
          <a:xfrm>
            <a:off x="477472" y="4016295"/>
            <a:ext cx="2515567" cy="1084306"/>
            <a:chOff x="517261" y="4645373"/>
            <a:chExt cx="2725197" cy="1084306"/>
          </a:xfrm>
        </p:grpSpPr>
        <p:cxnSp>
          <p:nvCxnSpPr>
            <p:cNvPr id="45" name="Straight Connector 44"/>
            <p:cNvCxnSpPr/>
            <p:nvPr/>
          </p:nvCxnSpPr>
          <p:spPr>
            <a:xfrm>
              <a:off x="1827820" y="4992925"/>
              <a:ext cx="390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0" name="Group 79"/>
            <p:cNvGrpSpPr/>
            <p:nvPr/>
          </p:nvGrpSpPr>
          <p:grpSpPr>
            <a:xfrm>
              <a:off x="867028" y="4841884"/>
              <a:ext cx="514338" cy="311725"/>
              <a:chOff x="867028" y="4841884"/>
              <a:chExt cx="390000" cy="311725"/>
            </a:xfrm>
          </p:grpSpPr>
          <p:cxnSp>
            <p:nvCxnSpPr>
              <p:cNvPr id="47" name="Straight Connector 46"/>
              <p:cNvCxnSpPr/>
              <p:nvPr/>
            </p:nvCxnSpPr>
            <p:spPr>
              <a:xfrm>
                <a:off x="867028" y="4841884"/>
                <a:ext cx="390000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Connector 47"/>
              <p:cNvCxnSpPr/>
              <p:nvPr/>
            </p:nvCxnSpPr>
            <p:spPr>
              <a:xfrm>
                <a:off x="867028" y="5153609"/>
                <a:ext cx="390000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TextBox 48"/>
                <p:cNvSpPr txBox="1"/>
                <p:nvPr/>
              </p:nvSpPr>
              <p:spPr>
                <a:xfrm>
                  <a:off x="517261" y="4645373"/>
                  <a:ext cx="39865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/>
                          </a:rPr>
                          <m:t>𝑥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9" name="TextBox 4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7261" y="4645373"/>
                  <a:ext cx="379206" cy="369332"/>
                </a:xfrm>
                <a:prstGeom prst="rect">
                  <a:avLst/>
                </a:prstGeom>
                <a:blipFill rotWithShape="1">
                  <a:blip r:embed="rId2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TextBox 49"/>
                <p:cNvSpPr txBox="1"/>
                <p:nvPr/>
              </p:nvSpPr>
              <p:spPr>
                <a:xfrm>
                  <a:off x="517261" y="4957098"/>
                  <a:ext cx="40233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latin typeface="Cambria Math"/>
                          </a:rPr>
                          <m:t>𝑦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0" name="TextBox 4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7261" y="4957098"/>
                  <a:ext cx="382605" cy="369332"/>
                </a:xfrm>
                <a:prstGeom prst="rect">
                  <a:avLst/>
                </a:prstGeom>
                <a:blipFill rotWithShape="1">
                  <a:blip r:embed="rId23"/>
                  <a:stretch>
                    <a:fillRect b="-655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TextBox 50"/>
                <p:cNvSpPr txBox="1"/>
                <p:nvPr/>
              </p:nvSpPr>
              <p:spPr>
                <a:xfrm>
                  <a:off x="2117984" y="4784277"/>
                  <a:ext cx="112447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b="0" i="1" dirty="0" smtClean="0">
                                <a:latin typeface="Cambria Math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b="0" i="1" dirty="0" smtClean="0">
                                    <a:latin typeface="Cambria Math"/>
                                  </a:rPr>
                                </m:ctrlPr>
                              </m:dPr>
                              <m:e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+</m:t>
                                </m:r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𝑦</m:t>
                                </m:r>
                              </m:e>
                            </m:d>
                          </m:e>
                          <m:sup>
                            <m:r>
                              <a:rPr lang="en-US" b="0" i="1" dirty="0" smtClean="0">
                                <a:latin typeface="Cambria Math"/>
                              </a:rPr>
                              <m:t>′</m:t>
                            </m:r>
                          </m:sup>
                        </m:s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1" name="TextBox 5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17985" y="4784277"/>
                  <a:ext cx="1049198" cy="369332"/>
                </a:xfrm>
                <a:prstGeom prst="rect">
                  <a:avLst/>
                </a:prstGeom>
                <a:blipFill rotWithShape="1">
                  <a:blip r:embed="rId24"/>
                  <a:stretch>
                    <a:fillRect b="-8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2" name="TextBox 51"/>
            <p:cNvSpPr txBox="1"/>
            <p:nvPr/>
          </p:nvSpPr>
          <p:spPr>
            <a:xfrm>
              <a:off x="647082" y="5360347"/>
              <a:ext cx="198002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0" i="0" dirty="0" smtClean="0">
                  <a:latin typeface="+mn-lt"/>
                </a:rPr>
                <a:t>2-input NOR gate</a:t>
              </a:r>
              <a:endParaRPr lang="en-US" dirty="0">
                <a:latin typeface="+mn-lt"/>
              </a:endParaRPr>
            </a:p>
          </p:txBody>
        </p:sp>
        <p:sp>
          <p:nvSpPr>
            <p:cNvPr id="53" name="Oval 52"/>
            <p:cNvSpPr/>
            <p:nvPr/>
          </p:nvSpPr>
          <p:spPr>
            <a:xfrm>
              <a:off x="1842519" y="4936433"/>
              <a:ext cx="115214" cy="11521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" name="Moon 78"/>
            <p:cNvSpPr/>
            <p:nvPr/>
          </p:nvSpPr>
          <p:spPr>
            <a:xfrm flipH="1">
              <a:off x="1242820" y="4726469"/>
              <a:ext cx="585000" cy="540000"/>
            </a:xfrm>
            <a:prstGeom prst="moon">
              <a:avLst>
                <a:gd name="adj" fmla="val 86833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7" name="Group 86"/>
          <p:cNvGrpSpPr/>
          <p:nvPr/>
        </p:nvGrpSpPr>
        <p:grpSpPr>
          <a:xfrm>
            <a:off x="3029905" y="3877391"/>
            <a:ext cx="2864769" cy="1223210"/>
            <a:chOff x="3282397" y="4506469"/>
            <a:chExt cx="3103500" cy="1223210"/>
          </a:xfrm>
        </p:grpSpPr>
        <p:cxnSp>
          <p:nvCxnSpPr>
            <p:cNvPr id="55" name="Straight Connector 54"/>
            <p:cNvCxnSpPr/>
            <p:nvPr/>
          </p:nvCxnSpPr>
          <p:spPr>
            <a:xfrm flipV="1">
              <a:off x="3632164" y="4929187"/>
              <a:ext cx="1263229" cy="3106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/>
            <p:cNvCxnSpPr/>
            <p:nvPr/>
          </p:nvCxnSpPr>
          <p:spPr>
            <a:xfrm>
              <a:off x="3632164" y="4702980"/>
              <a:ext cx="390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/>
            <p:cNvCxnSpPr/>
            <p:nvPr/>
          </p:nvCxnSpPr>
          <p:spPr>
            <a:xfrm>
              <a:off x="3632164" y="5163836"/>
              <a:ext cx="390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TextBox 57"/>
                <p:cNvSpPr txBox="1"/>
                <p:nvPr/>
              </p:nvSpPr>
              <p:spPr>
                <a:xfrm>
                  <a:off x="3282397" y="4506469"/>
                  <a:ext cx="39865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/>
                          </a:rPr>
                          <m:t>𝑥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8" name="TextBox 5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82397" y="4506469"/>
                  <a:ext cx="379206" cy="369332"/>
                </a:xfrm>
                <a:prstGeom prst="rect">
                  <a:avLst/>
                </a:prstGeom>
                <a:blipFill rotWithShape="1">
                  <a:blip r:embed="rId2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TextBox 58"/>
                <p:cNvSpPr txBox="1"/>
                <p:nvPr/>
              </p:nvSpPr>
              <p:spPr>
                <a:xfrm>
                  <a:off x="3282397" y="4957098"/>
                  <a:ext cx="38323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latin typeface="Cambria Math"/>
                          </a:rPr>
                          <m:t>𝑧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9" name="TextBox 5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82397" y="4957098"/>
                  <a:ext cx="364972" cy="369332"/>
                </a:xfrm>
                <a:prstGeom prst="rect">
                  <a:avLst/>
                </a:prstGeom>
                <a:blipFill rotWithShape="1">
                  <a:blip r:embed="rId2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TextBox 59"/>
                <p:cNvSpPr txBox="1"/>
                <p:nvPr/>
              </p:nvSpPr>
              <p:spPr>
                <a:xfrm>
                  <a:off x="4836861" y="4744521"/>
                  <a:ext cx="154903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b="0" i="1" dirty="0" smtClean="0">
                                <a:latin typeface="Cambria Math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b="0" i="1" dirty="0" smtClean="0">
                                    <a:latin typeface="Cambria Math"/>
                                  </a:rPr>
                                </m:ctrlPr>
                              </m:dPr>
                              <m:e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+</m:t>
                                </m:r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𝑦</m:t>
                                </m:r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+</m:t>
                                </m:r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𝑧</m:t>
                                </m:r>
                              </m:e>
                            </m:d>
                          </m:e>
                          <m:sup>
                            <m:r>
                              <a:rPr lang="en-US" b="0" i="1" dirty="0" smtClean="0">
                                <a:latin typeface="Cambria Math"/>
                              </a:rPr>
                              <m:t>′</m:t>
                            </m:r>
                          </m:sup>
                        </m:s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0" name="TextBox 5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36861" y="4744521"/>
                  <a:ext cx="1441100" cy="369332"/>
                </a:xfrm>
                <a:prstGeom prst="rect">
                  <a:avLst/>
                </a:prstGeom>
                <a:blipFill rotWithShape="1">
                  <a:blip r:embed="rId27"/>
                  <a:stretch>
                    <a:fillRect b="-655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1" name="TextBox 60"/>
            <p:cNvSpPr txBox="1"/>
            <p:nvPr/>
          </p:nvSpPr>
          <p:spPr>
            <a:xfrm>
              <a:off x="3412218" y="5360347"/>
              <a:ext cx="198002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0" i="0" dirty="0" smtClean="0">
                  <a:latin typeface="+mn-lt"/>
                </a:rPr>
                <a:t>3-input NOR gate</a:t>
              </a:r>
              <a:endParaRPr lang="en-US" dirty="0">
                <a:latin typeface="+mn-lt"/>
              </a:endParaRPr>
            </a:p>
          </p:txBody>
        </p:sp>
        <p:sp>
          <p:nvSpPr>
            <p:cNvPr id="62" name="Oval 61"/>
            <p:cNvSpPr/>
            <p:nvPr/>
          </p:nvSpPr>
          <p:spPr>
            <a:xfrm>
              <a:off x="4607655" y="4875801"/>
              <a:ext cx="115214" cy="11521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" name="TextBox 62"/>
                <p:cNvSpPr txBox="1"/>
                <p:nvPr/>
              </p:nvSpPr>
              <p:spPr>
                <a:xfrm>
                  <a:off x="3282397" y="4720831"/>
                  <a:ext cx="40233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latin typeface="Cambria Math"/>
                          </a:rPr>
                          <m:t>𝑦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3" name="TextBox 6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82397" y="4720831"/>
                  <a:ext cx="379206" cy="369332"/>
                </a:xfrm>
                <a:prstGeom prst="rect">
                  <a:avLst/>
                </a:prstGeom>
                <a:blipFill rotWithShape="1">
                  <a:blip r:embed="rId28"/>
                  <a:stretch>
                    <a:fillRect b="-655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2" name="Moon 81"/>
            <p:cNvSpPr/>
            <p:nvPr/>
          </p:nvSpPr>
          <p:spPr>
            <a:xfrm flipH="1">
              <a:off x="3842098" y="4587766"/>
              <a:ext cx="765063" cy="675159"/>
            </a:xfrm>
            <a:prstGeom prst="moon">
              <a:avLst>
                <a:gd name="adj" fmla="val 86833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0" name="Group 89"/>
          <p:cNvGrpSpPr/>
          <p:nvPr/>
        </p:nvGrpSpPr>
        <p:grpSpPr>
          <a:xfrm>
            <a:off x="5795040" y="3805746"/>
            <a:ext cx="3317991" cy="1298457"/>
            <a:chOff x="6277961" y="4434823"/>
            <a:chExt cx="3594491" cy="1298457"/>
          </a:xfrm>
        </p:grpSpPr>
        <p:cxnSp>
          <p:nvCxnSpPr>
            <p:cNvPr id="66" name="Straight Connector 65"/>
            <p:cNvCxnSpPr/>
            <p:nvPr/>
          </p:nvCxnSpPr>
          <p:spPr>
            <a:xfrm>
              <a:off x="6628048" y="4834715"/>
              <a:ext cx="390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/>
            <p:cNvCxnSpPr/>
            <p:nvPr/>
          </p:nvCxnSpPr>
          <p:spPr>
            <a:xfrm>
              <a:off x="6628368" y="5008079"/>
              <a:ext cx="390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/>
            <p:cNvCxnSpPr/>
            <p:nvPr/>
          </p:nvCxnSpPr>
          <p:spPr>
            <a:xfrm>
              <a:off x="7468328" y="4935894"/>
              <a:ext cx="433703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/>
            <p:cNvCxnSpPr/>
            <p:nvPr/>
          </p:nvCxnSpPr>
          <p:spPr>
            <a:xfrm>
              <a:off x="6627728" y="4669063"/>
              <a:ext cx="390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/>
            <p:cNvCxnSpPr/>
            <p:nvPr/>
          </p:nvCxnSpPr>
          <p:spPr>
            <a:xfrm>
              <a:off x="6627728" y="5174063"/>
              <a:ext cx="390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1" name="TextBox 70"/>
                <p:cNvSpPr txBox="1"/>
                <p:nvPr/>
              </p:nvSpPr>
              <p:spPr>
                <a:xfrm>
                  <a:off x="6277961" y="4434823"/>
                  <a:ext cx="44873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/>
                          </a:rPr>
                          <m:t>𝑤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1" name="TextBox 7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77961" y="4434823"/>
                  <a:ext cx="425436" cy="369332"/>
                </a:xfrm>
                <a:prstGeom prst="rect">
                  <a:avLst/>
                </a:prstGeom>
                <a:blipFill rotWithShape="1">
                  <a:blip r:embed="rId2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2" name="TextBox 71"/>
                <p:cNvSpPr txBox="1"/>
                <p:nvPr/>
              </p:nvSpPr>
              <p:spPr>
                <a:xfrm>
                  <a:off x="6277961" y="5010893"/>
                  <a:ext cx="38323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latin typeface="Cambria Math"/>
                          </a:rPr>
                          <m:t>𝑧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2" name="TextBox 7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77961" y="5010893"/>
                  <a:ext cx="364972" cy="369332"/>
                </a:xfrm>
                <a:prstGeom prst="rect">
                  <a:avLst/>
                </a:prstGeom>
                <a:blipFill rotWithShape="1">
                  <a:blip r:embed="rId3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3" name="TextBox 72"/>
                <p:cNvSpPr txBox="1"/>
                <p:nvPr/>
              </p:nvSpPr>
              <p:spPr>
                <a:xfrm>
                  <a:off x="7833351" y="4736897"/>
                  <a:ext cx="203910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b="0" i="1" dirty="0" smtClean="0">
                                <a:latin typeface="Cambria Math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b="0" i="1" dirty="0" smtClean="0">
                                    <a:latin typeface="Cambria Math"/>
                                  </a:rPr>
                                </m:ctrlPr>
                              </m:dPr>
                              <m:e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𝑤</m:t>
                                </m:r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+</m:t>
                                </m:r>
                                <m:r>
                                  <a:rPr lang="en-US" i="1" dirty="0"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+</m:t>
                                </m:r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𝑦</m:t>
                                </m:r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+</m:t>
                                </m:r>
                                <m:r>
                                  <a:rPr lang="en-US" b="0" i="1" dirty="0" smtClean="0">
                                    <a:latin typeface="Cambria Math"/>
                                  </a:rPr>
                                  <m:t>𝑧</m:t>
                                </m:r>
                              </m:e>
                            </m:d>
                          </m:e>
                          <m:sup>
                            <m:r>
                              <a:rPr lang="en-US" b="0" i="1" dirty="0" smtClean="0">
                                <a:latin typeface="Cambria Math"/>
                              </a:rPr>
                              <m:t>′</m:t>
                            </m:r>
                          </m:sup>
                        </m:s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3" name="TextBox 7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33350" y="4736897"/>
                  <a:ext cx="1893467" cy="369332"/>
                </a:xfrm>
                <a:prstGeom prst="rect">
                  <a:avLst/>
                </a:prstGeom>
                <a:blipFill rotWithShape="1">
                  <a:blip r:embed="rId31"/>
                  <a:stretch>
                    <a:fillRect b="-8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4" name="TextBox 73"/>
            <p:cNvSpPr txBox="1"/>
            <p:nvPr/>
          </p:nvSpPr>
          <p:spPr>
            <a:xfrm>
              <a:off x="6407782" y="5363948"/>
              <a:ext cx="198002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0" i="0" dirty="0" smtClean="0">
                  <a:latin typeface="+mn-lt"/>
                </a:rPr>
                <a:t>4-input NOR gate</a:t>
              </a:r>
              <a:endParaRPr lang="en-US" dirty="0">
                <a:latin typeface="+mn-lt"/>
              </a:endParaRPr>
            </a:p>
          </p:txBody>
        </p:sp>
        <p:sp>
          <p:nvSpPr>
            <p:cNvPr id="75" name="Oval 74"/>
            <p:cNvSpPr/>
            <p:nvPr/>
          </p:nvSpPr>
          <p:spPr>
            <a:xfrm>
              <a:off x="7603219" y="4879402"/>
              <a:ext cx="115214" cy="11521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6" name="TextBox 75"/>
                <p:cNvSpPr txBox="1"/>
                <p:nvPr/>
              </p:nvSpPr>
              <p:spPr>
                <a:xfrm>
                  <a:off x="6277961" y="4794504"/>
                  <a:ext cx="40233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latin typeface="Cambria Math"/>
                          </a:rPr>
                          <m:t>𝑦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6" name="TextBox 7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77961" y="4794504"/>
                  <a:ext cx="379206" cy="369332"/>
                </a:xfrm>
                <a:prstGeom prst="rect">
                  <a:avLst/>
                </a:prstGeom>
                <a:blipFill rotWithShape="1">
                  <a:blip r:embed="rId32"/>
                  <a:stretch>
                    <a:fillRect b="-655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8" name="TextBox 77"/>
                <p:cNvSpPr txBox="1"/>
                <p:nvPr/>
              </p:nvSpPr>
              <p:spPr>
                <a:xfrm>
                  <a:off x="6277961" y="4624952"/>
                  <a:ext cx="39865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/>
                          </a:rPr>
                          <m:t>𝑥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8" name="TextBox 7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77961" y="4624952"/>
                  <a:ext cx="379206" cy="369332"/>
                </a:xfrm>
                <a:prstGeom prst="rect">
                  <a:avLst/>
                </a:prstGeom>
                <a:blipFill rotWithShape="1">
                  <a:blip r:embed="rId3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6" name="Moon 85"/>
            <p:cNvSpPr/>
            <p:nvPr/>
          </p:nvSpPr>
          <p:spPr>
            <a:xfrm flipH="1">
              <a:off x="6838156" y="4590639"/>
              <a:ext cx="765063" cy="675159"/>
            </a:xfrm>
            <a:prstGeom prst="moon">
              <a:avLst>
                <a:gd name="adj" fmla="val 86833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2" name="Content Placeholder 2"/>
          <p:cNvSpPr txBox="1">
            <a:spLocks/>
          </p:cNvSpPr>
          <p:nvPr/>
        </p:nvSpPr>
        <p:spPr bwMode="auto">
          <a:xfrm>
            <a:off x="349090" y="5445246"/>
            <a:ext cx="8476966" cy="921711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marL="347663" indent="-347663" algn="l" rtl="0" fontAlgn="base">
              <a:spcBef>
                <a:spcPct val="40000"/>
              </a:spcBef>
              <a:spcAft>
                <a:spcPct val="0"/>
              </a:spcAft>
              <a:buFont typeface="Wingdings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98513" indent="-336550" algn="l" rtl="0" fontAlgn="base">
              <a:spcBef>
                <a:spcPct val="40000"/>
              </a:spcBef>
              <a:spcAft>
                <a:spcPct val="0"/>
              </a:spcAft>
              <a:buFont typeface="Wingdings" pitchFamily="2" charset="2"/>
              <a:buChar char="²"/>
              <a:defRPr sz="2000">
                <a:solidFill>
                  <a:schemeClr val="tx1"/>
                </a:solidFill>
                <a:latin typeface="+mn-lt"/>
                <a:cs typeface="+mn-cs"/>
              </a:defRPr>
            </a:lvl2pPr>
            <a:lvl3pPr marL="1144588" indent="-231775" algn="l" rtl="0" fontAlgn="base">
              <a:spcBef>
                <a:spcPct val="40000"/>
              </a:spcBef>
              <a:spcAft>
                <a:spcPct val="0"/>
              </a:spcAft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  <a:cs typeface="+mn-cs"/>
              </a:defRPr>
            </a:lvl3pPr>
            <a:lvl4pPr marL="1481138" indent="-222250" algn="l" rtl="0" fontAlgn="base">
              <a:spcBef>
                <a:spcPct val="40000"/>
              </a:spcBef>
              <a:spcAft>
                <a:spcPct val="0"/>
              </a:spcAft>
              <a:buChar char="–"/>
              <a:defRPr sz="1600">
                <a:solidFill>
                  <a:schemeClr val="tx1"/>
                </a:solidFill>
                <a:latin typeface="+mn-lt"/>
                <a:cs typeface="+mn-cs"/>
              </a:defRPr>
            </a:lvl4pPr>
            <a:lvl5pPr marL="1828800" indent="-233363" algn="l" rtl="0" fontAlgn="base">
              <a:spcBef>
                <a:spcPct val="4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  <a:cs typeface="+mn-cs"/>
              </a:defRPr>
            </a:lvl5pPr>
            <a:lvl6pPr marL="2286000" indent="-233363" algn="l" rtl="0" fontAlgn="base">
              <a:spcBef>
                <a:spcPct val="4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  <a:cs typeface="+mn-cs"/>
              </a:defRPr>
            </a:lvl6pPr>
            <a:lvl7pPr marL="2743200" indent="-233363" algn="l" rtl="0" fontAlgn="base">
              <a:spcBef>
                <a:spcPct val="4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  <a:cs typeface="+mn-cs"/>
              </a:defRPr>
            </a:lvl7pPr>
            <a:lvl8pPr marL="3200400" indent="-233363" algn="l" rtl="0" fontAlgn="base">
              <a:spcBef>
                <a:spcPct val="4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  <a:cs typeface="+mn-cs"/>
              </a:defRPr>
            </a:lvl8pPr>
            <a:lvl9pPr marL="3657600" indent="-233363" algn="l" rtl="0" fontAlgn="base">
              <a:spcBef>
                <a:spcPct val="4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2000" kern="0" dirty="0" smtClean="0"/>
              <a:t>Note: a 3-input NAND is a single gate, NOT a combination of two 2-input gates. The same can be said about other multiple-input NAND/NOR gates.</a:t>
            </a:r>
          </a:p>
        </p:txBody>
      </p:sp>
    </p:spTree>
    <p:extLst>
      <p:ext uri="{BB962C8B-B14F-4D97-AF65-F5344CB8AC3E}">
        <p14:creationId xmlns:p14="http://schemas.microsoft.com/office/powerpoint/2010/main" val="18766206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/>
          <a:lstStyle/>
          <a:p>
            <a:r>
              <a:rPr lang="en-US" dirty="0" smtClean="0"/>
              <a:t>NAND – NAND Implementation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1" y="836685"/>
                <a:ext cx="8234570" cy="2419494"/>
              </a:xfrm>
            </p:spPr>
            <p:txBody>
              <a:bodyPr>
                <a:noAutofit/>
              </a:bodyPr>
              <a:lstStyle/>
              <a:p>
                <a:pPr>
                  <a:lnSpc>
                    <a:spcPct val="150000"/>
                  </a:lnSpc>
                  <a:spcBef>
                    <a:spcPts val="1200"/>
                  </a:spcBef>
                </a:pPr>
                <a:r>
                  <a:rPr lang="en-US" sz="2400" dirty="0" smtClean="0"/>
                  <a:t>Consider the following sum-of-products expression:</a:t>
                </a:r>
              </a:p>
              <a:p>
                <a:pPr marL="357188" indent="0">
                  <a:lnSpc>
                    <a:spcPct val="150000"/>
                  </a:lnSpc>
                  <a:spcBef>
                    <a:spcPts val="12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/>
                        </a:rPr>
                        <m:t>𝑓</m:t>
                      </m:r>
                      <m:r>
                        <a:rPr lang="en-US" sz="2400" i="1" dirty="0" smtClean="0">
                          <a:latin typeface="Cambria Math"/>
                        </a:rPr>
                        <m:t>=</m:t>
                      </m:r>
                      <m:r>
                        <a:rPr lang="en-US" sz="2400" i="1" dirty="0" err="1" smtClean="0">
                          <a:latin typeface="Cambria Math"/>
                        </a:rPr>
                        <m:t>𝑏𝑑</m:t>
                      </m:r>
                      <m:r>
                        <a:rPr lang="en-US" sz="2400" i="1" dirty="0" err="1" smtClean="0">
                          <a:latin typeface="Cambria Math"/>
                        </a:rPr>
                        <m:t>+</m:t>
                      </m:r>
                      <m:r>
                        <a:rPr lang="en-US" sz="2400" i="1" dirty="0" err="1" smtClean="0">
                          <a:latin typeface="Cambria Math"/>
                        </a:rPr>
                        <m:t>𝑎</m:t>
                      </m:r>
                      <m:r>
                        <a:rPr lang="en-US" sz="2400" i="1" dirty="0" err="1" smtClean="0">
                          <a:latin typeface="Cambria Math"/>
                        </a:rPr>
                        <m:t>′</m:t>
                      </m:r>
                      <m:r>
                        <a:rPr lang="en-US" sz="2400" i="1" dirty="0" err="1" smtClean="0">
                          <a:latin typeface="Cambria Math"/>
                        </a:rPr>
                        <m:t>𝑐𝑑</m:t>
                      </m:r>
                      <m:r>
                        <a:rPr lang="en-US" sz="2400" i="1" dirty="0" smtClean="0">
                          <a:latin typeface="Cambria Math"/>
                        </a:rPr>
                        <m:t>′</m:t>
                      </m:r>
                    </m:oMath>
                  </m:oMathPara>
                </a14:m>
                <a:endParaRPr lang="en-US" sz="2400" dirty="0" smtClean="0"/>
              </a:p>
              <a:p>
                <a:pPr>
                  <a:lnSpc>
                    <a:spcPct val="150000"/>
                  </a:lnSpc>
                  <a:spcBef>
                    <a:spcPts val="1200"/>
                  </a:spcBef>
                </a:pPr>
                <a:r>
                  <a:rPr lang="en-US" sz="2400" dirty="0" smtClean="0"/>
                  <a:t>A 2-level </a:t>
                </a:r>
                <a:r>
                  <a:rPr lang="en-US" sz="2400" b="1" dirty="0" smtClean="0">
                    <a:solidFill>
                      <a:srgbClr val="FF0000"/>
                    </a:solidFill>
                  </a:rPr>
                  <a:t>AND-OR</a:t>
                </a:r>
                <a:r>
                  <a:rPr lang="en-US" sz="2400" dirty="0" smtClean="0"/>
                  <a:t> circuit can be converted easily to a 2-level </a:t>
                </a:r>
                <a:r>
                  <a:rPr lang="en-US" sz="2400" b="1" dirty="0" smtClean="0">
                    <a:solidFill>
                      <a:srgbClr val="FF0000"/>
                    </a:solidFill>
                  </a:rPr>
                  <a:t>NAND-NAND implementation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1" y="836685"/>
                <a:ext cx="8234570" cy="2419494"/>
              </a:xfrm>
              <a:blipFill rotWithShape="1">
                <a:blip r:embed="rId2"/>
                <a:stretch>
                  <a:fillRect l="-962" b="-42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8" name="Group 27"/>
          <p:cNvGrpSpPr/>
          <p:nvPr/>
        </p:nvGrpSpPr>
        <p:grpSpPr>
          <a:xfrm>
            <a:off x="371121" y="3489747"/>
            <a:ext cx="2652039" cy="2070713"/>
            <a:chOff x="747689" y="2740855"/>
            <a:chExt cx="2873043" cy="2070713"/>
          </a:xfrm>
        </p:grpSpPr>
        <p:sp>
          <p:nvSpPr>
            <p:cNvPr id="5" name="Freeform 4"/>
            <p:cNvSpPr/>
            <p:nvPr/>
          </p:nvSpPr>
          <p:spPr>
            <a:xfrm flipV="1">
              <a:off x="1908490" y="3523207"/>
              <a:ext cx="596347" cy="251435"/>
            </a:xfrm>
            <a:custGeom>
              <a:avLst/>
              <a:gdLst>
                <a:gd name="connsiteX0" fmla="*/ 0 w 596347"/>
                <a:gd name="connsiteY0" fmla="*/ 344557 h 344557"/>
                <a:gd name="connsiteX1" fmla="*/ 238539 w 596347"/>
                <a:gd name="connsiteY1" fmla="*/ 344557 h 344557"/>
                <a:gd name="connsiteX2" fmla="*/ 238539 w 596347"/>
                <a:gd name="connsiteY2" fmla="*/ 0 h 344557"/>
                <a:gd name="connsiteX3" fmla="*/ 596347 w 596347"/>
                <a:gd name="connsiteY3" fmla="*/ 0 h 3445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6347" h="344557">
                  <a:moveTo>
                    <a:pt x="0" y="344557"/>
                  </a:moveTo>
                  <a:lnTo>
                    <a:pt x="238539" y="344557"/>
                  </a:lnTo>
                  <a:lnTo>
                    <a:pt x="238539" y="0"/>
                  </a:lnTo>
                  <a:lnTo>
                    <a:pt x="596347" y="0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Freeform 5"/>
            <p:cNvSpPr/>
            <p:nvPr/>
          </p:nvSpPr>
          <p:spPr>
            <a:xfrm>
              <a:off x="1908491" y="4079885"/>
              <a:ext cx="596347" cy="326560"/>
            </a:xfrm>
            <a:custGeom>
              <a:avLst/>
              <a:gdLst>
                <a:gd name="connsiteX0" fmla="*/ 0 w 596347"/>
                <a:gd name="connsiteY0" fmla="*/ 344557 h 344557"/>
                <a:gd name="connsiteX1" fmla="*/ 238539 w 596347"/>
                <a:gd name="connsiteY1" fmla="*/ 344557 h 344557"/>
                <a:gd name="connsiteX2" fmla="*/ 238539 w 596347"/>
                <a:gd name="connsiteY2" fmla="*/ 0 h 344557"/>
                <a:gd name="connsiteX3" fmla="*/ 596347 w 596347"/>
                <a:gd name="connsiteY3" fmla="*/ 0 h 3445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6347" h="344557">
                  <a:moveTo>
                    <a:pt x="0" y="344557"/>
                  </a:moveTo>
                  <a:lnTo>
                    <a:pt x="238539" y="344557"/>
                  </a:lnTo>
                  <a:lnTo>
                    <a:pt x="238539" y="0"/>
                  </a:lnTo>
                  <a:lnTo>
                    <a:pt x="596347" y="0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7" name="Group 6"/>
            <p:cNvGrpSpPr/>
            <p:nvPr/>
          </p:nvGrpSpPr>
          <p:grpSpPr>
            <a:xfrm>
              <a:off x="747689" y="3192476"/>
              <a:ext cx="1161401" cy="657367"/>
              <a:chOff x="2902064" y="1061017"/>
              <a:chExt cx="1161401" cy="657367"/>
            </a:xfrm>
          </p:grpSpPr>
          <p:sp>
            <p:nvSpPr>
              <p:cNvPr id="18" name="Flowchart: Delay 17"/>
              <p:cNvSpPr/>
              <p:nvPr/>
            </p:nvSpPr>
            <p:spPr>
              <a:xfrm>
                <a:off x="3478465" y="1138569"/>
                <a:ext cx="585000" cy="540000"/>
              </a:xfrm>
              <a:prstGeom prst="flowChartDelay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9" name="Group 18"/>
              <p:cNvGrpSpPr/>
              <p:nvPr/>
            </p:nvGrpSpPr>
            <p:grpSpPr>
              <a:xfrm>
                <a:off x="3272277" y="1257528"/>
                <a:ext cx="206188" cy="288035"/>
                <a:chOff x="2791306" y="1257528"/>
                <a:chExt cx="687159" cy="288035"/>
              </a:xfrm>
            </p:grpSpPr>
            <p:cxnSp>
              <p:nvCxnSpPr>
                <p:cNvPr id="22" name="Straight Connector 21"/>
                <p:cNvCxnSpPr/>
                <p:nvPr/>
              </p:nvCxnSpPr>
              <p:spPr>
                <a:xfrm>
                  <a:off x="2791306" y="1257528"/>
                  <a:ext cx="687159" cy="0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Straight Connector 22"/>
                <p:cNvCxnSpPr/>
                <p:nvPr/>
              </p:nvCxnSpPr>
              <p:spPr>
                <a:xfrm>
                  <a:off x="2791306" y="1545563"/>
                  <a:ext cx="687159" cy="0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0" name="TextBox 19"/>
                  <p:cNvSpPr txBox="1"/>
                  <p:nvPr/>
                </p:nvSpPr>
                <p:spPr>
                  <a:xfrm>
                    <a:off x="2902064" y="1061017"/>
                    <a:ext cx="398304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dirty="0" smtClean="0">
                              <a:latin typeface="Cambria Math"/>
                            </a:rPr>
                            <m:t>𝑏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0" name="TextBox 19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02064" y="1061017"/>
                    <a:ext cx="379206" cy="369332"/>
                  </a:xfrm>
                  <a:prstGeom prst="rect">
                    <a:avLst/>
                  </a:prstGeom>
                  <a:blipFill rotWithShape="1">
                    <a:blip r:embed="rId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" name="TextBox 20"/>
                  <p:cNvSpPr txBox="1"/>
                  <p:nvPr/>
                </p:nvSpPr>
                <p:spPr>
                  <a:xfrm>
                    <a:off x="2902064" y="1349052"/>
                    <a:ext cx="409418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dirty="0" smtClean="0">
                              <a:latin typeface="Cambria Math"/>
                            </a:rPr>
                            <m:t>𝑑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1" name="TextBox 20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02064" y="1349052"/>
                    <a:ext cx="389144" cy="369332"/>
                  </a:xfrm>
                  <a:prstGeom prst="rect">
                    <a:avLst/>
                  </a:prstGeom>
                  <a:blipFill rotWithShape="1"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8" name="Straight Connector 7"/>
            <p:cNvCxnSpPr/>
            <p:nvPr/>
          </p:nvCxnSpPr>
          <p:spPr>
            <a:xfrm>
              <a:off x="2888409" y="3919201"/>
              <a:ext cx="345642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/>
                <p:cNvSpPr txBox="1"/>
                <p:nvPr/>
              </p:nvSpPr>
              <p:spPr>
                <a:xfrm>
                  <a:off x="3176444" y="3690531"/>
                  <a:ext cx="444288" cy="45313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i="1" dirty="0" smtClean="0">
                            <a:latin typeface="Cambria Math"/>
                          </a:rPr>
                          <m:t>𝑓</m:t>
                        </m:r>
                      </m:oMath>
                    </m:oMathPara>
                  </a14:m>
                  <a:endParaRPr lang="en-US" sz="2400" baseline="-25000" dirty="0"/>
                </a:p>
              </p:txBody>
            </p:sp>
          </mc:Choice>
          <mc:Fallback xmlns="">
            <p:sp>
              <p:nvSpPr>
                <p:cNvPr id="9" name="TextBox 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76444" y="3690531"/>
                  <a:ext cx="421334" cy="453137"/>
                </a:xfrm>
                <a:prstGeom prst="rect">
                  <a:avLst/>
                </a:prstGeom>
                <a:blipFill rotWithShape="1">
                  <a:blip r:embed="rId5"/>
                  <a:stretch>
                    <a:fillRect l="-4348" r="-2899" b="-2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" name="Moon 9"/>
            <p:cNvSpPr/>
            <p:nvPr/>
          </p:nvSpPr>
          <p:spPr>
            <a:xfrm flipH="1">
              <a:off x="2427553" y="3659428"/>
              <a:ext cx="585000" cy="540000"/>
            </a:xfrm>
            <a:prstGeom prst="moon">
              <a:avLst>
                <a:gd name="adj" fmla="val 86833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1" name="Group 10"/>
            <p:cNvGrpSpPr/>
            <p:nvPr/>
          </p:nvGrpSpPr>
          <p:grpSpPr>
            <a:xfrm>
              <a:off x="747689" y="3967341"/>
              <a:ext cx="1161401" cy="844227"/>
              <a:chOff x="2902064" y="1046978"/>
              <a:chExt cx="1161401" cy="844227"/>
            </a:xfrm>
          </p:grpSpPr>
          <p:sp>
            <p:nvSpPr>
              <p:cNvPr id="12" name="Flowchart: Delay 11"/>
              <p:cNvSpPr/>
              <p:nvPr/>
            </p:nvSpPr>
            <p:spPr>
              <a:xfrm>
                <a:off x="3478465" y="1138568"/>
                <a:ext cx="585000" cy="695029"/>
              </a:xfrm>
              <a:prstGeom prst="flowChartDelay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3" name="Group 12"/>
              <p:cNvGrpSpPr/>
              <p:nvPr/>
            </p:nvGrpSpPr>
            <p:grpSpPr>
              <a:xfrm>
                <a:off x="3267582" y="1237650"/>
                <a:ext cx="206188" cy="480734"/>
                <a:chOff x="2775665" y="1237650"/>
                <a:chExt cx="687160" cy="480734"/>
              </a:xfrm>
            </p:grpSpPr>
            <p:cxnSp>
              <p:nvCxnSpPr>
                <p:cNvPr id="16" name="Straight Connector 15"/>
                <p:cNvCxnSpPr/>
                <p:nvPr/>
              </p:nvCxnSpPr>
              <p:spPr>
                <a:xfrm>
                  <a:off x="2775665" y="1237650"/>
                  <a:ext cx="687160" cy="0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" name="Straight Connector 16"/>
                <p:cNvCxnSpPr/>
                <p:nvPr/>
              </p:nvCxnSpPr>
              <p:spPr>
                <a:xfrm>
                  <a:off x="2775665" y="1487956"/>
                  <a:ext cx="687160" cy="0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Straight Connector 24"/>
                <p:cNvCxnSpPr/>
                <p:nvPr/>
              </p:nvCxnSpPr>
              <p:spPr>
                <a:xfrm>
                  <a:off x="2775665" y="1718384"/>
                  <a:ext cx="687160" cy="0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" name="TextBox 13"/>
                  <p:cNvSpPr txBox="1"/>
                  <p:nvPr/>
                </p:nvSpPr>
                <p:spPr>
                  <a:xfrm>
                    <a:off x="2902064" y="1046978"/>
                    <a:ext cx="460543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dirty="0" smtClean="0">
                              <a:latin typeface="Cambria Math"/>
                            </a:rPr>
                            <m:t>𝑎</m:t>
                          </m:r>
                          <m:r>
                            <a:rPr lang="en-US" b="0" i="1" dirty="0" smtClean="0">
                              <a:latin typeface="Cambria Math"/>
                            </a:rPr>
                            <m:t>′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4" name="TextBox 13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02064" y="1046978"/>
                    <a:ext cx="436337" cy="369332"/>
                  </a:xfrm>
                  <a:prstGeom prst="rect">
                    <a:avLst/>
                  </a:prstGeom>
                  <a:blipFill rotWithShape="1"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5" name="TextBox 14"/>
                  <p:cNvSpPr txBox="1"/>
                  <p:nvPr/>
                </p:nvSpPr>
                <p:spPr>
                  <a:xfrm>
                    <a:off x="2902064" y="1282005"/>
                    <a:ext cx="37989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dirty="0" smtClean="0">
                              <a:latin typeface="Cambria Math"/>
                            </a:rPr>
                            <m:t>𝑐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5" name="TextBox 14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02064" y="1282005"/>
                    <a:ext cx="364972" cy="369332"/>
                  </a:xfrm>
                  <a:prstGeom prst="rect">
                    <a:avLst/>
                  </a:prstGeom>
                  <a:blipFill rotWithShape="1"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6" name="TextBox 25"/>
                  <p:cNvSpPr txBox="1"/>
                  <p:nvPr/>
                </p:nvSpPr>
                <p:spPr>
                  <a:xfrm>
                    <a:off x="2902064" y="1521873"/>
                    <a:ext cx="465753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dirty="0" smtClean="0">
                              <a:latin typeface="Cambria Math"/>
                            </a:rPr>
                            <m:t>𝑑</m:t>
                          </m:r>
                          <m:r>
                            <a:rPr lang="en-US" b="0" i="1" dirty="0" smtClean="0">
                              <a:latin typeface="Cambria Math"/>
                            </a:rPr>
                            <m:t>′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6" name="TextBox 25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02064" y="1521873"/>
                    <a:ext cx="441146" cy="369332"/>
                  </a:xfrm>
                  <a:prstGeom prst="rect">
                    <a:avLst/>
                  </a:prstGeom>
                  <a:blipFill rotWithShape="1">
                    <a:blip r:embed="rId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27" name="TextBox 26"/>
            <p:cNvSpPr txBox="1"/>
            <p:nvPr/>
          </p:nvSpPr>
          <p:spPr>
            <a:xfrm>
              <a:off x="1035724" y="2740855"/>
              <a:ext cx="203861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 smtClean="0"/>
                <a:t>2-Level AND-OR</a:t>
              </a:r>
              <a:endParaRPr lang="en-US" sz="2000" b="1" dirty="0"/>
            </a:p>
          </p:txBody>
        </p:sp>
      </p:grpSp>
      <p:grpSp>
        <p:nvGrpSpPr>
          <p:cNvPr id="57" name="Group 56"/>
          <p:cNvGrpSpPr/>
          <p:nvPr/>
        </p:nvGrpSpPr>
        <p:grpSpPr>
          <a:xfrm>
            <a:off x="3217366" y="3486607"/>
            <a:ext cx="2652039" cy="2073852"/>
            <a:chOff x="3397611" y="2968144"/>
            <a:chExt cx="2873043" cy="2073852"/>
          </a:xfrm>
        </p:grpSpPr>
        <p:sp>
          <p:nvSpPr>
            <p:cNvPr id="30" name="Freeform 29"/>
            <p:cNvSpPr/>
            <p:nvPr/>
          </p:nvSpPr>
          <p:spPr>
            <a:xfrm flipV="1">
              <a:off x="4558412" y="3753635"/>
              <a:ext cx="596347" cy="251435"/>
            </a:xfrm>
            <a:custGeom>
              <a:avLst/>
              <a:gdLst>
                <a:gd name="connsiteX0" fmla="*/ 0 w 596347"/>
                <a:gd name="connsiteY0" fmla="*/ 344557 h 344557"/>
                <a:gd name="connsiteX1" fmla="*/ 238539 w 596347"/>
                <a:gd name="connsiteY1" fmla="*/ 344557 h 344557"/>
                <a:gd name="connsiteX2" fmla="*/ 238539 w 596347"/>
                <a:gd name="connsiteY2" fmla="*/ 0 h 344557"/>
                <a:gd name="connsiteX3" fmla="*/ 596347 w 596347"/>
                <a:gd name="connsiteY3" fmla="*/ 0 h 3445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6347" h="344557">
                  <a:moveTo>
                    <a:pt x="0" y="344557"/>
                  </a:moveTo>
                  <a:lnTo>
                    <a:pt x="238539" y="344557"/>
                  </a:lnTo>
                  <a:lnTo>
                    <a:pt x="238539" y="0"/>
                  </a:lnTo>
                  <a:lnTo>
                    <a:pt x="596347" y="0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Freeform 30"/>
            <p:cNvSpPr/>
            <p:nvPr/>
          </p:nvSpPr>
          <p:spPr>
            <a:xfrm>
              <a:off x="4558413" y="4310313"/>
              <a:ext cx="596347" cy="326560"/>
            </a:xfrm>
            <a:custGeom>
              <a:avLst/>
              <a:gdLst>
                <a:gd name="connsiteX0" fmla="*/ 0 w 596347"/>
                <a:gd name="connsiteY0" fmla="*/ 344557 h 344557"/>
                <a:gd name="connsiteX1" fmla="*/ 238539 w 596347"/>
                <a:gd name="connsiteY1" fmla="*/ 344557 h 344557"/>
                <a:gd name="connsiteX2" fmla="*/ 238539 w 596347"/>
                <a:gd name="connsiteY2" fmla="*/ 0 h 344557"/>
                <a:gd name="connsiteX3" fmla="*/ 596347 w 596347"/>
                <a:gd name="connsiteY3" fmla="*/ 0 h 3445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6347" h="344557">
                  <a:moveTo>
                    <a:pt x="0" y="344557"/>
                  </a:moveTo>
                  <a:lnTo>
                    <a:pt x="238539" y="344557"/>
                  </a:lnTo>
                  <a:lnTo>
                    <a:pt x="238539" y="0"/>
                  </a:lnTo>
                  <a:lnTo>
                    <a:pt x="596347" y="0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2" name="Group 31"/>
            <p:cNvGrpSpPr/>
            <p:nvPr/>
          </p:nvGrpSpPr>
          <p:grpSpPr>
            <a:xfrm>
              <a:off x="3397611" y="3422904"/>
              <a:ext cx="1161401" cy="657367"/>
              <a:chOff x="2902064" y="1061017"/>
              <a:chExt cx="1161401" cy="657367"/>
            </a:xfrm>
          </p:grpSpPr>
          <p:sp>
            <p:nvSpPr>
              <p:cNvPr id="46" name="Flowchart: Delay 45"/>
              <p:cNvSpPr/>
              <p:nvPr/>
            </p:nvSpPr>
            <p:spPr>
              <a:xfrm>
                <a:off x="3478465" y="1138569"/>
                <a:ext cx="585000" cy="540000"/>
              </a:xfrm>
              <a:prstGeom prst="flowChartDelay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47" name="Group 46"/>
              <p:cNvGrpSpPr/>
              <p:nvPr/>
            </p:nvGrpSpPr>
            <p:grpSpPr>
              <a:xfrm>
                <a:off x="3272277" y="1257528"/>
                <a:ext cx="206188" cy="288035"/>
                <a:chOff x="2791306" y="1257528"/>
                <a:chExt cx="687159" cy="288035"/>
              </a:xfrm>
            </p:grpSpPr>
            <p:cxnSp>
              <p:nvCxnSpPr>
                <p:cNvPr id="50" name="Straight Connector 49"/>
                <p:cNvCxnSpPr/>
                <p:nvPr/>
              </p:nvCxnSpPr>
              <p:spPr>
                <a:xfrm>
                  <a:off x="2791306" y="1257528"/>
                  <a:ext cx="687159" cy="0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1" name="Straight Connector 50"/>
                <p:cNvCxnSpPr/>
                <p:nvPr/>
              </p:nvCxnSpPr>
              <p:spPr>
                <a:xfrm>
                  <a:off x="2791306" y="1545563"/>
                  <a:ext cx="687159" cy="0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8" name="TextBox 47"/>
                  <p:cNvSpPr txBox="1"/>
                  <p:nvPr/>
                </p:nvSpPr>
                <p:spPr>
                  <a:xfrm>
                    <a:off x="2902064" y="1061017"/>
                    <a:ext cx="398304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dirty="0" smtClean="0">
                              <a:latin typeface="Cambria Math"/>
                            </a:rPr>
                            <m:t>𝑏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48" name="TextBox 47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02064" y="1061017"/>
                    <a:ext cx="379206" cy="369332"/>
                  </a:xfrm>
                  <a:prstGeom prst="rect">
                    <a:avLst/>
                  </a:prstGeom>
                  <a:blipFill rotWithShape="1">
                    <a:blip r:embed="rId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9" name="TextBox 48"/>
                  <p:cNvSpPr txBox="1"/>
                  <p:nvPr/>
                </p:nvSpPr>
                <p:spPr>
                  <a:xfrm>
                    <a:off x="2902064" y="1349052"/>
                    <a:ext cx="409418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dirty="0" smtClean="0">
                              <a:latin typeface="Cambria Math"/>
                            </a:rPr>
                            <m:t>𝑑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49" name="TextBox 48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02064" y="1349052"/>
                    <a:ext cx="389144" cy="369332"/>
                  </a:xfrm>
                  <a:prstGeom prst="rect">
                    <a:avLst/>
                  </a:prstGeom>
                  <a:blipFill rotWithShape="1">
                    <a:blip r:embed="rId1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33" name="Straight Connector 32"/>
            <p:cNvCxnSpPr/>
            <p:nvPr/>
          </p:nvCxnSpPr>
          <p:spPr>
            <a:xfrm>
              <a:off x="5538331" y="4149629"/>
              <a:ext cx="345642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TextBox 33"/>
                <p:cNvSpPr txBox="1"/>
                <p:nvPr/>
              </p:nvSpPr>
              <p:spPr>
                <a:xfrm>
                  <a:off x="5826366" y="3920959"/>
                  <a:ext cx="444288" cy="45313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i="1" dirty="0" smtClean="0">
                            <a:latin typeface="Cambria Math"/>
                          </a:rPr>
                          <m:t>𝑓</m:t>
                        </m:r>
                      </m:oMath>
                    </m:oMathPara>
                  </a14:m>
                  <a:endParaRPr lang="en-US" sz="2400" baseline="-25000" dirty="0"/>
                </a:p>
              </p:txBody>
            </p:sp>
          </mc:Choice>
          <mc:Fallback xmlns="">
            <p:sp>
              <p:nvSpPr>
                <p:cNvPr id="34" name="TextBox 3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26366" y="3920959"/>
                  <a:ext cx="421334" cy="453137"/>
                </a:xfrm>
                <a:prstGeom prst="rect">
                  <a:avLst/>
                </a:prstGeom>
                <a:blipFill rotWithShape="1">
                  <a:blip r:embed="rId11"/>
                  <a:stretch>
                    <a:fillRect l="-5797" r="-1449" b="-2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5" name="Moon 34"/>
            <p:cNvSpPr/>
            <p:nvPr/>
          </p:nvSpPr>
          <p:spPr>
            <a:xfrm flipH="1">
              <a:off x="5077475" y="3889856"/>
              <a:ext cx="585000" cy="540000"/>
            </a:xfrm>
            <a:prstGeom prst="moon">
              <a:avLst>
                <a:gd name="adj" fmla="val 86833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6" name="Group 35"/>
            <p:cNvGrpSpPr/>
            <p:nvPr/>
          </p:nvGrpSpPr>
          <p:grpSpPr>
            <a:xfrm>
              <a:off x="3397611" y="4197769"/>
              <a:ext cx="1161401" cy="844227"/>
              <a:chOff x="2902064" y="1046978"/>
              <a:chExt cx="1161401" cy="844227"/>
            </a:xfrm>
          </p:grpSpPr>
          <p:sp>
            <p:nvSpPr>
              <p:cNvPr id="38" name="Flowchart: Delay 37"/>
              <p:cNvSpPr/>
              <p:nvPr/>
            </p:nvSpPr>
            <p:spPr>
              <a:xfrm>
                <a:off x="3478465" y="1138568"/>
                <a:ext cx="585000" cy="695029"/>
              </a:xfrm>
              <a:prstGeom prst="flowChartDelay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39" name="Group 38"/>
              <p:cNvGrpSpPr/>
              <p:nvPr/>
            </p:nvGrpSpPr>
            <p:grpSpPr>
              <a:xfrm>
                <a:off x="3267582" y="1237650"/>
                <a:ext cx="206188" cy="480734"/>
                <a:chOff x="2775665" y="1237650"/>
                <a:chExt cx="687160" cy="480734"/>
              </a:xfrm>
            </p:grpSpPr>
            <p:cxnSp>
              <p:nvCxnSpPr>
                <p:cNvPr id="43" name="Straight Connector 42"/>
                <p:cNvCxnSpPr/>
                <p:nvPr/>
              </p:nvCxnSpPr>
              <p:spPr>
                <a:xfrm>
                  <a:off x="2775665" y="1237650"/>
                  <a:ext cx="687160" cy="0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" name="Straight Connector 43"/>
                <p:cNvCxnSpPr/>
                <p:nvPr/>
              </p:nvCxnSpPr>
              <p:spPr>
                <a:xfrm>
                  <a:off x="2775665" y="1487956"/>
                  <a:ext cx="687160" cy="0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" name="Straight Connector 44"/>
                <p:cNvCxnSpPr/>
                <p:nvPr/>
              </p:nvCxnSpPr>
              <p:spPr>
                <a:xfrm>
                  <a:off x="2775665" y="1718384"/>
                  <a:ext cx="687160" cy="0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0" name="TextBox 39"/>
                  <p:cNvSpPr txBox="1"/>
                  <p:nvPr/>
                </p:nvSpPr>
                <p:spPr>
                  <a:xfrm>
                    <a:off x="2902064" y="1046978"/>
                    <a:ext cx="460543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dirty="0" smtClean="0">
                              <a:latin typeface="Cambria Math"/>
                            </a:rPr>
                            <m:t>𝑎</m:t>
                          </m:r>
                          <m:r>
                            <a:rPr lang="en-US" b="0" i="1" dirty="0" smtClean="0">
                              <a:latin typeface="Cambria Math"/>
                            </a:rPr>
                            <m:t>′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40" name="TextBox 39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02064" y="1046978"/>
                    <a:ext cx="436337" cy="369332"/>
                  </a:xfrm>
                  <a:prstGeom prst="rect">
                    <a:avLst/>
                  </a:prstGeom>
                  <a:blipFill rotWithShape="1">
                    <a:blip r:embed="rId1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1" name="TextBox 40"/>
                  <p:cNvSpPr txBox="1"/>
                  <p:nvPr/>
                </p:nvSpPr>
                <p:spPr>
                  <a:xfrm>
                    <a:off x="2902064" y="1282005"/>
                    <a:ext cx="37989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dirty="0" smtClean="0">
                              <a:latin typeface="Cambria Math"/>
                            </a:rPr>
                            <m:t>𝑐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41" name="TextBox 40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02064" y="1282005"/>
                    <a:ext cx="364972" cy="369332"/>
                  </a:xfrm>
                  <a:prstGeom prst="rect">
                    <a:avLst/>
                  </a:prstGeom>
                  <a:blipFill rotWithShape="1">
                    <a:blip r:embed="rId1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2" name="TextBox 41"/>
                  <p:cNvSpPr txBox="1"/>
                  <p:nvPr/>
                </p:nvSpPr>
                <p:spPr>
                  <a:xfrm>
                    <a:off x="2902064" y="1521873"/>
                    <a:ext cx="465753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dirty="0" smtClean="0">
                              <a:latin typeface="Cambria Math"/>
                            </a:rPr>
                            <m:t>𝑑</m:t>
                          </m:r>
                          <m:r>
                            <a:rPr lang="en-US" b="0" i="1" dirty="0" smtClean="0">
                              <a:latin typeface="Cambria Math"/>
                            </a:rPr>
                            <m:t>′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42" name="TextBox 41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02064" y="1521873"/>
                    <a:ext cx="441146" cy="369332"/>
                  </a:xfrm>
                  <a:prstGeom prst="rect">
                    <a:avLst/>
                  </a:prstGeom>
                  <a:blipFill rotWithShape="1">
                    <a:blip r:embed="rId1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37" name="TextBox 36"/>
            <p:cNvSpPr txBox="1"/>
            <p:nvPr/>
          </p:nvSpPr>
          <p:spPr>
            <a:xfrm>
              <a:off x="3697210" y="2968144"/>
              <a:ext cx="220581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 smtClean="0"/>
                <a:t>Inserting Bubbles</a:t>
              </a:r>
              <a:endParaRPr lang="en-US" sz="2000" b="1" dirty="0"/>
            </a:p>
          </p:txBody>
        </p:sp>
        <p:sp>
          <p:nvSpPr>
            <p:cNvPr id="52" name="Oval 51"/>
            <p:cNvSpPr/>
            <p:nvPr/>
          </p:nvSpPr>
          <p:spPr>
            <a:xfrm>
              <a:off x="4566949" y="3697686"/>
              <a:ext cx="108000" cy="108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Oval 52"/>
            <p:cNvSpPr/>
            <p:nvPr/>
          </p:nvSpPr>
          <p:spPr>
            <a:xfrm>
              <a:off x="4566949" y="4583068"/>
              <a:ext cx="108000" cy="108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Oval 53"/>
            <p:cNvSpPr/>
            <p:nvPr/>
          </p:nvSpPr>
          <p:spPr>
            <a:xfrm>
              <a:off x="5007249" y="4253284"/>
              <a:ext cx="108000" cy="108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Oval 54"/>
            <p:cNvSpPr/>
            <p:nvPr/>
          </p:nvSpPr>
          <p:spPr>
            <a:xfrm>
              <a:off x="5007249" y="3952749"/>
              <a:ext cx="108000" cy="108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6" name="TextBox 55"/>
          <p:cNvSpPr txBox="1"/>
          <p:nvPr/>
        </p:nvSpPr>
        <p:spPr>
          <a:xfrm>
            <a:off x="1009229" y="5962900"/>
            <a:ext cx="7251394" cy="46166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 smtClean="0"/>
              <a:t>Two successive bubbles on same line cancel each other</a:t>
            </a:r>
            <a:endParaRPr lang="en-US" sz="2400" dirty="0"/>
          </a:p>
        </p:txBody>
      </p:sp>
      <p:grpSp>
        <p:nvGrpSpPr>
          <p:cNvPr id="86" name="Group 85"/>
          <p:cNvGrpSpPr/>
          <p:nvPr/>
        </p:nvGrpSpPr>
        <p:grpSpPr>
          <a:xfrm>
            <a:off x="6060919" y="3486607"/>
            <a:ext cx="2652039" cy="2073852"/>
            <a:chOff x="6565996" y="2968144"/>
            <a:chExt cx="2873043" cy="2073852"/>
          </a:xfrm>
        </p:grpSpPr>
        <p:sp>
          <p:nvSpPr>
            <p:cNvPr id="59" name="Freeform 58"/>
            <p:cNvSpPr/>
            <p:nvPr/>
          </p:nvSpPr>
          <p:spPr>
            <a:xfrm flipV="1">
              <a:off x="7726797" y="3753635"/>
              <a:ext cx="596347" cy="251435"/>
            </a:xfrm>
            <a:custGeom>
              <a:avLst/>
              <a:gdLst>
                <a:gd name="connsiteX0" fmla="*/ 0 w 596347"/>
                <a:gd name="connsiteY0" fmla="*/ 344557 h 344557"/>
                <a:gd name="connsiteX1" fmla="*/ 238539 w 596347"/>
                <a:gd name="connsiteY1" fmla="*/ 344557 h 344557"/>
                <a:gd name="connsiteX2" fmla="*/ 238539 w 596347"/>
                <a:gd name="connsiteY2" fmla="*/ 0 h 344557"/>
                <a:gd name="connsiteX3" fmla="*/ 596347 w 596347"/>
                <a:gd name="connsiteY3" fmla="*/ 0 h 3445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6347" h="344557">
                  <a:moveTo>
                    <a:pt x="0" y="344557"/>
                  </a:moveTo>
                  <a:lnTo>
                    <a:pt x="238539" y="344557"/>
                  </a:lnTo>
                  <a:lnTo>
                    <a:pt x="238539" y="0"/>
                  </a:lnTo>
                  <a:lnTo>
                    <a:pt x="596347" y="0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Freeform 59"/>
            <p:cNvSpPr/>
            <p:nvPr/>
          </p:nvSpPr>
          <p:spPr>
            <a:xfrm>
              <a:off x="7726798" y="4310313"/>
              <a:ext cx="596347" cy="326560"/>
            </a:xfrm>
            <a:custGeom>
              <a:avLst/>
              <a:gdLst>
                <a:gd name="connsiteX0" fmla="*/ 0 w 596347"/>
                <a:gd name="connsiteY0" fmla="*/ 344557 h 344557"/>
                <a:gd name="connsiteX1" fmla="*/ 238539 w 596347"/>
                <a:gd name="connsiteY1" fmla="*/ 344557 h 344557"/>
                <a:gd name="connsiteX2" fmla="*/ 238539 w 596347"/>
                <a:gd name="connsiteY2" fmla="*/ 0 h 344557"/>
                <a:gd name="connsiteX3" fmla="*/ 596347 w 596347"/>
                <a:gd name="connsiteY3" fmla="*/ 0 h 3445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6347" h="344557">
                  <a:moveTo>
                    <a:pt x="0" y="344557"/>
                  </a:moveTo>
                  <a:lnTo>
                    <a:pt x="238539" y="344557"/>
                  </a:lnTo>
                  <a:lnTo>
                    <a:pt x="238539" y="0"/>
                  </a:lnTo>
                  <a:lnTo>
                    <a:pt x="596347" y="0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" name="Flowchart: Delay 78"/>
            <p:cNvSpPr/>
            <p:nvPr/>
          </p:nvSpPr>
          <p:spPr>
            <a:xfrm>
              <a:off x="7142397" y="3500456"/>
              <a:ext cx="585000" cy="540000"/>
            </a:xfrm>
            <a:prstGeom prst="flowChartDelay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80" name="Group 79"/>
            <p:cNvGrpSpPr/>
            <p:nvPr/>
          </p:nvGrpSpPr>
          <p:grpSpPr>
            <a:xfrm>
              <a:off x="6936209" y="3619415"/>
              <a:ext cx="206188" cy="288035"/>
              <a:chOff x="2791306" y="1257528"/>
              <a:chExt cx="687159" cy="288035"/>
            </a:xfrm>
          </p:grpSpPr>
          <p:cxnSp>
            <p:nvCxnSpPr>
              <p:cNvPr id="83" name="Straight Connector 82"/>
              <p:cNvCxnSpPr/>
              <p:nvPr/>
            </p:nvCxnSpPr>
            <p:spPr>
              <a:xfrm>
                <a:off x="2791306" y="1257528"/>
                <a:ext cx="687159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Straight Connector 83"/>
              <p:cNvCxnSpPr/>
              <p:nvPr/>
            </p:nvCxnSpPr>
            <p:spPr>
              <a:xfrm>
                <a:off x="2791306" y="1545563"/>
                <a:ext cx="687159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1" name="TextBox 80"/>
                <p:cNvSpPr txBox="1"/>
                <p:nvPr/>
              </p:nvSpPr>
              <p:spPr>
                <a:xfrm>
                  <a:off x="6565996" y="3422904"/>
                  <a:ext cx="39830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latin typeface="Cambria Math"/>
                          </a:rPr>
                          <m:t>𝑏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81" name="TextBox 8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65996" y="3422904"/>
                  <a:ext cx="379206" cy="369332"/>
                </a:xfrm>
                <a:prstGeom prst="rect">
                  <a:avLst/>
                </a:prstGeom>
                <a:blipFill rotWithShape="1"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2" name="TextBox 81"/>
                <p:cNvSpPr txBox="1"/>
                <p:nvPr/>
              </p:nvSpPr>
              <p:spPr>
                <a:xfrm>
                  <a:off x="6565996" y="3710939"/>
                  <a:ext cx="40941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latin typeface="Cambria Math"/>
                          </a:rPr>
                          <m:t>𝑑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82" name="TextBox 8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65996" y="3710939"/>
                  <a:ext cx="389144" cy="369332"/>
                </a:xfrm>
                <a:prstGeom prst="rect">
                  <a:avLst/>
                </a:prstGeom>
                <a:blipFill rotWithShape="1"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2" name="Straight Connector 61"/>
            <p:cNvCxnSpPr/>
            <p:nvPr/>
          </p:nvCxnSpPr>
          <p:spPr>
            <a:xfrm>
              <a:off x="8706716" y="4149629"/>
              <a:ext cx="345642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" name="TextBox 62"/>
                <p:cNvSpPr txBox="1"/>
                <p:nvPr/>
              </p:nvSpPr>
              <p:spPr>
                <a:xfrm>
                  <a:off x="8994751" y="3920959"/>
                  <a:ext cx="444288" cy="45313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i="1" dirty="0" smtClean="0">
                            <a:latin typeface="Cambria Math"/>
                          </a:rPr>
                          <m:t>𝑓</m:t>
                        </m:r>
                      </m:oMath>
                    </m:oMathPara>
                  </a14:m>
                  <a:endParaRPr lang="en-US" sz="2400" baseline="-25000" dirty="0"/>
                </a:p>
              </p:txBody>
            </p:sp>
          </mc:Choice>
          <mc:Fallback xmlns="">
            <p:sp>
              <p:nvSpPr>
                <p:cNvPr id="63" name="TextBox 6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94751" y="3920959"/>
                  <a:ext cx="421334" cy="453137"/>
                </a:xfrm>
                <a:prstGeom prst="rect">
                  <a:avLst/>
                </a:prstGeom>
                <a:blipFill rotWithShape="1">
                  <a:blip r:embed="rId17"/>
                  <a:stretch>
                    <a:fillRect l="-5797" r="-1449" b="-2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65" name="Group 64"/>
            <p:cNvGrpSpPr/>
            <p:nvPr/>
          </p:nvGrpSpPr>
          <p:grpSpPr>
            <a:xfrm>
              <a:off x="6565996" y="4197769"/>
              <a:ext cx="1161401" cy="844227"/>
              <a:chOff x="2902064" y="1046978"/>
              <a:chExt cx="1161401" cy="844227"/>
            </a:xfrm>
          </p:grpSpPr>
          <p:sp>
            <p:nvSpPr>
              <p:cNvPr id="71" name="Flowchart: Delay 70"/>
              <p:cNvSpPr/>
              <p:nvPr/>
            </p:nvSpPr>
            <p:spPr>
              <a:xfrm>
                <a:off x="3478465" y="1138568"/>
                <a:ext cx="585000" cy="695029"/>
              </a:xfrm>
              <a:prstGeom prst="flowChartDelay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72" name="Group 71"/>
              <p:cNvGrpSpPr/>
              <p:nvPr/>
            </p:nvGrpSpPr>
            <p:grpSpPr>
              <a:xfrm>
                <a:off x="3267582" y="1237650"/>
                <a:ext cx="206188" cy="480734"/>
                <a:chOff x="2775665" y="1237650"/>
                <a:chExt cx="687160" cy="480734"/>
              </a:xfrm>
            </p:grpSpPr>
            <p:cxnSp>
              <p:nvCxnSpPr>
                <p:cNvPr id="76" name="Straight Connector 75"/>
                <p:cNvCxnSpPr/>
                <p:nvPr/>
              </p:nvCxnSpPr>
              <p:spPr>
                <a:xfrm>
                  <a:off x="2775665" y="1237650"/>
                  <a:ext cx="687160" cy="0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7" name="Straight Connector 76"/>
                <p:cNvCxnSpPr/>
                <p:nvPr/>
              </p:nvCxnSpPr>
              <p:spPr>
                <a:xfrm>
                  <a:off x="2775665" y="1487956"/>
                  <a:ext cx="687160" cy="0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8" name="Straight Connector 77"/>
                <p:cNvCxnSpPr/>
                <p:nvPr/>
              </p:nvCxnSpPr>
              <p:spPr>
                <a:xfrm>
                  <a:off x="2775665" y="1718384"/>
                  <a:ext cx="687160" cy="0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3" name="TextBox 72"/>
                  <p:cNvSpPr txBox="1"/>
                  <p:nvPr/>
                </p:nvSpPr>
                <p:spPr>
                  <a:xfrm>
                    <a:off x="2902064" y="1046978"/>
                    <a:ext cx="460543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dirty="0" smtClean="0">
                              <a:latin typeface="Cambria Math"/>
                            </a:rPr>
                            <m:t>𝑎</m:t>
                          </m:r>
                          <m:r>
                            <a:rPr lang="en-US" b="0" i="1" dirty="0" smtClean="0">
                              <a:latin typeface="Cambria Math"/>
                            </a:rPr>
                            <m:t>′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73" name="TextBox 72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02064" y="1046978"/>
                    <a:ext cx="436337" cy="369332"/>
                  </a:xfrm>
                  <a:prstGeom prst="rect">
                    <a:avLst/>
                  </a:prstGeom>
                  <a:blipFill rotWithShape="1">
                    <a:blip r:embed="rId1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4" name="TextBox 73"/>
                  <p:cNvSpPr txBox="1"/>
                  <p:nvPr/>
                </p:nvSpPr>
                <p:spPr>
                  <a:xfrm>
                    <a:off x="2902064" y="1282005"/>
                    <a:ext cx="37989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dirty="0" smtClean="0">
                              <a:latin typeface="Cambria Math"/>
                            </a:rPr>
                            <m:t>𝑐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74" name="TextBox 73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02064" y="1282005"/>
                    <a:ext cx="364972" cy="369332"/>
                  </a:xfrm>
                  <a:prstGeom prst="rect">
                    <a:avLst/>
                  </a:prstGeom>
                  <a:blipFill rotWithShape="1">
                    <a:blip r:embed="rId1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5" name="TextBox 74"/>
                  <p:cNvSpPr txBox="1"/>
                  <p:nvPr/>
                </p:nvSpPr>
                <p:spPr>
                  <a:xfrm>
                    <a:off x="2902064" y="1521873"/>
                    <a:ext cx="465753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dirty="0" smtClean="0">
                              <a:latin typeface="Cambria Math"/>
                            </a:rPr>
                            <m:t>𝑑</m:t>
                          </m:r>
                          <m:r>
                            <a:rPr lang="en-US" b="0" i="1" dirty="0" smtClean="0">
                              <a:latin typeface="Cambria Math"/>
                            </a:rPr>
                            <m:t>′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75" name="TextBox 74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02064" y="1521873"/>
                    <a:ext cx="441146" cy="369332"/>
                  </a:xfrm>
                  <a:prstGeom prst="rect">
                    <a:avLst/>
                  </a:prstGeom>
                  <a:blipFill rotWithShape="1">
                    <a:blip r:embed="rId2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66" name="TextBox 65"/>
            <p:cNvSpPr txBox="1"/>
            <p:nvPr/>
          </p:nvSpPr>
          <p:spPr>
            <a:xfrm>
              <a:off x="6620133" y="2968144"/>
              <a:ext cx="258564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 smtClean="0"/>
                <a:t>2-Level NAND-NAND</a:t>
              </a:r>
              <a:endParaRPr lang="en-US" sz="2000" b="1" dirty="0"/>
            </a:p>
          </p:txBody>
        </p:sp>
        <p:sp>
          <p:nvSpPr>
            <p:cNvPr id="67" name="Oval 66"/>
            <p:cNvSpPr/>
            <p:nvPr/>
          </p:nvSpPr>
          <p:spPr>
            <a:xfrm>
              <a:off x="7735334" y="3697686"/>
              <a:ext cx="108000" cy="108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Oval 67"/>
            <p:cNvSpPr/>
            <p:nvPr/>
          </p:nvSpPr>
          <p:spPr>
            <a:xfrm>
              <a:off x="7735334" y="4583068"/>
              <a:ext cx="108000" cy="108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Oval 68"/>
            <p:cNvSpPr/>
            <p:nvPr/>
          </p:nvSpPr>
          <p:spPr>
            <a:xfrm>
              <a:off x="8776206" y="4095782"/>
              <a:ext cx="108000" cy="108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" name="Flowchart: Delay 84"/>
            <p:cNvSpPr/>
            <p:nvPr/>
          </p:nvSpPr>
          <p:spPr>
            <a:xfrm>
              <a:off x="8178992" y="3884570"/>
              <a:ext cx="585000" cy="540000"/>
            </a:xfrm>
            <a:prstGeom prst="flowChartDelay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7" name="Line Callout 1 86"/>
          <p:cNvSpPr/>
          <p:nvPr/>
        </p:nvSpPr>
        <p:spPr>
          <a:xfrm>
            <a:off x="7534689" y="5099603"/>
            <a:ext cx="1344542" cy="691284"/>
          </a:xfrm>
          <a:prstGeom prst="borderCallout1">
            <a:avLst>
              <a:gd name="adj1" fmla="val 49423"/>
              <a:gd name="adj2" fmla="val 211"/>
              <a:gd name="adj3" fmla="val 21166"/>
              <a:gd name="adj4" fmla="val -52062"/>
            </a:avLst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tx1"/>
                </a:solidFill>
              </a:rPr>
              <a:t>3-input</a:t>
            </a:r>
          </a:p>
          <a:p>
            <a:pPr algn="ctr"/>
            <a:r>
              <a:rPr lang="en-US" b="1" dirty="0" smtClean="0">
                <a:solidFill>
                  <a:schemeClr val="tx1"/>
                </a:solidFill>
              </a:rPr>
              <a:t>NAND gate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88" name="Line Callout 1 87"/>
          <p:cNvSpPr/>
          <p:nvPr/>
        </p:nvSpPr>
        <p:spPr>
          <a:xfrm>
            <a:off x="1898067" y="5099603"/>
            <a:ext cx="1131838" cy="691284"/>
          </a:xfrm>
          <a:prstGeom prst="borderCallout1">
            <a:avLst>
              <a:gd name="adj1" fmla="val 49423"/>
              <a:gd name="adj2" fmla="val 211"/>
              <a:gd name="adj3" fmla="val 22124"/>
              <a:gd name="adj4" fmla="val -64491"/>
            </a:avLst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tx1"/>
                </a:solidFill>
              </a:rPr>
              <a:t>3-input</a:t>
            </a:r>
          </a:p>
          <a:p>
            <a:pPr algn="ctr"/>
            <a:r>
              <a:rPr lang="en-US" b="1" dirty="0" smtClean="0">
                <a:solidFill>
                  <a:schemeClr val="tx1"/>
                </a:solidFill>
              </a:rPr>
              <a:t>AND gate</a:t>
            </a:r>
            <a:endParaRPr lang="en-US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85521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 animBg="1"/>
      <p:bldP spid="87" grpId="0" animBg="1"/>
      <p:bldP spid="88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/>
          <a:lstStyle/>
          <a:p>
            <a:r>
              <a:rPr lang="en-US" dirty="0" smtClean="0"/>
              <a:t>NOR – NOR Implementation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1" y="836685"/>
                <a:ext cx="8368854" cy="2419494"/>
              </a:xfrm>
            </p:spPr>
            <p:txBody>
              <a:bodyPr>
                <a:noAutofit/>
              </a:bodyPr>
              <a:lstStyle/>
              <a:p>
                <a:pPr>
                  <a:lnSpc>
                    <a:spcPct val="150000"/>
                  </a:lnSpc>
                  <a:spcBef>
                    <a:spcPts val="1200"/>
                  </a:spcBef>
                </a:pPr>
                <a:r>
                  <a:rPr lang="en-US" sz="2400" dirty="0" smtClean="0"/>
                  <a:t>Consider the following product-of-sums expression:</a:t>
                </a:r>
              </a:p>
              <a:p>
                <a:pPr marL="357188" indent="0">
                  <a:lnSpc>
                    <a:spcPct val="150000"/>
                  </a:lnSpc>
                  <a:spcBef>
                    <a:spcPts val="12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1" dirty="0" smtClean="0">
                          <a:latin typeface="Cambria Math"/>
                        </a:rPr>
                        <m:t>𝑔</m:t>
                      </m:r>
                      <m:r>
                        <a:rPr lang="en-US" sz="2400" i="1" dirty="0" smtClean="0">
                          <a:latin typeface="Cambria Math"/>
                        </a:rPr>
                        <m:t>=</m:t>
                      </m:r>
                      <m:r>
                        <a:rPr lang="en-US" sz="2400" b="0" i="1" dirty="0" smtClean="0">
                          <a:latin typeface="Cambria Math"/>
                        </a:rPr>
                        <m:t>(</m:t>
                      </m:r>
                      <m:r>
                        <a:rPr lang="en-US" sz="2400" b="0" i="1" dirty="0" smtClean="0">
                          <a:latin typeface="Cambria Math"/>
                        </a:rPr>
                        <m:t>𝑎</m:t>
                      </m:r>
                      <m:r>
                        <a:rPr lang="en-US" sz="2400" b="0" i="1" dirty="0" smtClean="0">
                          <a:latin typeface="Cambria Math"/>
                        </a:rPr>
                        <m:t>+</m:t>
                      </m:r>
                      <m:r>
                        <a:rPr lang="en-US" sz="2400" b="0" i="1" dirty="0" smtClean="0">
                          <a:latin typeface="Cambria Math"/>
                        </a:rPr>
                        <m:t>𝑑</m:t>
                      </m:r>
                      <m:r>
                        <a:rPr lang="en-US" sz="2400" b="0" i="1" dirty="0" smtClean="0">
                          <a:latin typeface="Cambria Math"/>
                        </a:rPr>
                        <m:t>)(</m:t>
                      </m:r>
                      <m:r>
                        <a:rPr lang="en-US" sz="2400" b="0" i="1" dirty="0" smtClean="0">
                          <a:latin typeface="Cambria Math"/>
                        </a:rPr>
                        <m:t>𝑏</m:t>
                      </m:r>
                      <m:r>
                        <a:rPr lang="en-US" sz="2400" b="0" i="1" dirty="0" smtClean="0">
                          <a:latin typeface="Cambria Math"/>
                        </a:rPr>
                        <m:t>+</m:t>
                      </m:r>
                      <m:r>
                        <a:rPr lang="en-US" sz="2400" i="1" dirty="0" err="1" smtClean="0">
                          <a:latin typeface="Cambria Math"/>
                        </a:rPr>
                        <m:t>𝑐</m:t>
                      </m:r>
                      <m:r>
                        <a:rPr lang="en-US" sz="2400" b="0" i="1" dirty="0" smtClean="0">
                          <a:latin typeface="Cambria Math"/>
                        </a:rPr>
                        <m:t>+</m:t>
                      </m:r>
                      <m:r>
                        <a:rPr lang="en-US" sz="2400" i="1" dirty="0" err="1" smtClean="0">
                          <a:latin typeface="Cambria Math"/>
                        </a:rPr>
                        <m:t>𝑑</m:t>
                      </m:r>
                      <m:r>
                        <a:rPr lang="en-US" sz="2400" b="0" i="1" dirty="0" smtClean="0">
                          <a:latin typeface="Cambria Math"/>
                        </a:rPr>
                        <m:t>′)</m:t>
                      </m:r>
                    </m:oMath>
                  </m:oMathPara>
                </a14:m>
                <a:endParaRPr lang="en-US" sz="2400" dirty="0" smtClean="0"/>
              </a:p>
              <a:p>
                <a:pPr>
                  <a:lnSpc>
                    <a:spcPct val="150000"/>
                  </a:lnSpc>
                  <a:spcBef>
                    <a:spcPts val="1200"/>
                  </a:spcBef>
                </a:pPr>
                <a:r>
                  <a:rPr lang="en-US" sz="2400" dirty="0" smtClean="0"/>
                  <a:t>A 2-level </a:t>
                </a:r>
                <a:r>
                  <a:rPr lang="en-US" sz="2400" b="1" dirty="0" smtClean="0">
                    <a:solidFill>
                      <a:srgbClr val="FF0000"/>
                    </a:solidFill>
                  </a:rPr>
                  <a:t>OR-AND</a:t>
                </a:r>
                <a:r>
                  <a:rPr lang="en-US" sz="2400" dirty="0" smtClean="0"/>
                  <a:t> circuit can be converted easily to a 2-level </a:t>
                </a:r>
                <a:r>
                  <a:rPr lang="en-US" sz="2400" b="1" dirty="0" smtClean="0">
                    <a:solidFill>
                      <a:srgbClr val="FF0000"/>
                    </a:solidFill>
                  </a:rPr>
                  <a:t>NOR-NOR implementation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1" y="836685"/>
                <a:ext cx="8368854" cy="2419494"/>
              </a:xfrm>
              <a:blipFill rotWithShape="1">
                <a:blip r:embed="rId2"/>
                <a:stretch>
                  <a:fillRect l="-947" b="-42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6" name="TextBox 55"/>
          <p:cNvSpPr txBox="1"/>
          <p:nvPr/>
        </p:nvSpPr>
        <p:spPr>
          <a:xfrm>
            <a:off x="1009229" y="5962900"/>
            <a:ext cx="7251394" cy="46166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 smtClean="0"/>
              <a:t>Two successive bubbles on same line cancel each other</a:t>
            </a:r>
            <a:endParaRPr lang="en-US" sz="2400" dirty="0"/>
          </a:p>
        </p:txBody>
      </p:sp>
      <p:grpSp>
        <p:nvGrpSpPr>
          <p:cNvPr id="70" name="Group 69"/>
          <p:cNvGrpSpPr/>
          <p:nvPr/>
        </p:nvGrpSpPr>
        <p:grpSpPr>
          <a:xfrm>
            <a:off x="371120" y="3489747"/>
            <a:ext cx="2665889" cy="2070713"/>
            <a:chOff x="402047" y="3489746"/>
            <a:chExt cx="2888047" cy="2070713"/>
          </a:xfrm>
        </p:grpSpPr>
        <p:sp>
          <p:nvSpPr>
            <p:cNvPr id="27" name="TextBox 26"/>
            <p:cNvSpPr txBox="1"/>
            <p:nvPr/>
          </p:nvSpPr>
          <p:spPr>
            <a:xfrm>
              <a:off x="690082" y="3489746"/>
              <a:ext cx="203861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 smtClean="0"/>
                <a:t>2-Level OR-AND</a:t>
              </a:r>
              <a:endParaRPr lang="en-US" sz="2000" b="1" dirty="0"/>
            </a:p>
          </p:txBody>
        </p:sp>
        <p:grpSp>
          <p:nvGrpSpPr>
            <p:cNvPr id="24" name="Group 23"/>
            <p:cNvGrpSpPr/>
            <p:nvPr/>
          </p:nvGrpSpPr>
          <p:grpSpPr>
            <a:xfrm>
              <a:off x="402047" y="3941367"/>
              <a:ext cx="2888047" cy="1619092"/>
              <a:chOff x="402047" y="3941367"/>
              <a:chExt cx="2888047" cy="1619092"/>
            </a:xfrm>
          </p:grpSpPr>
          <p:sp>
            <p:nvSpPr>
              <p:cNvPr id="5" name="Freeform 4"/>
              <p:cNvSpPr/>
              <p:nvPr/>
            </p:nvSpPr>
            <p:spPr>
              <a:xfrm flipV="1">
                <a:off x="1562848" y="4272098"/>
                <a:ext cx="596347" cy="251435"/>
              </a:xfrm>
              <a:custGeom>
                <a:avLst/>
                <a:gdLst>
                  <a:gd name="connsiteX0" fmla="*/ 0 w 596347"/>
                  <a:gd name="connsiteY0" fmla="*/ 344557 h 344557"/>
                  <a:gd name="connsiteX1" fmla="*/ 238539 w 596347"/>
                  <a:gd name="connsiteY1" fmla="*/ 344557 h 344557"/>
                  <a:gd name="connsiteX2" fmla="*/ 238539 w 596347"/>
                  <a:gd name="connsiteY2" fmla="*/ 0 h 344557"/>
                  <a:gd name="connsiteX3" fmla="*/ 596347 w 596347"/>
                  <a:gd name="connsiteY3" fmla="*/ 0 h 3445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96347" h="344557">
                    <a:moveTo>
                      <a:pt x="0" y="344557"/>
                    </a:moveTo>
                    <a:lnTo>
                      <a:pt x="238539" y="344557"/>
                    </a:lnTo>
                    <a:lnTo>
                      <a:pt x="238539" y="0"/>
                    </a:lnTo>
                    <a:lnTo>
                      <a:pt x="596347" y="0"/>
                    </a:lnTo>
                  </a:path>
                </a:pathLst>
              </a:cu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" name="Freeform 5"/>
              <p:cNvSpPr/>
              <p:nvPr/>
            </p:nvSpPr>
            <p:spPr>
              <a:xfrm>
                <a:off x="1562849" y="4828776"/>
                <a:ext cx="596347" cy="326560"/>
              </a:xfrm>
              <a:custGeom>
                <a:avLst/>
                <a:gdLst>
                  <a:gd name="connsiteX0" fmla="*/ 0 w 596347"/>
                  <a:gd name="connsiteY0" fmla="*/ 344557 h 344557"/>
                  <a:gd name="connsiteX1" fmla="*/ 238539 w 596347"/>
                  <a:gd name="connsiteY1" fmla="*/ 344557 h 344557"/>
                  <a:gd name="connsiteX2" fmla="*/ 238539 w 596347"/>
                  <a:gd name="connsiteY2" fmla="*/ 0 h 344557"/>
                  <a:gd name="connsiteX3" fmla="*/ 596347 w 596347"/>
                  <a:gd name="connsiteY3" fmla="*/ 0 h 3445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96347" h="344557">
                    <a:moveTo>
                      <a:pt x="0" y="344557"/>
                    </a:moveTo>
                    <a:lnTo>
                      <a:pt x="238539" y="344557"/>
                    </a:lnTo>
                    <a:lnTo>
                      <a:pt x="238539" y="0"/>
                    </a:lnTo>
                    <a:lnTo>
                      <a:pt x="596347" y="0"/>
                    </a:lnTo>
                  </a:path>
                </a:pathLst>
              </a:cu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9" name="Group 18"/>
              <p:cNvGrpSpPr/>
              <p:nvPr/>
            </p:nvGrpSpPr>
            <p:grpSpPr>
              <a:xfrm>
                <a:off x="772259" y="4137878"/>
                <a:ext cx="321071" cy="288035"/>
                <a:chOff x="2791306" y="1257528"/>
                <a:chExt cx="687159" cy="288035"/>
              </a:xfrm>
            </p:grpSpPr>
            <p:cxnSp>
              <p:nvCxnSpPr>
                <p:cNvPr id="22" name="Straight Connector 21"/>
                <p:cNvCxnSpPr/>
                <p:nvPr/>
              </p:nvCxnSpPr>
              <p:spPr>
                <a:xfrm>
                  <a:off x="2791306" y="1257528"/>
                  <a:ext cx="687159" cy="0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Straight Connector 22"/>
                <p:cNvCxnSpPr/>
                <p:nvPr/>
              </p:nvCxnSpPr>
              <p:spPr>
                <a:xfrm>
                  <a:off x="2791306" y="1545563"/>
                  <a:ext cx="687159" cy="0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0" name="TextBox 19"/>
                  <p:cNvSpPr txBox="1"/>
                  <p:nvPr/>
                </p:nvSpPr>
                <p:spPr>
                  <a:xfrm>
                    <a:off x="402047" y="3941367"/>
                    <a:ext cx="402402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dirty="0" smtClean="0">
                              <a:latin typeface="Cambria Math"/>
                            </a:rPr>
                            <m:t>𝑎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0" name="TextBox 19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02047" y="3941367"/>
                    <a:ext cx="379206" cy="369332"/>
                  </a:xfrm>
                  <a:prstGeom prst="rect">
                    <a:avLst/>
                  </a:prstGeom>
                  <a:blipFill rotWithShape="1">
                    <a:blip r:embed="rId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" name="TextBox 20"/>
                  <p:cNvSpPr txBox="1"/>
                  <p:nvPr/>
                </p:nvSpPr>
                <p:spPr>
                  <a:xfrm>
                    <a:off x="402047" y="4229402"/>
                    <a:ext cx="409418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dirty="0" smtClean="0">
                              <a:latin typeface="Cambria Math"/>
                            </a:rPr>
                            <m:t>𝑑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1" name="TextBox 20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02047" y="4229402"/>
                    <a:ext cx="389145" cy="369332"/>
                  </a:xfrm>
                  <a:prstGeom prst="rect">
                    <a:avLst/>
                  </a:prstGeom>
                  <a:blipFill rotWithShape="1"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8" name="Straight Connector 7"/>
              <p:cNvCxnSpPr/>
              <p:nvPr/>
            </p:nvCxnSpPr>
            <p:spPr>
              <a:xfrm>
                <a:off x="2542767" y="4668092"/>
                <a:ext cx="345642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" name="TextBox 8"/>
                  <p:cNvSpPr txBox="1"/>
                  <p:nvPr/>
                </p:nvSpPr>
                <p:spPr>
                  <a:xfrm>
                    <a:off x="2830802" y="4439422"/>
                    <a:ext cx="459292" cy="45313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400" b="0" i="1" dirty="0" smtClean="0">
                              <a:latin typeface="Cambria Math"/>
                            </a:rPr>
                            <m:t>𝑔</m:t>
                          </m:r>
                        </m:oMath>
                      </m:oMathPara>
                    </a14:m>
                    <a:endParaRPr lang="en-US" sz="2400" baseline="-25000" dirty="0"/>
                  </a:p>
                </p:txBody>
              </p:sp>
            </mc:Choice>
            <mc:Fallback xmlns="">
              <p:sp>
                <p:nvSpPr>
                  <p:cNvPr id="9" name="TextBox 8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30802" y="4439422"/>
                    <a:ext cx="435183" cy="453137"/>
                  </a:xfrm>
                  <a:prstGeom prst="rect">
                    <a:avLst/>
                  </a:prstGeom>
                  <a:blipFill rotWithShape="1">
                    <a:blip r:embed="rId5"/>
                    <a:stretch>
                      <a:fillRect b="-1200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13" name="Group 12"/>
              <p:cNvGrpSpPr/>
              <p:nvPr/>
            </p:nvGrpSpPr>
            <p:grpSpPr>
              <a:xfrm>
                <a:off x="767564" y="4906904"/>
                <a:ext cx="325765" cy="480734"/>
                <a:chOff x="2775665" y="1237650"/>
                <a:chExt cx="687160" cy="480734"/>
              </a:xfrm>
            </p:grpSpPr>
            <p:cxnSp>
              <p:nvCxnSpPr>
                <p:cNvPr id="16" name="Straight Connector 15"/>
                <p:cNvCxnSpPr/>
                <p:nvPr/>
              </p:nvCxnSpPr>
              <p:spPr>
                <a:xfrm>
                  <a:off x="2775665" y="1237650"/>
                  <a:ext cx="687160" cy="0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" name="Straight Connector 16"/>
                <p:cNvCxnSpPr/>
                <p:nvPr/>
              </p:nvCxnSpPr>
              <p:spPr>
                <a:xfrm>
                  <a:off x="2775665" y="1487956"/>
                  <a:ext cx="687160" cy="0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Straight Connector 24"/>
                <p:cNvCxnSpPr/>
                <p:nvPr/>
              </p:nvCxnSpPr>
              <p:spPr>
                <a:xfrm>
                  <a:off x="2775665" y="1718384"/>
                  <a:ext cx="687160" cy="0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" name="TextBox 13"/>
                  <p:cNvSpPr txBox="1"/>
                  <p:nvPr/>
                </p:nvSpPr>
                <p:spPr>
                  <a:xfrm>
                    <a:off x="402047" y="4716232"/>
                    <a:ext cx="398304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dirty="0" smtClean="0">
                              <a:latin typeface="Cambria Math"/>
                            </a:rPr>
                            <m:t>𝑏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4" name="TextBox 13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02047" y="4716232"/>
                    <a:ext cx="382669" cy="369332"/>
                  </a:xfrm>
                  <a:prstGeom prst="rect">
                    <a:avLst/>
                  </a:prstGeom>
                  <a:blipFill rotWithShape="1"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5" name="TextBox 14"/>
                  <p:cNvSpPr txBox="1"/>
                  <p:nvPr/>
                </p:nvSpPr>
                <p:spPr>
                  <a:xfrm>
                    <a:off x="402047" y="4951259"/>
                    <a:ext cx="37989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dirty="0" smtClean="0">
                              <a:latin typeface="Cambria Math"/>
                            </a:rPr>
                            <m:t>𝑐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5" name="TextBox 14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02047" y="4951259"/>
                    <a:ext cx="364972" cy="369332"/>
                  </a:xfrm>
                  <a:prstGeom prst="rect">
                    <a:avLst/>
                  </a:prstGeom>
                  <a:blipFill rotWithShape="1"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6" name="TextBox 25"/>
                  <p:cNvSpPr txBox="1"/>
                  <p:nvPr/>
                </p:nvSpPr>
                <p:spPr>
                  <a:xfrm>
                    <a:off x="402047" y="5191127"/>
                    <a:ext cx="465753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dirty="0" smtClean="0">
                              <a:latin typeface="Cambria Math"/>
                            </a:rPr>
                            <m:t>𝑑</m:t>
                          </m:r>
                          <m:r>
                            <a:rPr lang="en-US" b="0" i="1" dirty="0" smtClean="0">
                              <a:latin typeface="Cambria Math"/>
                            </a:rPr>
                            <m:t>′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6" name="TextBox 25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02047" y="5191127"/>
                    <a:ext cx="441146" cy="369332"/>
                  </a:xfrm>
                  <a:prstGeom prst="rect">
                    <a:avLst/>
                  </a:prstGeom>
                  <a:blipFill rotWithShape="1">
                    <a:blip r:embed="rId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87" name="Moon 86"/>
              <p:cNvSpPr/>
              <p:nvPr/>
            </p:nvSpPr>
            <p:spPr>
              <a:xfrm flipH="1">
                <a:off x="978117" y="4005070"/>
                <a:ext cx="585000" cy="540000"/>
              </a:xfrm>
              <a:prstGeom prst="moon">
                <a:avLst>
                  <a:gd name="adj" fmla="val 86833"/>
                </a:avLst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8" name="Flowchart: Delay 87"/>
              <p:cNvSpPr/>
              <p:nvPr/>
            </p:nvSpPr>
            <p:spPr>
              <a:xfrm>
                <a:off x="2079276" y="4401693"/>
                <a:ext cx="585000" cy="540000"/>
              </a:xfrm>
              <a:prstGeom prst="flowChartDelay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9" name="Moon 88"/>
              <p:cNvSpPr/>
              <p:nvPr/>
            </p:nvSpPr>
            <p:spPr>
              <a:xfrm flipH="1">
                <a:off x="978117" y="4807822"/>
                <a:ext cx="585000" cy="695029"/>
              </a:xfrm>
              <a:prstGeom prst="moon">
                <a:avLst>
                  <a:gd name="adj" fmla="val 86833"/>
                </a:avLst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64" name="Group 63"/>
          <p:cNvGrpSpPr/>
          <p:nvPr/>
        </p:nvGrpSpPr>
        <p:grpSpPr>
          <a:xfrm>
            <a:off x="3204581" y="3486607"/>
            <a:ext cx="2665889" cy="2073852"/>
            <a:chOff x="3397611" y="3486607"/>
            <a:chExt cx="2888047" cy="2073852"/>
          </a:xfrm>
        </p:grpSpPr>
        <p:sp>
          <p:nvSpPr>
            <p:cNvPr id="37" name="TextBox 36"/>
            <p:cNvSpPr txBox="1"/>
            <p:nvPr/>
          </p:nvSpPr>
          <p:spPr>
            <a:xfrm>
              <a:off x="3697210" y="3486607"/>
              <a:ext cx="220581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 smtClean="0"/>
                <a:t>Inserting Bubbles</a:t>
              </a:r>
              <a:endParaRPr lang="en-US" sz="2000" b="1" dirty="0"/>
            </a:p>
          </p:txBody>
        </p:sp>
        <p:grpSp>
          <p:nvGrpSpPr>
            <p:cNvPr id="58" name="Group 57"/>
            <p:cNvGrpSpPr/>
            <p:nvPr/>
          </p:nvGrpSpPr>
          <p:grpSpPr>
            <a:xfrm>
              <a:off x="3397611" y="3941367"/>
              <a:ext cx="2888047" cy="1619092"/>
              <a:chOff x="3397611" y="3941367"/>
              <a:chExt cx="2888047" cy="1619092"/>
            </a:xfrm>
          </p:grpSpPr>
          <p:sp>
            <p:nvSpPr>
              <p:cNvPr id="91" name="Freeform 90"/>
              <p:cNvSpPr/>
              <p:nvPr/>
            </p:nvSpPr>
            <p:spPr>
              <a:xfrm flipV="1">
                <a:off x="4558412" y="4272098"/>
                <a:ext cx="596347" cy="251435"/>
              </a:xfrm>
              <a:custGeom>
                <a:avLst/>
                <a:gdLst>
                  <a:gd name="connsiteX0" fmla="*/ 0 w 596347"/>
                  <a:gd name="connsiteY0" fmla="*/ 344557 h 344557"/>
                  <a:gd name="connsiteX1" fmla="*/ 238539 w 596347"/>
                  <a:gd name="connsiteY1" fmla="*/ 344557 h 344557"/>
                  <a:gd name="connsiteX2" fmla="*/ 238539 w 596347"/>
                  <a:gd name="connsiteY2" fmla="*/ 0 h 344557"/>
                  <a:gd name="connsiteX3" fmla="*/ 596347 w 596347"/>
                  <a:gd name="connsiteY3" fmla="*/ 0 h 3445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96347" h="344557">
                    <a:moveTo>
                      <a:pt x="0" y="344557"/>
                    </a:moveTo>
                    <a:lnTo>
                      <a:pt x="238539" y="344557"/>
                    </a:lnTo>
                    <a:lnTo>
                      <a:pt x="238539" y="0"/>
                    </a:lnTo>
                    <a:lnTo>
                      <a:pt x="596347" y="0"/>
                    </a:lnTo>
                  </a:path>
                </a:pathLst>
              </a:cu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2" name="Freeform 91"/>
              <p:cNvSpPr/>
              <p:nvPr/>
            </p:nvSpPr>
            <p:spPr>
              <a:xfrm>
                <a:off x="4558413" y="4828776"/>
                <a:ext cx="596347" cy="326560"/>
              </a:xfrm>
              <a:custGeom>
                <a:avLst/>
                <a:gdLst>
                  <a:gd name="connsiteX0" fmla="*/ 0 w 596347"/>
                  <a:gd name="connsiteY0" fmla="*/ 344557 h 344557"/>
                  <a:gd name="connsiteX1" fmla="*/ 238539 w 596347"/>
                  <a:gd name="connsiteY1" fmla="*/ 344557 h 344557"/>
                  <a:gd name="connsiteX2" fmla="*/ 238539 w 596347"/>
                  <a:gd name="connsiteY2" fmla="*/ 0 h 344557"/>
                  <a:gd name="connsiteX3" fmla="*/ 596347 w 596347"/>
                  <a:gd name="connsiteY3" fmla="*/ 0 h 3445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96347" h="344557">
                    <a:moveTo>
                      <a:pt x="0" y="344557"/>
                    </a:moveTo>
                    <a:lnTo>
                      <a:pt x="238539" y="344557"/>
                    </a:lnTo>
                    <a:lnTo>
                      <a:pt x="238539" y="0"/>
                    </a:lnTo>
                    <a:lnTo>
                      <a:pt x="596347" y="0"/>
                    </a:lnTo>
                  </a:path>
                </a:pathLst>
              </a:cu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93" name="Group 92"/>
              <p:cNvGrpSpPr/>
              <p:nvPr/>
            </p:nvGrpSpPr>
            <p:grpSpPr>
              <a:xfrm>
                <a:off x="3767823" y="4137878"/>
                <a:ext cx="321071" cy="288035"/>
                <a:chOff x="2791306" y="1257528"/>
                <a:chExt cx="687159" cy="288035"/>
              </a:xfrm>
            </p:grpSpPr>
            <p:cxnSp>
              <p:nvCxnSpPr>
                <p:cNvPr id="108" name="Straight Connector 107"/>
                <p:cNvCxnSpPr/>
                <p:nvPr/>
              </p:nvCxnSpPr>
              <p:spPr>
                <a:xfrm>
                  <a:off x="2791306" y="1257528"/>
                  <a:ext cx="687159" cy="0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9" name="Straight Connector 108"/>
                <p:cNvCxnSpPr/>
                <p:nvPr/>
              </p:nvCxnSpPr>
              <p:spPr>
                <a:xfrm>
                  <a:off x="2791306" y="1545563"/>
                  <a:ext cx="687159" cy="0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4" name="TextBox 93"/>
                  <p:cNvSpPr txBox="1"/>
                  <p:nvPr/>
                </p:nvSpPr>
                <p:spPr>
                  <a:xfrm>
                    <a:off x="3397611" y="3941367"/>
                    <a:ext cx="402402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dirty="0" smtClean="0">
                              <a:latin typeface="Cambria Math"/>
                            </a:rPr>
                            <m:t>𝑎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94" name="TextBox 93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397611" y="3941367"/>
                    <a:ext cx="379206" cy="369332"/>
                  </a:xfrm>
                  <a:prstGeom prst="rect">
                    <a:avLst/>
                  </a:prstGeom>
                  <a:blipFill rotWithShape="1">
                    <a:blip r:embed="rId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5" name="TextBox 94"/>
                  <p:cNvSpPr txBox="1"/>
                  <p:nvPr/>
                </p:nvSpPr>
                <p:spPr>
                  <a:xfrm>
                    <a:off x="3397611" y="4229402"/>
                    <a:ext cx="409418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dirty="0" smtClean="0">
                              <a:latin typeface="Cambria Math"/>
                            </a:rPr>
                            <m:t>𝑑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95" name="TextBox 94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397611" y="4229402"/>
                    <a:ext cx="389145" cy="369332"/>
                  </a:xfrm>
                  <a:prstGeom prst="rect">
                    <a:avLst/>
                  </a:prstGeom>
                  <a:blipFill rotWithShape="1">
                    <a:blip r:embed="rId1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96" name="Straight Connector 95"/>
              <p:cNvCxnSpPr/>
              <p:nvPr/>
            </p:nvCxnSpPr>
            <p:spPr>
              <a:xfrm>
                <a:off x="5538331" y="4668092"/>
                <a:ext cx="345642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7" name="TextBox 96"/>
                  <p:cNvSpPr txBox="1"/>
                  <p:nvPr/>
                </p:nvSpPr>
                <p:spPr>
                  <a:xfrm>
                    <a:off x="5826366" y="4439422"/>
                    <a:ext cx="459292" cy="45313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400" b="0" i="1" dirty="0" smtClean="0">
                              <a:latin typeface="Cambria Math"/>
                            </a:rPr>
                            <m:t>𝑔</m:t>
                          </m:r>
                        </m:oMath>
                      </m:oMathPara>
                    </a14:m>
                    <a:endParaRPr lang="en-US" sz="2400" baseline="-25000" dirty="0"/>
                  </a:p>
                </p:txBody>
              </p:sp>
            </mc:Choice>
            <mc:Fallback xmlns="">
              <p:sp>
                <p:nvSpPr>
                  <p:cNvPr id="97" name="TextBox 96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826366" y="4439422"/>
                    <a:ext cx="435183" cy="453137"/>
                  </a:xfrm>
                  <a:prstGeom prst="rect">
                    <a:avLst/>
                  </a:prstGeom>
                  <a:blipFill rotWithShape="1">
                    <a:blip r:embed="rId11"/>
                    <a:stretch>
                      <a:fillRect b="-1200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98" name="Group 97"/>
              <p:cNvGrpSpPr/>
              <p:nvPr/>
            </p:nvGrpSpPr>
            <p:grpSpPr>
              <a:xfrm>
                <a:off x="3763128" y="4906904"/>
                <a:ext cx="325765" cy="480734"/>
                <a:chOff x="2775665" y="1237650"/>
                <a:chExt cx="687160" cy="480734"/>
              </a:xfrm>
            </p:grpSpPr>
            <p:cxnSp>
              <p:nvCxnSpPr>
                <p:cNvPr id="105" name="Straight Connector 104"/>
                <p:cNvCxnSpPr/>
                <p:nvPr/>
              </p:nvCxnSpPr>
              <p:spPr>
                <a:xfrm>
                  <a:off x="2775665" y="1237650"/>
                  <a:ext cx="687160" cy="0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6" name="Straight Connector 105"/>
                <p:cNvCxnSpPr/>
                <p:nvPr/>
              </p:nvCxnSpPr>
              <p:spPr>
                <a:xfrm>
                  <a:off x="2775665" y="1487956"/>
                  <a:ext cx="687160" cy="0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7" name="Straight Connector 106"/>
                <p:cNvCxnSpPr/>
                <p:nvPr/>
              </p:nvCxnSpPr>
              <p:spPr>
                <a:xfrm>
                  <a:off x="2775665" y="1718384"/>
                  <a:ext cx="687160" cy="0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9" name="TextBox 98"/>
                  <p:cNvSpPr txBox="1"/>
                  <p:nvPr/>
                </p:nvSpPr>
                <p:spPr>
                  <a:xfrm>
                    <a:off x="3397611" y="4716232"/>
                    <a:ext cx="398304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dirty="0" smtClean="0">
                              <a:latin typeface="Cambria Math"/>
                            </a:rPr>
                            <m:t>𝑏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99" name="TextBox 98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397611" y="4716232"/>
                    <a:ext cx="382669" cy="369332"/>
                  </a:xfrm>
                  <a:prstGeom prst="rect">
                    <a:avLst/>
                  </a:prstGeom>
                  <a:blipFill rotWithShape="1">
                    <a:blip r:embed="rId1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0" name="TextBox 99"/>
                  <p:cNvSpPr txBox="1"/>
                  <p:nvPr/>
                </p:nvSpPr>
                <p:spPr>
                  <a:xfrm>
                    <a:off x="3397611" y="4951259"/>
                    <a:ext cx="37989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dirty="0" smtClean="0">
                              <a:latin typeface="Cambria Math"/>
                            </a:rPr>
                            <m:t>𝑐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00" name="TextBox 99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397611" y="4951259"/>
                    <a:ext cx="364972" cy="369332"/>
                  </a:xfrm>
                  <a:prstGeom prst="rect">
                    <a:avLst/>
                  </a:prstGeom>
                  <a:blipFill rotWithShape="1">
                    <a:blip r:embed="rId1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1" name="TextBox 100"/>
                  <p:cNvSpPr txBox="1"/>
                  <p:nvPr/>
                </p:nvSpPr>
                <p:spPr>
                  <a:xfrm>
                    <a:off x="3397611" y="5191127"/>
                    <a:ext cx="465753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dirty="0" smtClean="0">
                              <a:latin typeface="Cambria Math"/>
                            </a:rPr>
                            <m:t>𝑑</m:t>
                          </m:r>
                          <m:r>
                            <a:rPr lang="en-US" b="0" i="1" dirty="0" smtClean="0">
                              <a:latin typeface="Cambria Math"/>
                            </a:rPr>
                            <m:t>′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01" name="TextBox 100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397611" y="5191127"/>
                    <a:ext cx="441146" cy="369332"/>
                  </a:xfrm>
                  <a:prstGeom prst="rect">
                    <a:avLst/>
                  </a:prstGeom>
                  <a:blipFill rotWithShape="1">
                    <a:blip r:embed="rId1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02" name="Moon 101"/>
              <p:cNvSpPr/>
              <p:nvPr/>
            </p:nvSpPr>
            <p:spPr>
              <a:xfrm flipH="1">
                <a:off x="3973681" y="4005070"/>
                <a:ext cx="585000" cy="540000"/>
              </a:xfrm>
              <a:prstGeom prst="moon">
                <a:avLst>
                  <a:gd name="adj" fmla="val 86833"/>
                </a:avLst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4" name="Moon 103"/>
              <p:cNvSpPr/>
              <p:nvPr/>
            </p:nvSpPr>
            <p:spPr>
              <a:xfrm flipH="1">
                <a:off x="3973681" y="4807822"/>
                <a:ext cx="585000" cy="695029"/>
              </a:xfrm>
              <a:prstGeom prst="moon">
                <a:avLst>
                  <a:gd name="adj" fmla="val 86833"/>
                </a:avLst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2" name="Oval 51"/>
              <p:cNvSpPr/>
              <p:nvPr/>
            </p:nvSpPr>
            <p:spPr>
              <a:xfrm>
                <a:off x="4566949" y="4216149"/>
                <a:ext cx="108000" cy="1080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3" name="Oval 52"/>
              <p:cNvSpPr/>
              <p:nvPr/>
            </p:nvSpPr>
            <p:spPr>
              <a:xfrm>
                <a:off x="4566949" y="5101531"/>
                <a:ext cx="108000" cy="1080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4" name="Oval 53"/>
              <p:cNvSpPr/>
              <p:nvPr/>
            </p:nvSpPr>
            <p:spPr>
              <a:xfrm>
                <a:off x="5007249" y="4771747"/>
                <a:ext cx="108000" cy="1080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5" name="Oval 54"/>
              <p:cNvSpPr/>
              <p:nvPr/>
            </p:nvSpPr>
            <p:spPr>
              <a:xfrm>
                <a:off x="5007249" y="4471212"/>
                <a:ext cx="108000" cy="1080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3" name="Flowchart: Delay 102"/>
              <p:cNvSpPr/>
              <p:nvPr/>
            </p:nvSpPr>
            <p:spPr>
              <a:xfrm>
                <a:off x="5125821" y="4401693"/>
                <a:ext cx="585000" cy="540000"/>
              </a:xfrm>
              <a:prstGeom prst="flowChartDelay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61" name="Group 60"/>
          <p:cNvGrpSpPr/>
          <p:nvPr/>
        </p:nvGrpSpPr>
        <p:grpSpPr>
          <a:xfrm>
            <a:off x="6022892" y="3486607"/>
            <a:ext cx="2665889" cy="2073852"/>
            <a:chOff x="6565996" y="3486607"/>
            <a:chExt cx="2888047" cy="2073852"/>
          </a:xfrm>
        </p:grpSpPr>
        <p:sp>
          <p:nvSpPr>
            <p:cNvPr id="66" name="TextBox 65"/>
            <p:cNvSpPr txBox="1"/>
            <p:nvPr/>
          </p:nvSpPr>
          <p:spPr>
            <a:xfrm>
              <a:off x="6620133" y="3486607"/>
              <a:ext cx="222095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 smtClean="0"/>
                <a:t>2-Level NOR-NOR</a:t>
              </a:r>
              <a:endParaRPr lang="en-US" sz="2000" b="1" dirty="0"/>
            </a:p>
          </p:txBody>
        </p:sp>
        <p:sp>
          <p:nvSpPr>
            <p:cNvPr id="111" name="Freeform 110"/>
            <p:cNvSpPr/>
            <p:nvPr/>
          </p:nvSpPr>
          <p:spPr>
            <a:xfrm flipV="1">
              <a:off x="7726797" y="4272098"/>
              <a:ext cx="596347" cy="251435"/>
            </a:xfrm>
            <a:custGeom>
              <a:avLst/>
              <a:gdLst>
                <a:gd name="connsiteX0" fmla="*/ 0 w 596347"/>
                <a:gd name="connsiteY0" fmla="*/ 344557 h 344557"/>
                <a:gd name="connsiteX1" fmla="*/ 238539 w 596347"/>
                <a:gd name="connsiteY1" fmla="*/ 344557 h 344557"/>
                <a:gd name="connsiteX2" fmla="*/ 238539 w 596347"/>
                <a:gd name="connsiteY2" fmla="*/ 0 h 344557"/>
                <a:gd name="connsiteX3" fmla="*/ 596347 w 596347"/>
                <a:gd name="connsiteY3" fmla="*/ 0 h 3445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6347" h="344557">
                  <a:moveTo>
                    <a:pt x="0" y="344557"/>
                  </a:moveTo>
                  <a:lnTo>
                    <a:pt x="238539" y="344557"/>
                  </a:lnTo>
                  <a:lnTo>
                    <a:pt x="238539" y="0"/>
                  </a:lnTo>
                  <a:lnTo>
                    <a:pt x="596347" y="0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2" name="Freeform 111"/>
            <p:cNvSpPr/>
            <p:nvPr/>
          </p:nvSpPr>
          <p:spPr>
            <a:xfrm>
              <a:off x="7726798" y="4828776"/>
              <a:ext cx="596347" cy="326560"/>
            </a:xfrm>
            <a:custGeom>
              <a:avLst/>
              <a:gdLst>
                <a:gd name="connsiteX0" fmla="*/ 0 w 596347"/>
                <a:gd name="connsiteY0" fmla="*/ 344557 h 344557"/>
                <a:gd name="connsiteX1" fmla="*/ 238539 w 596347"/>
                <a:gd name="connsiteY1" fmla="*/ 344557 h 344557"/>
                <a:gd name="connsiteX2" fmla="*/ 238539 w 596347"/>
                <a:gd name="connsiteY2" fmla="*/ 0 h 344557"/>
                <a:gd name="connsiteX3" fmla="*/ 596347 w 596347"/>
                <a:gd name="connsiteY3" fmla="*/ 0 h 3445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6347" h="344557">
                  <a:moveTo>
                    <a:pt x="0" y="344557"/>
                  </a:moveTo>
                  <a:lnTo>
                    <a:pt x="238539" y="344557"/>
                  </a:lnTo>
                  <a:lnTo>
                    <a:pt x="238539" y="0"/>
                  </a:lnTo>
                  <a:lnTo>
                    <a:pt x="596347" y="0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13" name="Group 112"/>
            <p:cNvGrpSpPr/>
            <p:nvPr/>
          </p:nvGrpSpPr>
          <p:grpSpPr>
            <a:xfrm>
              <a:off x="6936208" y="4137878"/>
              <a:ext cx="321071" cy="288035"/>
              <a:chOff x="2791306" y="1257528"/>
              <a:chExt cx="687159" cy="288035"/>
            </a:xfrm>
          </p:grpSpPr>
          <p:cxnSp>
            <p:nvCxnSpPr>
              <p:cNvPr id="132" name="Straight Connector 131"/>
              <p:cNvCxnSpPr/>
              <p:nvPr/>
            </p:nvCxnSpPr>
            <p:spPr>
              <a:xfrm>
                <a:off x="2791306" y="1257528"/>
                <a:ext cx="687159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" name="Straight Connector 132"/>
              <p:cNvCxnSpPr/>
              <p:nvPr/>
            </p:nvCxnSpPr>
            <p:spPr>
              <a:xfrm>
                <a:off x="2791306" y="1545563"/>
                <a:ext cx="687159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4" name="TextBox 113"/>
                <p:cNvSpPr txBox="1"/>
                <p:nvPr/>
              </p:nvSpPr>
              <p:spPr>
                <a:xfrm>
                  <a:off x="6565996" y="3941367"/>
                  <a:ext cx="40240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latin typeface="Cambria Math"/>
                          </a:rPr>
                          <m:t>𝑎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14" name="TextBox 11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65996" y="3941367"/>
                  <a:ext cx="379206" cy="369332"/>
                </a:xfrm>
                <a:prstGeom prst="rect">
                  <a:avLst/>
                </a:prstGeom>
                <a:blipFill rotWithShape="1"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5" name="TextBox 114"/>
                <p:cNvSpPr txBox="1"/>
                <p:nvPr/>
              </p:nvSpPr>
              <p:spPr>
                <a:xfrm>
                  <a:off x="6565996" y="4229402"/>
                  <a:ext cx="40941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latin typeface="Cambria Math"/>
                          </a:rPr>
                          <m:t>𝑑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15" name="TextBox 1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65996" y="4229402"/>
                  <a:ext cx="389145" cy="369332"/>
                </a:xfrm>
                <a:prstGeom prst="rect">
                  <a:avLst/>
                </a:prstGeom>
                <a:blipFill rotWithShape="1"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6" name="Straight Connector 115"/>
            <p:cNvCxnSpPr/>
            <p:nvPr/>
          </p:nvCxnSpPr>
          <p:spPr>
            <a:xfrm>
              <a:off x="8706716" y="4668092"/>
              <a:ext cx="345642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7" name="TextBox 116"/>
                <p:cNvSpPr txBox="1"/>
                <p:nvPr/>
              </p:nvSpPr>
              <p:spPr>
                <a:xfrm>
                  <a:off x="8994751" y="4439422"/>
                  <a:ext cx="459292" cy="45313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dirty="0" smtClean="0">
                            <a:latin typeface="Cambria Math"/>
                          </a:rPr>
                          <m:t>𝑔</m:t>
                        </m:r>
                      </m:oMath>
                    </m:oMathPara>
                  </a14:m>
                  <a:endParaRPr lang="en-US" sz="2400" baseline="-25000" dirty="0"/>
                </a:p>
              </p:txBody>
            </p:sp>
          </mc:Choice>
          <mc:Fallback xmlns="">
            <p:sp>
              <p:nvSpPr>
                <p:cNvPr id="117" name="TextBox 11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94751" y="4439422"/>
                  <a:ext cx="435183" cy="453137"/>
                </a:xfrm>
                <a:prstGeom prst="rect">
                  <a:avLst/>
                </a:prstGeom>
                <a:blipFill rotWithShape="1">
                  <a:blip r:embed="rId17"/>
                  <a:stretch>
                    <a:fillRect b="-12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18" name="Group 117"/>
            <p:cNvGrpSpPr/>
            <p:nvPr/>
          </p:nvGrpSpPr>
          <p:grpSpPr>
            <a:xfrm>
              <a:off x="6931513" y="4906904"/>
              <a:ext cx="325765" cy="480734"/>
              <a:chOff x="2775665" y="1237650"/>
              <a:chExt cx="687160" cy="480734"/>
            </a:xfrm>
          </p:grpSpPr>
          <p:cxnSp>
            <p:nvCxnSpPr>
              <p:cNvPr id="129" name="Straight Connector 128"/>
              <p:cNvCxnSpPr/>
              <p:nvPr/>
            </p:nvCxnSpPr>
            <p:spPr>
              <a:xfrm>
                <a:off x="2775665" y="1237650"/>
                <a:ext cx="687160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0" name="Straight Connector 129"/>
              <p:cNvCxnSpPr/>
              <p:nvPr/>
            </p:nvCxnSpPr>
            <p:spPr>
              <a:xfrm>
                <a:off x="2775665" y="1487956"/>
                <a:ext cx="687160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1" name="Straight Connector 130"/>
              <p:cNvCxnSpPr/>
              <p:nvPr/>
            </p:nvCxnSpPr>
            <p:spPr>
              <a:xfrm>
                <a:off x="2775665" y="1718384"/>
                <a:ext cx="687160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9" name="TextBox 118"/>
                <p:cNvSpPr txBox="1"/>
                <p:nvPr/>
              </p:nvSpPr>
              <p:spPr>
                <a:xfrm>
                  <a:off x="6565996" y="4716232"/>
                  <a:ext cx="39830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latin typeface="Cambria Math"/>
                          </a:rPr>
                          <m:t>𝑏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19" name="TextBox 11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65996" y="4716232"/>
                  <a:ext cx="382669" cy="369332"/>
                </a:xfrm>
                <a:prstGeom prst="rect">
                  <a:avLst/>
                </a:prstGeom>
                <a:blipFill rotWithShape="1"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0" name="TextBox 119"/>
                <p:cNvSpPr txBox="1"/>
                <p:nvPr/>
              </p:nvSpPr>
              <p:spPr>
                <a:xfrm>
                  <a:off x="6565996" y="4951259"/>
                  <a:ext cx="37989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latin typeface="Cambria Math"/>
                          </a:rPr>
                          <m:t>𝑐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20" name="TextBox 11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65996" y="4951259"/>
                  <a:ext cx="364972" cy="369332"/>
                </a:xfrm>
                <a:prstGeom prst="rect">
                  <a:avLst/>
                </a:prstGeom>
                <a:blipFill rotWithShape="1"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1" name="TextBox 120"/>
                <p:cNvSpPr txBox="1"/>
                <p:nvPr/>
              </p:nvSpPr>
              <p:spPr>
                <a:xfrm>
                  <a:off x="6565996" y="5191127"/>
                  <a:ext cx="46575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latin typeface="Cambria Math"/>
                          </a:rPr>
                          <m:t>𝑑</m:t>
                        </m:r>
                        <m:r>
                          <a:rPr lang="en-US" b="0" i="1" dirty="0" smtClean="0">
                            <a:latin typeface="Cambria Math"/>
                          </a:rPr>
                          <m:t>′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21" name="TextBox 12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65996" y="5191127"/>
                  <a:ext cx="441146" cy="369332"/>
                </a:xfrm>
                <a:prstGeom prst="rect">
                  <a:avLst/>
                </a:prstGeom>
                <a:blipFill rotWithShape="1"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2" name="Moon 121"/>
            <p:cNvSpPr/>
            <p:nvPr/>
          </p:nvSpPr>
          <p:spPr>
            <a:xfrm flipH="1">
              <a:off x="7142066" y="4005070"/>
              <a:ext cx="585000" cy="540000"/>
            </a:xfrm>
            <a:prstGeom prst="moon">
              <a:avLst>
                <a:gd name="adj" fmla="val 86833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3" name="Moon 122"/>
            <p:cNvSpPr/>
            <p:nvPr/>
          </p:nvSpPr>
          <p:spPr>
            <a:xfrm flipH="1">
              <a:off x="7142066" y="4807822"/>
              <a:ext cx="585000" cy="695029"/>
            </a:xfrm>
            <a:prstGeom prst="moon">
              <a:avLst>
                <a:gd name="adj" fmla="val 86833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4" name="Oval 123"/>
            <p:cNvSpPr/>
            <p:nvPr/>
          </p:nvSpPr>
          <p:spPr>
            <a:xfrm>
              <a:off x="7735334" y="4216149"/>
              <a:ext cx="108000" cy="108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5" name="Oval 124"/>
            <p:cNvSpPr/>
            <p:nvPr/>
          </p:nvSpPr>
          <p:spPr>
            <a:xfrm>
              <a:off x="7735334" y="5101531"/>
              <a:ext cx="108000" cy="108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7" name="Oval 126"/>
            <p:cNvSpPr/>
            <p:nvPr/>
          </p:nvSpPr>
          <p:spPr>
            <a:xfrm>
              <a:off x="8766422" y="4612831"/>
              <a:ext cx="108000" cy="108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4" name="Moon 133"/>
            <p:cNvSpPr/>
            <p:nvPr/>
          </p:nvSpPr>
          <p:spPr>
            <a:xfrm flipH="1">
              <a:off x="8178992" y="4392433"/>
              <a:ext cx="585000" cy="540000"/>
            </a:xfrm>
            <a:prstGeom prst="moon">
              <a:avLst>
                <a:gd name="adj" fmla="val 86833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35" name="Line Callout 1 134"/>
          <p:cNvSpPr/>
          <p:nvPr/>
        </p:nvSpPr>
        <p:spPr>
          <a:xfrm>
            <a:off x="7534690" y="5099604"/>
            <a:ext cx="1238190" cy="638963"/>
          </a:xfrm>
          <a:prstGeom prst="borderCallout1">
            <a:avLst>
              <a:gd name="adj1" fmla="val 49423"/>
              <a:gd name="adj2" fmla="val 211"/>
              <a:gd name="adj3" fmla="val 21166"/>
              <a:gd name="adj4" fmla="val -52062"/>
            </a:avLst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tx1"/>
                </a:solidFill>
              </a:rPr>
              <a:t>3-input</a:t>
            </a:r>
          </a:p>
          <a:p>
            <a:pPr algn="ctr"/>
            <a:r>
              <a:rPr lang="en-US" b="1" dirty="0" smtClean="0">
                <a:solidFill>
                  <a:schemeClr val="tx1"/>
                </a:solidFill>
              </a:rPr>
              <a:t>NOR gate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78" name="Line Callout 1 77"/>
          <p:cNvSpPr/>
          <p:nvPr/>
        </p:nvSpPr>
        <p:spPr>
          <a:xfrm>
            <a:off x="1916517" y="5099604"/>
            <a:ext cx="1007036" cy="638963"/>
          </a:xfrm>
          <a:prstGeom prst="borderCallout1">
            <a:avLst>
              <a:gd name="adj1" fmla="val 49423"/>
              <a:gd name="adj2" fmla="val 211"/>
              <a:gd name="adj3" fmla="val 13907"/>
              <a:gd name="adj4" fmla="val -70283"/>
            </a:avLst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tx1"/>
                </a:solidFill>
              </a:rPr>
              <a:t>3-input</a:t>
            </a:r>
          </a:p>
          <a:p>
            <a:pPr algn="ctr"/>
            <a:r>
              <a:rPr lang="en-US" b="1" dirty="0" smtClean="0">
                <a:solidFill>
                  <a:schemeClr val="tx1"/>
                </a:solidFill>
              </a:rPr>
              <a:t>OR gate</a:t>
            </a:r>
            <a:endParaRPr lang="en-US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515767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 animBg="1"/>
      <p:bldP spid="135" grpId="0" animBg="1"/>
      <p:bldP spid="7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/>
          <a:lstStyle/>
          <a:p>
            <a:r>
              <a:rPr lang="en-US" dirty="0" smtClean="0"/>
              <a:t>Exclusive OR / Exclusive NOR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94293"/>
            <a:ext cx="8229600" cy="1843424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400" dirty="0" smtClean="0"/>
              <a:t>Exclusive OR (XOR) is an important Boolean operation used extensively in logic circuits</a:t>
            </a:r>
          </a:p>
          <a:p>
            <a:pPr>
              <a:lnSpc>
                <a:spcPct val="150000"/>
              </a:lnSpc>
            </a:pPr>
            <a:r>
              <a:rPr lang="en-US" sz="2400" dirty="0" smtClean="0"/>
              <a:t>Exclusive NOR (XNOR) is the complement of XOR</a:t>
            </a:r>
            <a:endParaRPr lang="en-US" sz="2400" dirty="0"/>
          </a:p>
        </p:txBody>
      </p:sp>
      <p:grpSp>
        <p:nvGrpSpPr>
          <p:cNvPr id="4" name="Group 3"/>
          <p:cNvGrpSpPr/>
          <p:nvPr/>
        </p:nvGrpSpPr>
        <p:grpSpPr>
          <a:xfrm>
            <a:off x="697227" y="5455472"/>
            <a:ext cx="2408922" cy="1084306"/>
            <a:chOff x="862903" y="5397865"/>
            <a:chExt cx="2609666" cy="1084306"/>
          </a:xfrm>
        </p:grpSpPr>
        <p:cxnSp>
          <p:nvCxnSpPr>
            <p:cNvPr id="5" name="Straight Connector 4"/>
            <p:cNvCxnSpPr/>
            <p:nvPr/>
          </p:nvCxnSpPr>
          <p:spPr>
            <a:xfrm>
              <a:off x="2155574" y="5745417"/>
              <a:ext cx="390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" name="Group 5"/>
            <p:cNvGrpSpPr/>
            <p:nvPr/>
          </p:nvGrpSpPr>
          <p:grpSpPr>
            <a:xfrm>
              <a:off x="1212669" y="5594376"/>
              <a:ext cx="533679" cy="311725"/>
              <a:chOff x="1212670" y="5594376"/>
              <a:chExt cx="390000" cy="311725"/>
            </a:xfrm>
          </p:grpSpPr>
          <p:cxnSp>
            <p:nvCxnSpPr>
              <p:cNvPr id="13" name="Straight Connector 12"/>
              <p:cNvCxnSpPr/>
              <p:nvPr/>
            </p:nvCxnSpPr>
            <p:spPr>
              <a:xfrm>
                <a:off x="1212670" y="5594376"/>
                <a:ext cx="390000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/>
              <p:cNvCxnSpPr/>
              <p:nvPr/>
            </p:nvCxnSpPr>
            <p:spPr>
              <a:xfrm>
                <a:off x="1212670" y="5906101"/>
                <a:ext cx="390000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/>
                <p:cNvSpPr txBox="1"/>
                <p:nvPr/>
              </p:nvSpPr>
              <p:spPr>
                <a:xfrm>
                  <a:off x="862903" y="5397865"/>
                  <a:ext cx="418587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 dirty="0" smtClean="0">
                            <a:latin typeface="Cambria Math"/>
                          </a:rPr>
                          <m:t>𝑥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7" name="TextBox 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2903" y="5397865"/>
                  <a:ext cx="399212" cy="400110"/>
                </a:xfrm>
                <a:prstGeom prst="rect">
                  <a:avLst/>
                </a:prstGeom>
                <a:blipFill rotWithShape="1"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/>
                <p:cNvSpPr txBox="1"/>
                <p:nvPr/>
              </p:nvSpPr>
              <p:spPr>
                <a:xfrm>
                  <a:off x="862903" y="5709590"/>
                  <a:ext cx="423588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dirty="0" smtClean="0">
                            <a:latin typeface="Cambria Math"/>
                          </a:rPr>
                          <m:t>𝑦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8" name="TextBox 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2903" y="5709590"/>
                  <a:ext cx="403828" cy="400110"/>
                </a:xfrm>
                <a:prstGeom prst="rect">
                  <a:avLst/>
                </a:prstGeom>
                <a:blipFill rotWithShape="1">
                  <a:blip r:embed="rId3"/>
                  <a:stretch>
                    <a:fillRect b="-909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/>
                <p:cNvSpPr txBox="1"/>
                <p:nvPr/>
              </p:nvSpPr>
              <p:spPr>
                <a:xfrm>
                  <a:off x="2530019" y="5536769"/>
                  <a:ext cx="94255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 dirty="0" smtClean="0">
                            <a:latin typeface="Cambria Math"/>
                          </a:rPr>
                          <m:t>𝑥</m:t>
                        </m:r>
                        <m:r>
                          <a:rPr lang="en-US" sz="2000" b="0" i="1" dirty="0" smtClean="0">
                            <a:latin typeface="Cambria Math"/>
                          </a:rPr>
                          <m:t> </m:t>
                        </m:r>
                        <m:r>
                          <a:rPr lang="en-US" sz="2000" i="1" dirty="0" smtClean="0">
                            <a:latin typeface="Cambria Math"/>
                            <a:ea typeface="Cambria Math"/>
                            <a:sym typeface="Symbol"/>
                          </a:rPr>
                          <m:t>⨁</m:t>
                        </m:r>
                        <m:r>
                          <a:rPr lang="en-US" sz="2000" b="0" i="1" dirty="0" smtClean="0">
                            <a:latin typeface="Cambria Math"/>
                            <a:sym typeface="Symbol"/>
                          </a:rPr>
                          <m:t> </m:t>
                        </m:r>
                        <m:r>
                          <a:rPr lang="en-US" sz="2000" i="1" dirty="0">
                            <a:latin typeface="Cambria Math"/>
                          </a:rPr>
                          <m:t>𝑦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9" name="TextBox 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30019" y="5536769"/>
                  <a:ext cx="882869" cy="400110"/>
                </a:xfrm>
                <a:prstGeom prst="rect">
                  <a:avLst/>
                </a:prstGeom>
                <a:blipFill rotWithShape="1">
                  <a:blip r:embed="rId4"/>
                  <a:stretch>
                    <a:fillRect b="-1076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" name="TextBox 9"/>
            <p:cNvSpPr txBox="1"/>
            <p:nvPr/>
          </p:nvSpPr>
          <p:spPr>
            <a:xfrm>
              <a:off x="1141056" y="6112839"/>
              <a:ext cx="111773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0" i="0" dirty="0" smtClean="0">
                  <a:latin typeface="+mn-lt"/>
                </a:rPr>
                <a:t>XOR gate</a:t>
              </a:r>
              <a:endParaRPr lang="en-US" dirty="0">
                <a:latin typeface="+mn-lt"/>
              </a:endParaRPr>
            </a:p>
          </p:txBody>
        </p:sp>
        <p:sp>
          <p:nvSpPr>
            <p:cNvPr id="11" name="Moon 10"/>
            <p:cNvSpPr/>
            <p:nvPr/>
          </p:nvSpPr>
          <p:spPr>
            <a:xfrm flipH="1">
              <a:off x="1606450" y="5485644"/>
              <a:ext cx="585000" cy="540000"/>
            </a:xfrm>
            <a:prstGeom prst="moon">
              <a:avLst>
                <a:gd name="adj" fmla="val 87500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Arc 11"/>
            <p:cNvSpPr/>
            <p:nvPr/>
          </p:nvSpPr>
          <p:spPr>
            <a:xfrm>
              <a:off x="1438973" y="5485644"/>
              <a:ext cx="172821" cy="540000"/>
            </a:xfrm>
            <a:prstGeom prst="arc">
              <a:avLst>
                <a:gd name="adj1" fmla="val 16518021"/>
                <a:gd name="adj2" fmla="val 5242113"/>
              </a:avLst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5" name="Group 14"/>
          <p:cNvGrpSpPr/>
          <p:nvPr/>
        </p:nvGrpSpPr>
        <p:grpSpPr>
          <a:xfrm>
            <a:off x="3721189" y="5455472"/>
            <a:ext cx="2686242" cy="1084306"/>
            <a:chOff x="862903" y="5397865"/>
            <a:chExt cx="2910095" cy="1084306"/>
          </a:xfrm>
        </p:grpSpPr>
        <p:cxnSp>
          <p:nvCxnSpPr>
            <p:cNvPr id="16" name="Straight Connector 15"/>
            <p:cNvCxnSpPr/>
            <p:nvPr/>
          </p:nvCxnSpPr>
          <p:spPr>
            <a:xfrm>
              <a:off x="2155574" y="5745417"/>
              <a:ext cx="3900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" name="Group 16"/>
            <p:cNvGrpSpPr/>
            <p:nvPr/>
          </p:nvGrpSpPr>
          <p:grpSpPr>
            <a:xfrm>
              <a:off x="1212669" y="5594376"/>
              <a:ext cx="533679" cy="311725"/>
              <a:chOff x="1212670" y="5594376"/>
              <a:chExt cx="390000" cy="311725"/>
            </a:xfrm>
          </p:grpSpPr>
          <p:cxnSp>
            <p:nvCxnSpPr>
              <p:cNvPr id="25" name="Straight Connector 24"/>
              <p:cNvCxnSpPr/>
              <p:nvPr/>
            </p:nvCxnSpPr>
            <p:spPr>
              <a:xfrm>
                <a:off x="1212670" y="5594376"/>
                <a:ext cx="390000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/>
              <p:cNvCxnSpPr/>
              <p:nvPr/>
            </p:nvCxnSpPr>
            <p:spPr>
              <a:xfrm>
                <a:off x="1212670" y="5906101"/>
                <a:ext cx="390000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/>
                <p:cNvSpPr txBox="1"/>
                <p:nvPr/>
              </p:nvSpPr>
              <p:spPr>
                <a:xfrm>
                  <a:off x="862903" y="5397865"/>
                  <a:ext cx="418587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 dirty="0" smtClean="0">
                            <a:latin typeface="Cambria Math"/>
                          </a:rPr>
                          <m:t>𝑥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18" name="TextBox 1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2903" y="5397865"/>
                  <a:ext cx="399212" cy="400110"/>
                </a:xfrm>
                <a:prstGeom prst="rect">
                  <a:avLst/>
                </a:prstGeom>
                <a:blipFill rotWithShape="1"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/>
                <p:cNvSpPr txBox="1"/>
                <p:nvPr/>
              </p:nvSpPr>
              <p:spPr>
                <a:xfrm>
                  <a:off x="862903" y="5709590"/>
                  <a:ext cx="423588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dirty="0" smtClean="0">
                            <a:latin typeface="Cambria Math"/>
                          </a:rPr>
                          <m:t>𝑦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19" name="TextBox 1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2903" y="5709590"/>
                  <a:ext cx="403828" cy="400110"/>
                </a:xfrm>
                <a:prstGeom prst="rect">
                  <a:avLst/>
                </a:prstGeom>
                <a:blipFill rotWithShape="1">
                  <a:blip r:embed="rId6"/>
                  <a:stretch>
                    <a:fillRect b="-909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/>
                <p:cNvSpPr txBox="1"/>
                <p:nvPr/>
              </p:nvSpPr>
              <p:spPr>
                <a:xfrm>
                  <a:off x="2530019" y="5536769"/>
                  <a:ext cx="1242979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dirty="0" smtClean="0">
                            <a:latin typeface="Cambria Math"/>
                          </a:rPr>
                          <m:t>(</m:t>
                        </m:r>
                        <m:r>
                          <a:rPr lang="en-US" sz="2000" i="1" dirty="0">
                            <a:latin typeface="Cambria Math"/>
                          </a:rPr>
                          <m:t>𝑥</m:t>
                        </m:r>
                        <m:r>
                          <a:rPr lang="en-US" sz="2000" b="0" i="1" dirty="0" smtClean="0">
                            <a:latin typeface="Cambria Math"/>
                          </a:rPr>
                          <m:t> </m:t>
                        </m:r>
                        <m:r>
                          <a:rPr lang="en-US" sz="2000" i="1" dirty="0" smtClean="0">
                            <a:latin typeface="Cambria Math"/>
                            <a:ea typeface="Cambria Math"/>
                            <a:sym typeface="Symbol"/>
                          </a:rPr>
                          <m:t>⨁</m:t>
                        </m:r>
                        <m:r>
                          <a:rPr lang="en-US" sz="2000" b="0" i="1" dirty="0" smtClean="0">
                            <a:latin typeface="Cambria Math"/>
                            <a:sym typeface="Symbol"/>
                          </a:rPr>
                          <m:t> </m:t>
                        </m:r>
                        <m:r>
                          <a:rPr lang="en-US" sz="2000" i="1" dirty="0">
                            <a:latin typeface="Cambria Math"/>
                          </a:rPr>
                          <m:t>𝑦</m:t>
                        </m:r>
                        <m:r>
                          <a:rPr lang="en-US" sz="2000" b="0" i="1" dirty="0" smtClean="0">
                            <a:latin typeface="Cambria Math"/>
                          </a:rPr>
                          <m:t>)′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20" name="TextBox 1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30019" y="5536769"/>
                  <a:ext cx="1160189" cy="400110"/>
                </a:xfrm>
                <a:prstGeom prst="rect">
                  <a:avLst/>
                </a:prstGeom>
                <a:blipFill rotWithShape="1">
                  <a:blip r:embed="rId7"/>
                  <a:stretch>
                    <a:fillRect b="-1846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1" name="TextBox 20"/>
            <p:cNvSpPr txBox="1"/>
            <p:nvPr/>
          </p:nvSpPr>
          <p:spPr>
            <a:xfrm>
              <a:off x="1141056" y="6112839"/>
              <a:ext cx="128618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0" i="0" dirty="0" smtClean="0">
                  <a:latin typeface="+mn-lt"/>
                </a:rPr>
                <a:t>XNOR gate</a:t>
              </a:r>
              <a:endParaRPr lang="en-US" dirty="0">
                <a:latin typeface="+mn-lt"/>
              </a:endParaRPr>
            </a:p>
          </p:txBody>
        </p:sp>
        <p:sp>
          <p:nvSpPr>
            <p:cNvPr id="22" name="Moon 21"/>
            <p:cNvSpPr/>
            <p:nvPr/>
          </p:nvSpPr>
          <p:spPr>
            <a:xfrm flipH="1">
              <a:off x="1496046" y="5485644"/>
              <a:ext cx="585000" cy="540000"/>
            </a:xfrm>
            <a:prstGeom prst="moon">
              <a:avLst>
                <a:gd name="adj" fmla="val 87500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Oval 22"/>
            <p:cNvSpPr/>
            <p:nvPr/>
          </p:nvSpPr>
          <p:spPr>
            <a:xfrm>
              <a:off x="2079747" y="5687033"/>
              <a:ext cx="115214" cy="11521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Arc 23"/>
            <p:cNvSpPr/>
            <p:nvPr/>
          </p:nvSpPr>
          <p:spPr>
            <a:xfrm>
              <a:off x="1328569" y="5485644"/>
              <a:ext cx="172821" cy="540000"/>
            </a:xfrm>
            <a:prstGeom prst="arc">
              <a:avLst>
                <a:gd name="adj1" fmla="val 16518021"/>
                <a:gd name="adj2" fmla="val 5242113"/>
              </a:avLst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aphicFrame>
        <p:nvGraphicFramePr>
          <p:cNvPr id="27" name="Table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8199545"/>
              </p:ext>
            </p:extLst>
          </p:nvPr>
        </p:nvGraphicFramePr>
        <p:xfrm>
          <a:off x="811744" y="2986424"/>
          <a:ext cx="1807974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0798"/>
                <a:gridCol w="917176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onsolas" panose="020B0609020204030204" pitchFamily="49" charset="0"/>
                        </a:rPr>
                        <a:t>x</a:t>
                      </a:r>
                      <a:r>
                        <a:rPr lang="en-US" sz="2400" baseline="0" dirty="0" smtClean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onsolas" panose="020B0609020204030204" pitchFamily="49" charset="0"/>
                        </a:rPr>
                        <a:t>   y</a:t>
                      </a:r>
                      <a:endParaRPr lang="en-US" sz="24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onsolas" panose="020B0609020204030204" pitchFamily="49" charset="0"/>
                      </a:endParaRPr>
                    </a:p>
                  </a:txBody>
                  <a:tcPr marL="84406" marR="8440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onsolas" panose="020B0609020204030204" pitchFamily="49" charset="0"/>
                        </a:rPr>
                        <a:t>XOR</a:t>
                      </a:r>
                      <a:endParaRPr lang="en-US" sz="24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onsolas" panose="020B0609020204030204" pitchFamily="49" charset="0"/>
                      </a:endParaRPr>
                    </a:p>
                  </a:txBody>
                  <a:tcPr marL="84406" marR="84406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0  0</a:t>
                      </a:r>
                      <a:endParaRPr lang="en-US" sz="2400" dirty="0"/>
                    </a:p>
                  </a:txBody>
                  <a:tcPr marL="84406" marR="8440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0</a:t>
                      </a:r>
                      <a:endParaRPr lang="en-US" sz="2400" dirty="0"/>
                    </a:p>
                  </a:txBody>
                  <a:tcPr marL="84406" marR="84406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0  1</a:t>
                      </a:r>
                      <a:endParaRPr lang="en-US" sz="2400" dirty="0"/>
                    </a:p>
                  </a:txBody>
                  <a:tcPr marL="84406" marR="8440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1</a:t>
                      </a:r>
                      <a:endParaRPr lang="en-US" sz="2400" dirty="0"/>
                    </a:p>
                  </a:txBody>
                  <a:tcPr marL="84406" marR="84406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1  0</a:t>
                      </a:r>
                      <a:endParaRPr lang="en-US" sz="2400" dirty="0"/>
                    </a:p>
                  </a:txBody>
                  <a:tcPr marL="84406" marR="8440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1</a:t>
                      </a:r>
                      <a:endParaRPr lang="en-US" sz="2400" dirty="0"/>
                    </a:p>
                  </a:txBody>
                  <a:tcPr marL="84406" marR="84406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1  1</a:t>
                      </a:r>
                      <a:endParaRPr lang="en-US" sz="2400" dirty="0"/>
                    </a:p>
                  </a:txBody>
                  <a:tcPr marL="84406" marR="8440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0</a:t>
                      </a:r>
                      <a:endParaRPr lang="en-US" sz="2400" dirty="0"/>
                    </a:p>
                  </a:txBody>
                  <a:tcPr marL="84406" marR="84406"/>
                </a:tc>
              </a:tr>
            </a:tbl>
          </a:graphicData>
        </a:graphic>
      </p:graphicFrame>
      <p:graphicFrame>
        <p:nvGraphicFramePr>
          <p:cNvPr id="28" name="Table 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2015347"/>
              </p:ext>
            </p:extLst>
          </p:nvPr>
        </p:nvGraphicFramePr>
        <p:xfrm>
          <a:off x="3668013" y="2986424"/>
          <a:ext cx="1807974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0798"/>
                <a:gridCol w="917176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onsolas" panose="020B0609020204030204" pitchFamily="49" charset="0"/>
                        </a:rPr>
                        <a:t>x</a:t>
                      </a:r>
                      <a:r>
                        <a:rPr lang="en-US" sz="2400" baseline="0" dirty="0" smtClean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onsolas" panose="020B0609020204030204" pitchFamily="49" charset="0"/>
                        </a:rPr>
                        <a:t>   y</a:t>
                      </a:r>
                      <a:endParaRPr lang="en-US" sz="24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onsolas" panose="020B0609020204030204" pitchFamily="49" charset="0"/>
                      </a:endParaRPr>
                    </a:p>
                  </a:txBody>
                  <a:tcPr marL="84406" marR="8440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onsolas" panose="020B0609020204030204" pitchFamily="49" charset="0"/>
                        </a:rPr>
                        <a:t>XNOR</a:t>
                      </a:r>
                      <a:endParaRPr lang="en-US" sz="24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onsolas" panose="020B0609020204030204" pitchFamily="49" charset="0"/>
                      </a:endParaRPr>
                    </a:p>
                  </a:txBody>
                  <a:tcPr marL="84406" marR="84406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0  0</a:t>
                      </a:r>
                      <a:endParaRPr lang="en-US" sz="2400" dirty="0"/>
                    </a:p>
                  </a:txBody>
                  <a:tcPr marL="84406" marR="8440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1</a:t>
                      </a:r>
                      <a:endParaRPr lang="en-US" sz="2400" dirty="0"/>
                    </a:p>
                  </a:txBody>
                  <a:tcPr marL="84406" marR="84406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0  1</a:t>
                      </a:r>
                      <a:endParaRPr lang="en-US" sz="2400" dirty="0"/>
                    </a:p>
                  </a:txBody>
                  <a:tcPr marL="84406" marR="8440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0</a:t>
                      </a:r>
                      <a:endParaRPr lang="en-US" sz="2400" dirty="0"/>
                    </a:p>
                  </a:txBody>
                  <a:tcPr marL="84406" marR="84406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1  0</a:t>
                      </a:r>
                      <a:endParaRPr lang="en-US" sz="2400" dirty="0"/>
                    </a:p>
                  </a:txBody>
                  <a:tcPr marL="84406" marR="8440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0</a:t>
                      </a:r>
                      <a:endParaRPr lang="en-US" sz="2400" dirty="0"/>
                    </a:p>
                  </a:txBody>
                  <a:tcPr marL="84406" marR="84406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1  1</a:t>
                      </a:r>
                      <a:endParaRPr lang="en-US" sz="2400" dirty="0"/>
                    </a:p>
                  </a:txBody>
                  <a:tcPr marL="84406" marR="8440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1</a:t>
                      </a:r>
                      <a:endParaRPr lang="en-US" sz="2400" dirty="0"/>
                    </a:p>
                  </a:txBody>
                  <a:tcPr marL="84406" marR="84406"/>
                </a:tc>
              </a:tr>
            </a:tbl>
          </a:graphicData>
        </a:graphic>
      </p:graphicFrame>
      <p:sp>
        <p:nvSpPr>
          <p:cNvPr id="29" name="Content Placeholder 2"/>
          <p:cNvSpPr txBox="1">
            <a:spLocks/>
          </p:cNvSpPr>
          <p:nvPr/>
        </p:nvSpPr>
        <p:spPr bwMode="auto">
          <a:xfrm>
            <a:off x="5901393" y="3601819"/>
            <a:ext cx="2871487" cy="1382570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marL="347663" indent="-347663" algn="l" rtl="0" fontAlgn="base">
              <a:spcBef>
                <a:spcPct val="40000"/>
              </a:spcBef>
              <a:spcAft>
                <a:spcPct val="0"/>
              </a:spcAft>
              <a:buFont typeface="Wingdings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98513" indent="-336550" algn="l" rtl="0" fontAlgn="base">
              <a:spcBef>
                <a:spcPct val="40000"/>
              </a:spcBef>
              <a:spcAft>
                <a:spcPct val="0"/>
              </a:spcAft>
              <a:buFont typeface="Wingdings" pitchFamily="2" charset="2"/>
              <a:buChar char="²"/>
              <a:defRPr sz="2000">
                <a:solidFill>
                  <a:schemeClr val="tx1"/>
                </a:solidFill>
                <a:latin typeface="+mn-lt"/>
                <a:cs typeface="+mn-cs"/>
              </a:defRPr>
            </a:lvl2pPr>
            <a:lvl3pPr marL="1144588" indent="-231775" algn="l" rtl="0" fontAlgn="base">
              <a:spcBef>
                <a:spcPct val="40000"/>
              </a:spcBef>
              <a:spcAft>
                <a:spcPct val="0"/>
              </a:spcAft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  <a:cs typeface="+mn-cs"/>
              </a:defRPr>
            </a:lvl3pPr>
            <a:lvl4pPr marL="1481138" indent="-222250" algn="l" rtl="0" fontAlgn="base">
              <a:spcBef>
                <a:spcPct val="40000"/>
              </a:spcBef>
              <a:spcAft>
                <a:spcPct val="0"/>
              </a:spcAft>
              <a:buChar char="–"/>
              <a:defRPr sz="1600">
                <a:solidFill>
                  <a:schemeClr val="tx1"/>
                </a:solidFill>
                <a:latin typeface="+mn-lt"/>
                <a:cs typeface="+mn-cs"/>
              </a:defRPr>
            </a:lvl4pPr>
            <a:lvl5pPr marL="1828800" indent="-233363" algn="l" rtl="0" fontAlgn="base">
              <a:spcBef>
                <a:spcPct val="4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  <a:cs typeface="+mn-cs"/>
              </a:defRPr>
            </a:lvl5pPr>
            <a:lvl6pPr marL="2286000" indent="-233363" algn="l" rtl="0" fontAlgn="base">
              <a:spcBef>
                <a:spcPct val="4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  <a:cs typeface="+mn-cs"/>
              </a:defRPr>
            </a:lvl6pPr>
            <a:lvl7pPr marL="2743200" indent="-233363" algn="l" rtl="0" fontAlgn="base">
              <a:spcBef>
                <a:spcPct val="4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  <a:cs typeface="+mn-cs"/>
              </a:defRPr>
            </a:lvl7pPr>
            <a:lvl8pPr marL="3200400" indent="-233363" algn="l" rtl="0" fontAlgn="base">
              <a:spcBef>
                <a:spcPct val="4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  <a:cs typeface="+mn-cs"/>
              </a:defRPr>
            </a:lvl8pPr>
            <a:lvl9pPr marL="3657600" indent="-233363" algn="l" rtl="0" fontAlgn="base">
              <a:spcBef>
                <a:spcPct val="4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 algn="ctr">
              <a:lnSpc>
                <a:spcPct val="150000"/>
              </a:lnSpc>
              <a:spcBef>
                <a:spcPts val="0"/>
              </a:spcBef>
              <a:buNone/>
            </a:pPr>
            <a:r>
              <a:rPr lang="en-US" kern="0" dirty="0" smtClean="0">
                <a:ea typeface="Cambria Math" panose="02040503050406030204" pitchFamily="18" charset="0"/>
              </a:rPr>
              <a:t>XNOR is also known as </a:t>
            </a:r>
            <a:r>
              <a:rPr lang="en-US" b="1" kern="0" dirty="0" smtClean="0">
                <a:solidFill>
                  <a:srgbClr val="FF0000"/>
                </a:solidFill>
                <a:ea typeface="Cambria Math" panose="02040503050406030204" pitchFamily="18" charset="0"/>
              </a:rPr>
              <a:t>equivalence</a:t>
            </a:r>
          </a:p>
        </p:txBody>
      </p:sp>
    </p:spTree>
    <p:extLst>
      <p:ext uri="{BB962C8B-B14F-4D97-AF65-F5344CB8AC3E}">
        <p14:creationId xmlns:p14="http://schemas.microsoft.com/office/powerpoint/2010/main" val="9992632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dirty="0" smtClean="0"/>
              <a:t>XOR / XNOR Functions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17945" y="836686"/>
                <a:ext cx="8561286" cy="5703092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20000"/>
                  </a:lnSpc>
                  <a:spcBef>
                    <a:spcPts val="1000"/>
                  </a:spcBef>
                </a:pPr>
                <a:r>
                  <a:rPr lang="en-US" sz="2000" dirty="0" smtClean="0"/>
                  <a:t>The XOR function is: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/>
                      </a:rPr>
                      <m:t>𝑥</m:t>
                    </m:r>
                    <m:r>
                      <a:rPr lang="en-US" sz="2000" b="0" i="1" dirty="0" smtClean="0">
                        <a:latin typeface="Cambria Math"/>
                      </a:rPr>
                      <m:t> </m:t>
                    </m:r>
                    <m:r>
                      <a:rPr lang="en-US" sz="2000" i="1" dirty="0" smtClean="0">
                        <a:latin typeface="Cambria Math"/>
                        <a:ea typeface="Cambria Math"/>
                        <a:sym typeface="Symbol"/>
                      </a:rPr>
                      <m:t>⨁</m:t>
                    </m:r>
                    <m:r>
                      <a:rPr lang="en-US" sz="2000" b="0" i="1" dirty="0" smtClean="0">
                        <a:latin typeface="Cambria Math"/>
                        <a:sym typeface="Symbol"/>
                      </a:rPr>
                      <m:t> </m:t>
                    </m:r>
                    <m:r>
                      <a:rPr lang="en-US" sz="2000" i="1" dirty="0" err="1" smtClean="0">
                        <a:latin typeface="Cambria Math"/>
                      </a:rPr>
                      <m:t>𝑦</m:t>
                    </m:r>
                    <m:r>
                      <a:rPr lang="en-US" sz="2000" i="1" dirty="0" smtClean="0">
                        <a:latin typeface="Cambria Math"/>
                      </a:rPr>
                      <m:t>=</m:t>
                    </m:r>
                    <m:r>
                      <a:rPr lang="en-US" sz="2000" i="1" dirty="0" err="1" smtClean="0">
                        <a:latin typeface="Cambria Math"/>
                      </a:rPr>
                      <m:t>𝑥𝑦</m:t>
                    </m:r>
                    <m:r>
                      <a:rPr lang="en-US" sz="2000" i="1" dirty="0" smtClean="0">
                        <a:latin typeface="Cambria Math"/>
                      </a:rPr>
                      <m:t>′+</m:t>
                    </m:r>
                    <m:r>
                      <a:rPr lang="en-US" sz="2000" i="1" dirty="0" err="1" smtClean="0">
                        <a:latin typeface="Cambria Math"/>
                      </a:rPr>
                      <m:t>𝑥</m:t>
                    </m:r>
                    <m:r>
                      <a:rPr lang="en-US" sz="2000" i="1" dirty="0" err="1" smtClean="0">
                        <a:latin typeface="Cambria Math"/>
                      </a:rPr>
                      <m:t>′</m:t>
                    </m:r>
                    <m:r>
                      <a:rPr lang="en-US" sz="2000" i="1" dirty="0" err="1" smtClean="0">
                        <a:latin typeface="Cambria Math"/>
                      </a:rPr>
                      <m:t>𝑦</m:t>
                    </m:r>
                  </m:oMath>
                </a14:m>
                <a:endParaRPr lang="en-US" sz="2000" dirty="0" smtClean="0"/>
              </a:p>
              <a:p>
                <a:pPr>
                  <a:lnSpc>
                    <a:spcPct val="120000"/>
                  </a:lnSpc>
                  <a:spcBef>
                    <a:spcPts val="1000"/>
                  </a:spcBef>
                </a:pPr>
                <a:r>
                  <a:rPr lang="en-US" sz="2000" dirty="0" smtClean="0"/>
                  <a:t>The XNOR function is: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/>
                      </a:rPr>
                      <m:t>(</m:t>
                    </m:r>
                    <m:r>
                      <a:rPr lang="en-US" sz="2000" i="1" dirty="0" err="1" smtClean="0">
                        <a:latin typeface="Cambria Math"/>
                      </a:rPr>
                      <m:t>𝑥</m:t>
                    </m:r>
                    <m:r>
                      <a:rPr lang="en-US" sz="2000" b="0" i="1" dirty="0" smtClean="0">
                        <a:latin typeface="Cambria Math"/>
                      </a:rPr>
                      <m:t> </m:t>
                    </m:r>
                    <m:r>
                      <a:rPr lang="en-US" sz="2000" i="1" dirty="0" smtClean="0">
                        <a:latin typeface="Cambria Math"/>
                        <a:ea typeface="Cambria Math"/>
                        <a:sym typeface="Symbol"/>
                      </a:rPr>
                      <m:t>⨁</m:t>
                    </m:r>
                    <m:r>
                      <a:rPr lang="en-US" sz="2000" b="0" i="1" dirty="0" smtClean="0">
                        <a:latin typeface="Cambria Math"/>
                        <a:sym typeface="Symbol"/>
                      </a:rPr>
                      <m:t> </m:t>
                    </m:r>
                    <m:r>
                      <a:rPr lang="en-US" sz="2000" i="1" dirty="0" err="1" smtClean="0">
                        <a:latin typeface="Cambria Math"/>
                      </a:rPr>
                      <m:t>𝑦</m:t>
                    </m:r>
                    <m:r>
                      <a:rPr lang="en-US" sz="2000" i="1" dirty="0" smtClean="0">
                        <a:latin typeface="Cambria Math"/>
                      </a:rPr>
                      <m:t>)′=</m:t>
                    </m:r>
                    <m:r>
                      <a:rPr lang="en-US" sz="2000" i="1" dirty="0" err="1" smtClean="0">
                        <a:latin typeface="Cambria Math"/>
                      </a:rPr>
                      <m:t>𝑥𝑦</m:t>
                    </m:r>
                    <m:r>
                      <a:rPr lang="en-US" sz="2000" i="1" dirty="0" err="1" smtClean="0">
                        <a:latin typeface="Cambria Math"/>
                      </a:rPr>
                      <m:t>+</m:t>
                    </m:r>
                    <m:r>
                      <a:rPr lang="en-US" sz="2000" i="1" dirty="0" err="1" smtClean="0">
                        <a:latin typeface="Cambria Math"/>
                      </a:rPr>
                      <m:t>𝑥</m:t>
                    </m:r>
                    <m:r>
                      <a:rPr lang="en-US" sz="2000" i="1" dirty="0" err="1" smtClean="0">
                        <a:latin typeface="Cambria Math"/>
                      </a:rPr>
                      <m:t>′</m:t>
                    </m:r>
                    <m:r>
                      <a:rPr lang="en-US" sz="2000" i="1" dirty="0" err="1" smtClean="0">
                        <a:latin typeface="Cambria Math"/>
                      </a:rPr>
                      <m:t>𝑦</m:t>
                    </m:r>
                    <m:r>
                      <a:rPr lang="en-US" sz="2000" i="1" dirty="0" smtClean="0">
                        <a:latin typeface="Cambria Math"/>
                      </a:rPr>
                      <m:t>′</m:t>
                    </m:r>
                  </m:oMath>
                </a14:m>
                <a:endParaRPr lang="en-US" sz="2000" dirty="0" smtClean="0"/>
              </a:p>
              <a:p>
                <a:pPr>
                  <a:lnSpc>
                    <a:spcPct val="120000"/>
                  </a:lnSpc>
                  <a:spcBef>
                    <a:spcPts val="1000"/>
                  </a:spcBef>
                </a:pPr>
                <a:r>
                  <a:rPr lang="en-US" sz="2000" dirty="0"/>
                  <a:t>XOR and XNOR gates are complex</a:t>
                </a:r>
              </a:p>
              <a:p>
                <a:pPr lvl="1">
                  <a:lnSpc>
                    <a:spcPct val="120000"/>
                  </a:lnSpc>
                  <a:spcBef>
                    <a:spcPts val="1000"/>
                  </a:spcBef>
                </a:pPr>
                <a:r>
                  <a:rPr lang="en-US" sz="1800" dirty="0"/>
                  <a:t>Can be implemented </a:t>
                </a:r>
                <a:r>
                  <a:rPr lang="en-US" sz="1800" dirty="0" smtClean="0"/>
                  <a:t>as </a:t>
                </a:r>
                <a:r>
                  <a:rPr lang="en-US" sz="1800" dirty="0"/>
                  <a:t>a true </a:t>
                </a:r>
                <a:r>
                  <a:rPr lang="en-US" sz="1800" dirty="0" smtClean="0"/>
                  <a:t>gate, or by</a:t>
                </a:r>
              </a:p>
              <a:p>
                <a:pPr lvl="1">
                  <a:lnSpc>
                    <a:spcPct val="120000"/>
                  </a:lnSpc>
                  <a:spcBef>
                    <a:spcPts val="1000"/>
                  </a:spcBef>
                </a:pPr>
                <a:r>
                  <a:rPr lang="en-US" sz="1800" dirty="0" smtClean="0"/>
                  <a:t>Interconnecting other gate types</a:t>
                </a:r>
                <a:endParaRPr lang="en-US" sz="1800" dirty="0"/>
              </a:p>
              <a:p>
                <a:pPr>
                  <a:lnSpc>
                    <a:spcPct val="120000"/>
                  </a:lnSpc>
                  <a:spcBef>
                    <a:spcPts val="1000"/>
                  </a:spcBef>
                </a:pPr>
                <a:r>
                  <a:rPr lang="en-US" sz="2000" dirty="0" smtClean="0"/>
                  <a:t>XOR and XNOR gates do not exist for more than two inputs</a:t>
                </a:r>
              </a:p>
              <a:p>
                <a:pPr lvl="1">
                  <a:lnSpc>
                    <a:spcPct val="120000"/>
                  </a:lnSpc>
                  <a:spcBef>
                    <a:spcPts val="1000"/>
                  </a:spcBef>
                </a:pPr>
                <a:r>
                  <a:rPr lang="en-US" sz="1800" dirty="0" smtClean="0"/>
                  <a:t>For 3 inputs, use two XOR gates</a:t>
                </a:r>
              </a:p>
              <a:p>
                <a:pPr lvl="1">
                  <a:lnSpc>
                    <a:spcPct val="120000"/>
                  </a:lnSpc>
                  <a:spcBef>
                    <a:spcPts val="1000"/>
                  </a:spcBef>
                </a:pPr>
                <a:r>
                  <a:rPr lang="en-US" sz="1800" dirty="0"/>
                  <a:t>The cost of a 3-input XOR gate is greater than the cost of two XOR </a:t>
                </a:r>
                <a:r>
                  <a:rPr lang="en-US" sz="1800" dirty="0" smtClean="0"/>
                  <a:t>gates</a:t>
                </a:r>
                <a:endParaRPr lang="en-US" sz="1800" dirty="0"/>
              </a:p>
              <a:p>
                <a:pPr>
                  <a:lnSpc>
                    <a:spcPct val="120000"/>
                  </a:lnSpc>
                  <a:spcBef>
                    <a:spcPts val="1000"/>
                  </a:spcBef>
                </a:pPr>
                <a:r>
                  <a:rPr lang="en-US" sz="2000" dirty="0" smtClean="0"/>
                  <a:t>Uses for XOR and XNOR gates include:</a:t>
                </a:r>
              </a:p>
              <a:p>
                <a:pPr lvl="1">
                  <a:lnSpc>
                    <a:spcPct val="120000"/>
                  </a:lnSpc>
                  <a:spcBef>
                    <a:spcPts val="1000"/>
                  </a:spcBef>
                </a:pPr>
                <a:r>
                  <a:rPr lang="en-US" sz="1800" dirty="0" smtClean="0"/>
                  <a:t>Adders, subtractors, multipliers, counters, incrementers, decrementers</a:t>
                </a:r>
              </a:p>
              <a:p>
                <a:pPr lvl="1">
                  <a:lnSpc>
                    <a:spcPct val="120000"/>
                  </a:lnSpc>
                  <a:spcBef>
                    <a:spcPts val="1000"/>
                  </a:spcBef>
                </a:pPr>
                <a:r>
                  <a:rPr lang="en-US" sz="1800" dirty="0" smtClean="0"/>
                  <a:t>Parity generators and checkers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17945" y="836686"/>
                <a:ext cx="8561286" cy="5703092"/>
              </a:xfrm>
              <a:blipFill rotWithShape="1">
                <a:blip r:embed="rId2"/>
                <a:stretch>
                  <a:fillRect l="-5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797125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/>
          <a:lstStyle/>
          <a:p>
            <a:r>
              <a:rPr lang="en-US" dirty="0" smtClean="0"/>
              <a:t>XOR and XNOR Properties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009507"/>
                <a:ext cx="8229600" cy="5415057"/>
              </a:xfrm>
            </p:spPr>
            <p:txBody>
              <a:bodyPr>
                <a:normAutofit/>
              </a:bodyPr>
              <a:lstStyle/>
              <a:p>
                <a:pPr>
                  <a:spcBef>
                    <a:spcPts val="2500"/>
                  </a:spcBef>
                  <a:tabLst>
                    <a:tab pos="4306888" algn="l"/>
                  </a:tabLst>
                </a:pPr>
                <a14:m>
                  <m:oMath xmlns:m="http://schemas.openxmlformats.org/officeDocument/2006/math">
                    <m:r>
                      <a:rPr lang="en-US" sz="2400" b="0" i="1" dirty="0" smtClean="0">
                        <a:latin typeface="Cambria Math"/>
                        <a:sym typeface="Symbol"/>
                      </a:rPr>
                      <m:t>𝑥</m:t>
                    </m:r>
                    <m:r>
                      <m:rPr>
                        <m:nor/>
                      </m:rPr>
                      <a:rPr lang="en-US" sz="2400" b="0" i="0" dirty="0" smtClean="0">
                        <a:latin typeface="Cambria Math"/>
                        <a:sym typeface="Symbol"/>
                      </a:rPr>
                      <m:t> </m:t>
                    </m:r>
                    <m:r>
                      <m:rPr>
                        <m:nor/>
                      </m:rPr>
                      <a:rPr lang="en-US" sz="2400" dirty="0">
                        <a:latin typeface="Cambria Math"/>
                      </a:rPr>
                      <m:t>⨁</m:t>
                    </m:r>
                    <m:r>
                      <a:rPr lang="en-US" sz="2400" b="0" i="1" dirty="0" smtClean="0">
                        <a:latin typeface="Cambria Math"/>
                      </a:rPr>
                      <m:t> 0</m:t>
                    </m:r>
                    <m:r>
                      <a:rPr lang="en-US" sz="2400" i="1" dirty="0" smtClean="0">
                        <a:latin typeface="Cambria Math"/>
                        <a:sym typeface="Symbol"/>
                      </a:rPr>
                      <m:t>=</m:t>
                    </m:r>
                    <m:r>
                      <a:rPr lang="en-US" sz="2400" i="1" dirty="0" smtClean="0">
                        <a:latin typeface="Cambria Math"/>
                        <a:sym typeface="Symbol"/>
                      </a:rPr>
                      <m:t>𝑥</m:t>
                    </m:r>
                  </m:oMath>
                </a14:m>
                <a:r>
                  <a:rPr lang="en-US" sz="2400" dirty="0" smtClean="0">
                    <a:sym typeface="Symbol"/>
                  </a:rPr>
                  <a:t>	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latin typeface="Cambria Math"/>
                        <a:sym typeface="Symbol"/>
                      </a:rPr>
                      <m:t>𝑥</m:t>
                    </m:r>
                    <m:r>
                      <a:rPr lang="en-US" sz="2400" b="0" i="1" dirty="0" smtClean="0">
                        <a:latin typeface="Cambria Math"/>
                        <a:sym typeface="Symbol"/>
                      </a:rPr>
                      <m:t> </m:t>
                    </m:r>
                    <m:r>
                      <m:rPr>
                        <m:nor/>
                      </m:rPr>
                      <a:rPr lang="en-US" sz="2400" dirty="0">
                        <a:latin typeface="Cambria Math"/>
                      </a:rPr>
                      <m:t>⨁</m:t>
                    </m:r>
                    <m:r>
                      <m:rPr>
                        <m:nor/>
                      </m:rPr>
                      <a:rPr lang="en-US" sz="2400" b="0" i="0" dirty="0" smtClean="0">
                        <a:latin typeface="Cambria Math"/>
                      </a:rPr>
                      <m:t> </m:t>
                    </m:r>
                    <m:r>
                      <a:rPr lang="en-US" sz="2400" b="0" i="1" dirty="0" smtClean="0">
                        <a:latin typeface="Cambria Math"/>
                      </a:rPr>
                      <m:t>1=</m:t>
                    </m:r>
                    <m:r>
                      <a:rPr lang="en-US" sz="2400" i="1" dirty="0" smtClean="0">
                        <a:latin typeface="Cambria Math"/>
                        <a:sym typeface="Symbol"/>
                      </a:rPr>
                      <m:t>𝑥</m:t>
                    </m:r>
                    <m:r>
                      <a:rPr lang="en-US" sz="2400" i="1" dirty="0" smtClean="0">
                        <a:latin typeface="Cambria Math"/>
                        <a:sym typeface="Symbol"/>
                      </a:rPr>
                      <m:t>′</m:t>
                    </m:r>
                  </m:oMath>
                </a14:m>
                <a:endParaRPr lang="en-US" sz="2400" dirty="0" smtClean="0">
                  <a:sym typeface="Symbol"/>
                </a:endParaRPr>
              </a:p>
              <a:p>
                <a:pPr>
                  <a:spcBef>
                    <a:spcPts val="2500"/>
                  </a:spcBef>
                  <a:tabLst>
                    <a:tab pos="4306888" algn="l"/>
                  </a:tabLst>
                </a:pP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/>
                      </a:rPr>
                      <m:t>𝑥</m:t>
                    </m:r>
                    <m:r>
                      <a:rPr lang="en-US" sz="2400" b="0" i="1" dirty="0" smtClean="0">
                        <a:latin typeface="Cambria Math"/>
                      </a:rPr>
                      <m:t> </m:t>
                    </m:r>
                    <m:r>
                      <a:rPr lang="en-US" sz="2400" i="1" dirty="0">
                        <a:latin typeface="Cambria Math"/>
                      </a:rPr>
                      <m:t>⨁</m:t>
                    </m:r>
                    <m:r>
                      <a:rPr lang="en-US" sz="2400" b="0" i="1" dirty="0" smtClean="0">
                        <a:latin typeface="Cambria Math"/>
                      </a:rPr>
                      <m:t> </m:t>
                    </m:r>
                    <m:r>
                      <a:rPr lang="en-US" sz="2400" b="0" i="1" dirty="0" smtClean="0">
                        <a:latin typeface="Cambria Math"/>
                      </a:rPr>
                      <m:t>𝑥</m:t>
                    </m:r>
                    <m:r>
                      <a:rPr lang="en-US" sz="2400" i="1" dirty="0" smtClean="0">
                        <a:latin typeface="Cambria Math"/>
                        <a:sym typeface="Symbol"/>
                      </a:rPr>
                      <m:t>=0</m:t>
                    </m:r>
                  </m:oMath>
                </a14:m>
                <a:r>
                  <a:rPr lang="en-US" sz="2400" dirty="0" smtClean="0">
                    <a:sym typeface="Symbol"/>
                  </a:rPr>
                  <a:t>	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/>
                      </a:rPr>
                      <m:t>𝑥</m:t>
                    </m:r>
                    <m:r>
                      <m:rPr>
                        <m:nor/>
                      </m:rPr>
                      <a:rPr lang="en-US" sz="2400" b="0" i="0" dirty="0" smtClean="0">
                        <a:latin typeface="Cambria Math"/>
                      </a:rPr>
                      <m:t> </m:t>
                    </m:r>
                    <m:r>
                      <m:rPr>
                        <m:nor/>
                      </m:rPr>
                      <a:rPr lang="en-US" sz="2400" dirty="0">
                        <a:latin typeface="Cambria Math"/>
                      </a:rPr>
                      <m:t>⨁</m:t>
                    </m:r>
                    <m:r>
                      <a:rPr lang="en-US" sz="2400" b="0" i="1" dirty="0" smtClean="0">
                        <a:latin typeface="Cambria Math"/>
                      </a:rPr>
                      <m:t> </m:t>
                    </m:r>
                    <m:r>
                      <a:rPr lang="en-US" sz="2400" b="0" i="1" dirty="0" smtClean="0">
                        <a:latin typeface="Cambria Math"/>
                      </a:rPr>
                      <m:t>𝑥</m:t>
                    </m:r>
                    <m:r>
                      <a:rPr lang="en-US" sz="2400" b="0" i="1" dirty="0" smtClean="0">
                        <a:latin typeface="Cambria Math"/>
                      </a:rPr>
                      <m:t>′=1</m:t>
                    </m:r>
                  </m:oMath>
                </a14:m>
                <a:endParaRPr lang="en-US" sz="2400" dirty="0" smtClean="0">
                  <a:sym typeface="Symbol"/>
                </a:endParaRPr>
              </a:p>
              <a:p>
                <a:pPr>
                  <a:spcBef>
                    <a:spcPts val="2500"/>
                  </a:spcBef>
                  <a:tabLst>
                    <a:tab pos="4306888" algn="l"/>
                  </a:tabLst>
                </a:pP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/>
                      </a:rPr>
                      <m:t>𝑥</m:t>
                    </m:r>
                    <m:r>
                      <m:rPr>
                        <m:nor/>
                      </m:rPr>
                      <a:rPr lang="en-US" sz="2400" b="0" i="0" dirty="0" smtClean="0">
                        <a:latin typeface="Cambria Math"/>
                      </a:rPr>
                      <m:t> </m:t>
                    </m:r>
                    <m:r>
                      <m:rPr>
                        <m:nor/>
                      </m:rPr>
                      <a:rPr lang="en-US" sz="2400" dirty="0">
                        <a:latin typeface="Cambria Math"/>
                      </a:rPr>
                      <m:t>⨁</m:t>
                    </m:r>
                    <m:r>
                      <a:rPr lang="en-US" sz="2400" b="0" i="1" dirty="0" smtClean="0">
                        <a:latin typeface="Cambria Math"/>
                      </a:rPr>
                      <m:t> </m:t>
                    </m:r>
                    <m:r>
                      <a:rPr lang="en-US" sz="2400" b="0" i="1" dirty="0" smtClean="0">
                        <a:latin typeface="Cambria Math"/>
                      </a:rPr>
                      <m:t>𝑦</m:t>
                    </m:r>
                    <m:r>
                      <a:rPr lang="en-US" sz="2400" i="1" dirty="0" smtClean="0">
                        <a:latin typeface="Cambria Math"/>
                        <a:sym typeface="Symbol"/>
                      </a:rPr>
                      <m:t>=</m:t>
                    </m:r>
                    <m:r>
                      <a:rPr lang="en-US" sz="2400" b="0" i="1" dirty="0" smtClean="0">
                        <a:latin typeface="Cambria Math"/>
                        <a:sym typeface="Symbol"/>
                      </a:rPr>
                      <m:t>𝑦</m:t>
                    </m:r>
                    <m:r>
                      <m:rPr>
                        <m:nor/>
                      </m:rPr>
                      <a:rPr lang="en-US" sz="2400" b="0" i="0" dirty="0" smtClean="0">
                        <a:latin typeface="Cambria Math"/>
                        <a:sym typeface="Symbol"/>
                      </a:rPr>
                      <m:t> </m:t>
                    </m:r>
                    <m:r>
                      <m:rPr>
                        <m:nor/>
                      </m:rPr>
                      <a:rPr lang="en-US" sz="2400" dirty="0">
                        <a:latin typeface="Cambria Math"/>
                      </a:rPr>
                      <m:t>⨁</m:t>
                    </m:r>
                    <m:r>
                      <a:rPr lang="en-US" sz="2400" b="0" i="1" dirty="0" smtClean="0">
                        <a:latin typeface="Cambria Math"/>
                      </a:rPr>
                      <m:t> </m:t>
                    </m:r>
                    <m:r>
                      <a:rPr lang="en-US" sz="2400" b="0" i="1" dirty="0" smtClean="0">
                        <a:latin typeface="Cambria Math"/>
                      </a:rPr>
                      <m:t>𝑥</m:t>
                    </m:r>
                  </m:oMath>
                </a14:m>
                <a:endParaRPr lang="en-US" sz="2400" dirty="0" smtClean="0">
                  <a:sym typeface="Symbol"/>
                </a:endParaRPr>
              </a:p>
              <a:p>
                <a:pPr>
                  <a:spcBef>
                    <a:spcPts val="2500"/>
                  </a:spcBef>
                  <a:tabLst>
                    <a:tab pos="4306888" algn="l"/>
                  </a:tabLst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0" i="1" dirty="0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US" sz="2400" i="1" dirty="0"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en-US" sz="2400" b="0" i="1" dirty="0" smtClean="0">
                            <a:latin typeface="Cambria Math"/>
                          </a:rPr>
                          <m:t>′</m:t>
                        </m:r>
                      </m:sup>
                    </m:sSup>
                    <m:r>
                      <m:rPr>
                        <m:nor/>
                      </m:rPr>
                      <a:rPr lang="en-US" sz="2400" b="0" i="0" dirty="0" smtClean="0">
                        <a:latin typeface="Cambria Math"/>
                      </a:rPr>
                      <m:t> </m:t>
                    </m:r>
                    <m:r>
                      <m:rPr>
                        <m:nor/>
                      </m:rPr>
                      <a:rPr lang="en-US" sz="2400" dirty="0">
                        <a:latin typeface="Cambria Math"/>
                      </a:rPr>
                      <m:t>⨁</m:t>
                    </m:r>
                    <m:r>
                      <a:rPr lang="en-US" sz="2400" b="0" i="1" dirty="0" smtClean="0">
                        <a:latin typeface="Cambria Math"/>
                      </a:rPr>
                      <m:t> </m:t>
                    </m:r>
                    <m:sSup>
                      <m:sSupPr>
                        <m:ctrlPr>
                          <a:rPr lang="en-US" sz="2400" b="0" i="1" dirty="0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US" sz="2400" b="0" i="1" dirty="0" smtClean="0">
                            <a:latin typeface="Cambria Math"/>
                          </a:rPr>
                          <m:t>𝑦</m:t>
                        </m:r>
                      </m:e>
                      <m:sup>
                        <m:r>
                          <a:rPr lang="en-US" sz="2400" b="0" i="1" dirty="0" smtClean="0">
                            <a:latin typeface="Cambria Math"/>
                          </a:rPr>
                          <m:t>′</m:t>
                        </m:r>
                      </m:sup>
                    </m:sSup>
                    <m:r>
                      <a:rPr lang="en-US" sz="2400" b="0" i="1" dirty="0" smtClean="0">
                        <a:latin typeface="Cambria Math"/>
                      </a:rPr>
                      <m:t>=</m:t>
                    </m:r>
                    <m:r>
                      <a:rPr lang="en-US" sz="2400" b="0" i="1" dirty="0" smtClean="0">
                        <a:latin typeface="Cambria Math"/>
                        <a:sym typeface="Symbol"/>
                      </a:rPr>
                      <m:t>𝑥</m:t>
                    </m:r>
                    <m:r>
                      <m:rPr>
                        <m:nor/>
                      </m:rPr>
                      <a:rPr lang="en-US" sz="2400" b="0" i="0" dirty="0" smtClean="0">
                        <a:latin typeface="Cambria Math"/>
                        <a:sym typeface="Symbol"/>
                      </a:rPr>
                      <m:t> </m:t>
                    </m:r>
                    <m:r>
                      <m:rPr>
                        <m:nor/>
                      </m:rPr>
                      <a:rPr lang="en-US" sz="2400" dirty="0">
                        <a:latin typeface="Cambria Math"/>
                      </a:rPr>
                      <m:t>⨁</m:t>
                    </m:r>
                    <m:r>
                      <m:rPr>
                        <m:nor/>
                      </m:rPr>
                      <a:rPr lang="en-US" sz="2400" b="0" i="0" dirty="0" smtClean="0">
                        <a:latin typeface="Cambria Math"/>
                      </a:rPr>
                      <m:t> </m:t>
                    </m:r>
                    <m:r>
                      <a:rPr lang="en-US" sz="2400" b="0" i="1" dirty="0" smtClean="0">
                        <a:latin typeface="Cambria Math"/>
                      </a:rPr>
                      <m:t>𝑦</m:t>
                    </m:r>
                  </m:oMath>
                </a14:m>
                <a:endParaRPr lang="en-US" sz="2400" b="0" dirty="0" smtClean="0"/>
              </a:p>
              <a:p>
                <a:pPr>
                  <a:spcBef>
                    <a:spcPts val="2500"/>
                  </a:spcBef>
                  <a:tabLst>
                    <a:tab pos="4306888" algn="l"/>
                  </a:tabLst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0" i="1" smtClean="0">
                            <a:latin typeface="Cambria Math"/>
                            <a:ea typeface="Cambria Math"/>
                            <a:sym typeface="Symbol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400" b="0" i="1" smtClean="0">
                                <a:latin typeface="Cambria Math"/>
                                <a:sym typeface="Symbol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/>
                                <a:sym typeface="Symbol"/>
                              </a:rPr>
                              <m:t>𝑥</m:t>
                            </m:r>
                            <m:r>
                              <m:rPr>
                                <m:nor/>
                              </m:rPr>
                              <a:rPr lang="en-US" sz="2400" b="0" i="0" smtClean="0">
                                <a:latin typeface="Cambria Math"/>
                                <a:sym typeface="Symbol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sz="2400" dirty="0">
                                <a:latin typeface="Cambria Math"/>
                              </a:rPr>
                              <m:t>⨁</m:t>
                            </m:r>
                            <m:r>
                              <a:rPr lang="en-US" sz="2400" b="0" i="1" dirty="0" smtClean="0">
                                <a:latin typeface="Cambria Math"/>
                              </a:rPr>
                              <m:t> </m:t>
                            </m:r>
                            <m:r>
                              <a:rPr lang="en-US" sz="2400" b="0" i="1" smtClean="0">
                                <a:latin typeface="Cambria Math"/>
                                <a:ea typeface="Cambria Math"/>
                                <a:sym typeface="Symbol"/>
                              </a:rPr>
                              <m:t>𝑦</m:t>
                            </m:r>
                          </m:e>
                        </m:d>
                      </m:e>
                      <m:sup>
                        <m:r>
                          <a:rPr lang="en-US" sz="2400" b="0" i="1" smtClean="0">
                            <a:latin typeface="Cambria Math"/>
                            <a:ea typeface="Cambria Math"/>
                            <a:sym typeface="Symbol"/>
                          </a:rPr>
                          <m:t>′</m:t>
                        </m:r>
                      </m:sup>
                    </m:sSup>
                    <m:r>
                      <a:rPr lang="en-US" sz="2400" i="1">
                        <a:latin typeface="Cambria Math"/>
                        <a:ea typeface="Cambria Math"/>
                        <a:sym typeface="Symbol"/>
                      </a:rPr>
                      <m:t>=</m:t>
                    </m:r>
                    <m:sSup>
                      <m:sSupPr>
                        <m:ctrlPr>
                          <a:rPr lang="en-US" sz="2400" b="0" i="1" smtClean="0">
                            <a:latin typeface="Cambria Math"/>
                            <a:ea typeface="Cambria Math"/>
                            <a:sym typeface="Symbol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/>
                            <a:ea typeface="Cambria Math"/>
                            <a:sym typeface="Symbol"/>
                          </a:rPr>
                          <m:t>𝑥</m:t>
                        </m:r>
                      </m:e>
                      <m:sup>
                        <m:r>
                          <a:rPr lang="en-US" sz="2400" b="0" i="1" smtClean="0">
                            <a:latin typeface="Cambria Math"/>
                            <a:ea typeface="Cambria Math"/>
                            <a:sym typeface="Symbol"/>
                          </a:rPr>
                          <m:t>′</m:t>
                        </m:r>
                      </m:sup>
                    </m:sSup>
                    <m:r>
                      <m:rPr>
                        <m:nor/>
                      </m:rPr>
                      <a:rPr lang="en-US" sz="2400" b="0" i="0" smtClean="0">
                        <a:latin typeface="Cambria Math"/>
                        <a:ea typeface="Cambria Math"/>
                        <a:sym typeface="Symbol"/>
                      </a:rPr>
                      <m:t> </m:t>
                    </m:r>
                    <m:r>
                      <m:rPr>
                        <m:nor/>
                      </m:rPr>
                      <a:rPr lang="en-US" sz="2400" dirty="0">
                        <a:latin typeface="Cambria Math"/>
                      </a:rPr>
                      <m:t>⨁</m:t>
                    </m:r>
                    <m:r>
                      <a:rPr lang="en-US" sz="2400" b="0" i="1" dirty="0" smtClean="0">
                        <a:latin typeface="Cambria Math"/>
                      </a:rPr>
                      <m:t> </m:t>
                    </m:r>
                    <m:r>
                      <a:rPr lang="en-US" sz="2400" b="0" i="1" smtClean="0">
                        <a:latin typeface="Cambria Math"/>
                        <a:ea typeface="Cambria Math"/>
                        <a:sym typeface="Symbol"/>
                      </a:rPr>
                      <m:t>𝑦</m:t>
                    </m:r>
                    <m:r>
                      <a:rPr lang="en-US" sz="2400" b="0" i="1" smtClean="0">
                        <a:latin typeface="Cambria Math"/>
                        <a:ea typeface="Cambria Math"/>
                        <a:sym typeface="Symbol"/>
                      </a:rPr>
                      <m:t>=</m:t>
                    </m:r>
                    <m:r>
                      <a:rPr lang="en-US" sz="2400" b="0" i="1" smtClean="0">
                        <a:latin typeface="Cambria Math"/>
                        <a:ea typeface="Cambria Math"/>
                        <a:sym typeface="Symbol"/>
                      </a:rPr>
                      <m:t>𝑥</m:t>
                    </m:r>
                    <m:r>
                      <a:rPr lang="en-US" sz="2400" b="0" i="1" smtClean="0">
                        <a:latin typeface="Cambria Math"/>
                        <a:ea typeface="Cambria Math"/>
                        <a:sym typeface="Symbol"/>
                      </a:rPr>
                      <m:t> </m:t>
                    </m:r>
                    <m:r>
                      <m:rPr>
                        <m:nor/>
                      </m:rPr>
                      <a:rPr lang="en-US" sz="2400" dirty="0">
                        <a:latin typeface="Cambria Math"/>
                      </a:rPr>
                      <m:t>⨁</m:t>
                    </m:r>
                    <m:r>
                      <a:rPr lang="en-US" sz="2400" b="0" i="1" dirty="0" smtClean="0">
                        <a:latin typeface="Cambria Math"/>
                      </a:rPr>
                      <m:t> </m:t>
                    </m:r>
                    <m:r>
                      <a:rPr lang="en-US" sz="2400" b="0" i="1" smtClean="0">
                        <a:latin typeface="Cambria Math"/>
                        <a:ea typeface="Cambria Math"/>
                        <a:sym typeface="Symbol"/>
                      </a:rPr>
                      <m:t>𝑦</m:t>
                    </m:r>
                    <m:r>
                      <a:rPr lang="en-US" sz="2400" b="0" i="1" smtClean="0">
                        <a:latin typeface="Cambria Math"/>
                        <a:ea typeface="Cambria Math"/>
                        <a:sym typeface="Symbol"/>
                      </a:rPr>
                      <m:t>′</m:t>
                    </m:r>
                  </m:oMath>
                </a14:m>
                <a:endParaRPr lang="en-US" sz="2400" dirty="0" smtClean="0">
                  <a:sym typeface="Symbol"/>
                </a:endParaRPr>
              </a:p>
              <a:p>
                <a:pPr marL="0" indent="0">
                  <a:spcBef>
                    <a:spcPts val="2500"/>
                  </a:spcBef>
                  <a:buNone/>
                  <a:tabLst>
                    <a:tab pos="3949700" algn="l"/>
                  </a:tabLst>
                </a:pPr>
                <a:r>
                  <a:rPr lang="en-US" sz="2400" dirty="0" smtClean="0"/>
                  <a:t>XOR and XNOR are </a:t>
                </a:r>
                <a:r>
                  <a:rPr lang="en-US" sz="2400" b="1" dirty="0" smtClean="0">
                    <a:solidFill>
                      <a:srgbClr val="FF0000"/>
                    </a:solidFill>
                  </a:rPr>
                  <a:t>associative</a:t>
                </a:r>
                <a:r>
                  <a:rPr lang="en-US" sz="2400" dirty="0" smtClean="0"/>
                  <a:t> operations</a:t>
                </a:r>
              </a:p>
              <a:p>
                <a:pPr>
                  <a:spcBef>
                    <a:spcPts val="2500"/>
                  </a:spcBef>
                  <a:tabLst>
                    <a:tab pos="3949700" algn="l"/>
                  </a:tabLst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sz="2400" b="0" i="1" dirty="0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sz="2400" i="1" dirty="0">
                            <a:latin typeface="Cambria Math"/>
                          </a:rPr>
                          <m:t>𝑥</m:t>
                        </m:r>
                        <m:r>
                          <m:rPr>
                            <m:nor/>
                          </m:rPr>
                          <a:rPr lang="en-US" sz="2400" b="0" i="0" dirty="0" smtClean="0">
                            <a:latin typeface="Cambria Math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2400" dirty="0">
                            <a:latin typeface="Cambria Math"/>
                          </a:rPr>
                          <m:t>⨁</m:t>
                        </m:r>
                        <m:r>
                          <a:rPr lang="en-US" sz="2400" b="0" i="1" dirty="0" smtClean="0">
                            <a:latin typeface="Cambria Math"/>
                          </a:rPr>
                          <m:t> </m:t>
                        </m:r>
                        <m:r>
                          <a:rPr lang="en-US" sz="2400" b="0" i="1" dirty="0" smtClean="0">
                            <a:latin typeface="Cambria Math"/>
                          </a:rPr>
                          <m:t>𝑦</m:t>
                        </m:r>
                      </m:e>
                    </m:d>
                    <m:r>
                      <m:rPr>
                        <m:nor/>
                      </m:rPr>
                      <a:rPr lang="en-US" sz="2400" b="0" i="0" dirty="0" smtClean="0">
                        <a:latin typeface="Cambria Math"/>
                        <a:ea typeface="Cambria Math"/>
                        <a:sym typeface="Symbol"/>
                      </a:rPr>
                      <m:t> </m:t>
                    </m:r>
                    <m:r>
                      <m:rPr>
                        <m:nor/>
                      </m:rPr>
                      <a:rPr lang="en-US" sz="2400" dirty="0">
                        <a:latin typeface="Cambria Math"/>
                      </a:rPr>
                      <m:t>⨁</m:t>
                    </m:r>
                    <m:r>
                      <a:rPr lang="en-US" sz="2400" b="0" i="1" dirty="0" smtClean="0">
                        <a:latin typeface="Cambria Math"/>
                      </a:rPr>
                      <m:t> </m:t>
                    </m:r>
                    <m:r>
                      <a:rPr lang="en-US" sz="2400" b="0" i="1" dirty="0" smtClean="0">
                        <a:latin typeface="Cambria Math"/>
                      </a:rPr>
                      <m:t>𝑧</m:t>
                    </m:r>
                    <m:r>
                      <a:rPr lang="en-US" sz="2400" i="1" dirty="0">
                        <a:latin typeface="Cambria Math"/>
                        <a:sym typeface="Symbol"/>
                      </a:rPr>
                      <m:t>=</m:t>
                    </m:r>
                    <m:r>
                      <a:rPr lang="en-US" sz="2400" b="0" i="1" dirty="0" smtClean="0">
                        <a:latin typeface="Cambria Math"/>
                        <a:sym typeface="Symbol"/>
                      </a:rPr>
                      <m:t>𝑥</m:t>
                    </m:r>
                    <m:r>
                      <m:rPr>
                        <m:nor/>
                      </m:rPr>
                      <a:rPr lang="en-US" sz="2400" b="0" i="0" dirty="0" smtClean="0">
                        <a:latin typeface="Cambria Math"/>
                        <a:sym typeface="Symbol"/>
                      </a:rPr>
                      <m:t> </m:t>
                    </m:r>
                    <m:r>
                      <m:rPr>
                        <m:nor/>
                      </m:rPr>
                      <a:rPr lang="en-US" sz="2400" dirty="0">
                        <a:latin typeface="Cambria Math"/>
                      </a:rPr>
                      <m:t>⨁</m:t>
                    </m:r>
                    <m:r>
                      <m:rPr>
                        <m:nor/>
                      </m:rPr>
                      <a:rPr lang="en-US" sz="2400" b="0" i="0" dirty="0" smtClean="0">
                        <a:latin typeface="Cambria Math"/>
                      </a:rPr>
                      <m:t> </m:t>
                    </m:r>
                    <m:d>
                      <m:dPr>
                        <m:ctrlPr>
                          <a:rPr lang="en-US" sz="2400" b="0" i="1" dirty="0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sz="2400" b="0" i="1" dirty="0" smtClean="0">
                            <a:latin typeface="Cambria Math"/>
                          </a:rPr>
                          <m:t>𝑦</m:t>
                        </m:r>
                        <m:r>
                          <a:rPr lang="en-US" sz="2400" b="0" i="1" dirty="0" smtClean="0">
                            <a:latin typeface="Cambria Math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2400" dirty="0">
                            <a:latin typeface="Cambria Math"/>
                          </a:rPr>
                          <m:t>⨁</m:t>
                        </m:r>
                        <m:r>
                          <a:rPr lang="en-US" sz="2400" b="0" i="1" dirty="0" smtClean="0">
                            <a:latin typeface="Cambria Math"/>
                          </a:rPr>
                          <m:t> </m:t>
                        </m:r>
                        <m:r>
                          <a:rPr lang="en-US" sz="2400" b="0" i="1" dirty="0" smtClean="0">
                            <a:latin typeface="Cambria Math"/>
                          </a:rPr>
                          <m:t>𝑧</m:t>
                        </m:r>
                      </m:e>
                    </m:d>
                    <m:r>
                      <a:rPr lang="en-US" sz="2400" b="0" i="1" dirty="0" smtClean="0">
                        <a:latin typeface="Cambria Math"/>
                        <a:ea typeface="Cambria Math"/>
                        <a:sym typeface="Symbol"/>
                      </a:rPr>
                      <m:t>=</m:t>
                    </m:r>
                    <m:r>
                      <a:rPr lang="en-US" sz="2400" b="0" i="1" dirty="0" smtClean="0">
                        <a:latin typeface="Cambria Math"/>
                        <a:ea typeface="Cambria Math"/>
                        <a:sym typeface="Symbol"/>
                      </a:rPr>
                      <m:t>𝑥</m:t>
                    </m:r>
                    <m:r>
                      <a:rPr lang="en-US" sz="2400" b="0" i="1" dirty="0" smtClean="0">
                        <a:latin typeface="Cambria Math"/>
                        <a:ea typeface="Cambria Math"/>
                        <a:sym typeface="Symbol"/>
                      </a:rPr>
                      <m:t> </m:t>
                    </m:r>
                    <m:r>
                      <m:rPr>
                        <m:nor/>
                      </m:rPr>
                      <a:rPr lang="en-US" sz="2400" dirty="0">
                        <a:latin typeface="Cambria Math"/>
                      </a:rPr>
                      <m:t>⨁</m:t>
                    </m:r>
                    <m:r>
                      <a:rPr lang="en-US" sz="2400" b="0" i="1" dirty="0" smtClean="0">
                        <a:latin typeface="Cambria Math"/>
                      </a:rPr>
                      <m:t> </m:t>
                    </m:r>
                    <m:r>
                      <a:rPr lang="en-US" sz="2400" b="0" i="1" dirty="0" smtClean="0">
                        <a:latin typeface="Cambria Math"/>
                        <a:ea typeface="Cambria Math"/>
                        <a:sym typeface="Symbol"/>
                      </a:rPr>
                      <m:t>𝑦</m:t>
                    </m:r>
                    <m:r>
                      <a:rPr lang="en-US" sz="2400" b="0" i="1" dirty="0" smtClean="0">
                        <a:latin typeface="Cambria Math"/>
                        <a:ea typeface="Cambria Math"/>
                        <a:sym typeface="Symbol"/>
                      </a:rPr>
                      <m:t> </m:t>
                    </m:r>
                    <m:r>
                      <m:rPr>
                        <m:nor/>
                      </m:rPr>
                      <a:rPr lang="en-US" sz="2400" dirty="0">
                        <a:latin typeface="Cambria Math"/>
                      </a:rPr>
                      <m:t>⨁</m:t>
                    </m:r>
                    <m:r>
                      <a:rPr lang="en-US" sz="2400" b="0" i="1" dirty="0" smtClean="0">
                        <a:latin typeface="Cambria Math"/>
                      </a:rPr>
                      <m:t> </m:t>
                    </m:r>
                    <m:r>
                      <a:rPr lang="en-US" sz="2400" b="0" i="1" dirty="0" smtClean="0">
                        <a:latin typeface="Cambria Math"/>
                        <a:ea typeface="Cambria Math"/>
                        <a:sym typeface="Symbol"/>
                      </a:rPr>
                      <m:t>𝑧</m:t>
                    </m:r>
                  </m:oMath>
                </a14:m>
                <a:endParaRPr lang="en-US" sz="2400" dirty="0" smtClean="0"/>
              </a:p>
              <a:p>
                <a:pPr>
                  <a:spcBef>
                    <a:spcPts val="2500"/>
                  </a:spcBef>
                  <a:tabLst>
                    <a:tab pos="3949700" algn="l"/>
                  </a:tabLst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0" i="1" smtClean="0">
                            <a:latin typeface="Cambria Math"/>
                            <a:ea typeface="Cambria Math"/>
                            <a:sym typeface="Symbol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400" b="0" i="1" smtClean="0">
                                <a:latin typeface="Cambria Math"/>
                                <a:ea typeface="Cambria Math"/>
                                <a:sym typeface="Symbol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2400" b="0" i="1" smtClean="0">
                                    <a:latin typeface="Cambria Math"/>
                                    <a:ea typeface="Cambria Math"/>
                                    <a:sym typeface="Symbol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sz="2400" b="0" i="1" smtClean="0">
                                        <a:latin typeface="Cambria Math"/>
                                        <a:ea typeface="Cambria Math"/>
                                        <a:sym typeface="Symbol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 b="0" i="1" smtClean="0">
                                        <a:latin typeface="Cambria Math"/>
                                      </a:rPr>
                                      <m:t>𝑥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sz="2400" b="0" i="0" smtClean="0">
                                        <a:latin typeface="Cambria Math"/>
                                      </a:rPr>
                                      <m:t> 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sz="2400" dirty="0">
                                        <a:latin typeface="Cambria Math"/>
                                      </a:rPr>
                                      <m:t>⨁</m:t>
                                    </m:r>
                                    <m:r>
                                      <a:rPr lang="en-US" sz="2400" b="0" i="1" dirty="0" smtClean="0">
                                        <a:latin typeface="Cambria Math"/>
                                      </a:rPr>
                                      <m:t> </m:t>
                                    </m:r>
                                    <m:r>
                                      <a:rPr lang="en-US" sz="2400" b="0" i="1" smtClean="0">
                                        <a:latin typeface="Cambria Math"/>
                                      </a:rPr>
                                      <m:t>𝑦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n-US" sz="2400" b="0" i="1" smtClean="0">
                                    <a:latin typeface="Cambria Math"/>
                                  </a:rPr>
                                  <m:t>′</m:t>
                                </m:r>
                              </m:sup>
                            </m:sSup>
                            <m:r>
                              <m:rPr>
                                <m:nor/>
                              </m:rPr>
                              <a:rPr lang="en-US" sz="2400" b="0" i="0" smtClean="0">
                                <a:latin typeface="Cambria Math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sz="2400" dirty="0">
                                <a:latin typeface="Cambria Math"/>
                              </a:rPr>
                              <m:t>⨁</m:t>
                            </m:r>
                            <m:r>
                              <a:rPr lang="en-US" sz="2400" b="0" i="1" dirty="0" smtClean="0">
                                <a:latin typeface="Cambria Math"/>
                              </a:rPr>
                              <m:t> </m:t>
                            </m:r>
                            <m:r>
                              <a:rPr lang="en-US" sz="2400" b="0" i="1" smtClean="0">
                                <a:latin typeface="Cambria Math"/>
                              </a:rPr>
                              <m:t>𝑧</m:t>
                            </m:r>
                          </m:e>
                        </m:d>
                      </m:e>
                      <m:sup>
                        <m:r>
                          <a:rPr lang="en-US" sz="2400" b="0" i="1" smtClean="0">
                            <a:latin typeface="Cambria Math"/>
                          </a:rPr>
                          <m:t>′</m:t>
                        </m:r>
                      </m:sup>
                    </m:sSup>
                    <m:r>
                      <a:rPr lang="en-US" sz="2400" b="0" i="1" smtClean="0"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en-US" sz="2400" b="0" i="1" smtClean="0">
                            <a:latin typeface="Cambria Math"/>
                            <a:ea typeface="Cambria Math"/>
                            <a:sym typeface="Symbol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400" b="0" i="1" smtClean="0">
                                <a:latin typeface="Cambria Math"/>
                                <a:ea typeface="Cambria Math"/>
                                <a:sym typeface="Symbol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/>
                              </a:rPr>
                              <m:t>𝑥</m:t>
                            </m:r>
                            <m:r>
                              <m:rPr>
                                <m:nor/>
                              </m:rPr>
                              <a:rPr lang="en-US" sz="2400" b="0" i="0" smtClean="0">
                                <a:latin typeface="Cambria Math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sz="2400" dirty="0">
                                <a:latin typeface="Cambria Math"/>
                              </a:rPr>
                              <m:t>⨁</m:t>
                            </m:r>
                            <m:r>
                              <a:rPr lang="en-US" sz="2400" b="0" i="1" dirty="0" smtClean="0">
                                <a:latin typeface="Cambria Math"/>
                              </a:rPr>
                              <m:t> (</m:t>
                            </m:r>
                            <m:r>
                              <a:rPr lang="en-US" sz="2400" b="0" i="1" dirty="0" smtClean="0">
                                <a:latin typeface="Cambria Math"/>
                              </a:rPr>
                              <m:t>𝑦</m:t>
                            </m:r>
                            <m:r>
                              <m:rPr>
                                <m:nor/>
                              </m:rPr>
                              <a:rPr lang="en-US" sz="2400" b="0" i="0" dirty="0" smtClean="0">
                                <a:latin typeface="Cambria Math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sz="2400" dirty="0">
                                <a:latin typeface="Cambria Math"/>
                              </a:rPr>
                              <m:t>⨁</m:t>
                            </m:r>
                            <m:r>
                              <a:rPr lang="en-US" sz="2400" b="0" i="1" dirty="0" smtClean="0">
                                <a:latin typeface="Cambria Math"/>
                              </a:rPr>
                              <m:t> </m:t>
                            </m:r>
                            <m:r>
                              <a:rPr lang="en-US" sz="2400" b="0" i="1" dirty="0" smtClean="0">
                                <a:latin typeface="Cambria Math"/>
                              </a:rPr>
                              <m:t>𝑧</m:t>
                            </m:r>
                            <m:r>
                              <a:rPr lang="en-US" sz="2400" b="0" i="1" dirty="0" smtClean="0">
                                <a:latin typeface="Cambria Math"/>
                              </a:rPr>
                              <m:t>)′</m:t>
                            </m:r>
                          </m:e>
                        </m:d>
                      </m:e>
                      <m:sup>
                        <m:r>
                          <a:rPr lang="en-US" sz="2400" i="1">
                            <a:latin typeface="Cambria Math"/>
                          </a:rPr>
                          <m:t>′</m:t>
                        </m:r>
                      </m:sup>
                    </m:sSup>
                    <m:r>
                      <a:rPr lang="en-US" sz="2400" b="0" i="1" dirty="0" smtClean="0">
                        <a:latin typeface="Cambria Math"/>
                      </a:rPr>
                      <m:t>=</m:t>
                    </m:r>
                    <m:r>
                      <a:rPr lang="en-US" sz="2400" b="0" i="1" dirty="0" smtClean="0">
                        <a:latin typeface="Cambria Math"/>
                      </a:rPr>
                      <m:t>𝑥</m:t>
                    </m:r>
                    <m:r>
                      <m:rPr>
                        <m:nor/>
                      </m:rPr>
                      <a:rPr lang="en-US" sz="2400" b="0" i="0" dirty="0" smtClean="0">
                        <a:latin typeface="Cambria Math"/>
                      </a:rPr>
                      <m:t> </m:t>
                    </m:r>
                    <m:r>
                      <m:rPr>
                        <m:nor/>
                      </m:rPr>
                      <a:rPr lang="en-US" sz="2400" dirty="0">
                        <a:latin typeface="Cambria Math"/>
                      </a:rPr>
                      <m:t>⨁</m:t>
                    </m:r>
                    <m:r>
                      <a:rPr lang="en-US" sz="2400" b="0" i="1" dirty="0" smtClean="0">
                        <a:latin typeface="Cambria Math"/>
                      </a:rPr>
                      <m:t> </m:t>
                    </m:r>
                    <m:r>
                      <a:rPr lang="en-US" sz="2400" b="0" i="1" dirty="0" smtClean="0">
                        <a:latin typeface="Cambria Math"/>
                      </a:rPr>
                      <m:t>𝑦</m:t>
                    </m:r>
                    <m:r>
                      <m:rPr>
                        <m:nor/>
                      </m:rPr>
                      <a:rPr lang="en-US" sz="2400" b="0" i="0" dirty="0" smtClean="0">
                        <a:latin typeface="Cambria Math"/>
                      </a:rPr>
                      <m:t> </m:t>
                    </m:r>
                    <m:r>
                      <m:rPr>
                        <m:nor/>
                      </m:rPr>
                      <a:rPr lang="en-US" sz="2400" dirty="0">
                        <a:latin typeface="Cambria Math"/>
                      </a:rPr>
                      <m:t>⨁</m:t>
                    </m:r>
                    <m:r>
                      <m:rPr>
                        <m:nor/>
                      </m:rPr>
                      <a:rPr lang="en-US" sz="2400" b="0" i="0" dirty="0" smtClean="0">
                        <a:latin typeface="Cambria Math"/>
                      </a:rPr>
                      <m:t> </m:t>
                    </m:r>
                    <m:r>
                      <a:rPr lang="en-US" sz="2400" b="0" i="1" dirty="0" smtClean="0">
                        <a:latin typeface="Cambria Math"/>
                      </a:rPr>
                      <m:t>𝑧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009507"/>
                <a:ext cx="8229600" cy="5415057"/>
              </a:xfrm>
              <a:blipFill rotWithShape="1">
                <a:blip r:embed="rId2"/>
                <a:stretch>
                  <a:fillRect l="-1111" t="-5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88046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/>
          <a:lstStyle/>
          <a:p>
            <a:r>
              <a:rPr lang="en-US" dirty="0" smtClean="0"/>
              <a:t>Odd Function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1121" y="894292"/>
            <a:ext cx="8454935" cy="1267354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  <a:spcBef>
                <a:spcPts val="1200"/>
              </a:spcBef>
            </a:pPr>
            <a:r>
              <a:rPr lang="en-US" sz="2400" dirty="0" smtClean="0"/>
              <a:t>Output </a:t>
            </a:r>
            <a:r>
              <a:rPr lang="en-US" sz="2400" dirty="0"/>
              <a:t>is 1 if the </a:t>
            </a:r>
            <a:r>
              <a:rPr lang="en-US" sz="2400" b="1" dirty="0">
                <a:solidFill>
                  <a:srgbClr val="FF0000"/>
                </a:solidFill>
              </a:rPr>
              <a:t>number of 1's </a:t>
            </a:r>
            <a:r>
              <a:rPr lang="en-US" sz="2400" b="1" dirty="0" smtClean="0">
                <a:solidFill>
                  <a:srgbClr val="FF0000"/>
                </a:solidFill>
              </a:rPr>
              <a:t>is odd in </a:t>
            </a:r>
            <a:r>
              <a:rPr lang="en-US" sz="2400" b="1" dirty="0">
                <a:solidFill>
                  <a:srgbClr val="FF0000"/>
                </a:solidFill>
              </a:rPr>
              <a:t>the </a:t>
            </a:r>
            <a:r>
              <a:rPr lang="en-US" sz="2400" b="1" dirty="0" smtClean="0">
                <a:solidFill>
                  <a:srgbClr val="FF0000"/>
                </a:solidFill>
              </a:rPr>
              <a:t>inputs</a:t>
            </a:r>
            <a:endParaRPr lang="en-US" sz="2400" b="1" dirty="0">
              <a:solidFill>
                <a:srgbClr val="FF0000"/>
              </a:solidFill>
            </a:endParaRPr>
          </a:p>
          <a:p>
            <a:pPr>
              <a:lnSpc>
                <a:spcPct val="120000"/>
              </a:lnSpc>
              <a:spcBef>
                <a:spcPts val="1200"/>
              </a:spcBef>
            </a:pPr>
            <a:r>
              <a:rPr lang="en-US" sz="2400" dirty="0" smtClean="0"/>
              <a:t>Output is the XOR operation on all input variables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9775364"/>
              </p:ext>
            </p:extLst>
          </p:nvPr>
        </p:nvGraphicFramePr>
        <p:xfrm>
          <a:off x="967869" y="2219254"/>
          <a:ext cx="1955684" cy="408462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5243"/>
                <a:gridCol w="910441"/>
              </a:tblGrid>
              <a:tr h="453847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x y z</a:t>
                      </a:r>
                      <a:endParaRPr lang="en-US" sz="20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84406" marR="8440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fodd</a:t>
                      </a:r>
                      <a:endParaRPr lang="en-US" sz="20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84406" marR="84406"/>
                </a:tc>
              </a:tr>
              <a:tr h="453847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0 0 0</a:t>
                      </a:r>
                      <a:endParaRPr lang="en-US" sz="20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84406" marR="8440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lang="en-US" sz="20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84406" marR="84406"/>
                </a:tc>
              </a:tr>
              <a:tr h="453847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0 0 1</a:t>
                      </a:r>
                      <a:endParaRPr lang="en-US" sz="20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84406" marR="8440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20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84406" marR="84406"/>
                </a:tc>
              </a:tr>
              <a:tr h="453847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0 1 0</a:t>
                      </a:r>
                      <a:endParaRPr lang="en-US" sz="20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84406" marR="8440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20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84406" marR="84406"/>
                </a:tc>
              </a:tr>
              <a:tr h="453847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0 1 1</a:t>
                      </a:r>
                      <a:endParaRPr lang="en-US" sz="20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84406" marR="8440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lang="en-US" sz="20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84406" marR="84406"/>
                </a:tc>
              </a:tr>
              <a:tr h="453847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1 0 0</a:t>
                      </a:r>
                      <a:endParaRPr lang="en-US" sz="20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84406" marR="8440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20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84406" marR="84406"/>
                </a:tc>
              </a:tr>
              <a:tr h="453847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1 0 1</a:t>
                      </a:r>
                      <a:endParaRPr lang="en-US" sz="20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84406" marR="8440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lang="en-US" sz="20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84406" marR="84406"/>
                </a:tc>
              </a:tr>
              <a:tr h="453847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1 1 0</a:t>
                      </a:r>
                      <a:endParaRPr lang="en-US" sz="20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84406" marR="8440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lang="en-US" sz="20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84406" marR="84406"/>
                </a:tc>
              </a:tr>
              <a:tr h="453847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1 1 1</a:t>
                      </a:r>
                      <a:endParaRPr lang="en-US" sz="20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84406" marR="8440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20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84406" marR="84406"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 rot="16200000">
            <a:off x="-871294" y="4278986"/>
            <a:ext cx="306686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>
                <a:solidFill>
                  <a:srgbClr val="FF0000"/>
                </a:solidFill>
              </a:rPr>
              <a:t>Odd Function with 3 inputs</a:t>
            </a:r>
            <a:endParaRPr lang="en-US" sz="2000" b="1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3614838" y="2161646"/>
                <a:ext cx="3038396" cy="98668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/>
                        </a:rPr>
                        <m:t>𝑓</m:t>
                      </m:r>
                      <m:r>
                        <a:rPr lang="en-US" sz="2400" b="0" i="1" dirty="0" smtClean="0">
                          <a:latin typeface="Cambria Math"/>
                        </a:rPr>
                        <m:t>𝑜𝑑𝑑</m:t>
                      </m:r>
                      <m:r>
                        <a:rPr lang="en-US" sz="2400" i="1" dirty="0" smtClean="0">
                          <a:latin typeface="Cambria Math"/>
                        </a:rPr>
                        <m:t>=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sz="2400" i="1" dirty="0" smtClean="0">
                              <a:latin typeface="Cambria Math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sz="2400" b="0" i="1" dirty="0" smtClean="0">
                              <a:latin typeface="Cambria Math"/>
                            </a:rPr>
                            <m:t>(1, 2, 4, 7)</m:t>
                          </m:r>
                        </m:e>
                      </m:nary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6074" y="2161646"/>
                <a:ext cx="3054426" cy="98668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3614837" y="3083359"/>
                <a:ext cx="507158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𝑜𝑑𝑑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400" b="0" i="1" dirty="0" smtClean="0">
                              <a:latin typeface="Cambria Math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sSup>
                        <m:sSupPr>
                          <m:ctrlPr>
                            <a:rPr lang="en-US" sz="2400" b="0" i="1" dirty="0" smtClean="0">
                              <a:latin typeface="Cambria Math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𝑧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2400" b="0" i="1" dirty="0" smtClean="0">
                              <a:latin typeface="Cambria Math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sSup>
                        <m:sSupPr>
                          <m:ctrlPr>
                            <a:rPr lang="en-US" sz="2400" b="0" i="1" dirty="0" smtClean="0">
                              <a:latin typeface="Cambria Math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sSup>
                        <m:sSupPr>
                          <m:ctrlPr>
                            <a:rPr lang="en-US" sz="2400" b="0" i="1" dirty="0" smtClean="0">
                              <a:latin typeface="Cambria Math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sSup>
                        <m:sSupPr>
                          <m:ctrlPr>
                            <a:rPr lang="en-US" sz="2400" b="0" i="1" dirty="0" smtClean="0">
                              <a:latin typeface="Cambria Math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𝑥𝑦𝑧</m:t>
                      </m:r>
                    </m:oMath>
                  </m:oMathPara>
                </a14:m>
                <a:endParaRPr lang="en-US" sz="2400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6074" y="3083358"/>
                <a:ext cx="5079596" cy="461665"/>
              </a:xfrm>
              <a:prstGeom prst="rect">
                <a:avLst/>
              </a:prstGeom>
              <a:blipFill rotWithShape="1">
                <a:blip r:embed="rId3"/>
                <a:stretch>
                  <a:fillRect b="-184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614838" y="3774643"/>
                <a:ext cx="266143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/>
                        </a:rPr>
                        <m:t>𝑓</m:t>
                      </m:r>
                      <m:r>
                        <a:rPr lang="en-US" sz="2400" b="0" i="1" dirty="0" smtClean="0">
                          <a:latin typeface="Cambria Math"/>
                        </a:rPr>
                        <m:t>𝑜𝑑𝑑</m:t>
                      </m:r>
                      <m:r>
                        <a:rPr lang="en-US" sz="2400" i="1" dirty="0" smtClean="0">
                          <a:latin typeface="Cambria Math"/>
                        </a:rPr>
                        <m:t>=</m:t>
                      </m:r>
                      <m:r>
                        <a:rPr lang="en-US" sz="2400" b="0" i="1" dirty="0" smtClean="0">
                          <a:latin typeface="Cambria Math"/>
                        </a:rPr>
                        <m:t>𝑥</m:t>
                      </m:r>
                      <m:r>
                        <a:rPr lang="en-US" sz="2400" b="0" i="1" dirty="0" smtClean="0">
                          <a:latin typeface="Cambria Math"/>
                        </a:rPr>
                        <m:t> ⨁ </m:t>
                      </m:r>
                      <m:r>
                        <a:rPr lang="en-US" sz="2400" b="0" i="1" dirty="0" smtClean="0">
                          <a:latin typeface="Cambria Math"/>
                        </a:rPr>
                        <m:t>𝑦</m:t>
                      </m:r>
                      <m:r>
                        <a:rPr lang="en-US" sz="2400" b="0" i="1" dirty="0" smtClean="0">
                          <a:latin typeface="Cambria Math"/>
                        </a:rPr>
                        <m:t> ⨁ </m:t>
                      </m:r>
                      <m:r>
                        <a:rPr lang="en-US" sz="2400" b="0" i="1" dirty="0" smtClean="0">
                          <a:latin typeface="Cambria Math"/>
                        </a:rPr>
                        <m:t>𝑧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6074" y="3774642"/>
                <a:ext cx="2677464" cy="461665"/>
              </a:xfrm>
              <a:prstGeom prst="rect">
                <a:avLst/>
              </a:prstGeom>
              <a:blipFill rotWithShape="1">
                <a:blip r:embed="rId4"/>
                <a:stretch>
                  <a:fillRect b="-197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Group 82"/>
          <p:cNvGrpSpPr>
            <a:grpSpLocks/>
          </p:cNvGrpSpPr>
          <p:nvPr/>
        </p:nvGrpSpPr>
        <p:grpSpPr bwMode="auto">
          <a:xfrm>
            <a:off x="3745500" y="4498206"/>
            <a:ext cx="4022481" cy="1235075"/>
            <a:chOff x="3039" y="1185"/>
            <a:chExt cx="2745" cy="778"/>
          </a:xfrm>
        </p:grpSpPr>
        <p:grpSp>
          <p:nvGrpSpPr>
            <p:cNvPr id="10" name="Group 30"/>
            <p:cNvGrpSpPr>
              <a:grpSpLocks noChangeAspect="1"/>
            </p:cNvGrpSpPr>
            <p:nvPr/>
          </p:nvGrpSpPr>
          <p:grpSpPr bwMode="auto">
            <a:xfrm>
              <a:off x="4470" y="1526"/>
              <a:ext cx="510" cy="381"/>
              <a:chOff x="3310" y="2739"/>
              <a:chExt cx="774" cy="576"/>
            </a:xfrm>
          </p:grpSpPr>
          <p:sp>
            <p:nvSpPr>
              <p:cNvPr id="26" name="Freeform 28"/>
              <p:cNvSpPr>
                <a:spLocks noChangeAspect="1"/>
              </p:cNvSpPr>
              <p:nvPr/>
            </p:nvSpPr>
            <p:spPr bwMode="auto">
              <a:xfrm>
                <a:off x="3376" y="2739"/>
                <a:ext cx="708" cy="572"/>
              </a:xfrm>
              <a:custGeom>
                <a:avLst/>
                <a:gdLst>
                  <a:gd name="T0" fmla="*/ 0 w 708"/>
                  <a:gd name="T1" fmla="*/ 0 h 572"/>
                  <a:gd name="T2" fmla="*/ 17 w 708"/>
                  <a:gd name="T3" fmla="*/ 40 h 572"/>
                  <a:gd name="T4" fmla="*/ 39 w 708"/>
                  <a:gd name="T5" fmla="*/ 95 h 572"/>
                  <a:gd name="T6" fmla="*/ 54 w 708"/>
                  <a:gd name="T7" fmla="*/ 157 h 572"/>
                  <a:gd name="T8" fmla="*/ 66 w 708"/>
                  <a:gd name="T9" fmla="*/ 227 h 572"/>
                  <a:gd name="T10" fmla="*/ 74 w 708"/>
                  <a:gd name="T11" fmla="*/ 284 h 572"/>
                  <a:gd name="T12" fmla="*/ 69 w 708"/>
                  <a:gd name="T13" fmla="*/ 338 h 572"/>
                  <a:gd name="T14" fmla="*/ 58 w 708"/>
                  <a:gd name="T15" fmla="*/ 399 h 572"/>
                  <a:gd name="T16" fmla="*/ 45 w 708"/>
                  <a:gd name="T17" fmla="*/ 458 h 572"/>
                  <a:gd name="T18" fmla="*/ 28 w 708"/>
                  <a:gd name="T19" fmla="*/ 512 h 572"/>
                  <a:gd name="T20" fmla="*/ 0 w 708"/>
                  <a:gd name="T21" fmla="*/ 572 h 572"/>
                  <a:gd name="T22" fmla="*/ 208 w 708"/>
                  <a:gd name="T23" fmla="*/ 572 h 572"/>
                  <a:gd name="T24" fmla="*/ 297 w 708"/>
                  <a:gd name="T25" fmla="*/ 570 h 572"/>
                  <a:gd name="T26" fmla="*/ 342 w 708"/>
                  <a:gd name="T27" fmla="*/ 567 h 572"/>
                  <a:gd name="T28" fmla="*/ 375 w 708"/>
                  <a:gd name="T29" fmla="*/ 559 h 572"/>
                  <a:gd name="T30" fmla="*/ 409 w 708"/>
                  <a:gd name="T31" fmla="*/ 549 h 572"/>
                  <a:gd name="T32" fmla="*/ 445 w 708"/>
                  <a:gd name="T33" fmla="*/ 533 h 572"/>
                  <a:gd name="T34" fmla="*/ 486 w 708"/>
                  <a:gd name="T35" fmla="*/ 515 h 572"/>
                  <a:gd name="T36" fmla="*/ 526 w 708"/>
                  <a:gd name="T37" fmla="*/ 490 h 572"/>
                  <a:gd name="T38" fmla="*/ 552 w 708"/>
                  <a:gd name="T39" fmla="*/ 470 h 572"/>
                  <a:gd name="T40" fmla="*/ 577 w 708"/>
                  <a:gd name="T41" fmla="*/ 447 h 572"/>
                  <a:gd name="T42" fmla="*/ 604 w 708"/>
                  <a:gd name="T43" fmla="*/ 420 h 572"/>
                  <a:gd name="T44" fmla="*/ 628 w 708"/>
                  <a:gd name="T45" fmla="*/ 398 h 572"/>
                  <a:gd name="T46" fmla="*/ 651 w 708"/>
                  <a:gd name="T47" fmla="*/ 370 h 572"/>
                  <a:gd name="T48" fmla="*/ 680 w 708"/>
                  <a:gd name="T49" fmla="*/ 333 h 572"/>
                  <a:gd name="T50" fmla="*/ 708 w 708"/>
                  <a:gd name="T51" fmla="*/ 286 h 572"/>
                  <a:gd name="T52" fmla="*/ 682 w 708"/>
                  <a:gd name="T53" fmla="*/ 245 h 572"/>
                  <a:gd name="T54" fmla="*/ 658 w 708"/>
                  <a:gd name="T55" fmla="*/ 210 h 572"/>
                  <a:gd name="T56" fmla="*/ 638 w 708"/>
                  <a:gd name="T57" fmla="*/ 185 h 572"/>
                  <a:gd name="T58" fmla="*/ 616 w 708"/>
                  <a:gd name="T59" fmla="*/ 161 h 572"/>
                  <a:gd name="T60" fmla="*/ 592 w 708"/>
                  <a:gd name="T61" fmla="*/ 138 h 572"/>
                  <a:gd name="T62" fmla="*/ 572 w 708"/>
                  <a:gd name="T63" fmla="*/ 120 h 572"/>
                  <a:gd name="T64" fmla="*/ 552 w 708"/>
                  <a:gd name="T65" fmla="*/ 103 h 572"/>
                  <a:gd name="T66" fmla="*/ 528 w 708"/>
                  <a:gd name="T67" fmla="*/ 85 h 572"/>
                  <a:gd name="T68" fmla="*/ 506 w 708"/>
                  <a:gd name="T69" fmla="*/ 72 h 572"/>
                  <a:gd name="T70" fmla="*/ 480 w 708"/>
                  <a:gd name="T71" fmla="*/ 58 h 572"/>
                  <a:gd name="T72" fmla="*/ 451 w 708"/>
                  <a:gd name="T73" fmla="*/ 43 h 572"/>
                  <a:gd name="T74" fmla="*/ 415 w 708"/>
                  <a:gd name="T75" fmla="*/ 29 h 572"/>
                  <a:gd name="T76" fmla="*/ 385 w 708"/>
                  <a:gd name="T77" fmla="*/ 20 h 572"/>
                  <a:gd name="T78" fmla="*/ 350 w 708"/>
                  <a:gd name="T79" fmla="*/ 11 h 572"/>
                  <a:gd name="T80" fmla="*/ 313 w 708"/>
                  <a:gd name="T81" fmla="*/ 5 h 572"/>
                  <a:gd name="T82" fmla="*/ 278 w 708"/>
                  <a:gd name="T83" fmla="*/ 1 h 572"/>
                  <a:gd name="T84" fmla="*/ 253 w 708"/>
                  <a:gd name="T85" fmla="*/ 1 h 572"/>
                  <a:gd name="T86" fmla="*/ 227 w 708"/>
                  <a:gd name="T87" fmla="*/ 0 h 572"/>
                  <a:gd name="T88" fmla="*/ 0 w 708"/>
                  <a:gd name="T89" fmla="*/ 0 h 5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708" h="572">
                    <a:moveTo>
                      <a:pt x="0" y="0"/>
                    </a:moveTo>
                    <a:lnTo>
                      <a:pt x="17" y="40"/>
                    </a:lnTo>
                    <a:lnTo>
                      <a:pt x="39" y="95"/>
                    </a:lnTo>
                    <a:lnTo>
                      <a:pt x="54" y="157"/>
                    </a:lnTo>
                    <a:lnTo>
                      <a:pt x="66" y="227"/>
                    </a:lnTo>
                    <a:lnTo>
                      <a:pt x="74" y="284"/>
                    </a:lnTo>
                    <a:lnTo>
                      <a:pt x="69" y="338"/>
                    </a:lnTo>
                    <a:lnTo>
                      <a:pt x="58" y="399"/>
                    </a:lnTo>
                    <a:lnTo>
                      <a:pt x="45" y="458"/>
                    </a:lnTo>
                    <a:lnTo>
                      <a:pt x="28" y="512"/>
                    </a:lnTo>
                    <a:lnTo>
                      <a:pt x="0" y="572"/>
                    </a:lnTo>
                    <a:lnTo>
                      <a:pt x="208" y="572"/>
                    </a:lnTo>
                    <a:lnTo>
                      <a:pt x="297" y="570"/>
                    </a:lnTo>
                    <a:lnTo>
                      <a:pt x="342" y="567"/>
                    </a:lnTo>
                    <a:lnTo>
                      <a:pt x="375" y="559"/>
                    </a:lnTo>
                    <a:lnTo>
                      <a:pt x="409" y="549"/>
                    </a:lnTo>
                    <a:lnTo>
                      <a:pt x="445" y="533"/>
                    </a:lnTo>
                    <a:lnTo>
                      <a:pt x="486" y="515"/>
                    </a:lnTo>
                    <a:lnTo>
                      <a:pt x="526" y="490"/>
                    </a:lnTo>
                    <a:lnTo>
                      <a:pt x="552" y="470"/>
                    </a:lnTo>
                    <a:lnTo>
                      <a:pt x="577" y="447"/>
                    </a:lnTo>
                    <a:lnTo>
                      <a:pt x="604" y="420"/>
                    </a:lnTo>
                    <a:lnTo>
                      <a:pt x="628" y="398"/>
                    </a:lnTo>
                    <a:lnTo>
                      <a:pt x="651" y="370"/>
                    </a:lnTo>
                    <a:lnTo>
                      <a:pt x="680" y="333"/>
                    </a:lnTo>
                    <a:lnTo>
                      <a:pt x="708" y="286"/>
                    </a:lnTo>
                    <a:lnTo>
                      <a:pt x="682" y="245"/>
                    </a:lnTo>
                    <a:lnTo>
                      <a:pt x="658" y="210"/>
                    </a:lnTo>
                    <a:lnTo>
                      <a:pt x="638" y="185"/>
                    </a:lnTo>
                    <a:lnTo>
                      <a:pt x="616" y="161"/>
                    </a:lnTo>
                    <a:lnTo>
                      <a:pt x="592" y="138"/>
                    </a:lnTo>
                    <a:lnTo>
                      <a:pt x="572" y="120"/>
                    </a:lnTo>
                    <a:lnTo>
                      <a:pt x="552" y="103"/>
                    </a:lnTo>
                    <a:lnTo>
                      <a:pt x="528" y="85"/>
                    </a:lnTo>
                    <a:lnTo>
                      <a:pt x="506" y="72"/>
                    </a:lnTo>
                    <a:lnTo>
                      <a:pt x="480" y="58"/>
                    </a:lnTo>
                    <a:lnTo>
                      <a:pt x="451" y="43"/>
                    </a:lnTo>
                    <a:lnTo>
                      <a:pt x="415" y="29"/>
                    </a:lnTo>
                    <a:lnTo>
                      <a:pt x="385" y="20"/>
                    </a:lnTo>
                    <a:lnTo>
                      <a:pt x="350" y="11"/>
                    </a:lnTo>
                    <a:lnTo>
                      <a:pt x="313" y="5"/>
                    </a:lnTo>
                    <a:lnTo>
                      <a:pt x="278" y="1"/>
                    </a:lnTo>
                    <a:lnTo>
                      <a:pt x="253" y="1"/>
                    </a:lnTo>
                    <a:lnTo>
                      <a:pt x="227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3810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3366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" name="Freeform 29"/>
              <p:cNvSpPr>
                <a:spLocks noChangeAspect="1"/>
              </p:cNvSpPr>
              <p:nvPr/>
            </p:nvSpPr>
            <p:spPr bwMode="auto">
              <a:xfrm>
                <a:off x="3310" y="2742"/>
                <a:ext cx="76" cy="573"/>
              </a:xfrm>
              <a:custGeom>
                <a:avLst/>
                <a:gdLst>
                  <a:gd name="T0" fmla="*/ 3 w 76"/>
                  <a:gd name="T1" fmla="*/ 0 h 573"/>
                  <a:gd name="T2" fmla="*/ 30 w 76"/>
                  <a:gd name="T3" fmla="*/ 71 h 573"/>
                  <a:gd name="T4" fmla="*/ 48 w 76"/>
                  <a:gd name="T5" fmla="*/ 135 h 573"/>
                  <a:gd name="T6" fmla="*/ 62 w 76"/>
                  <a:gd name="T7" fmla="*/ 194 h 573"/>
                  <a:gd name="T8" fmla="*/ 75 w 76"/>
                  <a:gd name="T9" fmla="*/ 279 h 573"/>
                  <a:gd name="T10" fmla="*/ 66 w 76"/>
                  <a:gd name="T11" fmla="*/ 354 h 573"/>
                  <a:gd name="T12" fmla="*/ 54 w 76"/>
                  <a:gd name="T13" fmla="*/ 411 h 573"/>
                  <a:gd name="T14" fmla="*/ 35 w 76"/>
                  <a:gd name="T15" fmla="*/ 488 h 573"/>
                  <a:gd name="T16" fmla="*/ 0 w 76"/>
                  <a:gd name="T17" fmla="*/ 573 h 5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6" h="573">
                    <a:moveTo>
                      <a:pt x="3" y="0"/>
                    </a:moveTo>
                    <a:cubicBezTo>
                      <a:pt x="7" y="12"/>
                      <a:pt x="23" y="49"/>
                      <a:pt x="30" y="71"/>
                    </a:cubicBezTo>
                    <a:cubicBezTo>
                      <a:pt x="37" y="93"/>
                      <a:pt x="43" y="115"/>
                      <a:pt x="48" y="135"/>
                    </a:cubicBezTo>
                    <a:cubicBezTo>
                      <a:pt x="53" y="155"/>
                      <a:pt x="58" y="170"/>
                      <a:pt x="62" y="194"/>
                    </a:cubicBezTo>
                    <a:cubicBezTo>
                      <a:pt x="66" y="218"/>
                      <a:pt x="74" y="252"/>
                      <a:pt x="75" y="279"/>
                    </a:cubicBezTo>
                    <a:cubicBezTo>
                      <a:pt x="76" y="306"/>
                      <a:pt x="69" y="332"/>
                      <a:pt x="66" y="354"/>
                    </a:cubicBezTo>
                    <a:cubicBezTo>
                      <a:pt x="63" y="376"/>
                      <a:pt x="59" y="389"/>
                      <a:pt x="54" y="411"/>
                    </a:cubicBezTo>
                    <a:cubicBezTo>
                      <a:pt x="49" y="433"/>
                      <a:pt x="44" y="461"/>
                      <a:pt x="35" y="488"/>
                    </a:cubicBezTo>
                    <a:cubicBezTo>
                      <a:pt x="26" y="515"/>
                      <a:pt x="7" y="555"/>
                      <a:pt x="0" y="573"/>
                    </a:cubicBez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1" name="Group 31"/>
            <p:cNvGrpSpPr>
              <a:grpSpLocks noChangeAspect="1"/>
            </p:cNvGrpSpPr>
            <p:nvPr/>
          </p:nvGrpSpPr>
          <p:grpSpPr bwMode="auto">
            <a:xfrm>
              <a:off x="3699" y="1268"/>
              <a:ext cx="511" cy="380"/>
              <a:chOff x="3310" y="2739"/>
              <a:chExt cx="774" cy="576"/>
            </a:xfrm>
          </p:grpSpPr>
          <p:sp>
            <p:nvSpPr>
              <p:cNvPr id="24" name="Freeform 32"/>
              <p:cNvSpPr>
                <a:spLocks noChangeAspect="1"/>
              </p:cNvSpPr>
              <p:nvPr/>
            </p:nvSpPr>
            <p:spPr bwMode="auto">
              <a:xfrm>
                <a:off x="3376" y="2739"/>
                <a:ext cx="708" cy="572"/>
              </a:xfrm>
              <a:custGeom>
                <a:avLst/>
                <a:gdLst>
                  <a:gd name="T0" fmla="*/ 0 w 708"/>
                  <a:gd name="T1" fmla="*/ 0 h 572"/>
                  <a:gd name="T2" fmla="*/ 17 w 708"/>
                  <a:gd name="T3" fmla="*/ 40 h 572"/>
                  <a:gd name="T4" fmla="*/ 39 w 708"/>
                  <a:gd name="T5" fmla="*/ 95 h 572"/>
                  <a:gd name="T6" fmla="*/ 54 w 708"/>
                  <a:gd name="T7" fmla="*/ 157 h 572"/>
                  <a:gd name="T8" fmla="*/ 66 w 708"/>
                  <a:gd name="T9" fmla="*/ 227 h 572"/>
                  <a:gd name="T10" fmla="*/ 74 w 708"/>
                  <a:gd name="T11" fmla="*/ 284 h 572"/>
                  <a:gd name="T12" fmla="*/ 69 w 708"/>
                  <a:gd name="T13" fmla="*/ 338 h 572"/>
                  <a:gd name="T14" fmla="*/ 58 w 708"/>
                  <a:gd name="T15" fmla="*/ 399 h 572"/>
                  <a:gd name="T16" fmla="*/ 45 w 708"/>
                  <a:gd name="T17" fmla="*/ 458 h 572"/>
                  <a:gd name="T18" fmla="*/ 28 w 708"/>
                  <a:gd name="T19" fmla="*/ 512 h 572"/>
                  <a:gd name="T20" fmla="*/ 0 w 708"/>
                  <a:gd name="T21" fmla="*/ 572 h 572"/>
                  <a:gd name="T22" fmla="*/ 208 w 708"/>
                  <a:gd name="T23" fmla="*/ 572 h 572"/>
                  <a:gd name="T24" fmla="*/ 297 w 708"/>
                  <a:gd name="T25" fmla="*/ 570 h 572"/>
                  <a:gd name="T26" fmla="*/ 342 w 708"/>
                  <a:gd name="T27" fmla="*/ 567 h 572"/>
                  <a:gd name="T28" fmla="*/ 375 w 708"/>
                  <a:gd name="T29" fmla="*/ 559 h 572"/>
                  <a:gd name="T30" fmla="*/ 409 w 708"/>
                  <a:gd name="T31" fmla="*/ 549 h 572"/>
                  <a:gd name="T32" fmla="*/ 445 w 708"/>
                  <a:gd name="T33" fmla="*/ 533 h 572"/>
                  <a:gd name="T34" fmla="*/ 486 w 708"/>
                  <a:gd name="T35" fmla="*/ 515 h 572"/>
                  <a:gd name="T36" fmla="*/ 526 w 708"/>
                  <a:gd name="T37" fmla="*/ 490 h 572"/>
                  <a:gd name="T38" fmla="*/ 552 w 708"/>
                  <a:gd name="T39" fmla="*/ 470 h 572"/>
                  <a:gd name="T40" fmla="*/ 577 w 708"/>
                  <a:gd name="T41" fmla="*/ 447 h 572"/>
                  <a:gd name="T42" fmla="*/ 604 w 708"/>
                  <a:gd name="T43" fmla="*/ 420 h 572"/>
                  <a:gd name="T44" fmla="*/ 628 w 708"/>
                  <a:gd name="T45" fmla="*/ 398 h 572"/>
                  <a:gd name="T46" fmla="*/ 651 w 708"/>
                  <a:gd name="T47" fmla="*/ 370 h 572"/>
                  <a:gd name="T48" fmla="*/ 680 w 708"/>
                  <a:gd name="T49" fmla="*/ 333 h 572"/>
                  <a:gd name="T50" fmla="*/ 708 w 708"/>
                  <a:gd name="T51" fmla="*/ 286 h 572"/>
                  <a:gd name="T52" fmla="*/ 682 w 708"/>
                  <a:gd name="T53" fmla="*/ 245 h 572"/>
                  <a:gd name="T54" fmla="*/ 658 w 708"/>
                  <a:gd name="T55" fmla="*/ 210 h 572"/>
                  <a:gd name="T56" fmla="*/ 638 w 708"/>
                  <a:gd name="T57" fmla="*/ 185 h 572"/>
                  <a:gd name="T58" fmla="*/ 616 w 708"/>
                  <a:gd name="T59" fmla="*/ 161 h 572"/>
                  <a:gd name="T60" fmla="*/ 592 w 708"/>
                  <a:gd name="T61" fmla="*/ 138 h 572"/>
                  <a:gd name="T62" fmla="*/ 572 w 708"/>
                  <a:gd name="T63" fmla="*/ 120 h 572"/>
                  <a:gd name="T64" fmla="*/ 552 w 708"/>
                  <a:gd name="T65" fmla="*/ 103 h 572"/>
                  <a:gd name="T66" fmla="*/ 528 w 708"/>
                  <a:gd name="T67" fmla="*/ 85 h 572"/>
                  <a:gd name="T68" fmla="*/ 506 w 708"/>
                  <a:gd name="T69" fmla="*/ 72 h 572"/>
                  <a:gd name="T70" fmla="*/ 480 w 708"/>
                  <a:gd name="T71" fmla="*/ 58 h 572"/>
                  <a:gd name="T72" fmla="*/ 451 w 708"/>
                  <a:gd name="T73" fmla="*/ 43 h 572"/>
                  <a:gd name="T74" fmla="*/ 415 w 708"/>
                  <a:gd name="T75" fmla="*/ 29 h 572"/>
                  <a:gd name="T76" fmla="*/ 385 w 708"/>
                  <a:gd name="T77" fmla="*/ 20 h 572"/>
                  <a:gd name="T78" fmla="*/ 350 w 708"/>
                  <a:gd name="T79" fmla="*/ 11 h 572"/>
                  <a:gd name="T80" fmla="*/ 313 w 708"/>
                  <a:gd name="T81" fmla="*/ 5 h 572"/>
                  <a:gd name="T82" fmla="*/ 278 w 708"/>
                  <a:gd name="T83" fmla="*/ 1 h 572"/>
                  <a:gd name="T84" fmla="*/ 253 w 708"/>
                  <a:gd name="T85" fmla="*/ 1 h 572"/>
                  <a:gd name="T86" fmla="*/ 227 w 708"/>
                  <a:gd name="T87" fmla="*/ 0 h 572"/>
                  <a:gd name="T88" fmla="*/ 0 w 708"/>
                  <a:gd name="T89" fmla="*/ 0 h 5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708" h="572">
                    <a:moveTo>
                      <a:pt x="0" y="0"/>
                    </a:moveTo>
                    <a:lnTo>
                      <a:pt x="17" y="40"/>
                    </a:lnTo>
                    <a:lnTo>
                      <a:pt x="39" y="95"/>
                    </a:lnTo>
                    <a:lnTo>
                      <a:pt x="54" y="157"/>
                    </a:lnTo>
                    <a:lnTo>
                      <a:pt x="66" y="227"/>
                    </a:lnTo>
                    <a:lnTo>
                      <a:pt x="74" y="284"/>
                    </a:lnTo>
                    <a:lnTo>
                      <a:pt x="69" y="338"/>
                    </a:lnTo>
                    <a:lnTo>
                      <a:pt x="58" y="399"/>
                    </a:lnTo>
                    <a:lnTo>
                      <a:pt x="45" y="458"/>
                    </a:lnTo>
                    <a:lnTo>
                      <a:pt x="28" y="512"/>
                    </a:lnTo>
                    <a:lnTo>
                      <a:pt x="0" y="572"/>
                    </a:lnTo>
                    <a:lnTo>
                      <a:pt x="208" y="572"/>
                    </a:lnTo>
                    <a:lnTo>
                      <a:pt x="297" y="570"/>
                    </a:lnTo>
                    <a:lnTo>
                      <a:pt x="342" y="567"/>
                    </a:lnTo>
                    <a:lnTo>
                      <a:pt x="375" y="559"/>
                    </a:lnTo>
                    <a:lnTo>
                      <a:pt x="409" y="549"/>
                    </a:lnTo>
                    <a:lnTo>
                      <a:pt x="445" y="533"/>
                    </a:lnTo>
                    <a:lnTo>
                      <a:pt x="486" y="515"/>
                    </a:lnTo>
                    <a:lnTo>
                      <a:pt x="526" y="490"/>
                    </a:lnTo>
                    <a:lnTo>
                      <a:pt x="552" y="470"/>
                    </a:lnTo>
                    <a:lnTo>
                      <a:pt x="577" y="447"/>
                    </a:lnTo>
                    <a:lnTo>
                      <a:pt x="604" y="420"/>
                    </a:lnTo>
                    <a:lnTo>
                      <a:pt x="628" y="398"/>
                    </a:lnTo>
                    <a:lnTo>
                      <a:pt x="651" y="370"/>
                    </a:lnTo>
                    <a:lnTo>
                      <a:pt x="680" y="333"/>
                    </a:lnTo>
                    <a:lnTo>
                      <a:pt x="708" y="286"/>
                    </a:lnTo>
                    <a:lnTo>
                      <a:pt x="682" y="245"/>
                    </a:lnTo>
                    <a:lnTo>
                      <a:pt x="658" y="210"/>
                    </a:lnTo>
                    <a:lnTo>
                      <a:pt x="638" y="185"/>
                    </a:lnTo>
                    <a:lnTo>
                      <a:pt x="616" y="161"/>
                    </a:lnTo>
                    <a:lnTo>
                      <a:pt x="592" y="138"/>
                    </a:lnTo>
                    <a:lnTo>
                      <a:pt x="572" y="120"/>
                    </a:lnTo>
                    <a:lnTo>
                      <a:pt x="552" y="103"/>
                    </a:lnTo>
                    <a:lnTo>
                      <a:pt x="528" y="85"/>
                    </a:lnTo>
                    <a:lnTo>
                      <a:pt x="506" y="72"/>
                    </a:lnTo>
                    <a:lnTo>
                      <a:pt x="480" y="58"/>
                    </a:lnTo>
                    <a:lnTo>
                      <a:pt x="451" y="43"/>
                    </a:lnTo>
                    <a:lnTo>
                      <a:pt x="415" y="29"/>
                    </a:lnTo>
                    <a:lnTo>
                      <a:pt x="385" y="20"/>
                    </a:lnTo>
                    <a:lnTo>
                      <a:pt x="350" y="11"/>
                    </a:lnTo>
                    <a:lnTo>
                      <a:pt x="313" y="5"/>
                    </a:lnTo>
                    <a:lnTo>
                      <a:pt x="278" y="1"/>
                    </a:lnTo>
                    <a:lnTo>
                      <a:pt x="253" y="1"/>
                    </a:lnTo>
                    <a:lnTo>
                      <a:pt x="227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3810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3366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" name="Freeform 33"/>
              <p:cNvSpPr>
                <a:spLocks noChangeAspect="1"/>
              </p:cNvSpPr>
              <p:nvPr/>
            </p:nvSpPr>
            <p:spPr bwMode="auto">
              <a:xfrm>
                <a:off x="3310" y="2742"/>
                <a:ext cx="76" cy="573"/>
              </a:xfrm>
              <a:custGeom>
                <a:avLst/>
                <a:gdLst>
                  <a:gd name="T0" fmla="*/ 3 w 76"/>
                  <a:gd name="T1" fmla="*/ 0 h 573"/>
                  <a:gd name="T2" fmla="*/ 30 w 76"/>
                  <a:gd name="T3" fmla="*/ 71 h 573"/>
                  <a:gd name="T4" fmla="*/ 48 w 76"/>
                  <a:gd name="T5" fmla="*/ 135 h 573"/>
                  <a:gd name="T6" fmla="*/ 62 w 76"/>
                  <a:gd name="T7" fmla="*/ 194 h 573"/>
                  <a:gd name="T8" fmla="*/ 75 w 76"/>
                  <a:gd name="T9" fmla="*/ 279 h 573"/>
                  <a:gd name="T10" fmla="*/ 66 w 76"/>
                  <a:gd name="T11" fmla="*/ 354 h 573"/>
                  <a:gd name="T12" fmla="*/ 54 w 76"/>
                  <a:gd name="T13" fmla="*/ 411 h 573"/>
                  <a:gd name="T14" fmla="*/ 35 w 76"/>
                  <a:gd name="T15" fmla="*/ 488 h 573"/>
                  <a:gd name="T16" fmla="*/ 0 w 76"/>
                  <a:gd name="T17" fmla="*/ 573 h 5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6" h="573">
                    <a:moveTo>
                      <a:pt x="3" y="0"/>
                    </a:moveTo>
                    <a:cubicBezTo>
                      <a:pt x="7" y="12"/>
                      <a:pt x="23" y="49"/>
                      <a:pt x="30" y="71"/>
                    </a:cubicBezTo>
                    <a:cubicBezTo>
                      <a:pt x="37" y="93"/>
                      <a:pt x="43" y="115"/>
                      <a:pt x="48" y="135"/>
                    </a:cubicBezTo>
                    <a:cubicBezTo>
                      <a:pt x="53" y="155"/>
                      <a:pt x="58" y="170"/>
                      <a:pt x="62" y="194"/>
                    </a:cubicBezTo>
                    <a:cubicBezTo>
                      <a:pt x="66" y="218"/>
                      <a:pt x="74" y="252"/>
                      <a:pt x="75" y="279"/>
                    </a:cubicBezTo>
                    <a:cubicBezTo>
                      <a:pt x="76" y="306"/>
                      <a:pt x="69" y="332"/>
                      <a:pt x="66" y="354"/>
                    </a:cubicBezTo>
                    <a:cubicBezTo>
                      <a:pt x="63" y="376"/>
                      <a:pt x="59" y="389"/>
                      <a:pt x="54" y="411"/>
                    </a:cubicBezTo>
                    <a:cubicBezTo>
                      <a:pt x="49" y="433"/>
                      <a:pt x="44" y="461"/>
                      <a:pt x="35" y="488"/>
                    </a:cubicBezTo>
                    <a:cubicBezTo>
                      <a:pt x="26" y="515"/>
                      <a:pt x="7" y="555"/>
                      <a:pt x="0" y="573"/>
                    </a:cubicBez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2" name="Line 37"/>
            <p:cNvSpPr>
              <a:spLocks noChangeAspect="1" noChangeShapeType="1"/>
            </p:cNvSpPr>
            <p:nvPr/>
          </p:nvSpPr>
          <p:spPr bwMode="auto">
            <a:xfrm flipH="1">
              <a:off x="3342" y="1831"/>
              <a:ext cx="120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3" name="Group 41"/>
            <p:cNvGrpSpPr>
              <a:grpSpLocks noChangeAspect="1"/>
            </p:cNvGrpSpPr>
            <p:nvPr/>
          </p:nvGrpSpPr>
          <p:grpSpPr bwMode="auto">
            <a:xfrm>
              <a:off x="4203" y="1461"/>
              <a:ext cx="348" cy="153"/>
              <a:chOff x="2368" y="2504"/>
              <a:chExt cx="527" cy="232"/>
            </a:xfrm>
          </p:grpSpPr>
          <p:sp>
            <p:nvSpPr>
              <p:cNvPr id="21" name="Line 38"/>
              <p:cNvSpPr>
                <a:spLocks noChangeAspect="1" noChangeShapeType="1"/>
              </p:cNvSpPr>
              <p:nvPr/>
            </p:nvSpPr>
            <p:spPr bwMode="auto">
              <a:xfrm>
                <a:off x="2368" y="2504"/>
                <a:ext cx="176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" name="Line 39"/>
              <p:cNvSpPr>
                <a:spLocks noChangeAspect="1" noChangeShapeType="1"/>
              </p:cNvSpPr>
              <p:nvPr/>
            </p:nvSpPr>
            <p:spPr bwMode="auto">
              <a:xfrm>
                <a:off x="2536" y="2504"/>
                <a:ext cx="0" cy="23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" name="Line 40"/>
              <p:cNvSpPr>
                <a:spLocks noChangeAspect="1" noChangeShapeType="1"/>
              </p:cNvSpPr>
              <p:nvPr/>
            </p:nvSpPr>
            <p:spPr bwMode="auto">
              <a:xfrm>
                <a:off x="2528" y="2736"/>
                <a:ext cx="367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4" name="Line 42"/>
            <p:cNvSpPr>
              <a:spLocks noChangeAspect="1" noChangeShapeType="1"/>
            </p:cNvSpPr>
            <p:nvPr/>
          </p:nvSpPr>
          <p:spPr bwMode="auto">
            <a:xfrm flipH="1">
              <a:off x="3342" y="1361"/>
              <a:ext cx="43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Line 43"/>
            <p:cNvSpPr>
              <a:spLocks noChangeAspect="1" noChangeShapeType="1"/>
            </p:cNvSpPr>
            <p:nvPr/>
          </p:nvSpPr>
          <p:spPr bwMode="auto">
            <a:xfrm flipH="1">
              <a:off x="3342" y="1567"/>
              <a:ext cx="43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Line 44"/>
            <p:cNvSpPr>
              <a:spLocks noChangeAspect="1" noChangeShapeType="1"/>
            </p:cNvSpPr>
            <p:nvPr/>
          </p:nvSpPr>
          <p:spPr bwMode="auto">
            <a:xfrm>
              <a:off x="4978" y="1720"/>
              <a:ext cx="15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 Box 45"/>
                <p:cNvSpPr txBox="1">
                  <a:spLocks noChangeAspect="1" noChangeArrowheads="1"/>
                </p:cNvSpPr>
                <p:nvPr/>
              </p:nvSpPr>
              <p:spPr bwMode="auto">
                <a:xfrm>
                  <a:off x="3039" y="1185"/>
                  <a:ext cx="291" cy="29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en-US" sz="2400" i="1" dirty="0" smtClean="0">
                            <a:latin typeface="Cambria Math"/>
                          </a:rPr>
                          <m:t>𝑥</m:t>
                        </m:r>
                      </m:oMath>
                    </m:oMathPara>
                  </a14:m>
                  <a:endParaRPr lang="en-US" altLang="en-US" sz="2400" dirty="0"/>
                </a:p>
              </p:txBody>
            </p:sp>
          </mc:Choice>
          <mc:Fallback xmlns="">
            <p:sp>
              <p:nvSpPr>
                <p:cNvPr id="17" name="Text Box 4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039" y="1185"/>
                  <a:ext cx="279" cy="291"/>
                </a:xfrm>
                <a:prstGeom prst="rect">
                  <a:avLst/>
                </a:prstGeom>
                <a:blipFill rotWithShape="1">
                  <a:blip r:embed="rId5"/>
                  <a:stretch>
                    <a:fillRect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 Box 46"/>
                <p:cNvSpPr txBox="1">
                  <a:spLocks noChangeAspect="1" noChangeArrowheads="1"/>
                </p:cNvSpPr>
                <p:nvPr/>
              </p:nvSpPr>
              <p:spPr bwMode="auto">
                <a:xfrm>
                  <a:off x="3039" y="1412"/>
                  <a:ext cx="294" cy="29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en-US" sz="2400" i="1" dirty="0" smtClean="0">
                            <a:latin typeface="Cambria Math"/>
                          </a:rPr>
                          <m:t>𝑦</m:t>
                        </m:r>
                      </m:oMath>
                    </m:oMathPara>
                  </a14:m>
                  <a:endParaRPr lang="en-US" altLang="en-US" sz="2400" dirty="0"/>
                </a:p>
              </p:txBody>
            </p:sp>
          </mc:Choice>
          <mc:Fallback xmlns="">
            <p:sp>
              <p:nvSpPr>
                <p:cNvPr id="18" name="Text Box 4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039" y="1412"/>
                  <a:ext cx="281" cy="291"/>
                </a:xfrm>
                <a:prstGeom prst="rect">
                  <a:avLst/>
                </a:prstGeom>
                <a:blipFill rotWithShape="1">
                  <a:blip r:embed="rId6"/>
                  <a:stretch>
                    <a:fillRect b="-11842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 Box 47"/>
                <p:cNvSpPr txBox="1">
                  <a:spLocks noChangeAspect="1" noChangeArrowheads="1"/>
                </p:cNvSpPr>
                <p:nvPr/>
              </p:nvSpPr>
              <p:spPr bwMode="auto">
                <a:xfrm>
                  <a:off x="3050" y="1672"/>
                  <a:ext cx="278" cy="29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en-US" sz="2400" i="1" dirty="0" smtClean="0">
                            <a:latin typeface="Cambria Math"/>
                          </a:rPr>
                          <m:t>𝑧</m:t>
                        </m:r>
                      </m:oMath>
                    </m:oMathPara>
                  </a14:m>
                  <a:endParaRPr lang="en-US" altLang="en-US" sz="2400" dirty="0"/>
                </a:p>
              </p:txBody>
            </p:sp>
          </mc:Choice>
          <mc:Fallback xmlns="">
            <p:sp>
              <p:nvSpPr>
                <p:cNvPr id="19" name="Text Box 4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050" y="1672"/>
                  <a:ext cx="267" cy="291"/>
                </a:xfrm>
                <a:prstGeom prst="rect">
                  <a:avLst/>
                </a:prstGeom>
                <a:blipFill rotWithShape="1">
                  <a:blip r:embed="rId7"/>
                  <a:stretch>
                    <a:fillRect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 Box 48"/>
                <p:cNvSpPr txBox="1">
                  <a:spLocks noChangeAspect="1" noChangeArrowheads="1"/>
                </p:cNvSpPr>
                <p:nvPr/>
              </p:nvSpPr>
              <p:spPr bwMode="auto">
                <a:xfrm>
                  <a:off x="5134" y="1548"/>
                  <a:ext cx="650" cy="29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en-US" sz="2400" i="1" dirty="0" smtClean="0">
                            <a:latin typeface="Cambria Math"/>
                          </a:rPr>
                          <m:t>𝑓𝑜𝑑𝑑</m:t>
                        </m:r>
                      </m:oMath>
                    </m:oMathPara>
                  </a14:m>
                  <a:endParaRPr lang="en-US" altLang="en-US" sz="2400" dirty="0"/>
                </a:p>
              </p:txBody>
            </p:sp>
          </mc:Choice>
          <mc:Fallback xmlns="">
            <p:sp>
              <p:nvSpPr>
                <p:cNvPr id="20" name="Text Box 4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134" y="1548"/>
                  <a:ext cx="610" cy="291"/>
                </a:xfrm>
                <a:prstGeom prst="rect">
                  <a:avLst/>
                </a:prstGeom>
                <a:blipFill rotWithShape="1">
                  <a:blip r:embed="rId8"/>
                  <a:stretch>
                    <a:fillRect b="-19737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8" name="TextBox 27"/>
          <p:cNvSpPr txBox="1"/>
          <p:nvPr/>
        </p:nvSpPr>
        <p:spPr>
          <a:xfrm>
            <a:off x="3325373" y="5963709"/>
            <a:ext cx="4862574" cy="46166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 smtClean="0"/>
              <a:t>Implementation using two XOR gates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5557575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28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/>
          <a:lstStyle/>
          <a:p>
            <a:r>
              <a:rPr lang="en-US" dirty="0" smtClean="0"/>
              <a:t>Even Function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76730" y="894293"/>
            <a:ext cx="5902502" cy="1670603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US" sz="2000" dirty="0"/>
              <a:t>Output is 1 if the </a:t>
            </a:r>
            <a:r>
              <a:rPr lang="en-US" sz="2000" b="1" dirty="0">
                <a:solidFill>
                  <a:srgbClr val="FF0000"/>
                </a:solidFill>
              </a:rPr>
              <a:t>number of 1's is </a:t>
            </a:r>
            <a:r>
              <a:rPr lang="en-US" sz="2000" b="1" dirty="0" smtClean="0">
                <a:solidFill>
                  <a:srgbClr val="FF0000"/>
                </a:solidFill>
              </a:rPr>
              <a:t>even </a:t>
            </a:r>
            <a:r>
              <a:rPr lang="en-US" sz="2000" dirty="0" smtClean="0"/>
              <a:t>in </a:t>
            </a:r>
            <a:r>
              <a:rPr lang="en-US" sz="2000" dirty="0"/>
              <a:t>the </a:t>
            </a:r>
            <a:r>
              <a:rPr lang="en-US" sz="2000" dirty="0" smtClean="0"/>
              <a:t>inputs (complement of odd function)</a:t>
            </a:r>
          </a:p>
          <a:p>
            <a:pPr>
              <a:lnSpc>
                <a:spcPct val="120000"/>
              </a:lnSpc>
              <a:spcBef>
                <a:spcPts val="1200"/>
              </a:spcBef>
            </a:pPr>
            <a:r>
              <a:rPr lang="en-US" sz="2000" dirty="0"/>
              <a:t>Output is the </a:t>
            </a:r>
            <a:r>
              <a:rPr lang="en-US" sz="2000" dirty="0" smtClean="0"/>
              <a:t>XNOR </a:t>
            </a:r>
            <a:r>
              <a:rPr lang="en-US" sz="2000" dirty="0"/>
              <a:t>operation on all </a:t>
            </a:r>
            <a:r>
              <a:rPr lang="en-US" sz="2000" dirty="0" smtClean="0"/>
              <a:t>inputs</a:t>
            </a:r>
            <a:endParaRPr lang="en-US" sz="2000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4434059"/>
              </p:ext>
            </p:extLst>
          </p:nvPr>
        </p:nvGraphicFramePr>
        <p:xfrm>
          <a:off x="743350" y="957373"/>
          <a:ext cx="2020676" cy="5577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8049"/>
                <a:gridCol w="862627"/>
              </a:tblGrid>
              <a:tr h="17282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w x y z</a:t>
                      </a:r>
                      <a:endParaRPr lang="en-US" sz="20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84406" marR="8440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feven</a:t>
                      </a:r>
                      <a:endParaRPr lang="en-US" sz="20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84406" marR="84406"/>
                </a:tc>
              </a:tr>
              <a:tr h="17282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0 0 0 0</a:t>
                      </a:r>
                      <a:endParaRPr lang="en-US" sz="20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84406" marR="84406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20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84406" marR="84406" marT="0" marB="0"/>
                </a:tc>
              </a:tr>
              <a:tr h="17282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0 0 0 1</a:t>
                      </a:r>
                      <a:endParaRPr lang="en-US" sz="20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84406" marR="84406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lang="en-US" sz="20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84406" marR="84406" marT="0" marB="0"/>
                </a:tc>
              </a:tr>
              <a:tr h="17282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0 0 1 0</a:t>
                      </a:r>
                      <a:endParaRPr lang="en-US" sz="20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84406" marR="84406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lang="en-US" sz="20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84406" marR="84406" marT="0" marB="0"/>
                </a:tc>
              </a:tr>
              <a:tr h="17282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0 0 1 1</a:t>
                      </a:r>
                      <a:endParaRPr lang="en-US" sz="20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84406" marR="84406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20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84406" marR="84406" marT="0" marB="0"/>
                </a:tc>
              </a:tr>
              <a:tr h="17282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0 1 0 0</a:t>
                      </a:r>
                      <a:endParaRPr lang="en-US" sz="20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84406" marR="84406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lang="en-US" sz="20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84406" marR="84406" marT="0" marB="0"/>
                </a:tc>
              </a:tr>
              <a:tr h="17282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0 1 0 1</a:t>
                      </a:r>
                      <a:endParaRPr lang="en-US" sz="20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84406" marR="84406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20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84406" marR="84406" marT="0" marB="0"/>
                </a:tc>
              </a:tr>
              <a:tr h="17282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0 1 1 0</a:t>
                      </a:r>
                      <a:endParaRPr lang="en-US" sz="20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84406" marR="84406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20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84406" marR="84406" marT="0" marB="0"/>
                </a:tc>
              </a:tr>
              <a:tr h="17282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0 1 1 1</a:t>
                      </a:r>
                      <a:endParaRPr lang="en-US" sz="20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84406" marR="84406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lang="en-US" sz="20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84406" marR="84406" marT="0" marB="0"/>
                </a:tc>
              </a:tr>
              <a:tr h="17282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1 0 0 0</a:t>
                      </a:r>
                      <a:endParaRPr lang="en-US" sz="20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84406" marR="84406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lang="en-US" sz="20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84406" marR="84406" marT="0" marB="0"/>
                </a:tc>
              </a:tr>
              <a:tr h="17282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1 0 0 1</a:t>
                      </a:r>
                      <a:endParaRPr lang="en-US" sz="20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84406" marR="84406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20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84406" marR="84406" marT="0" marB="0"/>
                </a:tc>
              </a:tr>
              <a:tr h="17282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1 0 1 0</a:t>
                      </a:r>
                      <a:endParaRPr lang="en-US" sz="20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84406" marR="84406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20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84406" marR="84406" marT="0" marB="0"/>
                </a:tc>
              </a:tr>
              <a:tr h="17282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1 0 1 1</a:t>
                      </a:r>
                      <a:endParaRPr lang="en-US" sz="20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84406" marR="84406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lang="en-US" sz="20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84406" marR="84406" marT="0" marB="0"/>
                </a:tc>
              </a:tr>
              <a:tr h="17282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1 1 0 0</a:t>
                      </a:r>
                      <a:endParaRPr lang="en-US" sz="20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84406" marR="84406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20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84406" marR="84406" marT="0" marB="0"/>
                </a:tc>
              </a:tr>
              <a:tr h="17282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1 1 0 1</a:t>
                      </a:r>
                      <a:endParaRPr lang="en-US" sz="20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84406" marR="84406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lang="en-US" sz="20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84406" marR="84406" marT="0" marB="0"/>
                </a:tc>
              </a:tr>
              <a:tr h="17282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1 1 1 0</a:t>
                      </a:r>
                      <a:endParaRPr lang="en-US" sz="20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84406" marR="84406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endParaRPr lang="en-US" sz="20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84406" marR="84406" marT="0" marB="0"/>
                </a:tc>
              </a:tr>
              <a:tr h="17282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1 1 1 1</a:t>
                      </a:r>
                      <a:endParaRPr lang="en-US" sz="20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84406" marR="84406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  <a:endParaRPr lang="en-US" sz="20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84406" marR="84406" marT="0" marB="0"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 rot="16200000">
            <a:off x="-1109442" y="3409870"/>
            <a:ext cx="312354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>
                <a:solidFill>
                  <a:srgbClr val="FF0000"/>
                </a:solidFill>
              </a:rPr>
              <a:t>Even Function with 4 inputs</a:t>
            </a:r>
            <a:endParaRPr lang="en-US" sz="2000" b="1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3629726" y="2564086"/>
                <a:ext cx="4806829" cy="98668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/>
                        </a:rPr>
                        <m:t>𝑓</m:t>
                      </m:r>
                      <m:r>
                        <a:rPr lang="en-US" sz="2400" b="0" i="1" dirty="0" smtClean="0">
                          <a:latin typeface="Cambria Math"/>
                        </a:rPr>
                        <m:t>𝑒𝑣𝑒𝑛</m:t>
                      </m:r>
                      <m:r>
                        <a:rPr lang="en-US" sz="2400" i="1" dirty="0" smtClean="0">
                          <a:latin typeface="Cambria Math"/>
                        </a:rPr>
                        <m:t>=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sz="2400" i="1" dirty="0" smtClean="0">
                              <a:latin typeface="Cambria Math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sz="2400" b="0" i="1" dirty="0" smtClean="0">
                              <a:latin typeface="Cambria Math"/>
                            </a:rPr>
                            <m:t>(0, 3, 5, 6, 9, 10, 12, 15)</m:t>
                          </m:r>
                        </m:e>
                      </m:nary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2203" y="2564086"/>
                <a:ext cx="4822859" cy="98668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Group 81"/>
          <p:cNvGrpSpPr>
            <a:grpSpLocks/>
          </p:cNvGrpSpPr>
          <p:nvPr/>
        </p:nvGrpSpPr>
        <p:grpSpPr bwMode="auto">
          <a:xfrm>
            <a:off x="3950898" y="4112227"/>
            <a:ext cx="4412274" cy="1793875"/>
            <a:chOff x="2608" y="2854"/>
            <a:chExt cx="3011" cy="1130"/>
          </a:xfrm>
        </p:grpSpPr>
        <p:grpSp>
          <p:nvGrpSpPr>
            <p:cNvPr id="10" name="Group 52"/>
            <p:cNvGrpSpPr>
              <a:grpSpLocks noChangeAspect="1"/>
            </p:cNvGrpSpPr>
            <p:nvPr/>
          </p:nvGrpSpPr>
          <p:grpSpPr bwMode="auto">
            <a:xfrm>
              <a:off x="3282" y="2966"/>
              <a:ext cx="542" cy="403"/>
              <a:chOff x="3310" y="2739"/>
              <a:chExt cx="774" cy="576"/>
            </a:xfrm>
          </p:grpSpPr>
          <p:sp>
            <p:nvSpPr>
              <p:cNvPr id="37" name="Freeform 53"/>
              <p:cNvSpPr>
                <a:spLocks noChangeAspect="1"/>
              </p:cNvSpPr>
              <p:nvPr/>
            </p:nvSpPr>
            <p:spPr bwMode="auto">
              <a:xfrm>
                <a:off x="3376" y="2739"/>
                <a:ext cx="708" cy="572"/>
              </a:xfrm>
              <a:custGeom>
                <a:avLst/>
                <a:gdLst>
                  <a:gd name="T0" fmla="*/ 0 w 708"/>
                  <a:gd name="T1" fmla="*/ 0 h 572"/>
                  <a:gd name="T2" fmla="*/ 17 w 708"/>
                  <a:gd name="T3" fmla="*/ 40 h 572"/>
                  <a:gd name="T4" fmla="*/ 39 w 708"/>
                  <a:gd name="T5" fmla="*/ 95 h 572"/>
                  <a:gd name="T6" fmla="*/ 54 w 708"/>
                  <a:gd name="T7" fmla="*/ 157 h 572"/>
                  <a:gd name="T8" fmla="*/ 66 w 708"/>
                  <a:gd name="T9" fmla="*/ 227 h 572"/>
                  <a:gd name="T10" fmla="*/ 74 w 708"/>
                  <a:gd name="T11" fmla="*/ 284 h 572"/>
                  <a:gd name="T12" fmla="*/ 69 w 708"/>
                  <a:gd name="T13" fmla="*/ 338 h 572"/>
                  <a:gd name="T14" fmla="*/ 58 w 708"/>
                  <a:gd name="T15" fmla="*/ 399 h 572"/>
                  <a:gd name="T16" fmla="*/ 45 w 708"/>
                  <a:gd name="T17" fmla="*/ 458 h 572"/>
                  <a:gd name="T18" fmla="*/ 28 w 708"/>
                  <a:gd name="T19" fmla="*/ 512 h 572"/>
                  <a:gd name="T20" fmla="*/ 0 w 708"/>
                  <a:gd name="T21" fmla="*/ 572 h 572"/>
                  <a:gd name="T22" fmla="*/ 208 w 708"/>
                  <a:gd name="T23" fmla="*/ 572 h 572"/>
                  <a:gd name="T24" fmla="*/ 297 w 708"/>
                  <a:gd name="T25" fmla="*/ 570 h 572"/>
                  <a:gd name="T26" fmla="*/ 342 w 708"/>
                  <a:gd name="T27" fmla="*/ 567 h 572"/>
                  <a:gd name="T28" fmla="*/ 375 w 708"/>
                  <a:gd name="T29" fmla="*/ 559 h 572"/>
                  <a:gd name="T30" fmla="*/ 409 w 708"/>
                  <a:gd name="T31" fmla="*/ 549 h 572"/>
                  <a:gd name="T32" fmla="*/ 445 w 708"/>
                  <a:gd name="T33" fmla="*/ 533 h 572"/>
                  <a:gd name="T34" fmla="*/ 486 w 708"/>
                  <a:gd name="T35" fmla="*/ 515 h 572"/>
                  <a:gd name="T36" fmla="*/ 526 w 708"/>
                  <a:gd name="T37" fmla="*/ 490 h 572"/>
                  <a:gd name="T38" fmla="*/ 552 w 708"/>
                  <a:gd name="T39" fmla="*/ 470 h 572"/>
                  <a:gd name="T40" fmla="*/ 577 w 708"/>
                  <a:gd name="T41" fmla="*/ 447 h 572"/>
                  <a:gd name="T42" fmla="*/ 604 w 708"/>
                  <a:gd name="T43" fmla="*/ 420 h 572"/>
                  <a:gd name="T44" fmla="*/ 628 w 708"/>
                  <a:gd name="T45" fmla="*/ 398 h 572"/>
                  <a:gd name="T46" fmla="*/ 651 w 708"/>
                  <a:gd name="T47" fmla="*/ 370 h 572"/>
                  <a:gd name="T48" fmla="*/ 680 w 708"/>
                  <a:gd name="T49" fmla="*/ 333 h 572"/>
                  <a:gd name="T50" fmla="*/ 708 w 708"/>
                  <a:gd name="T51" fmla="*/ 286 h 572"/>
                  <a:gd name="T52" fmla="*/ 682 w 708"/>
                  <a:gd name="T53" fmla="*/ 245 h 572"/>
                  <a:gd name="T54" fmla="*/ 658 w 708"/>
                  <a:gd name="T55" fmla="*/ 210 h 572"/>
                  <a:gd name="T56" fmla="*/ 638 w 708"/>
                  <a:gd name="T57" fmla="*/ 185 h 572"/>
                  <a:gd name="T58" fmla="*/ 616 w 708"/>
                  <a:gd name="T59" fmla="*/ 161 h 572"/>
                  <a:gd name="T60" fmla="*/ 592 w 708"/>
                  <a:gd name="T61" fmla="*/ 138 h 572"/>
                  <a:gd name="T62" fmla="*/ 572 w 708"/>
                  <a:gd name="T63" fmla="*/ 120 h 572"/>
                  <a:gd name="T64" fmla="*/ 552 w 708"/>
                  <a:gd name="T65" fmla="*/ 103 h 572"/>
                  <a:gd name="T66" fmla="*/ 528 w 708"/>
                  <a:gd name="T67" fmla="*/ 85 h 572"/>
                  <a:gd name="T68" fmla="*/ 506 w 708"/>
                  <a:gd name="T69" fmla="*/ 72 h 572"/>
                  <a:gd name="T70" fmla="*/ 480 w 708"/>
                  <a:gd name="T71" fmla="*/ 58 h 572"/>
                  <a:gd name="T72" fmla="*/ 451 w 708"/>
                  <a:gd name="T73" fmla="*/ 43 h 572"/>
                  <a:gd name="T74" fmla="*/ 415 w 708"/>
                  <a:gd name="T75" fmla="*/ 29 h 572"/>
                  <a:gd name="T76" fmla="*/ 385 w 708"/>
                  <a:gd name="T77" fmla="*/ 20 h 572"/>
                  <a:gd name="T78" fmla="*/ 350 w 708"/>
                  <a:gd name="T79" fmla="*/ 11 h 572"/>
                  <a:gd name="T80" fmla="*/ 313 w 708"/>
                  <a:gd name="T81" fmla="*/ 5 h 572"/>
                  <a:gd name="T82" fmla="*/ 278 w 708"/>
                  <a:gd name="T83" fmla="*/ 1 h 572"/>
                  <a:gd name="T84" fmla="*/ 253 w 708"/>
                  <a:gd name="T85" fmla="*/ 1 h 572"/>
                  <a:gd name="T86" fmla="*/ 227 w 708"/>
                  <a:gd name="T87" fmla="*/ 0 h 572"/>
                  <a:gd name="T88" fmla="*/ 0 w 708"/>
                  <a:gd name="T89" fmla="*/ 0 h 5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708" h="572">
                    <a:moveTo>
                      <a:pt x="0" y="0"/>
                    </a:moveTo>
                    <a:lnTo>
                      <a:pt x="17" y="40"/>
                    </a:lnTo>
                    <a:lnTo>
                      <a:pt x="39" y="95"/>
                    </a:lnTo>
                    <a:lnTo>
                      <a:pt x="54" y="157"/>
                    </a:lnTo>
                    <a:lnTo>
                      <a:pt x="66" y="227"/>
                    </a:lnTo>
                    <a:lnTo>
                      <a:pt x="74" y="284"/>
                    </a:lnTo>
                    <a:lnTo>
                      <a:pt x="69" y="338"/>
                    </a:lnTo>
                    <a:lnTo>
                      <a:pt x="58" y="399"/>
                    </a:lnTo>
                    <a:lnTo>
                      <a:pt x="45" y="458"/>
                    </a:lnTo>
                    <a:lnTo>
                      <a:pt x="28" y="512"/>
                    </a:lnTo>
                    <a:lnTo>
                      <a:pt x="0" y="572"/>
                    </a:lnTo>
                    <a:lnTo>
                      <a:pt x="208" y="572"/>
                    </a:lnTo>
                    <a:lnTo>
                      <a:pt x="297" y="570"/>
                    </a:lnTo>
                    <a:lnTo>
                      <a:pt x="342" y="567"/>
                    </a:lnTo>
                    <a:lnTo>
                      <a:pt x="375" y="559"/>
                    </a:lnTo>
                    <a:lnTo>
                      <a:pt x="409" y="549"/>
                    </a:lnTo>
                    <a:lnTo>
                      <a:pt x="445" y="533"/>
                    </a:lnTo>
                    <a:lnTo>
                      <a:pt x="486" y="515"/>
                    </a:lnTo>
                    <a:lnTo>
                      <a:pt x="526" y="490"/>
                    </a:lnTo>
                    <a:lnTo>
                      <a:pt x="552" y="470"/>
                    </a:lnTo>
                    <a:lnTo>
                      <a:pt x="577" y="447"/>
                    </a:lnTo>
                    <a:lnTo>
                      <a:pt x="604" y="420"/>
                    </a:lnTo>
                    <a:lnTo>
                      <a:pt x="628" y="398"/>
                    </a:lnTo>
                    <a:lnTo>
                      <a:pt x="651" y="370"/>
                    </a:lnTo>
                    <a:lnTo>
                      <a:pt x="680" y="333"/>
                    </a:lnTo>
                    <a:lnTo>
                      <a:pt x="708" y="286"/>
                    </a:lnTo>
                    <a:lnTo>
                      <a:pt x="682" y="245"/>
                    </a:lnTo>
                    <a:lnTo>
                      <a:pt x="658" y="210"/>
                    </a:lnTo>
                    <a:lnTo>
                      <a:pt x="638" y="185"/>
                    </a:lnTo>
                    <a:lnTo>
                      <a:pt x="616" y="161"/>
                    </a:lnTo>
                    <a:lnTo>
                      <a:pt x="592" y="138"/>
                    </a:lnTo>
                    <a:lnTo>
                      <a:pt x="572" y="120"/>
                    </a:lnTo>
                    <a:lnTo>
                      <a:pt x="552" y="103"/>
                    </a:lnTo>
                    <a:lnTo>
                      <a:pt x="528" y="85"/>
                    </a:lnTo>
                    <a:lnTo>
                      <a:pt x="506" y="72"/>
                    </a:lnTo>
                    <a:lnTo>
                      <a:pt x="480" y="58"/>
                    </a:lnTo>
                    <a:lnTo>
                      <a:pt x="451" y="43"/>
                    </a:lnTo>
                    <a:lnTo>
                      <a:pt x="415" y="29"/>
                    </a:lnTo>
                    <a:lnTo>
                      <a:pt x="385" y="20"/>
                    </a:lnTo>
                    <a:lnTo>
                      <a:pt x="350" y="11"/>
                    </a:lnTo>
                    <a:lnTo>
                      <a:pt x="313" y="5"/>
                    </a:lnTo>
                    <a:lnTo>
                      <a:pt x="278" y="1"/>
                    </a:lnTo>
                    <a:lnTo>
                      <a:pt x="253" y="1"/>
                    </a:lnTo>
                    <a:lnTo>
                      <a:pt x="227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3810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3366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" name="Freeform 54"/>
              <p:cNvSpPr>
                <a:spLocks noChangeAspect="1"/>
              </p:cNvSpPr>
              <p:nvPr/>
            </p:nvSpPr>
            <p:spPr bwMode="auto">
              <a:xfrm>
                <a:off x="3310" y="2742"/>
                <a:ext cx="76" cy="573"/>
              </a:xfrm>
              <a:custGeom>
                <a:avLst/>
                <a:gdLst>
                  <a:gd name="T0" fmla="*/ 3 w 76"/>
                  <a:gd name="T1" fmla="*/ 0 h 573"/>
                  <a:gd name="T2" fmla="*/ 30 w 76"/>
                  <a:gd name="T3" fmla="*/ 71 h 573"/>
                  <a:gd name="T4" fmla="*/ 48 w 76"/>
                  <a:gd name="T5" fmla="*/ 135 h 573"/>
                  <a:gd name="T6" fmla="*/ 62 w 76"/>
                  <a:gd name="T7" fmla="*/ 194 h 573"/>
                  <a:gd name="T8" fmla="*/ 75 w 76"/>
                  <a:gd name="T9" fmla="*/ 279 h 573"/>
                  <a:gd name="T10" fmla="*/ 66 w 76"/>
                  <a:gd name="T11" fmla="*/ 354 h 573"/>
                  <a:gd name="T12" fmla="*/ 54 w 76"/>
                  <a:gd name="T13" fmla="*/ 411 h 573"/>
                  <a:gd name="T14" fmla="*/ 35 w 76"/>
                  <a:gd name="T15" fmla="*/ 488 h 573"/>
                  <a:gd name="T16" fmla="*/ 0 w 76"/>
                  <a:gd name="T17" fmla="*/ 573 h 5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6" h="573">
                    <a:moveTo>
                      <a:pt x="3" y="0"/>
                    </a:moveTo>
                    <a:cubicBezTo>
                      <a:pt x="7" y="12"/>
                      <a:pt x="23" y="49"/>
                      <a:pt x="30" y="71"/>
                    </a:cubicBezTo>
                    <a:cubicBezTo>
                      <a:pt x="37" y="93"/>
                      <a:pt x="43" y="115"/>
                      <a:pt x="48" y="135"/>
                    </a:cubicBezTo>
                    <a:cubicBezTo>
                      <a:pt x="53" y="155"/>
                      <a:pt x="58" y="170"/>
                      <a:pt x="62" y="194"/>
                    </a:cubicBezTo>
                    <a:cubicBezTo>
                      <a:pt x="66" y="218"/>
                      <a:pt x="74" y="252"/>
                      <a:pt x="75" y="279"/>
                    </a:cubicBezTo>
                    <a:cubicBezTo>
                      <a:pt x="76" y="306"/>
                      <a:pt x="69" y="332"/>
                      <a:pt x="66" y="354"/>
                    </a:cubicBezTo>
                    <a:cubicBezTo>
                      <a:pt x="63" y="376"/>
                      <a:pt x="59" y="389"/>
                      <a:pt x="54" y="411"/>
                    </a:cubicBezTo>
                    <a:cubicBezTo>
                      <a:pt x="49" y="433"/>
                      <a:pt x="44" y="461"/>
                      <a:pt x="35" y="488"/>
                    </a:cubicBezTo>
                    <a:cubicBezTo>
                      <a:pt x="26" y="515"/>
                      <a:pt x="7" y="555"/>
                      <a:pt x="0" y="573"/>
                    </a:cubicBez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1" name="Group 55"/>
            <p:cNvGrpSpPr>
              <a:grpSpLocks noChangeAspect="1"/>
            </p:cNvGrpSpPr>
            <p:nvPr/>
          </p:nvGrpSpPr>
          <p:grpSpPr bwMode="auto">
            <a:xfrm>
              <a:off x="3815" y="3171"/>
              <a:ext cx="320" cy="162"/>
              <a:chOff x="2368" y="2504"/>
              <a:chExt cx="456" cy="232"/>
            </a:xfrm>
          </p:grpSpPr>
          <p:sp>
            <p:nvSpPr>
              <p:cNvPr id="34" name="Line 56"/>
              <p:cNvSpPr>
                <a:spLocks noChangeAspect="1" noChangeShapeType="1"/>
              </p:cNvSpPr>
              <p:nvPr/>
            </p:nvSpPr>
            <p:spPr bwMode="auto">
              <a:xfrm>
                <a:off x="2368" y="2504"/>
                <a:ext cx="176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" name="Line 57"/>
              <p:cNvSpPr>
                <a:spLocks noChangeAspect="1" noChangeShapeType="1"/>
              </p:cNvSpPr>
              <p:nvPr/>
            </p:nvSpPr>
            <p:spPr bwMode="auto">
              <a:xfrm>
                <a:off x="2536" y="2504"/>
                <a:ext cx="0" cy="23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" name="Line 58"/>
              <p:cNvSpPr>
                <a:spLocks noChangeAspect="1" noChangeShapeType="1"/>
              </p:cNvSpPr>
              <p:nvPr/>
            </p:nvSpPr>
            <p:spPr bwMode="auto">
              <a:xfrm>
                <a:off x="2528" y="2736"/>
                <a:ext cx="296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2" name="Line 59"/>
            <p:cNvSpPr>
              <a:spLocks noChangeAspect="1" noChangeShapeType="1"/>
            </p:cNvSpPr>
            <p:nvPr/>
          </p:nvSpPr>
          <p:spPr bwMode="auto">
            <a:xfrm flipH="1">
              <a:off x="2902" y="3064"/>
              <a:ext cx="40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Line 60"/>
            <p:cNvSpPr>
              <a:spLocks noChangeAspect="1" noChangeShapeType="1"/>
            </p:cNvSpPr>
            <p:nvPr/>
          </p:nvSpPr>
          <p:spPr bwMode="auto">
            <a:xfrm flipH="1">
              <a:off x="2902" y="3283"/>
              <a:ext cx="40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Line 61"/>
            <p:cNvSpPr>
              <a:spLocks noChangeAspect="1" noChangeShapeType="1"/>
            </p:cNvSpPr>
            <p:nvPr/>
          </p:nvSpPr>
          <p:spPr bwMode="auto">
            <a:xfrm>
              <a:off x="4740" y="3451"/>
              <a:ext cx="16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 Box 62"/>
                <p:cNvSpPr txBox="1">
                  <a:spLocks noChangeAspect="1" noChangeArrowheads="1"/>
                </p:cNvSpPr>
                <p:nvPr/>
              </p:nvSpPr>
              <p:spPr bwMode="auto">
                <a:xfrm>
                  <a:off x="2608" y="2854"/>
                  <a:ext cx="335" cy="29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en-US" sz="2400" b="0" i="1" dirty="0" smtClean="0">
                            <a:latin typeface="Cambria Math"/>
                          </a:rPr>
                          <m:t>𝑤</m:t>
                        </m:r>
                      </m:oMath>
                    </m:oMathPara>
                  </a14:m>
                  <a:endParaRPr lang="en-US" altLang="en-US" sz="2400" dirty="0"/>
                </a:p>
              </p:txBody>
            </p:sp>
          </mc:Choice>
          <mc:Fallback xmlns="">
            <p:sp>
              <p:nvSpPr>
                <p:cNvPr id="15" name="Text Box 6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608" y="2854"/>
                  <a:ext cx="319" cy="291"/>
                </a:xfrm>
                <a:prstGeom prst="rect">
                  <a:avLst/>
                </a:prstGeom>
                <a:blipFill rotWithShape="1">
                  <a:blip r:embed="rId4"/>
                  <a:stretch>
                    <a:fillRect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 Box 63"/>
                <p:cNvSpPr txBox="1">
                  <a:spLocks noChangeAspect="1" noChangeArrowheads="1"/>
                </p:cNvSpPr>
                <p:nvPr/>
              </p:nvSpPr>
              <p:spPr bwMode="auto">
                <a:xfrm>
                  <a:off x="2614" y="3116"/>
                  <a:ext cx="291" cy="29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en-US" sz="2400" i="1" dirty="0" smtClean="0">
                            <a:latin typeface="Cambria Math"/>
                          </a:rPr>
                          <m:t>𝑥</m:t>
                        </m:r>
                      </m:oMath>
                    </m:oMathPara>
                  </a14:m>
                  <a:endParaRPr lang="en-US" altLang="en-US" sz="2400" dirty="0"/>
                </a:p>
              </p:txBody>
            </p:sp>
          </mc:Choice>
          <mc:Fallback xmlns="">
            <p:sp>
              <p:nvSpPr>
                <p:cNvPr id="16" name="Text Box 6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614" y="3116"/>
                  <a:ext cx="279" cy="291"/>
                </a:xfrm>
                <a:prstGeom prst="rect">
                  <a:avLst/>
                </a:prstGeom>
                <a:blipFill rotWithShape="1">
                  <a:blip r:embed="rId5"/>
                  <a:stretch>
                    <a:fillRect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 Box 64"/>
                <p:cNvSpPr txBox="1">
                  <a:spLocks noChangeAspect="1" noChangeArrowheads="1"/>
                </p:cNvSpPr>
                <p:nvPr/>
              </p:nvSpPr>
              <p:spPr bwMode="auto">
                <a:xfrm>
                  <a:off x="2620" y="3474"/>
                  <a:ext cx="294" cy="29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en-US" sz="2400" i="1" dirty="0" smtClean="0">
                            <a:latin typeface="Cambria Math"/>
                          </a:rPr>
                          <m:t>𝑦</m:t>
                        </m:r>
                      </m:oMath>
                    </m:oMathPara>
                  </a14:m>
                  <a:endParaRPr lang="en-US" altLang="en-US" sz="2400" dirty="0"/>
                </a:p>
              </p:txBody>
            </p:sp>
          </mc:Choice>
          <mc:Fallback xmlns="">
            <p:sp>
              <p:nvSpPr>
                <p:cNvPr id="17" name="Text Box 6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620" y="3474"/>
                  <a:ext cx="281" cy="291"/>
                </a:xfrm>
                <a:prstGeom prst="rect">
                  <a:avLst/>
                </a:prstGeom>
                <a:blipFill rotWithShape="1">
                  <a:blip r:embed="rId6"/>
                  <a:stretch>
                    <a:fillRect b="-11842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 Box 65"/>
                <p:cNvSpPr txBox="1">
                  <a:spLocks noChangeAspect="1" noChangeArrowheads="1"/>
                </p:cNvSpPr>
                <p:nvPr/>
              </p:nvSpPr>
              <p:spPr bwMode="auto">
                <a:xfrm>
                  <a:off x="4884" y="3271"/>
                  <a:ext cx="735" cy="29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en-US" sz="2400" i="1" dirty="0" smtClean="0">
                            <a:latin typeface="Cambria Math"/>
                          </a:rPr>
                          <m:t>𝑓𝑒𝑣𝑒𝑛</m:t>
                        </m:r>
                      </m:oMath>
                    </m:oMathPara>
                  </a14:m>
                  <a:endParaRPr lang="en-US" altLang="en-US" sz="2400" dirty="0"/>
                </a:p>
              </p:txBody>
            </p:sp>
          </mc:Choice>
          <mc:Fallback xmlns="">
            <p:sp>
              <p:nvSpPr>
                <p:cNvPr id="18" name="Text Box 6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884" y="3271"/>
                  <a:ext cx="688" cy="291"/>
                </a:xfrm>
                <a:prstGeom prst="rect">
                  <a:avLst/>
                </a:prstGeom>
                <a:blipFill rotWithShape="1">
                  <a:blip r:embed="rId7"/>
                  <a:stretch>
                    <a:fillRect l="-559" b="-19737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9" name="Group 66"/>
            <p:cNvGrpSpPr>
              <a:grpSpLocks noChangeAspect="1"/>
            </p:cNvGrpSpPr>
            <p:nvPr/>
          </p:nvGrpSpPr>
          <p:grpSpPr bwMode="auto">
            <a:xfrm flipV="1">
              <a:off x="3287" y="3537"/>
              <a:ext cx="542" cy="403"/>
              <a:chOff x="3310" y="2739"/>
              <a:chExt cx="774" cy="576"/>
            </a:xfrm>
          </p:grpSpPr>
          <p:sp>
            <p:nvSpPr>
              <p:cNvPr id="32" name="Freeform 67"/>
              <p:cNvSpPr>
                <a:spLocks noChangeAspect="1"/>
              </p:cNvSpPr>
              <p:nvPr/>
            </p:nvSpPr>
            <p:spPr bwMode="auto">
              <a:xfrm>
                <a:off x="3376" y="2739"/>
                <a:ext cx="708" cy="572"/>
              </a:xfrm>
              <a:custGeom>
                <a:avLst/>
                <a:gdLst>
                  <a:gd name="T0" fmla="*/ 0 w 708"/>
                  <a:gd name="T1" fmla="*/ 0 h 572"/>
                  <a:gd name="T2" fmla="*/ 17 w 708"/>
                  <a:gd name="T3" fmla="*/ 40 h 572"/>
                  <a:gd name="T4" fmla="*/ 39 w 708"/>
                  <a:gd name="T5" fmla="*/ 95 h 572"/>
                  <a:gd name="T6" fmla="*/ 54 w 708"/>
                  <a:gd name="T7" fmla="*/ 157 h 572"/>
                  <a:gd name="T8" fmla="*/ 66 w 708"/>
                  <a:gd name="T9" fmla="*/ 227 h 572"/>
                  <a:gd name="T10" fmla="*/ 74 w 708"/>
                  <a:gd name="T11" fmla="*/ 284 h 572"/>
                  <a:gd name="T12" fmla="*/ 69 w 708"/>
                  <a:gd name="T13" fmla="*/ 338 h 572"/>
                  <a:gd name="T14" fmla="*/ 58 w 708"/>
                  <a:gd name="T15" fmla="*/ 399 h 572"/>
                  <a:gd name="T16" fmla="*/ 45 w 708"/>
                  <a:gd name="T17" fmla="*/ 458 h 572"/>
                  <a:gd name="T18" fmla="*/ 28 w 708"/>
                  <a:gd name="T19" fmla="*/ 512 h 572"/>
                  <a:gd name="T20" fmla="*/ 0 w 708"/>
                  <a:gd name="T21" fmla="*/ 572 h 572"/>
                  <a:gd name="T22" fmla="*/ 208 w 708"/>
                  <a:gd name="T23" fmla="*/ 572 h 572"/>
                  <a:gd name="T24" fmla="*/ 297 w 708"/>
                  <a:gd name="T25" fmla="*/ 570 h 572"/>
                  <a:gd name="T26" fmla="*/ 342 w 708"/>
                  <a:gd name="T27" fmla="*/ 567 h 572"/>
                  <a:gd name="T28" fmla="*/ 375 w 708"/>
                  <a:gd name="T29" fmla="*/ 559 h 572"/>
                  <a:gd name="T30" fmla="*/ 409 w 708"/>
                  <a:gd name="T31" fmla="*/ 549 h 572"/>
                  <a:gd name="T32" fmla="*/ 445 w 708"/>
                  <a:gd name="T33" fmla="*/ 533 h 572"/>
                  <a:gd name="T34" fmla="*/ 486 w 708"/>
                  <a:gd name="T35" fmla="*/ 515 h 572"/>
                  <a:gd name="T36" fmla="*/ 526 w 708"/>
                  <a:gd name="T37" fmla="*/ 490 h 572"/>
                  <a:gd name="T38" fmla="*/ 552 w 708"/>
                  <a:gd name="T39" fmla="*/ 470 h 572"/>
                  <a:gd name="T40" fmla="*/ 577 w 708"/>
                  <a:gd name="T41" fmla="*/ 447 h 572"/>
                  <a:gd name="T42" fmla="*/ 604 w 708"/>
                  <a:gd name="T43" fmla="*/ 420 h 572"/>
                  <a:gd name="T44" fmla="*/ 628 w 708"/>
                  <a:gd name="T45" fmla="*/ 398 h 572"/>
                  <a:gd name="T46" fmla="*/ 651 w 708"/>
                  <a:gd name="T47" fmla="*/ 370 h 572"/>
                  <a:gd name="T48" fmla="*/ 680 w 708"/>
                  <a:gd name="T49" fmla="*/ 333 h 572"/>
                  <a:gd name="T50" fmla="*/ 708 w 708"/>
                  <a:gd name="T51" fmla="*/ 286 h 572"/>
                  <a:gd name="T52" fmla="*/ 682 w 708"/>
                  <a:gd name="T53" fmla="*/ 245 h 572"/>
                  <a:gd name="T54" fmla="*/ 658 w 708"/>
                  <a:gd name="T55" fmla="*/ 210 h 572"/>
                  <a:gd name="T56" fmla="*/ 638 w 708"/>
                  <a:gd name="T57" fmla="*/ 185 h 572"/>
                  <a:gd name="T58" fmla="*/ 616 w 708"/>
                  <a:gd name="T59" fmla="*/ 161 h 572"/>
                  <a:gd name="T60" fmla="*/ 592 w 708"/>
                  <a:gd name="T61" fmla="*/ 138 h 572"/>
                  <a:gd name="T62" fmla="*/ 572 w 708"/>
                  <a:gd name="T63" fmla="*/ 120 h 572"/>
                  <a:gd name="T64" fmla="*/ 552 w 708"/>
                  <a:gd name="T65" fmla="*/ 103 h 572"/>
                  <a:gd name="T66" fmla="*/ 528 w 708"/>
                  <a:gd name="T67" fmla="*/ 85 h 572"/>
                  <a:gd name="T68" fmla="*/ 506 w 708"/>
                  <a:gd name="T69" fmla="*/ 72 h 572"/>
                  <a:gd name="T70" fmla="*/ 480 w 708"/>
                  <a:gd name="T71" fmla="*/ 58 h 572"/>
                  <a:gd name="T72" fmla="*/ 451 w 708"/>
                  <a:gd name="T73" fmla="*/ 43 h 572"/>
                  <a:gd name="T74" fmla="*/ 415 w 708"/>
                  <a:gd name="T75" fmla="*/ 29 h 572"/>
                  <a:gd name="T76" fmla="*/ 385 w 708"/>
                  <a:gd name="T77" fmla="*/ 20 h 572"/>
                  <a:gd name="T78" fmla="*/ 350 w 708"/>
                  <a:gd name="T79" fmla="*/ 11 h 572"/>
                  <a:gd name="T80" fmla="*/ 313 w 708"/>
                  <a:gd name="T81" fmla="*/ 5 h 572"/>
                  <a:gd name="T82" fmla="*/ 278 w 708"/>
                  <a:gd name="T83" fmla="*/ 1 h 572"/>
                  <a:gd name="T84" fmla="*/ 253 w 708"/>
                  <a:gd name="T85" fmla="*/ 1 h 572"/>
                  <a:gd name="T86" fmla="*/ 227 w 708"/>
                  <a:gd name="T87" fmla="*/ 0 h 572"/>
                  <a:gd name="T88" fmla="*/ 0 w 708"/>
                  <a:gd name="T89" fmla="*/ 0 h 5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708" h="572">
                    <a:moveTo>
                      <a:pt x="0" y="0"/>
                    </a:moveTo>
                    <a:lnTo>
                      <a:pt x="17" y="40"/>
                    </a:lnTo>
                    <a:lnTo>
                      <a:pt x="39" y="95"/>
                    </a:lnTo>
                    <a:lnTo>
                      <a:pt x="54" y="157"/>
                    </a:lnTo>
                    <a:lnTo>
                      <a:pt x="66" y="227"/>
                    </a:lnTo>
                    <a:lnTo>
                      <a:pt x="74" y="284"/>
                    </a:lnTo>
                    <a:lnTo>
                      <a:pt x="69" y="338"/>
                    </a:lnTo>
                    <a:lnTo>
                      <a:pt x="58" y="399"/>
                    </a:lnTo>
                    <a:lnTo>
                      <a:pt x="45" y="458"/>
                    </a:lnTo>
                    <a:lnTo>
                      <a:pt x="28" y="512"/>
                    </a:lnTo>
                    <a:lnTo>
                      <a:pt x="0" y="572"/>
                    </a:lnTo>
                    <a:lnTo>
                      <a:pt x="208" y="572"/>
                    </a:lnTo>
                    <a:lnTo>
                      <a:pt x="297" y="570"/>
                    </a:lnTo>
                    <a:lnTo>
                      <a:pt x="342" y="567"/>
                    </a:lnTo>
                    <a:lnTo>
                      <a:pt x="375" y="559"/>
                    </a:lnTo>
                    <a:lnTo>
                      <a:pt x="409" y="549"/>
                    </a:lnTo>
                    <a:lnTo>
                      <a:pt x="445" y="533"/>
                    </a:lnTo>
                    <a:lnTo>
                      <a:pt x="486" y="515"/>
                    </a:lnTo>
                    <a:lnTo>
                      <a:pt x="526" y="490"/>
                    </a:lnTo>
                    <a:lnTo>
                      <a:pt x="552" y="470"/>
                    </a:lnTo>
                    <a:lnTo>
                      <a:pt x="577" y="447"/>
                    </a:lnTo>
                    <a:lnTo>
                      <a:pt x="604" y="420"/>
                    </a:lnTo>
                    <a:lnTo>
                      <a:pt x="628" y="398"/>
                    </a:lnTo>
                    <a:lnTo>
                      <a:pt x="651" y="370"/>
                    </a:lnTo>
                    <a:lnTo>
                      <a:pt x="680" y="333"/>
                    </a:lnTo>
                    <a:lnTo>
                      <a:pt x="708" y="286"/>
                    </a:lnTo>
                    <a:lnTo>
                      <a:pt x="682" y="245"/>
                    </a:lnTo>
                    <a:lnTo>
                      <a:pt x="658" y="210"/>
                    </a:lnTo>
                    <a:lnTo>
                      <a:pt x="638" y="185"/>
                    </a:lnTo>
                    <a:lnTo>
                      <a:pt x="616" y="161"/>
                    </a:lnTo>
                    <a:lnTo>
                      <a:pt x="592" y="138"/>
                    </a:lnTo>
                    <a:lnTo>
                      <a:pt x="572" y="120"/>
                    </a:lnTo>
                    <a:lnTo>
                      <a:pt x="552" y="103"/>
                    </a:lnTo>
                    <a:lnTo>
                      <a:pt x="528" y="85"/>
                    </a:lnTo>
                    <a:lnTo>
                      <a:pt x="506" y="72"/>
                    </a:lnTo>
                    <a:lnTo>
                      <a:pt x="480" y="58"/>
                    </a:lnTo>
                    <a:lnTo>
                      <a:pt x="451" y="43"/>
                    </a:lnTo>
                    <a:lnTo>
                      <a:pt x="415" y="29"/>
                    </a:lnTo>
                    <a:lnTo>
                      <a:pt x="385" y="20"/>
                    </a:lnTo>
                    <a:lnTo>
                      <a:pt x="350" y="11"/>
                    </a:lnTo>
                    <a:lnTo>
                      <a:pt x="313" y="5"/>
                    </a:lnTo>
                    <a:lnTo>
                      <a:pt x="278" y="1"/>
                    </a:lnTo>
                    <a:lnTo>
                      <a:pt x="253" y="1"/>
                    </a:lnTo>
                    <a:lnTo>
                      <a:pt x="227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3810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3366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" name="Freeform 68"/>
              <p:cNvSpPr>
                <a:spLocks noChangeAspect="1"/>
              </p:cNvSpPr>
              <p:nvPr/>
            </p:nvSpPr>
            <p:spPr bwMode="auto">
              <a:xfrm>
                <a:off x="3310" y="2742"/>
                <a:ext cx="76" cy="573"/>
              </a:xfrm>
              <a:custGeom>
                <a:avLst/>
                <a:gdLst>
                  <a:gd name="T0" fmla="*/ 3 w 76"/>
                  <a:gd name="T1" fmla="*/ 0 h 573"/>
                  <a:gd name="T2" fmla="*/ 30 w 76"/>
                  <a:gd name="T3" fmla="*/ 71 h 573"/>
                  <a:gd name="T4" fmla="*/ 48 w 76"/>
                  <a:gd name="T5" fmla="*/ 135 h 573"/>
                  <a:gd name="T6" fmla="*/ 62 w 76"/>
                  <a:gd name="T7" fmla="*/ 194 h 573"/>
                  <a:gd name="T8" fmla="*/ 75 w 76"/>
                  <a:gd name="T9" fmla="*/ 279 h 573"/>
                  <a:gd name="T10" fmla="*/ 66 w 76"/>
                  <a:gd name="T11" fmla="*/ 354 h 573"/>
                  <a:gd name="T12" fmla="*/ 54 w 76"/>
                  <a:gd name="T13" fmla="*/ 411 h 573"/>
                  <a:gd name="T14" fmla="*/ 35 w 76"/>
                  <a:gd name="T15" fmla="*/ 488 h 573"/>
                  <a:gd name="T16" fmla="*/ 0 w 76"/>
                  <a:gd name="T17" fmla="*/ 573 h 5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6" h="573">
                    <a:moveTo>
                      <a:pt x="3" y="0"/>
                    </a:moveTo>
                    <a:cubicBezTo>
                      <a:pt x="7" y="12"/>
                      <a:pt x="23" y="49"/>
                      <a:pt x="30" y="71"/>
                    </a:cubicBezTo>
                    <a:cubicBezTo>
                      <a:pt x="37" y="93"/>
                      <a:pt x="43" y="115"/>
                      <a:pt x="48" y="135"/>
                    </a:cubicBezTo>
                    <a:cubicBezTo>
                      <a:pt x="53" y="155"/>
                      <a:pt x="58" y="170"/>
                      <a:pt x="62" y="194"/>
                    </a:cubicBezTo>
                    <a:cubicBezTo>
                      <a:pt x="66" y="218"/>
                      <a:pt x="74" y="252"/>
                      <a:pt x="75" y="279"/>
                    </a:cubicBezTo>
                    <a:cubicBezTo>
                      <a:pt x="76" y="306"/>
                      <a:pt x="69" y="332"/>
                      <a:pt x="66" y="354"/>
                    </a:cubicBezTo>
                    <a:cubicBezTo>
                      <a:pt x="63" y="376"/>
                      <a:pt x="59" y="389"/>
                      <a:pt x="54" y="411"/>
                    </a:cubicBezTo>
                    <a:cubicBezTo>
                      <a:pt x="49" y="433"/>
                      <a:pt x="44" y="461"/>
                      <a:pt x="35" y="488"/>
                    </a:cubicBezTo>
                    <a:cubicBezTo>
                      <a:pt x="26" y="515"/>
                      <a:pt x="7" y="555"/>
                      <a:pt x="0" y="573"/>
                    </a:cubicBez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0" name="Group 69"/>
            <p:cNvGrpSpPr>
              <a:grpSpLocks noChangeAspect="1"/>
            </p:cNvGrpSpPr>
            <p:nvPr/>
          </p:nvGrpSpPr>
          <p:grpSpPr bwMode="auto">
            <a:xfrm flipV="1">
              <a:off x="3821" y="3574"/>
              <a:ext cx="319" cy="163"/>
              <a:chOff x="2368" y="2504"/>
              <a:chExt cx="456" cy="232"/>
            </a:xfrm>
          </p:grpSpPr>
          <p:sp>
            <p:nvSpPr>
              <p:cNvPr id="29" name="Line 70"/>
              <p:cNvSpPr>
                <a:spLocks noChangeAspect="1" noChangeShapeType="1"/>
              </p:cNvSpPr>
              <p:nvPr/>
            </p:nvSpPr>
            <p:spPr bwMode="auto">
              <a:xfrm>
                <a:off x="2368" y="2504"/>
                <a:ext cx="176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" name="Line 71"/>
              <p:cNvSpPr>
                <a:spLocks noChangeAspect="1" noChangeShapeType="1"/>
              </p:cNvSpPr>
              <p:nvPr/>
            </p:nvSpPr>
            <p:spPr bwMode="auto">
              <a:xfrm>
                <a:off x="2536" y="2504"/>
                <a:ext cx="0" cy="23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" name="Line 72"/>
              <p:cNvSpPr>
                <a:spLocks noChangeAspect="1" noChangeShapeType="1"/>
              </p:cNvSpPr>
              <p:nvPr/>
            </p:nvSpPr>
            <p:spPr bwMode="auto">
              <a:xfrm>
                <a:off x="2528" y="2736"/>
                <a:ext cx="296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21" name="Line 73"/>
            <p:cNvSpPr>
              <a:spLocks noChangeAspect="1" noChangeShapeType="1"/>
            </p:cNvSpPr>
            <p:nvPr/>
          </p:nvSpPr>
          <p:spPr bwMode="auto">
            <a:xfrm flipH="1" flipV="1">
              <a:off x="2908" y="3636"/>
              <a:ext cx="40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Line 74"/>
            <p:cNvSpPr>
              <a:spLocks noChangeAspect="1" noChangeShapeType="1"/>
            </p:cNvSpPr>
            <p:nvPr/>
          </p:nvSpPr>
          <p:spPr bwMode="auto">
            <a:xfrm flipH="1" flipV="1">
              <a:off x="2908" y="3854"/>
              <a:ext cx="40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 Box 75"/>
                <p:cNvSpPr txBox="1">
                  <a:spLocks noChangeAspect="1" noChangeArrowheads="1"/>
                </p:cNvSpPr>
                <p:nvPr/>
              </p:nvSpPr>
              <p:spPr bwMode="auto">
                <a:xfrm>
                  <a:off x="2631" y="3693"/>
                  <a:ext cx="278" cy="29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en-US" sz="2400" i="1" dirty="0" smtClean="0">
                            <a:latin typeface="Cambria Math"/>
                          </a:rPr>
                          <m:t>𝑧</m:t>
                        </m:r>
                      </m:oMath>
                    </m:oMathPara>
                  </a14:m>
                  <a:endParaRPr lang="en-US" altLang="en-US" sz="2400" dirty="0"/>
                </a:p>
              </p:txBody>
            </p:sp>
          </mc:Choice>
          <mc:Fallback xmlns="">
            <p:sp>
              <p:nvSpPr>
                <p:cNvPr id="23" name="Text Box 7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631" y="3693"/>
                  <a:ext cx="267" cy="291"/>
                </a:xfrm>
                <a:prstGeom prst="rect">
                  <a:avLst/>
                </a:prstGeom>
                <a:blipFill rotWithShape="1">
                  <a:blip r:embed="rId8"/>
                  <a:stretch>
                    <a:fillRect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24" name="Group 76"/>
            <p:cNvGrpSpPr>
              <a:grpSpLocks noChangeAspect="1"/>
            </p:cNvGrpSpPr>
            <p:nvPr/>
          </p:nvGrpSpPr>
          <p:grpSpPr bwMode="auto">
            <a:xfrm>
              <a:off x="4116" y="3251"/>
              <a:ext cx="629" cy="404"/>
              <a:chOff x="3494" y="1963"/>
              <a:chExt cx="898" cy="576"/>
            </a:xfrm>
          </p:grpSpPr>
          <p:grpSp>
            <p:nvGrpSpPr>
              <p:cNvPr id="25" name="Group 77"/>
              <p:cNvGrpSpPr>
                <a:grpSpLocks noChangeAspect="1"/>
              </p:cNvGrpSpPr>
              <p:nvPr/>
            </p:nvGrpSpPr>
            <p:grpSpPr bwMode="auto">
              <a:xfrm>
                <a:off x="3494" y="1963"/>
                <a:ext cx="774" cy="576"/>
                <a:chOff x="3310" y="2739"/>
                <a:chExt cx="774" cy="576"/>
              </a:xfrm>
            </p:grpSpPr>
            <p:sp>
              <p:nvSpPr>
                <p:cNvPr id="27" name="Freeform 78"/>
                <p:cNvSpPr>
                  <a:spLocks noChangeAspect="1"/>
                </p:cNvSpPr>
                <p:nvPr/>
              </p:nvSpPr>
              <p:spPr bwMode="auto">
                <a:xfrm>
                  <a:off x="3376" y="2739"/>
                  <a:ext cx="708" cy="572"/>
                </a:xfrm>
                <a:custGeom>
                  <a:avLst/>
                  <a:gdLst>
                    <a:gd name="T0" fmla="*/ 0 w 708"/>
                    <a:gd name="T1" fmla="*/ 0 h 572"/>
                    <a:gd name="T2" fmla="*/ 17 w 708"/>
                    <a:gd name="T3" fmla="*/ 40 h 572"/>
                    <a:gd name="T4" fmla="*/ 39 w 708"/>
                    <a:gd name="T5" fmla="*/ 95 h 572"/>
                    <a:gd name="T6" fmla="*/ 54 w 708"/>
                    <a:gd name="T7" fmla="*/ 157 h 572"/>
                    <a:gd name="T8" fmla="*/ 66 w 708"/>
                    <a:gd name="T9" fmla="*/ 227 h 572"/>
                    <a:gd name="T10" fmla="*/ 74 w 708"/>
                    <a:gd name="T11" fmla="*/ 284 h 572"/>
                    <a:gd name="T12" fmla="*/ 69 w 708"/>
                    <a:gd name="T13" fmla="*/ 338 h 572"/>
                    <a:gd name="T14" fmla="*/ 58 w 708"/>
                    <a:gd name="T15" fmla="*/ 399 h 572"/>
                    <a:gd name="T16" fmla="*/ 45 w 708"/>
                    <a:gd name="T17" fmla="*/ 458 h 572"/>
                    <a:gd name="T18" fmla="*/ 28 w 708"/>
                    <a:gd name="T19" fmla="*/ 512 h 572"/>
                    <a:gd name="T20" fmla="*/ 0 w 708"/>
                    <a:gd name="T21" fmla="*/ 572 h 572"/>
                    <a:gd name="T22" fmla="*/ 208 w 708"/>
                    <a:gd name="T23" fmla="*/ 572 h 572"/>
                    <a:gd name="T24" fmla="*/ 297 w 708"/>
                    <a:gd name="T25" fmla="*/ 570 h 572"/>
                    <a:gd name="T26" fmla="*/ 342 w 708"/>
                    <a:gd name="T27" fmla="*/ 567 h 572"/>
                    <a:gd name="T28" fmla="*/ 375 w 708"/>
                    <a:gd name="T29" fmla="*/ 559 h 572"/>
                    <a:gd name="T30" fmla="*/ 409 w 708"/>
                    <a:gd name="T31" fmla="*/ 549 h 572"/>
                    <a:gd name="T32" fmla="*/ 445 w 708"/>
                    <a:gd name="T33" fmla="*/ 533 h 572"/>
                    <a:gd name="T34" fmla="*/ 486 w 708"/>
                    <a:gd name="T35" fmla="*/ 515 h 572"/>
                    <a:gd name="T36" fmla="*/ 526 w 708"/>
                    <a:gd name="T37" fmla="*/ 490 h 572"/>
                    <a:gd name="T38" fmla="*/ 552 w 708"/>
                    <a:gd name="T39" fmla="*/ 470 h 572"/>
                    <a:gd name="T40" fmla="*/ 577 w 708"/>
                    <a:gd name="T41" fmla="*/ 447 h 572"/>
                    <a:gd name="T42" fmla="*/ 604 w 708"/>
                    <a:gd name="T43" fmla="*/ 420 h 572"/>
                    <a:gd name="T44" fmla="*/ 628 w 708"/>
                    <a:gd name="T45" fmla="*/ 398 h 572"/>
                    <a:gd name="T46" fmla="*/ 651 w 708"/>
                    <a:gd name="T47" fmla="*/ 370 h 572"/>
                    <a:gd name="T48" fmla="*/ 680 w 708"/>
                    <a:gd name="T49" fmla="*/ 333 h 572"/>
                    <a:gd name="T50" fmla="*/ 708 w 708"/>
                    <a:gd name="T51" fmla="*/ 286 h 572"/>
                    <a:gd name="T52" fmla="*/ 682 w 708"/>
                    <a:gd name="T53" fmla="*/ 245 h 572"/>
                    <a:gd name="T54" fmla="*/ 658 w 708"/>
                    <a:gd name="T55" fmla="*/ 210 h 572"/>
                    <a:gd name="T56" fmla="*/ 638 w 708"/>
                    <a:gd name="T57" fmla="*/ 185 h 572"/>
                    <a:gd name="T58" fmla="*/ 616 w 708"/>
                    <a:gd name="T59" fmla="*/ 161 h 572"/>
                    <a:gd name="T60" fmla="*/ 592 w 708"/>
                    <a:gd name="T61" fmla="*/ 138 h 572"/>
                    <a:gd name="T62" fmla="*/ 572 w 708"/>
                    <a:gd name="T63" fmla="*/ 120 h 572"/>
                    <a:gd name="T64" fmla="*/ 552 w 708"/>
                    <a:gd name="T65" fmla="*/ 103 h 572"/>
                    <a:gd name="T66" fmla="*/ 528 w 708"/>
                    <a:gd name="T67" fmla="*/ 85 h 572"/>
                    <a:gd name="T68" fmla="*/ 506 w 708"/>
                    <a:gd name="T69" fmla="*/ 72 h 572"/>
                    <a:gd name="T70" fmla="*/ 480 w 708"/>
                    <a:gd name="T71" fmla="*/ 58 h 572"/>
                    <a:gd name="T72" fmla="*/ 451 w 708"/>
                    <a:gd name="T73" fmla="*/ 43 h 572"/>
                    <a:gd name="T74" fmla="*/ 415 w 708"/>
                    <a:gd name="T75" fmla="*/ 29 h 572"/>
                    <a:gd name="T76" fmla="*/ 385 w 708"/>
                    <a:gd name="T77" fmla="*/ 20 h 572"/>
                    <a:gd name="T78" fmla="*/ 350 w 708"/>
                    <a:gd name="T79" fmla="*/ 11 h 572"/>
                    <a:gd name="T80" fmla="*/ 313 w 708"/>
                    <a:gd name="T81" fmla="*/ 5 h 572"/>
                    <a:gd name="T82" fmla="*/ 278 w 708"/>
                    <a:gd name="T83" fmla="*/ 1 h 572"/>
                    <a:gd name="T84" fmla="*/ 253 w 708"/>
                    <a:gd name="T85" fmla="*/ 1 h 572"/>
                    <a:gd name="T86" fmla="*/ 227 w 708"/>
                    <a:gd name="T87" fmla="*/ 0 h 572"/>
                    <a:gd name="T88" fmla="*/ 0 w 708"/>
                    <a:gd name="T89" fmla="*/ 0 h 57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708" h="572">
                      <a:moveTo>
                        <a:pt x="0" y="0"/>
                      </a:moveTo>
                      <a:lnTo>
                        <a:pt x="17" y="40"/>
                      </a:lnTo>
                      <a:lnTo>
                        <a:pt x="39" y="95"/>
                      </a:lnTo>
                      <a:lnTo>
                        <a:pt x="54" y="157"/>
                      </a:lnTo>
                      <a:lnTo>
                        <a:pt x="66" y="227"/>
                      </a:lnTo>
                      <a:lnTo>
                        <a:pt x="74" y="284"/>
                      </a:lnTo>
                      <a:lnTo>
                        <a:pt x="69" y="338"/>
                      </a:lnTo>
                      <a:lnTo>
                        <a:pt x="58" y="399"/>
                      </a:lnTo>
                      <a:lnTo>
                        <a:pt x="45" y="458"/>
                      </a:lnTo>
                      <a:lnTo>
                        <a:pt x="28" y="512"/>
                      </a:lnTo>
                      <a:lnTo>
                        <a:pt x="0" y="572"/>
                      </a:lnTo>
                      <a:lnTo>
                        <a:pt x="208" y="572"/>
                      </a:lnTo>
                      <a:lnTo>
                        <a:pt x="297" y="570"/>
                      </a:lnTo>
                      <a:lnTo>
                        <a:pt x="342" y="567"/>
                      </a:lnTo>
                      <a:lnTo>
                        <a:pt x="375" y="559"/>
                      </a:lnTo>
                      <a:lnTo>
                        <a:pt x="409" y="549"/>
                      </a:lnTo>
                      <a:lnTo>
                        <a:pt x="445" y="533"/>
                      </a:lnTo>
                      <a:lnTo>
                        <a:pt x="486" y="515"/>
                      </a:lnTo>
                      <a:lnTo>
                        <a:pt x="526" y="490"/>
                      </a:lnTo>
                      <a:lnTo>
                        <a:pt x="552" y="470"/>
                      </a:lnTo>
                      <a:lnTo>
                        <a:pt x="577" y="447"/>
                      </a:lnTo>
                      <a:lnTo>
                        <a:pt x="604" y="420"/>
                      </a:lnTo>
                      <a:lnTo>
                        <a:pt x="628" y="398"/>
                      </a:lnTo>
                      <a:lnTo>
                        <a:pt x="651" y="370"/>
                      </a:lnTo>
                      <a:lnTo>
                        <a:pt x="680" y="333"/>
                      </a:lnTo>
                      <a:lnTo>
                        <a:pt x="708" y="286"/>
                      </a:lnTo>
                      <a:lnTo>
                        <a:pt x="682" y="245"/>
                      </a:lnTo>
                      <a:lnTo>
                        <a:pt x="658" y="210"/>
                      </a:lnTo>
                      <a:lnTo>
                        <a:pt x="638" y="185"/>
                      </a:lnTo>
                      <a:lnTo>
                        <a:pt x="616" y="161"/>
                      </a:lnTo>
                      <a:lnTo>
                        <a:pt x="592" y="138"/>
                      </a:lnTo>
                      <a:lnTo>
                        <a:pt x="572" y="120"/>
                      </a:lnTo>
                      <a:lnTo>
                        <a:pt x="552" y="103"/>
                      </a:lnTo>
                      <a:lnTo>
                        <a:pt x="528" y="85"/>
                      </a:lnTo>
                      <a:lnTo>
                        <a:pt x="506" y="72"/>
                      </a:lnTo>
                      <a:lnTo>
                        <a:pt x="480" y="58"/>
                      </a:lnTo>
                      <a:lnTo>
                        <a:pt x="451" y="43"/>
                      </a:lnTo>
                      <a:lnTo>
                        <a:pt x="415" y="29"/>
                      </a:lnTo>
                      <a:lnTo>
                        <a:pt x="385" y="20"/>
                      </a:lnTo>
                      <a:lnTo>
                        <a:pt x="350" y="11"/>
                      </a:lnTo>
                      <a:lnTo>
                        <a:pt x="313" y="5"/>
                      </a:lnTo>
                      <a:lnTo>
                        <a:pt x="278" y="1"/>
                      </a:lnTo>
                      <a:lnTo>
                        <a:pt x="253" y="1"/>
                      </a:lnTo>
                      <a:lnTo>
                        <a:pt x="227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38100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3366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" name="Freeform 79"/>
                <p:cNvSpPr>
                  <a:spLocks noChangeAspect="1"/>
                </p:cNvSpPr>
                <p:nvPr/>
              </p:nvSpPr>
              <p:spPr bwMode="auto">
                <a:xfrm>
                  <a:off x="3310" y="2742"/>
                  <a:ext cx="76" cy="573"/>
                </a:xfrm>
                <a:custGeom>
                  <a:avLst/>
                  <a:gdLst>
                    <a:gd name="T0" fmla="*/ 3 w 76"/>
                    <a:gd name="T1" fmla="*/ 0 h 573"/>
                    <a:gd name="T2" fmla="*/ 30 w 76"/>
                    <a:gd name="T3" fmla="*/ 71 h 573"/>
                    <a:gd name="T4" fmla="*/ 48 w 76"/>
                    <a:gd name="T5" fmla="*/ 135 h 573"/>
                    <a:gd name="T6" fmla="*/ 62 w 76"/>
                    <a:gd name="T7" fmla="*/ 194 h 573"/>
                    <a:gd name="T8" fmla="*/ 75 w 76"/>
                    <a:gd name="T9" fmla="*/ 279 h 573"/>
                    <a:gd name="T10" fmla="*/ 66 w 76"/>
                    <a:gd name="T11" fmla="*/ 354 h 573"/>
                    <a:gd name="T12" fmla="*/ 54 w 76"/>
                    <a:gd name="T13" fmla="*/ 411 h 573"/>
                    <a:gd name="T14" fmla="*/ 35 w 76"/>
                    <a:gd name="T15" fmla="*/ 488 h 573"/>
                    <a:gd name="T16" fmla="*/ 0 w 76"/>
                    <a:gd name="T17" fmla="*/ 573 h 57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6" h="573">
                      <a:moveTo>
                        <a:pt x="3" y="0"/>
                      </a:moveTo>
                      <a:cubicBezTo>
                        <a:pt x="7" y="12"/>
                        <a:pt x="23" y="49"/>
                        <a:pt x="30" y="71"/>
                      </a:cubicBezTo>
                      <a:cubicBezTo>
                        <a:pt x="37" y="93"/>
                        <a:pt x="43" y="115"/>
                        <a:pt x="48" y="135"/>
                      </a:cubicBezTo>
                      <a:cubicBezTo>
                        <a:pt x="53" y="155"/>
                        <a:pt x="58" y="170"/>
                        <a:pt x="62" y="194"/>
                      </a:cubicBezTo>
                      <a:cubicBezTo>
                        <a:pt x="66" y="218"/>
                        <a:pt x="74" y="252"/>
                        <a:pt x="75" y="279"/>
                      </a:cubicBezTo>
                      <a:cubicBezTo>
                        <a:pt x="76" y="306"/>
                        <a:pt x="69" y="332"/>
                        <a:pt x="66" y="354"/>
                      </a:cubicBezTo>
                      <a:cubicBezTo>
                        <a:pt x="63" y="376"/>
                        <a:pt x="59" y="389"/>
                        <a:pt x="54" y="411"/>
                      </a:cubicBezTo>
                      <a:cubicBezTo>
                        <a:pt x="49" y="433"/>
                        <a:pt x="44" y="461"/>
                        <a:pt x="35" y="488"/>
                      </a:cubicBezTo>
                      <a:cubicBezTo>
                        <a:pt x="26" y="515"/>
                        <a:pt x="7" y="555"/>
                        <a:pt x="0" y="573"/>
                      </a:cubicBezTo>
                    </a:path>
                  </a:pathLst>
                </a:custGeom>
                <a:noFill/>
                <a:ln w="38100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26" name="Oval 80"/>
              <p:cNvSpPr>
                <a:spLocks noChangeAspect="1" noChangeArrowheads="1"/>
              </p:cNvSpPr>
              <p:nvPr/>
            </p:nvSpPr>
            <p:spPr bwMode="auto">
              <a:xfrm>
                <a:off x="4264" y="2184"/>
                <a:ext cx="128" cy="128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sp>
        <p:nvSpPr>
          <p:cNvPr id="39" name="TextBox 38"/>
          <p:cNvSpPr txBox="1"/>
          <p:nvPr/>
        </p:nvSpPr>
        <p:spPr>
          <a:xfrm>
            <a:off x="3083081" y="6082061"/>
            <a:ext cx="5745952" cy="40011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dirty="0" smtClean="0"/>
              <a:t>Implementation using two XOR gates and one XNOR</a:t>
            </a:r>
            <a:endParaRPr lang="en-US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3629726" y="3549988"/>
                <a:ext cx="374628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/>
                        </a:rPr>
                        <m:t>𝑓𝑒𝑣𝑒𝑛</m:t>
                      </m:r>
                      <m:r>
                        <a:rPr lang="en-US" sz="2400" i="1" smtClean="0">
                          <a:latin typeface="Cambria Math"/>
                        </a:rPr>
                        <m:t>=(</m:t>
                      </m:r>
                      <m:r>
                        <a:rPr lang="en-US" sz="2400" i="1" smtClean="0">
                          <a:latin typeface="Cambria Math"/>
                        </a:rPr>
                        <m:t>𝑤</m:t>
                      </m:r>
                      <m:r>
                        <a:rPr lang="en-US" sz="2400" b="0" i="1" smtClean="0">
                          <a:latin typeface="Cambria Math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400" dirty="0">
                          <a:latin typeface="Cambria Math"/>
                        </a:rPr>
                        <m:t>⨁</m:t>
                      </m:r>
                      <m:r>
                        <a:rPr lang="en-US" sz="2400" b="0" i="1" dirty="0" smtClean="0">
                          <a:latin typeface="Cambria Math"/>
                        </a:rPr>
                        <m:t> </m:t>
                      </m:r>
                      <m:r>
                        <a:rPr lang="en-US" sz="2400" i="1" dirty="0" smtClean="0">
                          <a:latin typeface="Cambria Math"/>
                        </a:rPr>
                        <m:t>𝑥</m:t>
                      </m:r>
                      <m:r>
                        <m:rPr>
                          <m:nor/>
                        </m:rPr>
                        <a:rPr lang="en-US" sz="2400" b="0" i="0" dirty="0" smtClean="0">
                          <a:latin typeface="Cambria Math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400" dirty="0">
                          <a:latin typeface="Cambria Math"/>
                        </a:rPr>
                        <m:t>⨁</m:t>
                      </m:r>
                      <m:r>
                        <a:rPr lang="en-US" sz="2400" b="0" i="1" dirty="0" smtClean="0">
                          <a:latin typeface="Cambria Math"/>
                        </a:rPr>
                        <m:t> </m:t>
                      </m:r>
                      <m:r>
                        <a:rPr lang="en-US" sz="2400" i="1" dirty="0" smtClean="0">
                          <a:latin typeface="Cambria Math"/>
                        </a:rPr>
                        <m:t>𝑦</m:t>
                      </m:r>
                      <m:r>
                        <m:rPr>
                          <m:nor/>
                        </m:rPr>
                        <a:rPr lang="en-US" sz="2400" b="0" i="0" dirty="0" smtClean="0">
                          <a:latin typeface="Cambria Math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400" dirty="0">
                          <a:latin typeface="Cambria Math"/>
                        </a:rPr>
                        <m:t>⨁</m:t>
                      </m:r>
                      <m:r>
                        <a:rPr lang="en-US" sz="2400" b="0" i="1" dirty="0" smtClean="0">
                          <a:latin typeface="Cambria Math"/>
                        </a:rPr>
                        <m:t> </m:t>
                      </m:r>
                      <m:r>
                        <a:rPr lang="en-US" sz="2400" b="0" i="1" dirty="0" smtClean="0">
                          <a:latin typeface="Cambria Math"/>
                        </a:rPr>
                        <m:t>𝑧</m:t>
                      </m:r>
                      <m:r>
                        <a:rPr lang="en-US" sz="2400" b="0" i="1" smtClean="0">
                          <a:latin typeface="Cambria Math"/>
                        </a:rPr>
                        <m:t>)′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2203" y="3549987"/>
                <a:ext cx="3762312" cy="461665"/>
              </a:xfrm>
              <a:prstGeom prst="rect">
                <a:avLst/>
              </a:prstGeom>
              <a:blipFill rotWithShape="1">
                <a:blip r:embed="rId9"/>
                <a:stretch>
                  <a:fillRect b="-197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740673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39" grpId="0" animBg="1"/>
      <p:bldP spid="7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/>
          <a:lstStyle/>
          <a:p>
            <a:r>
              <a:rPr lang="en-US" dirty="0" smtClean="0"/>
              <a:t>Parity Generators and Checkers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1121" y="2449681"/>
            <a:ext cx="8561286" cy="4147704"/>
          </a:xfrm>
        </p:spPr>
        <p:txBody>
          <a:bodyPr>
            <a:normAutofit/>
          </a:bodyPr>
          <a:lstStyle/>
          <a:p>
            <a:pPr marL="444500" indent="-444500">
              <a:lnSpc>
                <a:spcPct val="120000"/>
              </a:lnSpc>
              <a:spcBef>
                <a:spcPts val="1000"/>
              </a:spcBef>
            </a:pPr>
            <a:r>
              <a:rPr lang="en-US" sz="2400" dirty="0" smtClean="0"/>
              <a:t>A parity bit is added to the </a:t>
            </a:r>
            <a:r>
              <a:rPr lang="en-US" sz="2400" i="1" dirty="0" smtClean="0"/>
              <a:t>n</a:t>
            </a:r>
            <a:r>
              <a:rPr lang="en-US" sz="2400" dirty="0" smtClean="0"/>
              <a:t>-bit code</a:t>
            </a:r>
          </a:p>
          <a:p>
            <a:pPr lvl="1">
              <a:lnSpc>
                <a:spcPct val="120000"/>
              </a:lnSpc>
              <a:spcBef>
                <a:spcPts val="1000"/>
              </a:spcBef>
            </a:pPr>
            <a:r>
              <a:rPr lang="en-US" sz="2000" dirty="0" smtClean="0"/>
              <a:t>Produces (</a:t>
            </a:r>
            <a:r>
              <a:rPr lang="en-US" sz="2000" i="1" dirty="0" smtClean="0"/>
              <a:t>n</a:t>
            </a:r>
            <a:r>
              <a:rPr lang="en-US" sz="2000" dirty="0" smtClean="0"/>
              <a:t>+1)-bit code with an odd (or even) count of 1's</a:t>
            </a:r>
          </a:p>
          <a:p>
            <a:pPr marL="444500" indent="-444500">
              <a:lnSpc>
                <a:spcPct val="120000"/>
              </a:lnSpc>
              <a:spcBef>
                <a:spcPts val="1000"/>
              </a:spcBef>
            </a:pPr>
            <a:r>
              <a:rPr lang="en-US" sz="2400" b="1" dirty="0" smtClean="0">
                <a:solidFill>
                  <a:srgbClr val="FF0000"/>
                </a:solidFill>
              </a:rPr>
              <a:t>Odd parity:</a:t>
            </a:r>
            <a:r>
              <a:rPr lang="en-US" sz="2400" dirty="0" smtClean="0"/>
              <a:t> count of 1's in the (</a:t>
            </a:r>
            <a:r>
              <a:rPr lang="en-US" sz="2400" i="1" dirty="0" smtClean="0"/>
              <a:t>n</a:t>
            </a:r>
            <a:r>
              <a:rPr lang="en-US" sz="2400" dirty="0" smtClean="0"/>
              <a:t>+1)-bit code is </a:t>
            </a:r>
            <a:r>
              <a:rPr lang="en-US" sz="2400" b="1" dirty="0" smtClean="0">
                <a:solidFill>
                  <a:srgbClr val="FF3300"/>
                </a:solidFill>
              </a:rPr>
              <a:t>odd</a:t>
            </a:r>
          </a:p>
          <a:p>
            <a:pPr lvl="1">
              <a:lnSpc>
                <a:spcPct val="120000"/>
              </a:lnSpc>
              <a:spcBef>
                <a:spcPts val="1000"/>
              </a:spcBef>
            </a:pPr>
            <a:r>
              <a:rPr lang="en-US" sz="2000" dirty="0" smtClean="0"/>
              <a:t>Use an </a:t>
            </a:r>
            <a:r>
              <a:rPr lang="en-US" sz="2000" b="1" dirty="0" smtClean="0">
                <a:solidFill>
                  <a:srgbClr val="FF0000"/>
                </a:solidFill>
              </a:rPr>
              <a:t>even function</a:t>
            </a:r>
            <a:r>
              <a:rPr lang="en-US" sz="2000" dirty="0" smtClean="0"/>
              <a:t> to generate the </a:t>
            </a:r>
            <a:r>
              <a:rPr lang="en-US" sz="2000" b="1" dirty="0" smtClean="0">
                <a:solidFill>
                  <a:srgbClr val="FF0000"/>
                </a:solidFill>
              </a:rPr>
              <a:t>odd parity bit</a:t>
            </a:r>
          </a:p>
          <a:p>
            <a:pPr lvl="1">
              <a:lnSpc>
                <a:spcPct val="120000"/>
              </a:lnSpc>
              <a:spcBef>
                <a:spcPts val="1000"/>
              </a:spcBef>
            </a:pPr>
            <a:r>
              <a:rPr lang="en-US" sz="2000" dirty="0" smtClean="0"/>
              <a:t>Use an </a:t>
            </a:r>
            <a:r>
              <a:rPr lang="en-US" sz="2000" b="1" dirty="0" smtClean="0">
                <a:solidFill>
                  <a:srgbClr val="FF0000"/>
                </a:solidFill>
              </a:rPr>
              <a:t>even function </a:t>
            </a:r>
            <a:r>
              <a:rPr lang="en-US" sz="2000" dirty="0" smtClean="0"/>
              <a:t>to check the (</a:t>
            </a:r>
            <a:r>
              <a:rPr lang="en-US" sz="2000" i="1" dirty="0" smtClean="0"/>
              <a:t>n</a:t>
            </a:r>
            <a:r>
              <a:rPr lang="en-US" sz="2000" dirty="0" smtClean="0"/>
              <a:t>+1)-bit code</a:t>
            </a:r>
          </a:p>
          <a:p>
            <a:pPr marL="444500" indent="-444500">
              <a:lnSpc>
                <a:spcPct val="120000"/>
              </a:lnSpc>
              <a:spcBef>
                <a:spcPts val="1000"/>
              </a:spcBef>
            </a:pPr>
            <a:r>
              <a:rPr lang="en-US" sz="2400" b="1" dirty="0" smtClean="0">
                <a:solidFill>
                  <a:srgbClr val="FF0000"/>
                </a:solidFill>
              </a:rPr>
              <a:t>Even parity:</a:t>
            </a:r>
            <a:r>
              <a:rPr lang="en-US" sz="2400" dirty="0" smtClean="0"/>
              <a:t> count of 1's in the (</a:t>
            </a:r>
            <a:r>
              <a:rPr lang="en-US" sz="2400" i="1" dirty="0" smtClean="0"/>
              <a:t>n</a:t>
            </a:r>
            <a:r>
              <a:rPr lang="en-US" sz="2400" dirty="0" smtClean="0"/>
              <a:t>+1)-bit code is </a:t>
            </a:r>
            <a:r>
              <a:rPr lang="en-US" sz="2400" b="1" dirty="0" smtClean="0">
                <a:solidFill>
                  <a:srgbClr val="FF3300"/>
                </a:solidFill>
              </a:rPr>
              <a:t>even</a:t>
            </a:r>
          </a:p>
          <a:p>
            <a:pPr lvl="1">
              <a:lnSpc>
                <a:spcPct val="120000"/>
              </a:lnSpc>
              <a:spcBef>
                <a:spcPts val="1000"/>
              </a:spcBef>
            </a:pPr>
            <a:r>
              <a:rPr lang="en-US" sz="2000" dirty="0" smtClean="0"/>
              <a:t>Use an </a:t>
            </a:r>
            <a:r>
              <a:rPr lang="en-US" sz="2000" b="1" dirty="0" smtClean="0">
                <a:solidFill>
                  <a:srgbClr val="FF0000"/>
                </a:solidFill>
              </a:rPr>
              <a:t>odd function</a:t>
            </a:r>
            <a:r>
              <a:rPr lang="en-US" sz="2000" dirty="0" smtClean="0"/>
              <a:t> to generate the </a:t>
            </a:r>
            <a:r>
              <a:rPr lang="en-US" sz="2000" b="1" dirty="0" smtClean="0">
                <a:solidFill>
                  <a:srgbClr val="FF0000"/>
                </a:solidFill>
              </a:rPr>
              <a:t>even parity bit</a:t>
            </a:r>
          </a:p>
          <a:p>
            <a:pPr lvl="1">
              <a:lnSpc>
                <a:spcPct val="120000"/>
              </a:lnSpc>
              <a:spcBef>
                <a:spcPts val="1000"/>
              </a:spcBef>
            </a:pPr>
            <a:r>
              <a:rPr lang="en-US" sz="2000" dirty="0"/>
              <a:t>Use an </a:t>
            </a:r>
            <a:r>
              <a:rPr lang="en-US" sz="2000" b="1" dirty="0" smtClean="0">
                <a:solidFill>
                  <a:srgbClr val="FF0000"/>
                </a:solidFill>
              </a:rPr>
              <a:t>odd function </a:t>
            </a:r>
            <a:r>
              <a:rPr lang="en-US" sz="2000" dirty="0"/>
              <a:t>to check the (</a:t>
            </a:r>
            <a:r>
              <a:rPr lang="en-US" sz="2000" i="1" dirty="0"/>
              <a:t>n</a:t>
            </a:r>
            <a:r>
              <a:rPr lang="en-US" sz="2000" dirty="0"/>
              <a:t>+1)-bit code</a:t>
            </a:r>
          </a:p>
          <a:p>
            <a:pPr lvl="1">
              <a:lnSpc>
                <a:spcPct val="120000"/>
              </a:lnSpc>
              <a:spcBef>
                <a:spcPts val="1000"/>
              </a:spcBef>
            </a:pPr>
            <a:endParaRPr lang="en-US" sz="2000" b="1" dirty="0">
              <a:solidFill>
                <a:srgbClr val="FF0000"/>
              </a:solidFill>
            </a:endParaRPr>
          </a:p>
        </p:txBody>
      </p:sp>
      <p:grpSp>
        <p:nvGrpSpPr>
          <p:cNvPr id="4" name="Group 64"/>
          <p:cNvGrpSpPr>
            <a:grpSpLocks/>
          </p:cNvGrpSpPr>
          <p:nvPr/>
        </p:nvGrpSpPr>
        <p:grpSpPr bwMode="auto">
          <a:xfrm>
            <a:off x="1036027" y="1009506"/>
            <a:ext cx="7045569" cy="1301750"/>
            <a:chOff x="295" y="818"/>
            <a:chExt cx="4808" cy="820"/>
          </a:xfrm>
        </p:grpSpPr>
        <p:sp>
          <p:nvSpPr>
            <p:cNvPr id="5" name="Text Box 52"/>
            <p:cNvSpPr txBox="1">
              <a:spLocks noChangeArrowheads="1"/>
            </p:cNvSpPr>
            <p:nvPr/>
          </p:nvSpPr>
          <p:spPr bwMode="auto">
            <a:xfrm>
              <a:off x="295" y="818"/>
              <a:ext cx="1791" cy="820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b"/>
            <a:lstStyle/>
            <a:p>
              <a:pPr algn="l" eaLnBrk="1" hangingPunct="1">
                <a:lnSpc>
                  <a:spcPct val="130000"/>
                </a:lnSpc>
                <a:spcBef>
                  <a:spcPct val="50000"/>
                </a:spcBef>
              </a:pPr>
              <a:r>
                <a:rPr lang="en-US" altLang="en-US" sz="2000">
                  <a:latin typeface="Arial" pitchFamily="34" charset="0"/>
                  <a:cs typeface="Arial" pitchFamily="34" charset="0"/>
                </a:rPr>
                <a:t>Sender</a:t>
              </a:r>
            </a:p>
          </p:txBody>
        </p:sp>
        <p:sp>
          <p:nvSpPr>
            <p:cNvPr id="6" name="Text Box 53"/>
            <p:cNvSpPr txBox="1">
              <a:spLocks noChangeArrowheads="1"/>
            </p:cNvSpPr>
            <p:nvPr/>
          </p:nvSpPr>
          <p:spPr bwMode="auto">
            <a:xfrm>
              <a:off x="3266" y="822"/>
              <a:ext cx="1837" cy="816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b"/>
            <a:lstStyle/>
            <a:p>
              <a:pPr algn="r" eaLnBrk="1" hangingPunct="1">
                <a:spcBef>
                  <a:spcPct val="50000"/>
                </a:spcBef>
              </a:pPr>
              <a:r>
                <a:rPr lang="en-US" altLang="en-US" sz="2000">
                  <a:latin typeface="Arial" pitchFamily="34" charset="0"/>
                  <a:cs typeface="Arial" pitchFamily="34" charset="0"/>
                </a:rPr>
                <a:t>Receiver</a:t>
              </a:r>
            </a:p>
          </p:txBody>
        </p:sp>
        <p:sp>
          <p:nvSpPr>
            <p:cNvPr id="7" name="Line 54"/>
            <p:cNvSpPr>
              <a:spLocks noChangeShapeType="1"/>
            </p:cNvSpPr>
            <p:nvPr/>
          </p:nvSpPr>
          <p:spPr bwMode="auto">
            <a:xfrm flipV="1">
              <a:off x="1995" y="1230"/>
              <a:ext cx="140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8" name="Text Box 55"/>
            <p:cNvSpPr txBox="1">
              <a:spLocks noChangeArrowheads="1"/>
            </p:cNvSpPr>
            <p:nvPr/>
          </p:nvSpPr>
          <p:spPr bwMode="auto">
            <a:xfrm>
              <a:off x="385" y="958"/>
              <a:ext cx="703" cy="2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 anchor="ctr" anchorCtr="1"/>
            <a:lstStyle/>
            <a:p>
              <a:pPr algn="l" eaLnBrk="1" hangingPunct="1">
                <a:spcBef>
                  <a:spcPct val="50000"/>
                </a:spcBef>
              </a:pPr>
              <a:r>
                <a:rPr lang="en-US" altLang="en-US" sz="1600" i="1">
                  <a:latin typeface="Arial" pitchFamily="34" charset="0"/>
                  <a:cs typeface="Arial" pitchFamily="34" charset="0"/>
                </a:rPr>
                <a:t>n</a:t>
              </a:r>
              <a:r>
                <a:rPr lang="en-US" altLang="en-US" sz="1600">
                  <a:latin typeface="Arial" pitchFamily="34" charset="0"/>
                  <a:cs typeface="Arial" pitchFamily="34" charset="0"/>
                </a:rPr>
                <a:t>-bit code</a:t>
              </a:r>
            </a:p>
          </p:txBody>
        </p:sp>
        <p:sp>
          <p:nvSpPr>
            <p:cNvPr id="9" name="Text Box 57"/>
            <p:cNvSpPr txBox="1">
              <a:spLocks noChangeArrowheads="1"/>
            </p:cNvSpPr>
            <p:nvPr/>
          </p:nvSpPr>
          <p:spPr bwMode="auto">
            <a:xfrm>
              <a:off x="1111" y="890"/>
              <a:ext cx="885" cy="680"/>
            </a:xfrm>
            <a:prstGeom prst="rect">
              <a:avLst/>
            </a:prstGeom>
            <a:noFill/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>
                <a:spcBef>
                  <a:spcPct val="50000"/>
                </a:spcBef>
              </a:pPr>
              <a:r>
                <a:rPr lang="en-US" altLang="en-US" dirty="0">
                  <a:latin typeface="Arial" pitchFamily="34" charset="0"/>
                  <a:cs typeface="Arial" pitchFamily="34" charset="0"/>
                </a:rPr>
                <a:t>Parity</a:t>
              </a:r>
            </a:p>
            <a:p>
              <a:pPr algn="ctr">
                <a:spcBef>
                  <a:spcPct val="50000"/>
                </a:spcBef>
              </a:pPr>
              <a:r>
                <a:rPr lang="en-US" altLang="en-US" dirty="0">
                  <a:latin typeface="Arial" pitchFamily="34" charset="0"/>
                  <a:cs typeface="Arial" pitchFamily="34" charset="0"/>
                </a:rPr>
                <a:t>Generator</a:t>
              </a:r>
            </a:p>
          </p:txBody>
        </p:sp>
        <p:sp>
          <p:nvSpPr>
            <p:cNvPr id="10" name="Line 58"/>
            <p:cNvSpPr>
              <a:spLocks noChangeShapeType="1"/>
            </p:cNvSpPr>
            <p:nvPr/>
          </p:nvSpPr>
          <p:spPr bwMode="auto">
            <a:xfrm>
              <a:off x="385" y="1230"/>
              <a:ext cx="72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1" name="Text Box 59"/>
            <p:cNvSpPr txBox="1">
              <a:spLocks noChangeArrowheads="1"/>
            </p:cNvSpPr>
            <p:nvPr/>
          </p:nvSpPr>
          <p:spPr bwMode="auto">
            <a:xfrm>
              <a:off x="2154" y="981"/>
              <a:ext cx="1043" cy="2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/>
            <a:p>
              <a:pPr algn="l" eaLnBrk="1" hangingPunct="1">
                <a:spcBef>
                  <a:spcPct val="50000"/>
                </a:spcBef>
              </a:pPr>
              <a:r>
                <a:rPr lang="en-US" altLang="en-US" sz="1600">
                  <a:latin typeface="Arial" pitchFamily="34" charset="0"/>
                  <a:cs typeface="Arial" pitchFamily="34" charset="0"/>
                </a:rPr>
                <a:t>(</a:t>
              </a:r>
              <a:r>
                <a:rPr lang="en-US" altLang="en-US" sz="1600" i="1">
                  <a:latin typeface="Arial" pitchFamily="34" charset="0"/>
                  <a:cs typeface="Arial" pitchFamily="34" charset="0"/>
                </a:rPr>
                <a:t>n</a:t>
              </a:r>
              <a:r>
                <a:rPr lang="en-US" altLang="en-US" sz="1600">
                  <a:latin typeface="Arial" pitchFamily="34" charset="0"/>
                  <a:cs typeface="Arial" pitchFamily="34" charset="0"/>
                </a:rPr>
                <a:t>+1)-bit code</a:t>
              </a:r>
            </a:p>
          </p:txBody>
        </p:sp>
        <p:sp>
          <p:nvSpPr>
            <p:cNvPr id="12" name="Text Box 60"/>
            <p:cNvSpPr txBox="1">
              <a:spLocks noChangeArrowheads="1"/>
            </p:cNvSpPr>
            <p:nvPr/>
          </p:nvSpPr>
          <p:spPr bwMode="auto">
            <a:xfrm>
              <a:off x="3402" y="890"/>
              <a:ext cx="748" cy="680"/>
            </a:xfrm>
            <a:prstGeom prst="rect">
              <a:avLst/>
            </a:prstGeom>
            <a:noFill/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>
                <a:spcBef>
                  <a:spcPct val="50000"/>
                </a:spcBef>
              </a:pPr>
              <a:r>
                <a:rPr lang="en-US" altLang="en-US" dirty="0">
                  <a:latin typeface="Arial" pitchFamily="34" charset="0"/>
                  <a:cs typeface="Arial" pitchFamily="34" charset="0"/>
                </a:rPr>
                <a:t>Parity</a:t>
              </a:r>
            </a:p>
            <a:p>
              <a:pPr algn="ctr">
                <a:spcBef>
                  <a:spcPct val="50000"/>
                </a:spcBef>
              </a:pPr>
              <a:r>
                <a:rPr lang="en-US" altLang="en-US" dirty="0">
                  <a:latin typeface="Arial" pitchFamily="34" charset="0"/>
                  <a:cs typeface="Arial" pitchFamily="34" charset="0"/>
                </a:rPr>
                <a:t>Checker</a:t>
              </a:r>
            </a:p>
          </p:txBody>
        </p:sp>
        <p:sp>
          <p:nvSpPr>
            <p:cNvPr id="13" name="Line 62"/>
            <p:cNvSpPr>
              <a:spLocks noChangeShapeType="1"/>
            </p:cNvSpPr>
            <p:nvPr/>
          </p:nvSpPr>
          <p:spPr bwMode="auto">
            <a:xfrm>
              <a:off x="4150" y="1230"/>
              <a:ext cx="20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600"/>
            </a:p>
          </p:txBody>
        </p:sp>
        <p:sp>
          <p:nvSpPr>
            <p:cNvPr id="14" name="Text Box 63"/>
            <p:cNvSpPr txBox="1">
              <a:spLocks noChangeArrowheads="1"/>
            </p:cNvSpPr>
            <p:nvPr/>
          </p:nvSpPr>
          <p:spPr bwMode="auto">
            <a:xfrm>
              <a:off x="4377" y="1117"/>
              <a:ext cx="522" cy="2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2857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>
                <a:spcBef>
                  <a:spcPct val="50000"/>
                </a:spcBef>
              </a:pPr>
              <a:r>
                <a:rPr lang="en-US" altLang="en-US" sz="1400" dirty="0">
                  <a:latin typeface="Arial" pitchFamily="34" charset="0"/>
                  <a:cs typeface="Arial" pitchFamily="34" charset="0"/>
                </a:rPr>
                <a:t>Error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450781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>
            <a:normAutofit/>
          </a:bodyPr>
          <a:lstStyle/>
          <a:p>
            <a:r>
              <a:rPr lang="en-US" sz="3600" dirty="0" smtClean="0"/>
              <a:t>Example of Parity Generator </a:t>
            </a:r>
            <a:r>
              <a:rPr lang="en-US" sz="3600" dirty="0"/>
              <a:t>and </a:t>
            </a:r>
            <a:r>
              <a:rPr lang="en-US" sz="3600" dirty="0" smtClean="0"/>
              <a:t>Checker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7945" y="836686"/>
            <a:ext cx="8561286" cy="691284"/>
          </a:xfrm>
        </p:spPr>
        <p:txBody>
          <a:bodyPr>
            <a:normAutofit/>
          </a:bodyPr>
          <a:lstStyle/>
          <a:p>
            <a:pPr marL="444500" indent="-444500">
              <a:lnSpc>
                <a:spcPct val="120000"/>
              </a:lnSpc>
              <a:spcBef>
                <a:spcPts val="1000"/>
              </a:spcBef>
            </a:pPr>
            <a:r>
              <a:rPr lang="en-US" altLang="en-US" sz="2400" dirty="0">
                <a:cs typeface="Times New Roman" pitchFamily="18" charset="0"/>
              </a:rPr>
              <a:t>Design </a:t>
            </a:r>
            <a:r>
              <a:rPr lang="en-US" altLang="en-US" sz="2400" dirty="0" smtClean="0">
                <a:cs typeface="Times New Roman" pitchFamily="18" charset="0"/>
              </a:rPr>
              <a:t>even </a:t>
            </a:r>
            <a:r>
              <a:rPr lang="en-US" altLang="en-US" sz="2400" dirty="0">
                <a:cs typeface="Times New Roman" pitchFamily="18" charset="0"/>
              </a:rPr>
              <a:t>parity </a:t>
            </a:r>
            <a:r>
              <a:rPr lang="en-US" altLang="en-US" sz="2400" dirty="0" smtClean="0">
                <a:cs typeface="Times New Roman" pitchFamily="18" charset="0"/>
              </a:rPr>
              <a:t>generator &amp; checker </a:t>
            </a:r>
            <a:r>
              <a:rPr lang="en-US" altLang="en-US" sz="2400" dirty="0">
                <a:cs typeface="Times New Roman" pitchFamily="18" charset="0"/>
              </a:rPr>
              <a:t>for 3-bit </a:t>
            </a:r>
            <a:r>
              <a:rPr lang="en-US" altLang="en-US" sz="2400" dirty="0" smtClean="0">
                <a:cs typeface="Times New Roman" pitchFamily="18" charset="0"/>
              </a:rPr>
              <a:t>codes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/>
              <p:cNvSpPr txBox="1">
                <a:spLocks/>
              </p:cNvSpPr>
              <p:nvPr/>
            </p:nvSpPr>
            <p:spPr bwMode="auto">
              <a:xfrm>
                <a:off x="317945" y="1585576"/>
                <a:ext cx="4787058" cy="495420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7663" indent="-347663" algn="l" rtl="0" fontAlgn="base">
                  <a:spcBef>
                    <a:spcPct val="40000"/>
                  </a:spcBef>
                  <a:spcAft>
                    <a:spcPct val="0"/>
                  </a:spcAft>
                  <a:buFont typeface="Wingdings" pitchFamily="2" charset="2"/>
                  <a:buChar char="v"/>
                  <a:defRPr sz="24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98513" indent="-336550" algn="l" rtl="0" fontAlgn="base">
                  <a:spcBef>
                    <a:spcPct val="40000"/>
                  </a:spcBef>
                  <a:spcAft>
                    <a:spcPct val="0"/>
                  </a:spcAft>
                  <a:buFont typeface="Wingdings" pitchFamily="2" charset="2"/>
                  <a:buChar char="²"/>
                  <a:defRPr sz="2000">
                    <a:solidFill>
                      <a:schemeClr val="tx1"/>
                    </a:solidFill>
                    <a:latin typeface="+mn-lt"/>
                    <a:cs typeface="+mn-cs"/>
                  </a:defRPr>
                </a:lvl2pPr>
                <a:lvl3pPr marL="1144588" indent="-231775" algn="l" rtl="0" fontAlgn="base">
                  <a:spcBef>
                    <a:spcPct val="40000"/>
                  </a:spcBef>
                  <a:spcAft>
                    <a:spcPct val="0"/>
                  </a:spcAft>
                  <a:buFont typeface="Wingdings" pitchFamily="2" charset="2"/>
                  <a:buChar char="§"/>
                  <a:defRPr>
                    <a:solidFill>
                      <a:schemeClr val="tx1"/>
                    </a:solidFill>
                    <a:latin typeface="+mn-lt"/>
                    <a:cs typeface="+mn-cs"/>
                  </a:defRPr>
                </a:lvl3pPr>
                <a:lvl4pPr marL="1481138" indent="-222250" algn="l" rtl="0" fontAlgn="base">
                  <a:spcBef>
                    <a:spcPct val="40000"/>
                  </a:spcBef>
                  <a:spcAft>
                    <a:spcPct val="0"/>
                  </a:spcAft>
                  <a:buChar char="–"/>
                  <a:defRPr sz="1600">
                    <a:solidFill>
                      <a:schemeClr val="tx1"/>
                    </a:solidFill>
                    <a:latin typeface="+mn-lt"/>
                    <a:cs typeface="+mn-cs"/>
                  </a:defRPr>
                </a:lvl4pPr>
                <a:lvl5pPr marL="1828800" indent="-233363" algn="l" rtl="0" fontAlgn="base">
                  <a:spcBef>
                    <a:spcPct val="4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+mn-lt"/>
                    <a:cs typeface="+mn-cs"/>
                  </a:defRPr>
                </a:lvl5pPr>
                <a:lvl6pPr marL="2286000" indent="-233363" algn="l" rtl="0" fontAlgn="base">
                  <a:spcBef>
                    <a:spcPct val="4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+mn-lt"/>
                    <a:cs typeface="+mn-cs"/>
                  </a:defRPr>
                </a:lvl6pPr>
                <a:lvl7pPr marL="2743200" indent="-233363" algn="l" rtl="0" fontAlgn="base">
                  <a:spcBef>
                    <a:spcPct val="4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+mn-lt"/>
                    <a:cs typeface="+mn-cs"/>
                  </a:defRPr>
                </a:lvl7pPr>
                <a:lvl8pPr marL="3200400" indent="-233363" algn="l" rtl="0" fontAlgn="base">
                  <a:spcBef>
                    <a:spcPct val="4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+mn-lt"/>
                    <a:cs typeface="+mn-cs"/>
                  </a:defRPr>
                </a:lvl8pPr>
                <a:lvl9pPr marL="3657600" indent="-233363" algn="l" rtl="0" fontAlgn="base">
                  <a:spcBef>
                    <a:spcPct val="4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+mn-lt"/>
                    <a:cs typeface="+mn-cs"/>
                  </a:defRPr>
                </a:lvl9pPr>
              </a:lstStyle>
              <a:p>
                <a:pPr marL="444500" indent="-444500">
                  <a:lnSpc>
                    <a:spcPct val="120000"/>
                  </a:lnSpc>
                  <a:spcBef>
                    <a:spcPts val="1000"/>
                  </a:spcBef>
                </a:pPr>
                <a:r>
                  <a:rPr lang="en-US" altLang="en-US" dirty="0" smtClean="0">
                    <a:cs typeface="Times New Roman" pitchFamily="18" charset="0"/>
                  </a:rPr>
                  <a:t>Solution:</a:t>
                </a:r>
              </a:p>
              <a:p>
                <a:pPr marL="895350" lvl="1" indent="-444500">
                  <a:lnSpc>
                    <a:spcPct val="120000"/>
                  </a:lnSpc>
                  <a:spcBef>
                    <a:spcPts val="1000"/>
                  </a:spcBef>
                </a:pPr>
                <a:r>
                  <a:rPr lang="en-US" altLang="en-US" sz="1800" dirty="0">
                    <a:cs typeface="Times New Roman" pitchFamily="18" charset="0"/>
                  </a:rPr>
                  <a:t>Use </a:t>
                </a:r>
                <a:r>
                  <a:rPr lang="en-US" altLang="en-US" sz="1800" b="1" dirty="0">
                    <a:solidFill>
                      <a:srgbClr val="FF0000"/>
                    </a:solidFill>
                    <a:cs typeface="Times New Roman" pitchFamily="18" charset="0"/>
                  </a:rPr>
                  <a:t>3-bit odd function</a:t>
                </a:r>
                <a:r>
                  <a:rPr lang="en-US" altLang="en-US" sz="1800" b="1" dirty="0">
                    <a:cs typeface="Times New Roman" pitchFamily="18" charset="0"/>
                  </a:rPr>
                  <a:t> </a:t>
                </a:r>
                <a:r>
                  <a:rPr lang="en-US" altLang="en-US" sz="1800" dirty="0">
                    <a:cs typeface="Times New Roman" pitchFamily="18" charset="0"/>
                  </a:rPr>
                  <a:t>to generate even parity bit </a:t>
                </a:r>
                <a14:m>
                  <m:oMath xmlns:m="http://schemas.openxmlformats.org/officeDocument/2006/math">
                    <m:r>
                      <a:rPr lang="en-US" altLang="en-US" sz="1800" i="1" dirty="0">
                        <a:latin typeface="Cambria Math"/>
                        <a:cs typeface="Times New Roman" pitchFamily="18" charset="0"/>
                      </a:rPr>
                      <m:t>𝑃</m:t>
                    </m:r>
                  </m:oMath>
                </a14:m>
                <a:r>
                  <a:rPr lang="en-US" altLang="en-US" sz="1800" dirty="0" smtClean="0">
                    <a:cs typeface="Times New Roman" pitchFamily="18" charset="0"/>
                  </a:rPr>
                  <a:t>.</a:t>
                </a:r>
                <a:endParaRPr lang="en-US" altLang="en-US" sz="1800" dirty="0">
                  <a:cs typeface="Times New Roman" pitchFamily="18" charset="0"/>
                </a:endParaRPr>
              </a:p>
              <a:p>
                <a:pPr marL="895350" lvl="1" indent="-444500">
                  <a:lnSpc>
                    <a:spcPct val="120000"/>
                  </a:lnSpc>
                  <a:spcBef>
                    <a:spcPts val="1000"/>
                  </a:spcBef>
                </a:pPr>
                <a:r>
                  <a:rPr lang="en-US" altLang="en-US" sz="1800" dirty="0">
                    <a:cs typeface="Times New Roman" pitchFamily="18" charset="0"/>
                  </a:rPr>
                  <a:t>Use </a:t>
                </a:r>
                <a:r>
                  <a:rPr lang="en-US" altLang="en-US" sz="1800" b="1" dirty="0">
                    <a:solidFill>
                      <a:srgbClr val="FF0000"/>
                    </a:solidFill>
                    <a:cs typeface="Times New Roman" pitchFamily="18" charset="0"/>
                  </a:rPr>
                  <a:t>4-bit odd function</a:t>
                </a:r>
                <a:r>
                  <a:rPr lang="en-US" altLang="en-US" sz="1800" dirty="0">
                    <a:cs typeface="Times New Roman" pitchFamily="18" charset="0"/>
                  </a:rPr>
                  <a:t> to check if there is an error </a:t>
                </a:r>
                <a14:m>
                  <m:oMath xmlns:m="http://schemas.openxmlformats.org/officeDocument/2006/math">
                    <m:r>
                      <a:rPr lang="en-US" altLang="en-US" sz="1800" i="1" dirty="0">
                        <a:latin typeface="Cambria Math"/>
                        <a:cs typeface="Times New Roman" pitchFamily="18" charset="0"/>
                      </a:rPr>
                      <m:t>𝐸</m:t>
                    </m:r>
                  </m:oMath>
                </a14:m>
                <a:r>
                  <a:rPr lang="en-US" altLang="en-US" sz="1800" dirty="0">
                    <a:cs typeface="Times New Roman" pitchFamily="18" charset="0"/>
                  </a:rPr>
                  <a:t> in even </a:t>
                </a:r>
                <a:r>
                  <a:rPr lang="en-US" altLang="en-US" sz="1800" dirty="0" smtClean="0">
                    <a:cs typeface="Times New Roman" pitchFamily="18" charset="0"/>
                  </a:rPr>
                  <a:t>parity.</a:t>
                </a:r>
              </a:p>
              <a:p>
                <a:pPr marL="895350" lvl="1" indent="-444500">
                  <a:lnSpc>
                    <a:spcPct val="120000"/>
                  </a:lnSpc>
                  <a:spcBef>
                    <a:spcPts val="1000"/>
                  </a:spcBef>
                </a:pPr>
                <a:r>
                  <a:rPr lang="en-US" altLang="en-US" sz="1800" kern="0" dirty="0" smtClean="0">
                    <a:cs typeface="Times New Roman" pitchFamily="18" charset="0"/>
                  </a:rPr>
                  <a:t>Given that: </a:t>
                </a:r>
                <a14:m>
                  <m:oMath xmlns:m="http://schemas.openxmlformats.org/officeDocument/2006/math">
                    <m:r>
                      <a:rPr lang="en-US" altLang="en-US" sz="1800" i="1" kern="0" dirty="0" smtClean="0">
                        <a:latin typeface="Cambria Math"/>
                        <a:cs typeface="Times New Roman" pitchFamily="18" charset="0"/>
                      </a:rPr>
                      <m:t>𝑥𝑦𝑧</m:t>
                    </m:r>
                  </m:oMath>
                </a14:m>
                <a:r>
                  <a:rPr lang="en-US" altLang="en-US" sz="1800" kern="0" dirty="0" smtClean="0">
                    <a:cs typeface="Times New Roman" pitchFamily="18" charset="0"/>
                  </a:rPr>
                  <a:t> = 001 then </a:t>
                </a:r>
                <a14:m>
                  <m:oMath xmlns:m="http://schemas.openxmlformats.org/officeDocument/2006/math">
                    <m:r>
                      <a:rPr lang="en-US" altLang="en-US" sz="1800" i="1" kern="0" dirty="0" smtClean="0">
                        <a:latin typeface="Cambria Math"/>
                        <a:cs typeface="Times New Roman" pitchFamily="18" charset="0"/>
                      </a:rPr>
                      <m:t>𝑃</m:t>
                    </m:r>
                  </m:oMath>
                </a14:m>
                <a:r>
                  <a:rPr lang="en-US" altLang="en-US" sz="1800" kern="0" dirty="0" smtClean="0">
                    <a:cs typeface="Times New Roman" pitchFamily="18" charset="0"/>
                  </a:rPr>
                  <a:t> = 1. The sender transmits </a:t>
                </a:r>
                <a14:m>
                  <m:oMath xmlns:m="http://schemas.openxmlformats.org/officeDocument/2006/math">
                    <m:r>
                      <a:rPr lang="en-US" altLang="en-US" sz="1800" b="0" i="1" kern="0" dirty="0" smtClean="0">
                        <a:latin typeface="Cambria Math"/>
                        <a:cs typeface="Times New Roman" pitchFamily="18" charset="0"/>
                      </a:rPr>
                      <m:t>𝑃𝑥</m:t>
                    </m:r>
                    <m:r>
                      <a:rPr lang="en-US" altLang="en-US" sz="1800" i="1" kern="0" dirty="0" smtClean="0">
                        <a:latin typeface="Cambria Math"/>
                        <a:cs typeface="Times New Roman" pitchFamily="18" charset="0"/>
                      </a:rPr>
                      <m:t>𝑦𝑧</m:t>
                    </m:r>
                  </m:oMath>
                </a14:m>
                <a:r>
                  <a:rPr lang="en-US" altLang="en-US" sz="1800" i="0" kern="0" dirty="0" smtClean="0">
                    <a:cs typeface="Times New Roman" pitchFamily="18" charset="0"/>
                  </a:rPr>
                  <a:t> = 1001.</a:t>
                </a:r>
                <a:endParaRPr lang="en-US" altLang="en-US" sz="1800" kern="0" dirty="0" smtClean="0">
                  <a:cs typeface="Times New Roman" pitchFamily="18" charset="0"/>
                </a:endParaRPr>
              </a:p>
              <a:p>
                <a:pPr marL="895350" lvl="1" indent="-444500">
                  <a:lnSpc>
                    <a:spcPct val="120000"/>
                  </a:lnSpc>
                  <a:spcBef>
                    <a:spcPts val="1000"/>
                  </a:spcBef>
                </a:pPr>
                <a:r>
                  <a:rPr lang="en-US" altLang="en-US" sz="1800" kern="0" dirty="0" smtClean="0">
                    <a:cs typeface="Times New Roman" pitchFamily="18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en-US" altLang="en-US" sz="1800" i="1" kern="0" dirty="0" smtClean="0">
                        <a:latin typeface="Cambria Math"/>
                        <a:cs typeface="Times New Roman" pitchFamily="18" charset="0"/>
                      </a:rPr>
                      <m:t>𝑦</m:t>
                    </m:r>
                  </m:oMath>
                </a14:m>
                <a:r>
                  <a:rPr lang="en-US" altLang="en-US" sz="1800" kern="0" dirty="0" smtClean="0">
                    <a:cs typeface="Times New Roman" pitchFamily="18" charset="0"/>
                  </a:rPr>
                  <a:t> changes from 0 to 1 between generator and checker, the parity checker receives </a:t>
                </a:r>
                <a14:m>
                  <m:oMath xmlns:m="http://schemas.openxmlformats.org/officeDocument/2006/math">
                    <m:r>
                      <a:rPr lang="en-US" altLang="en-US" sz="1800" i="1" kern="0" dirty="0">
                        <a:latin typeface="Cambria Math"/>
                        <a:cs typeface="Times New Roman" pitchFamily="18" charset="0"/>
                      </a:rPr>
                      <m:t>𝑃𝑥𝑦𝑧</m:t>
                    </m:r>
                  </m:oMath>
                </a14:m>
                <a:r>
                  <a:rPr lang="en-US" altLang="en-US" sz="1800" kern="0" dirty="0">
                    <a:cs typeface="Times New Roman" pitchFamily="18" charset="0"/>
                  </a:rPr>
                  <a:t> = </a:t>
                </a:r>
                <a:r>
                  <a:rPr lang="en-US" altLang="en-US" sz="1800" kern="0" dirty="0" smtClean="0">
                    <a:cs typeface="Times New Roman" pitchFamily="18" charset="0"/>
                  </a:rPr>
                  <a:t>1011 and produces </a:t>
                </a:r>
                <a14:m>
                  <m:oMath xmlns:m="http://schemas.openxmlformats.org/officeDocument/2006/math">
                    <m:r>
                      <a:rPr lang="en-US" altLang="en-US" sz="1800" i="1" kern="0" dirty="0" smtClean="0">
                        <a:latin typeface="Cambria Math"/>
                        <a:cs typeface="Times New Roman" pitchFamily="18" charset="0"/>
                      </a:rPr>
                      <m:t>𝐸</m:t>
                    </m:r>
                  </m:oMath>
                </a14:m>
                <a:r>
                  <a:rPr lang="en-US" altLang="en-US" sz="1800" kern="0" dirty="0" smtClean="0">
                    <a:cs typeface="Times New Roman" pitchFamily="18" charset="0"/>
                  </a:rPr>
                  <a:t> = 1, indicating an error.</a:t>
                </a:r>
              </a:p>
            </p:txBody>
          </p:sp>
        </mc:Choice>
        <mc:Fallback xmlns="">
          <p:sp>
            <p:nvSpPr>
              <p:cNvPr id="4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17945" y="1585576"/>
                <a:ext cx="4787058" cy="4954202"/>
              </a:xfrm>
              <a:prstGeom prst="rect">
                <a:avLst/>
              </a:prstGeom>
              <a:blipFill rotWithShape="1">
                <a:blip r:embed="rId2"/>
                <a:stretch>
                  <a:fillRect l="-1656" t="-123" r="-1401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7" name="Group 56"/>
          <p:cNvGrpSpPr/>
          <p:nvPr/>
        </p:nvGrpSpPr>
        <p:grpSpPr>
          <a:xfrm>
            <a:off x="5354779" y="1585576"/>
            <a:ext cx="3648809" cy="1843424"/>
            <a:chOff x="5628865" y="1585576"/>
            <a:chExt cx="3952877" cy="1843424"/>
          </a:xfrm>
        </p:grpSpPr>
        <p:grpSp>
          <p:nvGrpSpPr>
            <p:cNvPr id="5" name="Group 4"/>
            <p:cNvGrpSpPr>
              <a:grpSpLocks/>
            </p:cNvGrpSpPr>
            <p:nvPr/>
          </p:nvGrpSpPr>
          <p:grpSpPr bwMode="auto">
            <a:xfrm>
              <a:off x="5628865" y="2104570"/>
              <a:ext cx="3952877" cy="1271588"/>
              <a:chOff x="2876" y="2384"/>
              <a:chExt cx="2490" cy="801"/>
            </a:xfrm>
          </p:grpSpPr>
          <p:grpSp>
            <p:nvGrpSpPr>
              <p:cNvPr id="6" name="Group 5"/>
              <p:cNvGrpSpPr>
                <a:grpSpLocks noChangeAspect="1"/>
              </p:cNvGrpSpPr>
              <p:nvPr/>
            </p:nvGrpSpPr>
            <p:grpSpPr bwMode="auto">
              <a:xfrm>
                <a:off x="4294" y="2725"/>
                <a:ext cx="540" cy="402"/>
                <a:chOff x="3310" y="2739"/>
                <a:chExt cx="774" cy="576"/>
              </a:xfrm>
            </p:grpSpPr>
            <p:sp>
              <p:nvSpPr>
                <p:cNvPr id="22" name="Freeform 6"/>
                <p:cNvSpPr>
                  <a:spLocks noChangeAspect="1"/>
                </p:cNvSpPr>
                <p:nvPr/>
              </p:nvSpPr>
              <p:spPr bwMode="auto">
                <a:xfrm>
                  <a:off x="3376" y="2739"/>
                  <a:ext cx="708" cy="572"/>
                </a:xfrm>
                <a:custGeom>
                  <a:avLst/>
                  <a:gdLst>
                    <a:gd name="T0" fmla="*/ 0 w 708"/>
                    <a:gd name="T1" fmla="*/ 0 h 572"/>
                    <a:gd name="T2" fmla="*/ 17 w 708"/>
                    <a:gd name="T3" fmla="*/ 40 h 572"/>
                    <a:gd name="T4" fmla="*/ 39 w 708"/>
                    <a:gd name="T5" fmla="*/ 95 h 572"/>
                    <a:gd name="T6" fmla="*/ 54 w 708"/>
                    <a:gd name="T7" fmla="*/ 157 h 572"/>
                    <a:gd name="T8" fmla="*/ 66 w 708"/>
                    <a:gd name="T9" fmla="*/ 227 h 572"/>
                    <a:gd name="T10" fmla="*/ 74 w 708"/>
                    <a:gd name="T11" fmla="*/ 284 h 572"/>
                    <a:gd name="T12" fmla="*/ 69 w 708"/>
                    <a:gd name="T13" fmla="*/ 338 h 572"/>
                    <a:gd name="T14" fmla="*/ 58 w 708"/>
                    <a:gd name="T15" fmla="*/ 399 h 572"/>
                    <a:gd name="T16" fmla="*/ 45 w 708"/>
                    <a:gd name="T17" fmla="*/ 458 h 572"/>
                    <a:gd name="T18" fmla="*/ 28 w 708"/>
                    <a:gd name="T19" fmla="*/ 512 h 572"/>
                    <a:gd name="T20" fmla="*/ 0 w 708"/>
                    <a:gd name="T21" fmla="*/ 572 h 572"/>
                    <a:gd name="T22" fmla="*/ 208 w 708"/>
                    <a:gd name="T23" fmla="*/ 572 h 572"/>
                    <a:gd name="T24" fmla="*/ 297 w 708"/>
                    <a:gd name="T25" fmla="*/ 570 h 572"/>
                    <a:gd name="T26" fmla="*/ 342 w 708"/>
                    <a:gd name="T27" fmla="*/ 567 h 572"/>
                    <a:gd name="T28" fmla="*/ 375 w 708"/>
                    <a:gd name="T29" fmla="*/ 559 h 572"/>
                    <a:gd name="T30" fmla="*/ 409 w 708"/>
                    <a:gd name="T31" fmla="*/ 549 h 572"/>
                    <a:gd name="T32" fmla="*/ 445 w 708"/>
                    <a:gd name="T33" fmla="*/ 533 h 572"/>
                    <a:gd name="T34" fmla="*/ 486 w 708"/>
                    <a:gd name="T35" fmla="*/ 515 h 572"/>
                    <a:gd name="T36" fmla="*/ 526 w 708"/>
                    <a:gd name="T37" fmla="*/ 490 h 572"/>
                    <a:gd name="T38" fmla="*/ 552 w 708"/>
                    <a:gd name="T39" fmla="*/ 470 h 572"/>
                    <a:gd name="T40" fmla="*/ 577 w 708"/>
                    <a:gd name="T41" fmla="*/ 447 h 572"/>
                    <a:gd name="T42" fmla="*/ 604 w 708"/>
                    <a:gd name="T43" fmla="*/ 420 h 572"/>
                    <a:gd name="T44" fmla="*/ 628 w 708"/>
                    <a:gd name="T45" fmla="*/ 398 h 572"/>
                    <a:gd name="T46" fmla="*/ 651 w 708"/>
                    <a:gd name="T47" fmla="*/ 370 h 572"/>
                    <a:gd name="T48" fmla="*/ 680 w 708"/>
                    <a:gd name="T49" fmla="*/ 333 h 572"/>
                    <a:gd name="T50" fmla="*/ 708 w 708"/>
                    <a:gd name="T51" fmla="*/ 286 h 572"/>
                    <a:gd name="T52" fmla="*/ 682 w 708"/>
                    <a:gd name="T53" fmla="*/ 245 h 572"/>
                    <a:gd name="T54" fmla="*/ 658 w 708"/>
                    <a:gd name="T55" fmla="*/ 210 h 572"/>
                    <a:gd name="T56" fmla="*/ 638 w 708"/>
                    <a:gd name="T57" fmla="*/ 185 h 572"/>
                    <a:gd name="T58" fmla="*/ 616 w 708"/>
                    <a:gd name="T59" fmla="*/ 161 h 572"/>
                    <a:gd name="T60" fmla="*/ 592 w 708"/>
                    <a:gd name="T61" fmla="*/ 138 h 572"/>
                    <a:gd name="T62" fmla="*/ 572 w 708"/>
                    <a:gd name="T63" fmla="*/ 120 h 572"/>
                    <a:gd name="T64" fmla="*/ 552 w 708"/>
                    <a:gd name="T65" fmla="*/ 103 h 572"/>
                    <a:gd name="T66" fmla="*/ 528 w 708"/>
                    <a:gd name="T67" fmla="*/ 85 h 572"/>
                    <a:gd name="T68" fmla="*/ 506 w 708"/>
                    <a:gd name="T69" fmla="*/ 72 h 572"/>
                    <a:gd name="T70" fmla="*/ 480 w 708"/>
                    <a:gd name="T71" fmla="*/ 58 h 572"/>
                    <a:gd name="T72" fmla="*/ 451 w 708"/>
                    <a:gd name="T73" fmla="*/ 43 h 572"/>
                    <a:gd name="T74" fmla="*/ 415 w 708"/>
                    <a:gd name="T75" fmla="*/ 29 h 572"/>
                    <a:gd name="T76" fmla="*/ 385 w 708"/>
                    <a:gd name="T77" fmla="*/ 20 h 572"/>
                    <a:gd name="T78" fmla="*/ 350 w 708"/>
                    <a:gd name="T79" fmla="*/ 11 h 572"/>
                    <a:gd name="T80" fmla="*/ 313 w 708"/>
                    <a:gd name="T81" fmla="*/ 5 h 572"/>
                    <a:gd name="T82" fmla="*/ 278 w 708"/>
                    <a:gd name="T83" fmla="*/ 1 h 572"/>
                    <a:gd name="T84" fmla="*/ 253 w 708"/>
                    <a:gd name="T85" fmla="*/ 1 h 572"/>
                    <a:gd name="T86" fmla="*/ 227 w 708"/>
                    <a:gd name="T87" fmla="*/ 0 h 572"/>
                    <a:gd name="T88" fmla="*/ 0 w 708"/>
                    <a:gd name="T89" fmla="*/ 0 h 57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708" h="572">
                      <a:moveTo>
                        <a:pt x="0" y="0"/>
                      </a:moveTo>
                      <a:lnTo>
                        <a:pt x="17" y="40"/>
                      </a:lnTo>
                      <a:lnTo>
                        <a:pt x="39" y="95"/>
                      </a:lnTo>
                      <a:lnTo>
                        <a:pt x="54" y="157"/>
                      </a:lnTo>
                      <a:lnTo>
                        <a:pt x="66" y="227"/>
                      </a:lnTo>
                      <a:lnTo>
                        <a:pt x="74" y="284"/>
                      </a:lnTo>
                      <a:lnTo>
                        <a:pt x="69" y="338"/>
                      </a:lnTo>
                      <a:lnTo>
                        <a:pt x="58" y="399"/>
                      </a:lnTo>
                      <a:lnTo>
                        <a:pt x="45" y="458"/>
                      </a:lnTo>
                      <a:lnTo>
                        <a:pt x="28" y="512"/>
                      </a:lnTo>
                      <a:lnTo>
                        <a:pt x="0" y="572"/>
                      </a:lnTo>
                      <a:lnTo>
                        <a:pt x="208" y="572"/>
                      </a:lnTo>
                      <a:lnTo>
                        <a:pt x="297" y="570"/>
                      </a:lnTo>
                      <a:lnTo>
                        <a:pt x="342" y="567"/>
                      </a:lnTo>
                      <a:lnTo>
                        <a:pt x="375" y="559"/>
                      </a:lnTo>
                      <a:lnTo>
                        <a:pt x="409" y="549"/>
                      </a:lnTo>
                      <a:lnTo>
                        <a:pt x="445" y="533"/>
                      </a:lnTo>
                      <a:lnTo>
                        <a:pt x="486" y="515"/>
                      </a:lnTo>
                      <a:lnTo>
                        <a:pt x="526" y="490"/>
                      </a:lnTo>
                      <a:lnTo>
                        <a:pt x="552" y="470"/>
                      </a:lnTo>
                      <a:lnTo>
                        <a:pt x="577" y="447"/>
                      </a:lnTo>
                      <a:lnTo>
                        <a:pt x="604" y="420"/>
                      </a:lnTo>
                      <a:lnTo>
                        <a:pt x="628" y="398"/>
                      </a:lnTo>
                      <a:lnTo>
                        <a:pt x="651" y="370"/>
                      </a:lnTo>
                      <a:lnTo>
                        <a:pt x="680" y="333"/>
                      </a:lnTo>
                      <a:lnTo>
                        <a:pt x="708" y="286"/>
                      </a:lnTo>
                      <a:lnTo>
                        <a:pt x="682" y="245"/>
                      </a:lnTo>
                      <a:lnTo>
                        <a:pt x="658" y="210"/>
                      </a:lnTo>
                      <a:lnTo>
                        <a:pt x="638" y="185"/>
                      </a:lnTo>
                      <a:lnTo>
                        <a:pt x="616" y="161"/>
                      </a:lnTo>
                      <a:lnTo>
                        <a:pt x="592" y="138"/>
                      </a:lnTo>
                      <a:lnTo>
                        <a:pt x="572" y="120"/>
                      </a:lnTo>
                      <a:lnTo>
                        <a:pt x="552" y="103"/>
                      </a:lnTo>
                      <a:lnTo>
                        <a:pt x="528" y="85"/>
                      </a:lnTo>
                      <a:lnTo>
                        <a:pt x="506" y="72"/>
                      </a:lnTo>
                      <a:lnTo>
                        <a:pt x="480" y="58"/>
                      </a:lnTo>
                      <a:lnTo>
                        <a:pt x="451" y="43"/>
                      </a:lnTo>
                      <a:lnTo>
                        <a:pt x="415" y="29"/>
                      </a:lnTo>
                      <a:lnTo>
                        <a:pt x="385" y="20"/>
                      </a:lnTo>
                      <a:lnTo>
                        <a:pt x="350" y="11"/>
                      </a:lnTo>
                      <a:lnTo>
                        <a:pt x="313" y="5"/>
                      </a:lnTo>
                      <a:lnTo>
                        <a:pt x="278" y="1"/>
                      </a:lnTo>
                      <a:lnTo>
                        <a:pt x="253" y="1"/>
                      </a:lnTo>
                      <a:lnTo>
                        <a:pt x="227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38100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3366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" name="Freeform 7"/>
                <p:cNvSpPr>
                  <a:spLocks noChangeAspect="1"/>
                </p:cNvSpPr>
                <p:nvPr/>
              </p:nvSpPr>
              <p:spPr bwMode="auto">
                <a:xfrm>
                  <a:off x="3310" y="2742"/>
                  <a:ext cx="76" cy="573"/>
                </a:xfrm>
                <a:custGeom>
                  <a:avLst/>
                  <a:gdLst>
                    <a:gd name="T0" fmla="*/ 3 w 76"/>
                    <a:gd name="T1" fmla="*/ 0 h 573"/>
                    <a:gd name="T2" fmla="*/ 30 w 76"/>
                    <a:gd name="T3" fmla="*/ 71 h 573"/>
                    <a:gd name="T4" fmla="*/ 48 w 76"/>
                    <a:gd name="T5" fmla="*/ 135 h 573"/>
                    <a:gd name="T6" fmla="*/ 62 w 76"/>
                    <a:gd name="T7" fmla="*/ 194 h 573"/>
                    <a:gd name="T8" fmla="*/ 75 w 76"/>
                    <a:gd name="T9" fmla="*/ 279 h 573"/>
                    <a:gd name="T10" fmla="*/ 66 w 76"/>
                    <a:gd name="T11" fmla="*/ 354 h 573"/>
                    <a:gd name="T12" fmla="*/ 54 w 76"/>
                    <a:gd name="T13" fmla="*/ 411 h 573"/>
                    <a:gd name="T14" fmla="*/ 35 w 76"/>
                    <a:gd name="T15" fmla="*/ 488 h 573"/>
                    <a:gd name="T16" fmla="*/ 0 w 76"/>
                    <a:gd name="T17" fmla="*/ 573 h 57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6" h="573">
                      <a:moveTo>
                        <a:pt x="3" y="0"/>
                      </a:moveTo>
                      <a:cubicBezTo>
                        <a:pt x="7" y="12"/>
                        <a:pt x="23" y="49"/>
                        <a:pt x="30" y="71"/>
                      </a:cubicBezTo>
                      <a:cubicBezTo>
                        <a:pt x="37" y="93"/>
                        <a:pt x="43" y="115"/>
                        <a:pt x="48" y="135"/>
                      </a:cubicBezTo>
                      <a:cubicBezTo>
                        <a:pt x="53" y="155"/>
                        <a:pt x="58" y="170"/>
                        <a:pt x="62" y="194"/>
                      </a:cubicBezTo>
                      <a:cubicBezTo>
                        <a:pt x="66" y="218"/>
                        <a:pt x="74" y="252"/>
                        <a:pt x="75" y="279"/>
                      </a:cubicBezTo>
                      <a:cubicBezTo>
                        <a:pt x="76" y="306"/>
                        <a:pt x="69" y="332"/>
                        <a:pt x="66" y="354"/>
                      </a:cubicBezTo>
                      <a:cubicBezTo>
                        <a:pt x="63" y="376"/>
                        <a:pt x="59" y="389"/>
                        <a:pt x="54" y="411"/>
                      </a:cubicBezTo>
                      <a:cubicBezTo>
                        <a:pt x="49" y="433"/>
                        <a:pt x="44" y="461"/>
                        <a:pt x="35" y="488"/>
                      </a:cubicBezTo>
                      <a:cubicBezTo>
                        <a:pt x="26" y="515"/>
                        <a:pt x="7" y="555"/>
                        <a:pt x="0" y="573"/>
                      </a:cubicBezTo>
                    </a:path>
                  </a:pathLst>
                </a:custGeom>
                <a:noFill/>
                <a:ln w="38100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7" name="Group 8"/>
              <p:cNvGrpSpPr>
                <a:grpSpLocks noChangeAspect="1"/>
              </p:cNvGrpSpPr>
              <p:nvPr/>
            </p:nvGrpSpPr>
            <p:grpSpPr bwMode="auto">
              <a:xfrm>
                <a:off x="3479" y="2451"/>
                <a:ext cx="540" cy="402"/>
                <a:chOff x="3310" y="2739"/>
                <a:chExt cx="774" cy="576"/>
              </a:xfrm>
            </p:grpSpPr>
            <p:sp>
              <p:nvSpPr>
                <p:cNvPr id="20" name="Freeform 9"/>
                <p:cNvSpPr>
                  <a:spLocks noChangeAspect="1"/>
                </p:cNvSpPr>
                <p:nvPr/>
              </p:nvSpPr>
              <p:spPr bwMode="auto">
                <a:xfrm>
                  <a:off x="3376" y="2739"/>
                  <a:ext cx="708" cy="572"/>
                </a:xfrm>
                <a:custGeom>
                  <a:avLst/>
                  <a:gdLst>
                    <a:gd name="T0" fmla="*/ 0 w 708"/>
                    <a:gd name="T1" fmla="*/ 0 h 572"/>
                    <a:gd name="T2" fmla="*/ 17 w 708"/>
                    <a:gd name="T3" fmla="*/ 40 h 572"/>
                    <a:gd name="T4" fmla="*/ 39 w 708"/>
                    <a:gd name="T5" fmla="*/ 95 h 572"/>
                    <a:gd name="T6" fmla="*/ 54 w 708"/>
                    <a:gd name="T7" fmla="*/ 157 h 572"/>
                    <a:gd name="T8" fmla="*/ 66 w 708"/>
                    <a:gd name="T9" fmla="*/ 227 h 572"/>
                    <a:gd name="T10" fmla="*/ 74 w 708"/>
                    <a:gd name="T11" fmla="*/ 284 h 572"/>
                    <a:gd name="T12" fmla="*/ 69 w 708"/>
                    <a:gd name="T13" fmla="*/ 338 h 572"/>
                    <a:gd name="T14" fmla="*/ 58 w 708"/>
                    <a:gd name="T15" fmla="*/ 399 h 572"/>
                    <a:gd name="T16" fmla="*/ 45 w 708"/>
                    <a:gd name="T17" fmla="*/ 458 h 572"/>
                    <a:gd name="T18" fmla="*/ 28 w 708"/>
                    <a:gd name="T19" fmla="*/ 512 h 572"/>
                    <a:gd name="T20" fmla="*/ 0 w 708"/>
                    <a:gd name="T21" fmla="*/ 572 h 572"/>
                    <a:gd name="T22" fmla="*/ 208 w 708"/>
                    <a:gd name="T23" fmla="*/ 572 h 572"/>
                    <a:gd name="T24" fmla="*/ 297 w 708"/>
                    <a:gd name="T25" fmla="*/ 570 h 572"/>
                    <a:gd name="T26" fmla="*/ 342 w 708"/>
                    <a:gd name="T27" fmla="*/ 567 h 572"/>
                    <a:gd name="T28" fmla="*/ 375 w 708"/>
                    <a:gd name="T29" fmla="*/ 559 h 572"/>
                    <a:gd name="T30" fmla="*/ 409 w 708"/>
                    <a:gd name="T31" fmla="*/ 549 h 572"/>
                    <a:gd name="T32" fmla="*/ 445 w 708"/>
                    <a:gd name="T33" fmla="*/ 533 h 572"/>
                    <a:gd name="T34" fmla="*/ 486 w 708"/>
                    <a:gd name="T35" fmla="*/ 515 h 572"/>
                    <a:gd name="T36" fmla="*/ 526 w 708"/>
                    <a:gd name="T37" fmla="*/ 490 h 572"/>
                    <a:gd name="T38" fmla="*/ 552 w 708"/>
                    <a:gd name="T39" fmla="*/ 470 h 572"/>
                    <a:gd name="T40" fmla="*/ 577 w 708"/>
                    <a:gd name="T41" fmla="*/ 447 h 572"/>
                    <a:gd name="T42" fmla="*/ 604 w 708"/>
                    <a:gd name="T43" fmla="*/ 420 h 572"/>
                    <a:gd name="T44" fmla="*/ 628 w 708"/>
                    <a:gd name="T45" fmla="*/ 398 h 572"/>
                    <a:gd name="T46" fmla="*/ 651 w 708"/>
                    <a:gd name="T47" fmla="*/ 370 h 572"/>
                    <a:gd name="T48" fmla="*/ 680 w 708"/>
                    <a:gd name="T49" fmla="*/ 333 h 572"/>
                    <a:gd name="T50" fmla="*/ 708 w 708"/>
                    <a:gd name="T51" fmla="*/ 286 h 572"/>
                    <a:gd name="T52" fmla="*/ 682 w 708"/>
                    <a:gd name="T53" fmla="*/ 245 h 572"/>
                    <a:gd name="T54" fmla="*/ 658 w 708"/>
                    <a:gd name="T55" fmla="*/ 210 h 572"/>
                    <a:gd name="T56" fmla="*/ 638 w 708"/>
                    <a:gd name="T57" fmla="*/ 185 h 572"/>
                    <a:gd name="T58" fmla="*/ 616 w 708"/>
                    <a:gd name="T59" fmla="*/ 161 h 572"/>
                    <a:gd name="T60" fmla="*/ 592 w 708"/>
                    <a:gd name="T61" fmla="*/ 138 h 572"/>
                    <a:gd name="T62" fmla="*/ 572 w 708"/>
                    <a:gd name="T63" fmla="*/ 120 h 572"/>
                    <a:gd name="T64" fmla="*/ 552 w 708"/>
                    <a:gd name="T65" fmla="*/ 103 h 572"/>
                    <a:gd name="T66" fmla="*/ 528 w 708"/>
                    <a:gd name="T67" fmla="*/ 85 h 572"/>
                    <a:gd name="T68" fmla="*/ 506 w 708"/>
                    <a:gd name="T69" fmla="*/ 72 h 572"/>
                    <a:gd name="T70" fmla="*/ 480 w 708"/>
                    <a:gd name="T71" fmla="*/ 58 h 572"/>
                    <a:gd name="T72" fmla="*/ 451 w 708"/>
                    <a:gd name="T73" fmla="*/ 43 h 572"/>
                    <a:gd name="T74" fmla="*/ 415 w 708"/>
                    <a:gd name="T75" fmla="*/ 29 h 572"/>
                    <a:gd name="T76" fmla="*/ 385 w 708"/>
                    <a:gd name="T77" fmla="*/ 20 h 572"/>
                    <a:gd name="T78" fmla="*/ 350 w 708"/>
                    <a:gd name="T79" fmla="*/ 11 h 572"/>
                    <a:gd name="T80" fmla="*/ 313 w 708"/>
                    <a:gd name="T81" fmla="*/ 5 h 572"/>
                    <a:gd name="T82" fmla="*/ 278 w 708"/>
                    <a:gd name="T83" fmla="*/ 1 h 572"/>
                    <a:gd name="T84" fmla="*/ 253 w 708"/>
                    <a:gd name="T85" fmla="*/ 1 h 572"/>
                    <a:gd name="T86" fmla="*/ 227 w 708"/>
                    <a:gd name="T87" fmla="*/ 0 h 572"/>
                    <a:gd name="T88" fmla="*/ 0 w 708"/>
                    <a:gd name="T89" fmla="*/ 0 h 57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708" h="572">
                      <a:moveTo>
                        <a:pt x="0" y="0"/>
                      </a:moveTo>
                      <a:lnTo>
                        <a:pt x="17" y="40"/>
                      </a:lnTo>
                      <a:lnTo>
                        <a:pt x="39" y="95"/>
                      </a:lnTo>
                      <a:lnTo>
                        <a:pt x="54" y="157"/>
                      </a:lnTo>
                      <a:lnTo>
                        <a:pt x="66" y="227"/>
                      </a:lnTo>
                      <a:lnTo>
                        <a:pt x="74" y="284"/>
                      </a:lnTo>
                      <a:lnTo>
                        <a:pt x="69" y="338"/>
                      </a:lnTo>
                      <a:lnTo>
                        <a:pt x="58" y="399"/>
                      </a:lnTo>
                      <a:lnTo>
                        <a:pt x="45" y="458"/>
                      </a:lnTo>
                      <a:lnTo>
                        <a:pt x="28" y="512"/>
                      </a:lnTo>
                      <a:lnTo>
                        <a:pt x="0" y="572"/>
                      </a:lnTo>
                      <a:lnTo>
                        <a:pt x="208" y="572"/>
                      </a:lnTo>
                      <a:lnTo>
                        <a:pt x="297" y="570"/>
                      </a:lnTo>
                      <a:lnTo>
                        <a:pt x="342" y="567"/>
                      </a:lnTo>
                      <a:lnTo>
                        <a:pt x="375" y="559"/>
                      </a:lnTo>
                      <a:lnTo>
                        <a:pt x="409" y="549"/>
                      </a:lnTo>
                      <a:lnTo>
                        <a:pt x="445" y="533"/>
                      </a:lnTo>
                      <a:lnTo>
                        <a:pt x="486" y="515"/>
                      </a:lnTo>
                      <a:lnTo>
                        <a:pt x="526" y="490"/>
                      </a:lnTo>
                      <a:lnTo>
                        <a:pt x="552" y="470"/>
                      </a:lnTo>
                      <a:lnTo>
                        <a:pt x="577" y="447"/>
                      </a:lnTo>
                      <a:lnTo>
                        <a:pt x="604" y="420"/>
                      </a:lnTo>
                      <a:lnTo>
                        <a:pt x="628" y="398"/>
                      </a:lnTo>
                      <a:lnTo>
                        <a:pt x="651" y="370"/>
                      </a:lnTo>
                      <a:lnTo>
                        <a:pt x="680" y="333"/>
                      </a:lnTo>
                      <a:lnTo>
                        <a:pt x="708" y="286"/>
                      </a:lnTo>
                      <a:lnTo>
                        <a:pt x="682" y="245"/>
                      </a:lnTo>
                      <a:lnTo>
                        <a:pt x="658" y="210"/>
                      </a:lnTo>
                      <a:lnTo>
                        <a:pt x="638" y="185"/>
                      </a:lnTo>
                      <a:lnTo>
                        <a:pt x="616" y="161"/>
                      </a:lnTo>
                      <a:lnTo>
                        <a:pt x="592" y="138"/>
                      </a:lnTo>
                      <a:lnTo>
                        <a:pt x="572" y="120"/>
                      </a:lnTo>
                      <a:lnTo>
                        <a:pt x="552" y="103"/>
                      </a:lnTo>
                      <a:lnTo>
                        <a:pt x="528" y="85"/>
                      </a:lnTo>
                      <a:lnTo>
                        <a:pt x="506" y="72"/>
                      </a:lnTo>
                      <a:lnTo>
                        <a:pt x="480" y="58"/>
                      </a:lnTo>
                      <a:lnTo>
                        <a:pt x="451" y="43"/>
                      </a:lnTo>
                      <a:lnTo>
                        <a:pt x="415" y="29"/>
                      </a:lnTo>
                      <a:lnTo>
                        <a:pt x="385" y="20"/>
                      </a:lnTo>
                      <a:lnTo>
                        <a:pt x="350" y="11"/>
                      </a:lnTo>
                      <a:lnTo>
                        <a:pt x="313" y="5"/>
                      </a:lnTo>
                      <a:lnTo>
                        <a:pt x="278" y="1"/>
                      </a:lnTo>
                      <a:lnTo>
                        <a:pt x="253" y="1"/>
                      </a:lnTo>
                      <a:lnTo>
                        <a:pt x="227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38100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3366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" name="Freeform 10"/>
                <p:cNvSpPr>
                  <a:spLocks noChangeAspect="1"/>
                </p:cNvSpPr>
                <p:nvPr/>
              </p:nvSpPr>
              <p:spPr bwMode="auto">
                <a:xfrm>
                  <a:off x="3310" y="2742"/>
                  <a:ext cx="76" cy="573"/>
                </a:xfrm>
                <a:custGeom>
                  <a:avLst/>
                  <a:gdLst>
                    <a:gd name="T0" fmla="*/ 3 w 76"/>
                    <a:gd name="T1" fmla="*/ 0 h 573"/>
                    <a:gd name="T2" fmla="*/ 30 w 76"/>
                    <a:gd name="T3" fmla="*/ 71 h 573"/>
                    <a:gd name="T4" fmla="*/ 48 w 76"/>
                    <a:gd name="T5" fmla="*/ 135 h 573"/>
                    <a:gd name="T6" fmla="*/ 62 w 76"/>
                    <a:gd name="T7" fmla="*/ 194 h 573"/>
                    <a:gd name="T8" fmla="*/ 75 w 76"/>
                    <a:gd name="T9" fmla="*/ 279 h 573"/>
                    <a:gd name="T10" fmla="*/ 66 w 76"/>
                    <a:gd name="T11" fmla="*/ 354 h 573"/>
                    <a:gd name="T12" fmla="*/ 54 w 76"/>
                    <a:gd name="T13" fmla="*/ 411 h 573"/>
                    <a:gd name="T14" fmla="*/ 35 w 76"/>
                    <a:gd name="T15" fmla="*/ 488 h 573"/>
                    <a:gd name="T16" fmla="*/ 0 w 76"/>
                    <a:gd name="T17" fmla="*/ 573 h 57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6" h="573">
                      <a:moveTo>
                        <a:pt x="3" y="0"/>
                      </a:moveTo>
                      <a:cubicBezTo>
                        <a:pt x="7" y="12"/>
                        <a:pt x="23" y="49"/>
                        <a:pt x="30" y="71"/>
                      </a:cubicBezTo>
                      <a:cubicBezTo>
                        <a:pt x="37" y="93"/>
                        <a:pt x="43" y="115"/>
                        <a:pt x="48" y="135"/>
                      </a:cubicBezTo>
                      <a:cubicBezTo>
                        <a:pt x="53" y="155"/>
                        <a:pt x="58" y="170"/>
                        <a:pt x="62" y="194"/>
                      </a:cubicBezTo>
                      <a:cubicBezTo>
                        <a:pt x="66" y="218"/>
                        <a:pt x="74" y="252"/>
                        <a:pt x="75" y="279"/>
                      </a:cubicBezTo>
                      <a:cubicBezTo>
                        <a:pt x="76" y="306"/>
                        <a:pt x="69" y="332"/>
                        <a:pt x="66" y="354"/>
                      </a:cubicBezTo>
                      <a:cubicBezTo>
                        <a:pt x="63" y="376"/>
                        <a:pt x="59" y="389"/>
                        <a:pt x="54" y="411"/>
                      </a:cubicBezTo>
                      <a:cubicBezTo>
                        <a:pt x="49" y="433"/>
                        <a:pt x="44" y="461"/>
                        <a:pt x="35" y="488"/>
                      </a:cubicBezTo>
                      <a:cubicBezTo>
                        <a:pt x="26" y="515"/>
                        <a:pt x="7" y="555"/>
                        <a:pt x="0" y="573"/>
                      </a:cubicBezTo>
                    </a:path>
                  </a:pathLst>
                </a:custGeom>
                <a:noFill/>
                <a:ln w="38100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8" name="Line 11"/>
              <p:cNvSpPr>
                <a:spLocks noChangeAspect="1" noChangeShapeType="1"/>
              </p:cNvSpPr>
              <p:nvPr/>
            </p:nvSpPr>
            <p:spPr bwMode="auto">
              <a:xfrm flipH="1">
                <a:off x="3100" y="3047"/>
                <a:ext cx="121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9" name="Group 12"/>
              <p:cNvGrpSpPr>
                <a:grpSpLocks noChangeAspect="1"/>
              </p:cNvGrpSpPr>
              <p:nvPr/>
            </p:nvGrpSpPr>
            <p:grpSpPr bwMode="auto">
              <a:xfrm>
                <a:off x="4010" y="2656"/>
                <a:ext cx="319" cy="162"/>
                <a:chOff x="2368" y="2504"/>
                <a:chExt cx="456" cy="232"/>
              </a:xfrm>
            </p:grpSpPr>
            <p:sp>
              <p:nvSpPr>
                <p:cNvPr id="17" name="Line 13"/>
                <p:cNvSpPr>
                  <a:spLocks noChangeAspect="1" noChangeShapeType="1"/>
                </p:cNvSpPr>
                <p:nvPr/>
              </p:nvSpPr>
              <p:spPr bwMode="auto">
                <a:xfrm>
                  <a:off x="2368" y="2504"/>
                  <a:ext cx="176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" name="Line 14"/>
                <p:cNvSpPr>
                  <a:spLocks noChangeAspect="1" noChangeShapeType="1"/>
                </p:cNvSpPr>
                <p:nvPr/>
              </p:nvSpPr>
              <p:spPr bwMode="auto">
                <a:xfrm>
                  <a:off x="2536" y="2504"/>
                  <a:ext cx="0" cy="23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" name="Line 15"/>
                <p:cNvSpPr>
                  <a:spLocks noChangeAspect="1" noChangeShapeType="1"/>
                </p:cNvSpPr>
                <p:nvPr/>
              </p:nvSpPr>
              <p:spPr bwMode="auto">
                <a:xfrm>
                  <a:off x="2528" y="2736"/>
                  <a:ext cx="296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10" name="Line 16"/>
              <p:cNvSpPr>
                <a:spLocks noChangeAspect="1" noChangeShapeType="1"/>
              </p:cNvSpPr>
              <p:nvPr/>
            </p:nvSpPr>
            <p:spPr bwMode="auto">
              <a:xfrm flipH="1">
                <a:off x="3100" y="2550"/>
                <a:ext cx="40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" name="Line 17"/>
              <p:cNvSpPr>
                <a:spLocks noChangeAspect="1" noChangeShapeType="1"/>
              </p:cNvSpPr>
              <p:nvPr/>
            </p:nvSpPr>
            <p:spPr bwMode="auto">
              <a:xfrm flipH="1">
                <a:off x="3100" y="2767"/>
                <a:ext cx="40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" name="Line 18"/>
              <p:cNvSpPr>
                <a:spLocks noChangeAspect="1" noChangeShapeType="1"/>
              </p:cNvSpPr>
              <p:nvPr/>
            </p:nvSpPr>
            <p:spPr bwMode="auto">
              <a:xfrm>
                <a:off x="4831" y="2930"/>
                <a:ext cx="26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" name="Text Box 19"/>
                  <p:cNvSpPr txBox="1">
                    <a:spLocks noChangeAspect="1" noChangeArrowheads="1"/>
                  </p:cNvSpPr>
                  <p:nvPr/>
                </p:nvSpPr>
                <p:spPr bwMode="auto">
                  <a:xfrm>
                    <a:off x="2877" y="2384"/>
                    <a:ext cx="291" cy="29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pPr algn="l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en-US" sz="2400" i="1" dirty="0" smtClean="0">
                              <a:latin typeface="Cambria Math"/>
                            </a:rPr>
                            <m:t>𝑥</m:t>
                          </m:r>
                        </m:oMath>
                      </m:oMathPara>
                    </a14:m>
                    <a:endParaRPr lang="en-US" altLang="en-US" sz="2400" dirty="0"/>
                  </a:p>
                </p:txBody>
              </p:sp>
            </mc:Choice>
            <mc:Fallback xmlns="">
              <p:sp>
                <p:nvSpPr>
                  <p:cNvPr id="13" name="Text Box 19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2877" y="2384"/>
                    <a:ext cx="279" cy="291"/>
                  </a:xfrm>
                  <a:prstGeom prst="rect">
                    <a:avLst/>
                  </a:prstGeom>
                  <a:blipFill rotWithShape="1">
                    <a:blip r:embed="rId3"/>
                    <a:stretch>
                      <a:fillRect/>
                    </a:stretch>
                  </a:blipFill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" name="Text Box 20"/>
                  <p:cNvSpPr txBox="1">
                    <a:spLocks noChangeAspect="1" noChangeArrowheads="1"/>
                  </p:cNvSpPr>
                  <p:nvPr/>
                </p:nvSpPr>
                <p:spPr bwMode="auto">
                  <a:xfrm>
                    <a:off x="2876" y="2614"/>
                    <a:ext cx="294" cy="29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pPr algn="l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en-US" sz="2400" i="1" dirty="0" smtClean="0">
                              <a:latin typeface="Cambria Math"/>
                            </a:rPr>
                            <m:t>𝑦</m:t>
                          </m:r>
                        </m:oMath>
                      </m:oMathPara>
                    </a14:m>
                    <a:endParaRPr lang="en-US" altLang="en-US" sz="2400" dirty="0"/>
                  </a:p>
                </p:txBody>
              </p:sp>
            </mc:Choice>
            <mc:Fallback xmlns="">
              <p:sp>
                <p:nvSpPr>
                  <p:cNvPr id="14" name="Text Box 20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2876" y="2614"/>
                    <a:ext cx="281" cy="291"/>
                  </a:xfrm>
                  <a:prstGeom prst="rect">
                    <a:avLst/>
                  </a:prstGeom>
                  <a:blipFill rotWithShape="1">
                    <a:blip r:embed="rId4"/>
                    <a:stretch>
                      <a:fillRect b="-11842"/>
                    </a:stretch>
                  </a:blipFill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5" name="Text Box 21"/>
                  <p:cNvSpPr txBox="1">
                    <a:spLocks noChangeAspect="1" noChangeArrowheads="1"/>
                  </p:cNvSpPr>
                  <p:nvPr/>
                </p:nvSpPr>
                <p:spPr bwMode="auto">
                  <a:xfrm>
                    <a:off x="2883" y="2894"/>
                    <a:ext cx="278" cy="29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pPr algn="l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en-US" sz="2400" i="1" dirty="0" smtClean="0">
                              <a:latin typeface="Cambria Math"/>
                            </a:rPr>
                            <m:t>𝑧</m:t>
                          </m:r>
                        </m:oMath>
                      </m:oMathPara>
                    </a14:m>
                    <a:endParaRPr lang="en-US" altLang="en-US" sz="2400" dirty="0"/>
                  </a:p>
                </p:txBody>
              </p:sp>
            </mc:Choice>
            <mc:Fallback xmlns="">
              <p:sp>
                <p:nvSpPr>
                  <p:cNvPr id="15" name="Text Box 21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2883" y="2894"/>
                    <a:ext cx="267" cy="291"/>
                  </a:xfrm>
                  <a:prstGeom prst="rect">
                    <a:avLst/>
                  </a:prstGeom>
                  <a:blipFill rotWithShape="1">
                    <a:blip r:embed="rId5"/>
                    <a:stretch>
                      <a:fillRect/>
                    </a:stretch>
                  </a:blipFill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6" name="Text Box 22"/>
                  <p:cNvSpPr txBox="1">
                    <a:spLocks noChangeAspect="1" noChangeArrowheads="1"/>
                  </p:cNvSpPr>
                  <p:nvPr/>
                </p:nvSpPr>
                <p:spPr bwMode="auto">
                  <a:xfrm>
                    <a:off x="5058" y="2790"/>
                    <a:ext cx="308" cy="29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pPr algn="l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en-US" sz="2400" i="1" dirty="0" smtClean="0">
                              <a:latin typeface="Cambria Math"/>
                            </a:rPr>
                            <m:t>𝑃</m:t>
                          </m:r>
                        </m:oMath>
                      </m:oMathPara>
                    </a14:m>
                    <a:endParaRPr lang="en-US" altLang="en-US" sz="2400" dirty="0"/>
                  </a:p>
                </p:txBody>
              </p:sp>
            </mc:Choice>
            <mc:Fallback xmlns="">
              <p:sp>
                <p:nvSpPr>
                  <p:cNvPr id="16" name="Text Box 22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5058" y="2790"/>
                    <a:ext cx="295" cy="291"/>
                  </a:xfrm>
                  <a:prstGeom prst="rect">
                    <a:avLst/>
                  </a:prstGeom>
                  <a:blipFill rotWithShape="1">
                    <a:blip r:embed="rId6"/>
                    <a:stretch>
                      <a:fillRect/>
                    </a:stretch>
                  </a:blipFill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52" name="Rectangle 51"/>
            <p:cNvSpPr/>
            <p:nvPr/>
          </p:nvSpPr>
          <p:spPr>
            <a:xfrm>
              <a:off x="6303551" y="2046431"/>
              <a:ext cx="2638426" cy="1382569"/>
            </a:xfrm>
            <a:prstGeom prst="rect">
              <a:avLst/>
            </a:prstGeom>
            <a:noFill/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6647197" y="1585576"/>
              <a:ext cx="187743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Parity Generator</a:t>
              </a:r>
              <a:endParaRPr lang="en-US" dirty="0"/>
            </a:p>
          </p:txBody>
        </p:sp>
      </p:grpSp>
      <p:grpSp>
        <p:nvGrpSpPr>
          <p:cNvPr id="56" name="Group 55"/>
          <p:cNvGrpSpPr/>
          <p:nvPr/>
        </p:nvGrpSpPr>
        <p:grpSpPr>
          <a:xfrm>
            <a:off x="5354779" y="3832249"/>
            <a:ext cx="3704494" cy="2189066"/>
            <a:chOff x="5628865" y="3832249"/>
            <a:chExt cx="4013202" cy="2189066"/>
          </a:xfrm>
        </p:grpSpPr>
        <p:grpSp>
          <p:nvGrpSpPr>
            <p:cNvPr id="24" name="Group 65"/>
            <p:cNvGrpSpPr>
              <a:grpSpLocks/>
            </p:cNvGrpSpPr>
            <p:nvPr/>
          </p:nvGrpSpPr>
          <p:grpSpPr bwMode="auto">
            <a:xfrm>
              <a:off x="5628865" y="4271888"/>
              <a:ext cx="4013202" cy="1749427"/>
              <a:chOff x="3369" y="2741"/>
              <a:chExt cx="2528" cy="1102"/>
            </a:xfrm>
          </p:grpSpPr>
          <p:grpSp>
            <p:nvGrpSpPr>
              <p:cNvPr id="25" name="Group 24"/>
              <p:cNvGrpSpPr>
                <a:grpSpLocks noChangeAspect="1"/>
              </p:cNvGrpSpPr>
              <p:nvPr/>
            </p:nvGrpSpPr>
            <p:grpSpPr bwMode="auto">
              <a:xfrm>
                <a:off x="3993" y="2804"/>
                <a:ext cx="542" cy="403"/>
                <a:chOff x="3310" y="2739"/>
                <a:chExt cx="774" cy="576"/>
              </a:xfrm>
            </p:grpSpPr>
            <p:sp>
              <p:nvSpPr>
                <p:cNvPr id="50" name="Freeform 25"/>
                <p:cNvSpPr>
                  <a:spLocks noChangeAspect="1"/>
                </p:cNvSpPr>
                <p:nvPr/>
              </p:nvSpPr>
              <p:spPr bwMode="auto">
                <a:xfrm>
                  <a:off x="3376" y="2739"/>
                  <a:ext cx="708" cy="572"/>
                </a:xfrm>
                <a:custGeom>
                  <a:avLst/>
                  <a:gdLst>
                    <a:gd name="T0" fmla="*/ 0 w 708"/>
                    <a:gd name="T1" fmla="*/ 0 h 572"/>
                    <a:gd name="T2" fmla="*/ 17 w 708"/>
                    <a:gd name="T3" fmla="*/ 40 h 572"/>
                    <a:gd name="T4" fmla="*/ 39 w 708"/>
                    <a:gd name="T5" fmla="*/ 95 h 572"/>
                    <a:gd name="T6" fmla="*/ 54 w 708"/>
                    <a:gd name="T7" fmla="*/ 157 h 572"/>
                    <a:gd name="T8" fmla="*/ 66 w 708"/>
                    <a:gd name="T9" fmla="*/ 227 h 572"/>
                    <a:gd name="T10" fmla="*/ 74 w 708"/>
                    <a:gd name="T11" fmla="*/ 284 h 572"/>
                    <a:gd name="T12" fmla="*/ 69 w 708"/>
                    <a:gd name="T13" fmla="*/ 338 h 572"/>
                    <a:gd name="T14" fmla="*/ 58 w 708"/>
                    <a:gd name="T15" fmla="*/ 399 h 572"/>
                    <a:gd name="T16" fmla="*/ 45 w 708"/>
                    <a:gd name="T17" fmla="*/ 458 h 572"/>
                    <a:gd name="T18" fmla="*/ 28 w 708"/>
                    <a:gd name="T19" fmla="*/ 512 h 572"/>
                    <a:gd name="T20" fmla="*/ 0 w 708"/>
                    <a:gd name="T21" fmla="*/ 572 h 572"/>
                    <a:gd name="T22" fmla="*/ 208 w 708"/>
                    <a:gd name="T23" fmla="*/ 572 h 572"/>
                    <a:gd name="T24" fmla="*/ 297 w 708"/>
                    <a:gd name="T25" fmla="*/ 570 h 572"/>
                    <a:gd name="T26" fmla="*/ 342 w 708"/>
                    <a:gd name="T27" fmla="*/ 567 h 572"/>
                    <a:gd name="T28" fmla="*/ 375 w 708"/>
                    <a:gd name="T29" fmla="*/ 559 h 572"/>
                    <a:gd name="T30" fmla="*/ 409 w 708"/>
                    <a:gd name="T31" fmla="*/ 549 h 572"/>
                    <a:gd name="T32" fmla="*/ 445 w 708"/>
                    <a:gd name="T33" fmla="*/ 533 h 572"/>
                    <a:gd name="T34" fmla="*/ 486 w 708"/>
                    <a:gd name="T35" fmla="*/ 515 h 572"/>
                    <a:gd name="T36" fmla="*/ 526 w 708"/>
                    <a:gd name="T37" fmla="*/ 490 h 572"/>
                    <a:gd name="T38" fmla="*/ 552 w 708"/>
                    <a:gd name="T39" fmla="*/ 470 h 572"/>
                    <a:gd name="T40" fmla="*/ 577 w 708"/>
                    <a:gd name="T41" fmla="*/ 447 h 572"/>
                    <a:gd name="T42" fmla="*/ 604 w 708"/>
                    <a:gd name="T43" fmla="*/ 420 h 572"/>
                    <a:gd name="T44" fmla="*/ 628 w 708"/>
                    <a:gd name="T45" fmla="*/ 398 h 572"/>
                    <a:gd name="T46" fmla="*/ 651 w 708"/>
                    <a:gd name="T47" fmla="*/ 370 h 572"/>
                    <a:gd name="T48" fmla="*/ 680 w 708"/>
                    <a:gd name="T49" fmla="*/ 333 h 572"/>
                    <a:gd name="T50" fmla="*/ 708 w 708"/>
                    <a:gd name="T51" fmla="*/ 286 h 572"/>
                    <a:gd name="T52" fmla="*/ 682 w 708"/>
                    <a:gd name="T53" fmla="*/ 245 h 572"/>
                    <a:gd name="T54" fmla="*/ 658 w 708"/>
                    <a:gd name="T55" fmla="*/ 210 h 572"/>
                    <a:gd name="T56" fmla="*/ 638 w 708"/>
                    <a:gd name="T57" fmla="*/ 185 h 572"/>
                    <a:gd name="T58" fmla="*/ 616 w 708"/>
                    <a:gd name="T59" fmla="*/ 161 h 572"/>
                    <a:gd name="T60" fmla="*/ 592 w 708"/>
                    <a:gd name="T61" fmla="*/ 138 h 572"/>
                    <a:gd name="T62" fmla="*/ 572 w 708"/>
                    <a:gd name="T63" fmla="*/ 120 h 572"/>
                    <a:gd name="T64" fmla="*/ 552 w 708"/>
                    <a:gd name="T65" fmla="*/ 103 h 572"/>
                    <a:gd name="T66" fmla="*/ 528 w 708"/>
                    <a:gd name="T67" fmla="*/ 85 h 572"/>
                    <a:gd name="T68" fmla="*/ 506 w 708"/>
                    <a:gd name="T69" fmla="*/ 72 h 572"/>
                    <a:gd name="T70" fmla="*/ 480 w 708"/>
                    <a:gd name="T71" fmla="*/ 58 h 572"/>
                    <a:gd name="T72" fmla="*/ 451 w 708"/>
                    <a:gd name="T73" fmla="*/ 43 h 572"/>
                    <a:gd name="T74" fmla="*/ 415 w 708"/>
                    <a:gd name="T75" fmla="*/ 29 h 572"/>
                    <a:gd name="T76" fmla="*/ 385 w 708"/>
                    <a:gd name="T77" fmla="*/ 20 h 572"/>
                    <a:gd name="T78" fmla="*/ 350 w 708"/>
                    <a:gd name="T79" fmla="*/ 11 h 572"/>
                    <a:gd name="T80" fmla="*/ 313 w 708"/>
                    <a:gd name="T81" fmla="*/ 5 h 572"/>
                    <a:gd name="T82" fmla="*/ 278 w 708"/>
                    <a:gd name="T83" fmla="*/ 1 h 572"/>
                    <a:gd name="T84" fmla="*/ 253 w 708"/>
                    <a:gd name="T85" fmla="*/ 1 h 572"/>
                    <a:gd name="T86" fmla="*/ 227 w 708"/>
                    <a:gd name="T87" fmla="*/ 0 h 572"/>
                    <a:gd name="T88" fmla="*/ 0 w 708"/>
                    <a:gd name="T89" fmla="*/ 0 h 57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708" h="572">
                      <a:moveTo>
                        <a:pt x="0" y="0"/>
                      </a:moveTo>
                      <a:lnTo>
                        <a:pt x="17" y="40"/>
                      </a:lnTo>
                      <a:lnTo>
                        <a:pt x="39" y="95"/>
                      </a:lnTo>
                      <a:lnTo>
                        <a:pt x="54" y="157"/>
                      </a:lnTo>
                      <a:lnTo>
                        <a:pt x="66" y="227"/>
                      </a:lnTo>
                      <a:lnTo>
                        <a:pt x="74" y="284"/>
                      </a:lnTo>
                      <a:lnTo>
                        <a:pt x="69" y="338"/>
                      </a:lnTo>
                      <a:lnTo>
                        <a:pt x="58" y="399"/>
                      </a:lnTo>
                      <a:lnTo>
                        <a:pt x="45" y="458"/>
                      </a:lnTo>
                      <a:lnTo>
                        <a:pt x="28" y="512"/>
                      </a:lnTo>
                      <a:lnTo>
                        <a:pt x="0" y="572"/>
                      </a:lnTo>
                      <a:lnTo>
                        <a:pt x="208" y="572"/>
                      </a:lnTo>
                      <a:lnTo>
                        <a:pt x="297" y="570"/>
                      </a:lnTo>
                      <a:lnTo>
                        <a:pt x="342" y="567"/>
                      </a:lnTo>
                      <a:lnTo>
                        <a:pt x="375" y="559"/>
                      </a:lnTo>
                      <a:lnTo>
                        <a:pt x="409" y="549"/>
                      </a:lnTo>
                      <a:lnTo>
                        <a:pt x="445" y="533"/>
                      </a:lnTo>
                      <a:lnTo>
                        <a:pt x="486" y="515"/>
                      </a:lnTo>
                      <a:lnTo>
                        <a:pt x="526" y="490"/>
                      </a:lnTo>
                      <a:lnTo>
                        <a:pt x="552" y="470"/>
                      </a:lnTo>
                      <a:lnTo>
                        <a:pt x="577" y="447"/>
                      </a:lnTo>
                      <a:lnTo>
                        <a:pt x="604" y="420"/>
                      </a:lnTo>
                      <a:lnTo>
                        <a:pt x="628" y="398"/>
                      </a:lnTo>
                      <a:lnTo>
                        <a:pt x="651" y="370"/>
                      </a:lnTo>
                      <a:lnTo>
                        <a:pt x="680" y="333"/>
                      </a:lnTo>
                      <a:lnTo>
                        <a:pt x="708" y="286"/>
                      </a:lnTo>
                      <a:lnTo>
                        <a:pt x="682" y="245"/>
                      </a:lnTo>
                      <a:lnTo>
                        <a:pt x="658" y="210"/>
                      </a:lnTo>
                      <a:lnTo>
                        <a:pt x="638" y="185"/>
                      </a:lnTo>
                      <a:lnTo>
                        <a:pt x="616" y="161"/>
                      </a:lnTo>
                      <a:lnTo>
                        <a:pt x="592" y="138"/>
                      </a:lnTo>
                      <a:lnTo>
                        <a:pt x="572" y="120"/>
                      </a:lnTo>
                      <a:lnTo>
                        <a:pt x="552" y="103"/>
                      </a:lnTo>
                      <a:lnTo>
                        <a:pt x="528" y="85"/>
                      </a:lnTo>
                      <a:lnTo>
                        <a:pt x="506" y="72"/>
                      </a:lnTo>
                      <a:lnTo>
                        <a:pt x="480" y="58"/>
                      </a:lnTo>
                      <a:lnTo>
                        <a:pt x="451" y="43"/>
                      </a:lnTo>
                      <a:lnTo>
                        <a:pt x="415" y="29"/>
                      </a:lnTo>
                      <a:lnTo>
                        <a:pt x="385" y="20"/>
                      </a:lnTo>
                      <a:lnTo>
                        <a:pt x="350" y="11"/>
                      </a:lnTo>
                      <a:lnTo>
                        <a:pt x="313" y="5"/>
                      </a:lnTo>
                      <a:lnTo>
                        <a:pt x="278" y="1"/>
                      </a:lnTo>
                      <a:lnTo>
                        <a:pt x="253" y="1"/>
                      </a:lnTo>
                      <a:lnTo>
                        <a:pt x="227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38100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3366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1" name="Freeform 26"/>
                <p:cNvSpPr>
                  <a:spLocks noChangeAspect="1"/>
                </p:cNvSpPr>
                <p:nvPr/>
              </p:nvSpPr>
              <p:spPr bwMode="auto">
                <a:xfrm>
                  <a:off x="3310" y="2742"/>
                  <a:ext cx="76" cy="573"/>
                </a:xfrm>
                <a:custGeom>
                  <a:avLst/>
                  <a:gdLst>
                    <a:gd name="T0" fmla="*/ 3 w 76"/>
                    <a:gd name="T1" fmla="*/ 0 h 573"/>
                    <a:gd name="T2" fmla="*/ 30 w 76"/>
                    <a:gd name="T3" fmla="*/ 71 h 573"/>
                    <a:gd name="T4" fmla="*/ 48 w 76"/>
                    <a:gd name="T5" fmla="*/ 135 h 573"/>
                    <a:gd name="T6" fmla="*/ 62 w 76"/>
                    <a:gd name="T7" fmla="*/ 194 h 573"/>
                    <a:gd name="T8" fmla="*/ 75 w 76"/>
                    <a:gd name="T9" fmla="*/ 279 h 573"/>
                    <a:gd name="T10" fmla="*/ 66 w 76"/>
                    <a:gd name="T11" fmla="*/ 354 h 573"/>
                    <a:gd name="T12" fmla="*/ 54 w 76"/>
                    <a:gd name="T13" fmla="*/ 411 h 573"/>
                    <a:gd name="T14" fmla="*/ 35 w 76"/>
                    <a:gd name="T15" fmla="*/ 488 h 573"/>
                    <a:gd name="T16" fmla="*/ 0 w 76"/>
                    <a:gd name="T17" fmla="*/ 573 h 57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6" h="573">
                      <a:moveTo>
                        <a:pt x="3" y="0"/>
                      </a:moveTo>
                      <a:cubicBezTo>
                        <a:pt x="7" y="12"/>
                        <a:pt x="23" y="49"/>
                        <a:pt x="30" y="71"/>
                      </a:cubicBezTo>
                      <a:cubicBezTo>
                        <a:pt x="37" y="93"/>
                        <a:pt x="43" y="115"/>
                        <a:pt x="48" y="135"/>
                      </a:cubicBezTo>
                      <a:cubicBezTo>
                        <a:pt x="53" y="155"/>
                        <a:pt x="58" y="170"/>
                        <a:pt x="62" y="194"/>
                      </a:cubicBezTo>
                      <a:cubicBezTo>
                        <a:pt x="66" y="218"/>
                        <a:pt x="74" y="252"/>
                        <a:pt x="75" y="279"/>
                      </a:cubicBezTo>
                      <a:cubicBezTo>
                        <a:pt x="76" y="306"/>
                        <a:pt x="69" y="332"/>
                        <a:pt x="66" y="354"/>
                      </a:cubicBezTo>
                      <a:cubicBezTo>
                        <a:pt x="63" y="376"/>
                        <a:pt x="59" y="389"/>
                        <a:pt x="54" y="411"/>
                      </a:cubicBezTo>
                      <a:cubicBezTo>
                        <a:pt x="49" y="433"/>
                        <a:pt x="44" y="461"/>
                        <a:pt x="35" y="488"/>
                      </a:cubicBezTo>
                      <a:cubicBezTo>
                        <a:pt x="26" y="515"/>
                        <a:pt x="7" y="555"/>
                        <a:pt x="0" y="573"/>
                      </a:cubicBezTo>
                    </a:path>
                  </a:pathLst>
                </a:custGeom>
                <a:noFill/>
                <a:ln w="38100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26" name="Group 27"/>
              <p:cNvGrpSpPr>
                <a:grpSpLocks noChangeAspect="1"/>
              </p:cNvGrpSpPr>
              <p:nvPr/>
            </p:nvGrpSpPr>
            <p:grpSpPr bwMode="auto">
              <a:xfrm>
                <a:off x="4526" y="3009"/>
                <a:ext cx="320" cy="163"/>
                <a:chOff x="2368" y="2504"/>
                <a:chExt cx="456" cy="232"/>
              </a:xfrm>
            </p:grpSpPr>
            <p:sp>
              <p:nvSpPr>
                <p:cNvPr id="47" name="Line 28"/>
                <p:cNvSpPr>
                  <a:spLocks noChangeAspect="1" noChangeShapeType="1"/>
                </p:cNvSpPr>
                <p:nvPr/>
              </p:nvSpPr>
              <p:spPr bwMode="auto">
                <a:xfrm>
                  <a:off x="2368" y="2504"/>
                  <a:ext cx="176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8" name="Line 29"/>
                <p:cNvSpPr>
                  <a:spLocks noChangeAspect="1" noChangeShapeType="1"/>
                </p:cNvSpPr>
                <p:nvPr/>
              </p:nvSpPr>
              <p:spPr bwMode="auto">
                <a:xfrm>
                  <a:off x="2536" y="2504"/>
                  <a:ext cx="0" cy="23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9" name="Line 30"/>
                <p:cNvSpPr>
                  <a:spLocks noChangeAspect="1" noChangeShapeType="1"/>
                </p:cNvSpPr>
                <p:nvPr/>
              </p:nvSpPr>
              <p:spPr bwMode="auto">
                <a:xfrm>
                  <a:off x="2528" y="2736"/>
                  <a:ext cx="296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27" name="Line 31"/>
              <p:cNvSpPr>
                <a:spLocks noChangeAspect="1" noChangeShapeType="1"/>
              </p:cNvSpPr>
              <p:nvPr/>
            </p:nvSpPr>
            <p:spPr bwMode="auto">
              <a:xfrm flipH="1">
                <a:off x="3613" y="2903"/>
                <a:ext cx="403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" name="Line 32"/>
              <p:cNvSpPr>
                <a:spLocks noChangeAspect="1" noChangeShapeType="1"/>
              </p:cNvSpPr>
              <p:nvPr/>
            </p:nvSpPr>
            <p:spPr bwMode="auto">
              <a:xfrm flipH="1">
                <a:off x="3613" y="3121"/>
                <a:ext cx="403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" name="Line 33"/>
              <p:cNvSpPr>
                <a:spLocks noChangeAspect="1" noChangeShapeType="1"/>
              </p:cNvSpPr>
              <p:nvPr/>
            </p:nvSpPr>
            <p:spPr bwMode="auto">
              <a:xfrm>
                <a:off x="5375" y="3289"/>
                <a:ext cx="25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0" name="Text Box 34"/>
                  <p:cNvSpPr txBox="1">
                    <a:spLocks noChangeAspect="1" noChangeArrowheads="1"/>
                  </p:cNvSpPr>
                  <p:nvPr/>
                </p:nvSpPr>
                <p:spPr bwMode="auto">
                  <a:xfrm>
                    <a:off x="3377" y="2741"/>
                    <a:ext cx="308" cy="29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pPr algn="l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en-US" sz="2400" b="0" i="1" dirty="0" smtClean="0">
                              <a:latin typeface="Cambria Math"/>
                            </a:rPr>
                            <m:t>𝑃</m:t>
                          </m:r>
                        </m:oMath>
                      </m:oMathPara>
                    </a14:m>
                    <a:endParaRPr lang="en-US" altLang="en-US" sz="2400" dirty="0"/>
                  </a:p>
                </p:txBody>
              </p:sp>
            </mc:Choice>
            <mc:Fallback xmlns="">
              <p:sp>
                <p:nvSpPr>
                  <p:cNvPr id="30" name="Text Box 34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3377" y="2741"/>
                    <a:ext cx="295" cy="291"/>
                  </a:xfrm>
                  <a:prstGeom prst="rect">
                    <a:avLst/>
                  </a:prstGeom>
                  <a:blipFill rotWithShape="1">
                    <a:blip r:embed="rId7"/>
                    <a:stretch>
                      <a:fillRect/>
                    </a:stretch>
                  </a:blipFill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1" name="Text Box 35"/>
                  <p:cNvSpPr txBox="1">
                    <a:spLocks noChangeAspect="1" noChangeArrowheads="1"/>
                  </p:cNvSpPr>
                  <p:nvPr/>
                </p:nvSpPr>
                <p:spPr bwMode="auto">
                  <a:xfrm>
                    <a:off x="3376" y="2975"/>
                    <a:ext cx="291" cy="29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pPr algn="l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en-US" sz="2400" b="0" i="1" dirty="0" smtClean="0">
                              <a:latin typeface="Cambria Math"/>
                            </a:rPr>
                            <m:t>𝑥</m:t>
                          </m:r>
                        </m:oMath>
                      </m:oMathPara>
                    </a14:m>
                    <a:endParaRPr lang="en-US" altLang="en-US" sz="2400" dirty="0"/>
                  </a:p>
                </p:txBody>
              </p:sp>
            </mc:Choice>
            <mc:Fallback xmlns="">
              <p:sp>
                <p:nvSpPr>
                  <p:cNvPr id="31" name="Text Box 35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3376" y="2975"/>
                    <a:ext cx="281" cy="291"/>
                  </a:xfrm>
                  <a:prstGeom prst="rect">
                    <a:avLst/>
                  </a:prstGeom>
                  <a:blipFill rotWithShape="1">
                    <a:blip r:embed="rId8"/>
                    <a:stretch>
                      <a:fillRect/>
                    </a:stretch>
                  </a:blipFill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2" name="Text Box 36"/>
                  <p:cNvSpPr txBox="1">
                    <a:spLocks noChangeAspect="1" noChangeArrowheads="1"/>
                  </p:cNvSpPr>
                  <p:nvPr/>
                </p:nvSpPr>
                <p:spPr bwMode="auto">
                  <a:xfrm>
                    <a:off x="3383" y="3296"/>
                    <a:ext cx="294" cy="29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pPr algn="l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en-US" sz="2400" b="0" i="1" dirty="0" smtClean="0">
                              <a:latin typeface="Cambria Math"/>
                            </a:rPr>
                            <m:t>𝑦</m:t>
                          </m:r>
                        </m:oMath>
                      </m:oMathPara>
                    </a14:m>
                    <a:endParaRPr lang="en-US" altLang="en-US" sz="2400" dirty="0"/>
                  </a:p>
                </p:txBody>
              </p:sp>
            </mc:Choice>
            <mc:Fallback xmlns="">
              <p:sp>
                <p:nvSpPr>
                  <p:cNvPr id="32" name="Text Box 36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3383" y="3296"/>
                    <a:ext cx="281" cy="291"/>
                  </a:xfrm>
                  <a:prstGeom prst="rect">
                    <a:avLst/>
                  </a:prstGeom>
                  <a:blipFill rotWithShape="1">
                    <a:blip r:embed="rId9"/>
                    <a:stretch>
                      <a:fillRect b="-11842"/>
                    </a:stretch>
                  </a:blipFill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3" name="Text Box 37"/>
                  <p:cNvSpPr txBox="1">
                    <a:spLocks noChangeAspect="1" noChangeArrowheads="1"/>
                  </p:cNvSpPr>
                  <p:nvPr/>
                </p:nvSpPr>
                <p:spPr bwMode="auto">
                  <a:xfrm>
                    <a:off x="5584" y="3151"/>
                    <a:ext cx="313" cy="29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pPr algn="l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en-US" sz="2400" i="1" dirty="0" smtClean="0">
                              <a:latin typeface="Cambria Math"/>
                            </a:rPr>
                            <m:t>𝐸</m:t>
                          </m:r>
                        </m:oMath>
                      </m:oMathPara>
                    </a14:m>
                    <a:endParaRPr lang="en-US" altLang="en-US" sz="2400" dirty="0"/>
                  </a:p>
                </p:txBody>
              </p:sp>
            </mc:Choice>
            <mc:Fallback xmlns="">
              <p:sp>
                <p:nvSpPr>
                  <p:cNvPr id="33" name="Text Box 37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5584" y="3151"/>
                    <a:ext cx="299" cy="291"/>
                  </a:xfrm>
                  <a:prstGeom prst="rect">
                    <a:avLst/>
                  </a:prstGeom>
                  <a:blipFill rotWithShape="1">
                    <a:blip r:embed="rId10"/>
                    <a:stretch>
                      <a:fillRect/>
                    </a:stretch>
                  </a:blipFill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34" name="Group 38"/>
              <p:cNvGrpSpPr>
                <a:grpSpLocks noChangeAspect="1"/>
              </p:cNvGrpSpPr>
              <p:nvPr/>
            </p:nvGrpSpPr>
            <p:grpSpPr bwMode="auto">
              <a:xfrm flipV="1">
                <a:off x="3998" y="3375"/>
                <a:ext cx="542" cy="403"/>
                <a:chOff x="3310" y="2739"/>
                <a:chExt cx="774" cy="576"/>
              </a:xfrm>
            </p:grpSpPr>
            <p:sp>
              <p:nvSpPr>
                <p:cNvPr id="45" name="Freeform 39"/>
                <p:cNvSpPr>
                  <a:spLocks noChangeAspect="1"/>
                </p:cNvSpPr>
                <p:nvPr/>
              </p:nvSpPr>
              <p:spPr bwMode="auto">
                <a:xfrm>
                  <a:off x="3376" y="2739"/>
                  <a:ext cx="708" cy="572"/>
                </a:xfrm>
                <a:custGeom>
                  <a:avLst/>
                  <a:gdLst>
                    <a:gd name="T0" fmla="*/ 0 w 708"/>
                    <a:gd name="T1" fmla="*/ 0 h 572"/>
                    <a:gd name="T2" fmla="*/ 17 w 708"/>
                    <a:gd name="T3" fmla="*/ 40 h 572"/>
                    <a:gd name="T4" fmla="*/ 39 w 708"/>
                    <a:gd name="T5" fmla="*/ 95 h 572"/>
                    <a:gd name="T6" fmla="*/ 54 w 708"/>
                    <a:gd name="T7" fmla="*/ 157 h 572"/>
                    <a:gd name="T8" fmla="*/ 66 w 708"/>
                    <a:gd name="T9" fmla="*/ 227 h 572"/>
                    <a:gd name="T10" fmla="*/ 74 w 708"/>
                    <a:gd name="T11" fmla="*/ 284 h 572"/>
                    <a:gd name="T12" fmla="*/ 69 w 708"/>
                    <a:gd name="T13" fmla="*/ 338 h 572"/>
                    <a:gd name="T14" fmla="*/ 58 w 708"/>
                    <a:gd name="T15" fmla="*/ 399 h 572"/>
                    <a:gd name="T16" fmla="*/ 45 w 708"/>
                    <a:gd name="T17" fmla="*/ 458 h 572"/>
                    <a:gd name="T18" fmla="*/ 28 w 708"/>
                    <a:gd name="T19" fmla="*/ 512 h 572"/>
                    <a:gd name="T20" fmla="*/ 0 w 708"/>
                    <a:gd name="T21" fmla="*/ 572 h 572"/>
                    <a:gd name="T22" fmla="*/ 208 w 708"/>
                    <a:gd name="T23" fmla="*/ 572 h 572"/>
                    <a:gd name="T24" fmla="*/ 297 w 708"/>
                    <a:gd name="T25" fmla="*/ 570 h 572"/>
                    <a:gd name="T26" fmla="*/ 342 w 708"/>
                    <a:gd name="T27" fmla="*/ 567 h 572"/>
                    <a:gd name="T28" fmla="*/ 375 w 708"/>
                    <a:gd name="T29" fmla="*/ 559 h 572"/>
                    <a:gd name="T30" fmla="*/ 409 w 708"/>
                    <a:gd name="T31" fmla="*/ 549 h 572"/>
                    <a:gd name="T32" fmla="*/ 445 w 708"/>
                    <a:gd name="T33" fmla="*/ 533 h 572"/>
                    <a:gd name="T34" fmla="*/ 486 w 708"/>
                    <a:gd name="T35" fmla="*/ 515 h 572"/>
                    <a:gd name="T36" fmla="*/ 526 w 708"/>
                    <a:gd name="T37" fmla="*/ 490 h 572"/>
                    <a:gd name="T38" fmla="*/ 552 w 708"/>
                    <a:gd name="T39" fmla="*/ 470 h 572"/>
                    <a:gd name="T40" fmla="*/ 577 w 708"/>
                    <a:gd name="T41" fmla="*/ 447 h 572"/>
                    <a:gd name="T42" fmla="*/ 604 w 708"/>
                    <a:gd name="T43" fmla="*/ 420 h 572"/>
                    <a:gd name="T44" fmla="*/ 628 w 708"/>
                    <a:gd name="T45" fmla="*/ 398 h 572"/>
                    <a:gd name="T46" fmla="*/ 651 w 708"/>
                    <a:gd name="T47" fmla="*/ 370 h 572"/>
                    <a:gd name="T48" fmla="*/ 680 w 708"/>
                    <a:gd name="T49" fmla="*/ 333 h 572"/>
                    <a:gd name="T50" fmla="*/ 708 w 708"/>
                    <a:gd name="T51" fmla="*/ 286 h 572"/>
                    <a:gd name="T52" fmla="*/ 682 w 708"/>
                    <a:gd name="T53" fmla="*/ 245 h 572"/>
                    <a:gd name="T54" fmla="*/ 658 w 708"/>
                    <a:gd name="T55" fmla="*/ 210 h 572"/>
                    <a:gd name="T56" fmla="*/ 638 w 708"/>
                    <a:gd name="T57" fmla="*/ 185 h 572"/>
                    <a:gd name="T58" fmla="*/ 616 w 708"/>
                    <a:gd name="T59" fmla="*/ 161 h 572"/>
                    <a:gd name="T60" fmla="*/ 592 w 708"/>
                    <a:gd name="T61" fmla="*/ 138 h 572"/>
                    <a:gd name="T62" fmla="*/ 572 w 708"/>
                    <a:gd name="T63" fmla="*/ 120 h 572"/>
                    <a:gd name="T64" fmla="*/ 552 w 708"/>
                    <a:gd name="T65" fmla="*/ 103 h 572"/>
                    <a:gd name="T66" fmla="*/ 528 w 708"/>
                    <a:gd name="T67" fmla="*/ 85 h 572"/>
                    <a:gd name="T68" fmla="*/ 506 w 708"/>
                    <a:gd name="T69" fmla="*/ 72 h 572"/>
                    <a:gd name="T70" fmla="*/ 480 w 708"/>
                    <a:gd name="T71" fmla="*/ 58 h 572"/>
                    <a:gd name="T72" fmla="*/ 451 w 708"/>
                    <a:gd name="T73" fmla="*/ 43 h 572"/>
                    <a:gd name="T74" fmla="*/ 415 w 708"/>
                    <a:gd name="T75" fmla="*/ 29 h 572"/>
                    <a:gd name="T76" fmla="*/ 385 w 708"/>
                    <a:gd name="T77" fmla="*/ 20 h 572"/>
                    <a:gd name="T78" fmla="*/ 350 w 708"/>
                    <a:gd name="T79" fmla="*/ 11 h 572"/>
                    <a:gd name="T80" fmla="*/ 313 w 708"/>
                    <a:gd name="T81" fmla="*/ 5 h 572"/>
                    <a:gd name="T82" fmla="*/ 278 w 708"/>
                    <a:gd name="T83" fmla="*/ 1 h 572"/>
                    <a:gd name="T84" fmla="*/ 253 w 708"/>
                    <a:gd name="T85" fmla="*/ 1 h 572"/>
                    <a:gd name="T86" fmla="*/ 227 w 708"/>
                    <a:gd name="T87" fmla="*/ 0 h 572"/>
                    <a:gd name="T88" fmla="*/ 0 w 708"/>
                    <a:gd name="T89" fmla="*/ 0 h 57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708" h="572">
                      <a:moveTo>
                        <a:pt x="0" y="0"/>
                      </a:moveTo>
                      <a:lnTo>
                        <a:pt x="17" y="40"/>
                      </a:lnTo>
                      <a:lnTo>
                        <a:pt x="39" y="95"/>
                      </a:lnTo>
                      <a:lnTo>
                        <a:pt x="54" y="157"/>
                      </a:lnTo>
                      <a:lnTo>
                        <a:pt x="66" y="227"/>
                      </a:lnTo>
                      <a:lnTo>
                        <a:pt x="74" y="284"/>
                      </a:lnTo>
                      <a:lnTo>
                        <a:pt x="69" y="338"/>
                      </a:lnTo>
                      <a:lnTo>
                        <a:pt x="58" y="399"/>
                      </a:lnTo>
                      <a:lnTo>
                        <a:pt x="45" y="458"/>
                      </a:lnTo>
                      <a:lnTo>
                        <a:pt x="28" y="512"/>
                      </a:lnTo>
                      <a:lnTo>
                        <a:pt x="0" y="572"/>
                      </a:lnTo>
                      <a:lnTo>
                        <a:pt x="208" y="572"/>
                      </a:lnTo>
                      <a:lnTo>
                        <a:pt x="297" y="570"/>
                      </a:lnTo>
                      <a:lnTo>
                        <a:pt x="342" y="567"/>
                      </a:lnTo>
                      <a:lnTo>
                        <a:pt x="375" y="559"/>
                      </a:lnTo>
                      <a:lnTo>
                        <a:pt x="409" y="549"/>
                      </a:lnTo>
                      <a:lnTo>
                        <a:pt x="445" y="533"/>
                      </a:lnTo>
                      <a:lnTo>
                        <a:pt x="486" y="515"/>
                      </a:lnTo>
                      <a:lnTo>
                        <a:pt x="526" y="490"/>
                      </a:lnTo>
                      <a:lnTo>
                        <a:pt x="552" y="470"/>
                      </a:lnTo>
                      <a:lnTo>
                        <a:pt x="577" y="447"/>
                      </a:lnTo>
                      <a:lnTo>
                        <a:pt x="604" y="420"/>
                      </a:lnTo>
                      <a:lnTo>
                        <a:pt x="628" y="398"/>
                      </a:lnTo>
                      <a:lnTo>
                        <a:pt x="651" y="370"/>
                      </a:lnTo>
                      <a:lnTo>
                        <a:pt x="680" y="333"/>
                      </a:lnTo>
                      <a:lnTo>
                        <a:pt x="708" y="286"/>
                      </a:lnTo>
                      <a:lnTo>
                        <a:pt x="682" y="245"/>
                      </a:lnTo>
                      <a:lnTo>
                        <a:pt x="658" y="210"/>
                      </a:lnTo>
                      <a:lnTo>
                        <a:pt x="638" y="185"/>
                      </a:lnTo>
                      <a:lnTo>
                        <a:pt x="616" y="161"/>
                      </a:lnTo>
                      <a:lnTo>
                        <a:pt x="592" y="138"/>
                      </a:lnTo>
                      <a:lnTo>
                        <a:pt x="572" y="120"/>
                      </a:lnTo>
                      <a:lnTo>
                        <a:pt x="552" y="103"/>
                      </a:lnTo>
                      <a:lnTo>
                        <a:pt x="528" y="85"/>
                      </a:lnTo>
                      <a:lnTo>
                        <a:pt x="506" y="72"/>
                      </a:lnTo>
                      <a:lnTo>
                        <a:pt x="480" y="58"/>
                      </a:lnTo>
                      <a:lnTo>
                        <a:pt x="451" y="43"/>
                      </a:lnTo>
                      <a:lnTo>
                        <a:pt x="415" y="29"/>
                      </a:lnTo>
                      <a:lnTo>
                        <a:pt x="385" y="20"/>
                      </a:lnTo>
                      <a:lnTo>
                        <a:pt x="350" y="11"/>
                      </a:lnTo>
                      <a:lnTo>
                        <a:pt x="313" y="5"/>
                      </a:lnTo>
                      <a:lnTo>
                        <a:pt x="278" y="1"/>
                      </a:lnTo>
                      <a:lnTo>
                        <a:pt x="253" y="1"/>
                      </a:lnTo>
                      <a:lnTo>
                        <a:pt x="227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38100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3366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6" name="Freeform 40"/>
                <p:cNvSpPr>
                  <a:spLocks noChangeAspect="1"/>
                </p:cNvSpPr>
                <p:nvPr/>
              </p:nvSpPr>
              <p:spPr bwMode="auto">
                <a:xfrm>
                  <a:off x="3310" y="2742"/>
                  <a:ext cx="76" cy="573"/>
                </a:xfrm>
                <a:custGeom>
                  <a:avLst/>
                  <a:gdLst>
                    <a:gd name="T0" fmla="*/ 3 w 76"/>
                    <a:gd name="T1" fmla="*/ 0 h 573"/>
                    <a:gd name="T2" fmla="*/ 30 w 76"/>
                    <a:gd name="T3" fmla="*/ 71 h 573"/>
                    <a:gd name="T4" fmla="*/ 48 w 76"/>
                    <a:gd name="T5" fmla="*/ 135 h 573"/>
                    <a:gd name="T6" fmla="*/ 62 w 76"/>
                    <a:gd name="T7" fmla="*/ 194 h 573"/>
                    <a:gd name="T8" fmla="*/ 75 w 76"/>
                    <a:gd name="T9" fmla="*/ 279 h 573"/>
                    <a:gd name="T10" fmla="*/ 66 w 76"/>
                    <a:gd name="T11" fmla="*/ 354 h 573"/>
                    <a:gd name="T12" fmla="*/ 54 w 76"/>
                    <a:gd name="T13" fmla="*/ 411 h 573"/>
                    <a:gd name="T14" fmla="*/ 35 w 76"/>
                    <a:gd name="T15" fmla="*/ 488 h 573"/>
                    <a:gd name="T16" fmla="*/ 0 w 76"/>
                    <a:gd name="T17" fmla="*/ 573 h 57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6" h="573">
                      <a:moveTo>
                        <a:pt x="3" y="0"/>
                      </a:moveTo>
                      <a:cubicBezTo>
                        <a:pt x="7" y="12"/>
                        <a:pt x="23" y="49"/>
                        <a:pt x="30" y="71"/>
                      </a:cubicBezTo>
                      <a:cubicBezTo>
                        <a:pt x="37" y="93"/>
                        <a:pt x="43" y="115"/>
                        <a:pt x="48" y="135"/>
                      </a:cubicBezTo>
                      <a:cubicBezTo>
                        <a:pt x="53" y="155"/>
                        <a:pt x="58" y="170"/>
                        <a:pt x="62" y="194"/>
                      </a:cubicBezTo>
                      <a:cubicBezTo>
                        <a:pt x="66" y="218"/>
                        <a:pt x="74" y="252"/>
                        <a:pt x="75" y="279"/>
                      </a:cubicBezTo>
                      <a:cubicBezTo>
                        <a:pt x="76" y="306"/>
                        <a:pt x="69" y="332"/>
                        <a:pt x="66" y="354"/>
                      </a:cubicBezTo>
                      <a:cubicBezTo>
                        <a:pt x="63" y="376"/>
                        <a:pt x="59" y="389"/>
                        <a:pt x="54" y="411"/>
                      </a:cubicBezTo>
                      <a:cubicBezTo>
                        <a:pt x="49" y="433"/>
                        <a:pt x="44" y="461"/>
                        <a:pt x="35" y="488"/>
                      </a:cubicBezTo>
                      <a:cubicBezTo>
                        <a:pt x="26" y="515"/>
                        <a:pt x="7" y="555"/>
                        <a:pt x="0" y="573"/>
                      </a:cubicBezTo>
                    </a:path>
                  </a:pathLst>
                </a:custGeom>
                <a:noFill/>
                <a:ln w="38100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35" name="Group 41"/>
              <p:cNvGrpSpPr>
                <a:grpSpLocks noChangeAspect="1"/>
              </p:cNvGrpSpPr>
              <p:nvPr/>
            </p:nvGrpSpPr>
            <p:grpSpPr bwMode="auto">
              <a:xfrm flipV="1">
                <a:off x="4532" y="3412"/>
                <a:ext cx="319" cy="163"/>
                <a:chOff x="2368" y="2504"/>
                <a:chExt cx="456" cy="232"/>
              </a:xfrm>
            </p:grpSpPr>
            <p:sp>
              <p:nvSpPr>
                <p:cNvPr id="42" name="Line 42"/>
                <p:cNvSpPr>
                  <a:spLocks noChangeAspect="1" noChangeShapeType="1"/>
                </p:cNvSpPr>
                <p:nvPr/>
              </p:nvSpPr>
              <p:spPr bwMode="auto">
                <a:xfrm>
                  <a:off x="2368" y="2504"/>
                  <a:ext cx="176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3" name="Line 43"/>
                <p:cNvSpPr>
                  <a:spLocks noChangeAspect="1" noChangeShapeType="1"/>
                </p:cNvSpPr>
                <p:nvPr/>
              </p:nvSpPr>
              <p:spPr bwMode="auto">
                <a:xfrm>
                  <a:off x="2536" y="2504"/>
                  <a:ext cx="0" cy="23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4" name="Line 44"/>
                <p:cNvSpPr>
                  <a:spLocks noChangeAspect="1" noChangeShapeType="1"/>
                </p:cNvSpPr>
                <p:nvPr/>
              </p:nvSpPr>
              <p:spPr bwMode="auto">
                <a:xfrm>
                  <a:off x="2528" y="2736"/>
                  <a:ext cx="296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36" name="Line 45"/>
              <p:cNvSpPr>
                <a:spLocks noChangeAspect="1" noChangeShapeType="1"/>
              </p:cNvSpPr>
              <p:nvPr/>
            </p:nvSpPr>
            <p:spPr bwMode="auto">
              <a:xfrm flipH="1" flipV="1">
                <a:off x="3619" y="3474"/>
                <a:ext cx="403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" name="Line 46"/>
              <p:cNvSpPr>
                <a:spLocks noChangeAspect="1" noChangeShapeType="1"/>
              </p:cNvSpPr>
              <p:nvPr/>
            </p:nvSpPr>
            <p:spPr bwMode="auto">
              <a:xfrm flipH="1" flipV="1">
                <a:off x="3619" y="3692"/>
                <a:ext cx="403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8" name="Text Box 47"/>
                  <p:cNvSpPr txBox="1">
                    <a:spLocks noChangeAspect="1" noChangeArrowheads="1"/>
                  </p:cNvSpPr>
                  <p:nvPr/>
                </p:nvSpPr>
                <p:spPr bwMode="auto">
                  <a:xfrm>
                    <a:off x="3369" y="3552"/>
                    <a:ext cx="278" cy="29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pPr algn="l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en-US" sz="2400" b="0" i="1" dirty="0" smtClean="0">
                              <a:latin typeface="Cambria Math"/>
                            </a:rPr>
                            <m:t>𝑧</m:t>
                          </m:r>
                        </m:oMath>
                      </m:oMathPara>
                    </a14:m>
                    <a:endParaRPr lang="en-US" altLang="en-US" sz="2400" dirty="0"/>
                  </a:p>
                </p:txBody>
              </p:sp>
            </mc:Choice>
            <mc:Fallback xmlns="">
              <p:sp>
                <p:nvSpPr>
                  <p:cNvPr id="38" name="Text Box 47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3369" y="3552"/>
                    <a:ext cx="267" cy="291"/>
                  </a:xfrm>
                  <a:prstGeom prst="rect">
                    <a:avLst/>
                  </a:prstGeom>
                  <a:blipFill rotWithShape="1">
                    <a:blip r:embed="rId11"/>
                    <a:stretch>
                      <a:fillRect/>
                    </a:stretch>
                  </a:blipFill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39" name="Group 48"/>
              <p:cNvGrpSpPr>
                <a:grpSpLocks noChangeAspect="1"/>
              </p:cNvGrpSpPr>
              <p:nvPr/>
            </p:nvGrpSpPr>
            <p:grpSpPr bwMode="auto">
              <a:xfrm>
                <a:off x="4827" y="3090"/>
                <a:ext cx="542" cy="403"/>
                <a:chOff x="3310" y="2739"/>
                <a:chExt cx="774" cy="576"/>
              </a:xfrm>
            </p:grpSpPr>
            <p:sp>
              <p:nvSpPr>
                <p:cNvPr id="40" name="Freeform 49"/>
                <p:cNvSpPr>
                  <a:spLocks noChangeAspect="1"/>
                </p:cNvSpPr>
                <p:nvPr/>
              </p:nvSpPr>
              <p:spPr bwMode="auto">
                <a:xfrm>
                  <a:off x="3376" y="2739"/>
                  <a:ext cx="708" cy="572"/>
                </a:xfrm>
                <a:custGeom>
                  <a:avLst/>
                  <a:gdLst>
                    <a:gd name="T0" fmla="*/ 0 w 708"/>
                    <a:gd name="T1" fmla="*/ 0 h 572"/>
                    <a:gd name="T2" fmla="*/ 17 w 708"/>
                    <a:gd name="T3" fmla="*/ 40 h 572"/>
                    <a:gd name="T4" fmla="*/ 39 w 708"/>
                    <a:gd name="T5" fmla="*/ 95 h 572"/>
                    <a:gd name="T6" fmla="*/ 54 w 708"/>
                    <a:gd name="T7" fmla="*/ 157 h 572"/>
                    <a:gd name="T8" fmla="*/ 66 w 708"/>
                    <a:gd name="T9" fmla="*/ 227 h 572"/>
                    <a:gd name="T10" fmla="*/ 74 w 708"/>
                    <a:gd name="T11" fmla="*/ 284 h 572"/>
                    <a:gd name="T12" fmla="*/ 69 w 708"/>
                    <a:gd name="T13" fmla="*/ 338 h 572"/>
                    <a:gd name="T14" fmla="*/ 58 w 708"/>
                    <a:gd name="T15" fmla="*/ 399 h 572"/>
                    <a:gd name="T16" fmla="*/ 45 w 708"/>
                    <a:gd name="T17" fmla="*/ 458 h 572"/>
                    <a:gd name="T18" fmla="*/ 28 w 708"/>
                    <a:gd name="T19" fmla="*/ 512 h 572"/>
                    <a:gd name="T20" fmla="*/ 0 w 708"/>
                    <a:gd name="T21" fmla="*/ 572 h 572"/>
                    <a:gd name="T22" fmla="*/ 208 w 708"/>
                    <a:gd name="T23" fmla="*/ 572 h 572"/>
                    <a:gd name="T24" fmla="*/ 297 w 708"/>
                    <a:gd name="T25" fmla="*/ 570 h 572"/>
                    <a:gd name="T26" fmla="*/ 342 w 708"/>
                    <a:gd name="T27" fmla="*/ 567 h 572"/>
                    <a:gd name="T28" fmla="*/ 375 w 708"/>
                    <a:gd name="T29" fmla="*/ 559 h 572"/>
                    <a:gd name="T30" fmla="*/ 409 w 708"/>
                    <a:gd name="T31" fmla="*/ 549 h 572"/>
                    <a:gd name="T32" fmla="*/ 445 w 708"/>
                    <a:gd name="T33" fmla="*/ 533 h 572"/>
                    <a:gd name="T34" fmla="*/ 486 w 708"/>
                    <a:gd name="T35" fmla="*/ 515 h 572"/>
                    <a:gd name="T36" fmla="*/ 526 w 708"/>
                    <a:gd name="T37" fmla="*/ 490 h 572"/>
                    <a:gd name="T38" fmla="*/ 552 w 708"/>
                    <a:gd name="T39" fmla="*/ 470 h 572"/>
                    <a:gd name="T40" fmla="*/ 577 w 708"/>
                    <a:gd name="T41" fmla="*/ 447 h 572"/>
                    <a:gd name="T42" fmla="*/ 604 w 708"/>
                    <a:gd name="T43" fmla="*/ 420 h 572"/>
                    <a:gd name="T44" fmla="*/ 628 w 708"/>
                    <a:gd name="T45" fmla="*/ 398 h 572"/>
                    <a:gd name="T46" fmla="*/ 651 w 708"/>
                    <a:gd name="T47" fmla="*/ 370 h 572"/>
                    <a:gd name="T48" fmla="*/ 680 w 708"/>
                    <a:gd name="T49" fmla="*/ 333 h 572"/>
                    <a:gd name="T50" fmla="*/ 708 w 708"/>
                    <a:gd name="T51" fmla="*/ 286 h 572"/>
                    <a:gd name="T52" fmla="*/ 682 w 708"/>
                    <a:gd name="T53" fmla="*/ 245 h 572"/>
                    <a:gd name="T54" fmla="*/ 658 w 708"/>
                    <a:gd name="T55" fmla="*/ 210 h 572"/>
                    <a:gd name="T56" fmla="*/ 638 w 708"/>
                    <a:gd name="T57" fmla="*/ 185 h 572"/>
                    <a:gd name="T58" fmla="*/ 616 w 708"/>
                    <a:gd name="T59" fmla="*/ 161 h 572"/>
                    <a:gd name="T60" fmla="*/ 592 w 708"/>
                    <a:gd name="T61" fmla="*/ 138 h 572"/>
                    <a:gd name="T62" fmla="*/ 572 w 708"/>
                    <a:gd name="T63" fmla="*/ 120 h 572"/>
                    <a:gd name="T64" fmla="*/ 552 w 708"/>
                    <a:gd name="T65" fmla="*/ 103 h 572"/>
                    <a:gd name="T66" fmla="*/ 528 w 708"/>
                    <a:gd name="T67" fmla="*/ 85 h 572"/>
                    <a:gd name="T68" fmla="*/ 506 w 708"/>
                    <a:gd name="T69" fmla="*/ 72 h 572"/>
                    <a:gd name="T70" fmla="*/ 480 w 708"/>
                    <a:gd name="T71" fmla="*/ 58 h 572"/>
                    <a:gd name="T72" fmla="*/ 451 w 708"/>
                    <a:gd name="T73" fmla="*/ 43 h 572"/>
                    <a:gd name="T74" fmla="*/ 415 w 708"/>
                    <a:gd name="T75" fmla="*/ 29 h 572"/>
                    <a:gd name="T76" fmla="*/ 385 w 708"/>
                    <a:gd name="T77" fmla="*/ 20 h 572"/>
                    <a:gd name="T78" fmla="*/ 350 w 708"/>
                    <a:gd name="T79" fmla="*/ 11 h 572"/>
                    <a:gd name="T80" fmla="*/ 313 w 708"/>
                    <a:gd name="T81" fmla="*/ 5 h 572"/>
                    <a:gd name="T82" fmla="*/ 278 w 708"/>
                    <a:gd name="T83" fmla="*/ 1 h 572"/>
                    <a:gd name="T84" fmla="*/ 253 w 708"/>
                    <a:gd name="T85" fmla="*/ 1 h 572"/>
                    <a:gd name="T86" fmla="*/ 227 w 708"/>
                    <a:gd name="T87" fmla="*/ 0 h 572"/>
                    <a:gd name="T88" fmla="*/ 0 w 708"/>
                    <a:gd name="T89" fmla="*/ 0 h 57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708" h="572">
                      <a:moveTo>
                        <a:pt x="0" y="0"/>
                      </a:moveTo>
                      <a:lnTo>
                        <a:pt x="17" y="40"/>
                      </a:lnTo>
                      <a:lnTo>
                        <a:pt x="39" y="95"/>
                      </a:lnTo>
                      <a:lnTo>
                        <a:pt x="54" y="157"/>
                      </a:lnTo>
                      <a:lnTo>
                        <a:pt x="66" y="227"/>
                      </a:lnTo>
                      <a:lnTo>
                        <a:pt x="74" y="284"/>
                      </a:lnTo>
                      <a:lnTo>
                        <a:pt x="69" y="338"/>
                      </a:lnTo>
                      <a:lnTo>
                        <a:pt x="58" y="399"/>
                      </a:lnTo>
                      <a:lnTo>
                        <a:pt x="45" y="458"/>
                      </a:lnTo>
                      <a:lnTo>
                        <a:pt x="28" y="512"/>
                      </a:lnTo>
                      <a:lnTo>
                        <a:pt x="0" y="572"/>
                      </a:lnTo>
                      <a:lnTo>
                        <a:pt x="208" y="572"/>
                      </a:lnTo>
                      <a:lnTo>
                        <a:pt x="297" y="570"/>
                      </a:lnTo>
                      <a:lnTo>
                        <a:pt x="342" y="567"/>
                      </a:lnTo>
                      <a:lnTo>
                        <a:pt x="375" y="559"/>
                      </a:lnTo>
                      <a:lnTo>
                        <a:pt x="409" y="549"/>
                      </a:lnTo>
                      <a:lnTo>
                        <a:pt x="445" y="533"/>
                      </a:lnTo>
                      <a:lnTo>
                        <a:pt x="486" y="515"/>
                      </a:lnTo>
                      <a:lnTo>
                        <a:pt x="526" y="490"/>
                      </a:lnTo>
                      <a:lnTo>
                        <a:pt x="552" y="470"/>
                      </a:lnTo>
                      <a:lnTo>
                        <a:pt x="577" y="447"/>
                      </a:lnTo>
                      <a:lnTo>
                        <a:pt x="604" y="420"/>
                      </a:lnTo>
                      <a:lnTo>
                        <a:pt x="628" y="398"/>
                      </a:lnTo>
                      <a:lnTo>
                        <a:pt x="651" y="370"/>
                      </a:lnTo>
                      <a:lnTo>
                        <a:pt x="680" y="333"/>
                      </a:lnTo>
                      <a:lnTo>
                        <a:pt x="708" y="286"/>
                      </a:lnTo>
                      <a:lnTo>
                        <a:pt x="682" y="245"/>
                      </a:lnTo>
                      <a:lnTo>
                        <a:pt x="658" y="210"/>
                      </a:lnTo>
                      <a:lnTo>
                        <a:pt x="638" y="185"/>
                      </a:lnTo>
                      <a:lnTo>
                        <a:pt x="616" y="161"/>
                      </a:lnTo>
                      <a:lnTo>
                        <a:pt x="592" y="138"/>
                      </a:lnTo>
                      <a:lnTo>
                        <a:pt x="572" y="120"/>
                      </a:lnTo>
                      <a:lnTo>
                        <a:pt x="552" y="103"/>
                      </a:lnTo>
                      <a:lnTo>
                        <a:pt x="528" y="85"/>
                      </a:lnTo>
                      <a:lnTo>
                        <a:pt x="506" y="72"/>
                      </a:lnTo>
                      <a:lnTo>
                        <a:pt x="480" y="58"/>
                      </a:lnTo>
                      <a:lnTo>
                        <a:pt x="451" y="43"/>
                      </a:lnTo>
                      <a:lnTo>
                        <a:pt x="415" y="29"/>
                      </a:lnTo>
                      <a:lnTo>
                        <a:pt x="385" y="20"/>
                      </a:lnTo>
                      <a:lnTo>
                        <a:pt x="350" y="11"/>
                      </a:lnTo>
                      <a:lnTo>
                        <a:pt x="313" y="5"/>
                      </a:lnTo>
                      <a:lnTo>
                        <a:pt x="278" y="1"/>
                      </a:lnTo>
                      <a:lnTo>
                        <a:pt x="253" y="1"/>
                      </a:lnTo>
                      <a:lnTo>
                        <a:pt x="227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38100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3366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1" name="Freeform 50"/>
                <p:cNvSpPr>
                  <a:spLocks noChangeAspect="1"/>
                </p:cNvSpPr>
                <p:nvPr/>
              </p:nvSpPr>
              <p:spPr bwMode="auto">
                <a:xfrm>
                  <a:off x="3310" y="2742"/>
                  <a:ext cx="76" cy="573"/>
                </a:xfrm>
                <a:custGeom>
                  <a:avLst/>
                  <a:gdLst>
                    <a:gd name="T0" fmla="*/ 3 w 76"/>
                    <a:gd name="T1" fmla="*/ 0 h 573"/>
                    <a:gd name="T2" fmla="*/ 30 w 76"/>
                    <a:gd name="T3" fmla="*/ 71 h 573"/>
                    <a:gd name="T4" fmla="*/ 48 w 76"/>
                    <a:gd name="T5" fmla="*/ 135 h 573"/>
                    <a:gd name="T6" fmla="*/ 62 w 76"/>
                    <a:gd name="T7" fmla="*/ 194 h 573"/>
                    <a:gd name="T8" fmla="*/ 75 w 76"/>
                    <a:gd name="T9" fmla="*/ 279 h 573"/>
                    <a:gd name="T10" fmla="*/ 66 w 76"/>
                    <a:gd name="T11" fmla="*/ 354 h 573"/>
                    <a:gd name="T12" fmla="*/ 54 w 76"/>
                    <a:gd name="T13" fmla="*/ 411 h 573"/>
                    <a:gd name="T14" fmla="*/ 35 w 76"/>
                    <a:gd name="T15" fmla="*/ 488 h 573"/>
                    <a:gd name="T16" fmla="*/ 0 w 76"/>
                    <a:gd name="T17" fmla="*/ 573 h 57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6" h="573">
                      <a:moveTo>
                        <a:pt x="3" y="0"/>
                      </a:moveTo>
                      <a:cubicBezTo>
                        <a:pt x="7" y="12"/>
                        <a:pt x="23" y="49"/>
                        <a:pt x="30" y="71"/>
                      </a:cubicBezTo>
                      <a:cubicBezTo>
                        <a:pt x="37" y="93"/>
                        <a:pt x="43" y="115"/>
                        <a:pt x="48" y="135"/>
                      </a:cubicBezTo>
                      <a:cubicBezTo>
                        <a:pt x="53" y="155"/>
                        <a:pt x="58" y="170"/>
                        <a:pt x="62" y="194"/>
                      </a:cubicBezTo>
                      <a:cubicBezTo>
                        <a:pt x="66" y="218"/>
                        <a:pt x="74" y="252"/>
                        <a:pt x="75" y="279"/>
                      </a:cubicBezTo>
                      <a:cubicBezTo>
                        <a:pt x="76" y="306"/>
                        <a:pt x="69" y="332"/>
                        <a:pt x="66" y="354"/>
                      </a:cubicBezTo>
                      <a:cubicBezTo>
                        <a:pt x="63" y="376"/>
                        <a:pt x="59" y="389"/>
                        <a:pt x="54" y="411"/>
                      </a:cubicBezTo>
                      <a:cubicBezTo>
                        <a:pt x="49" y="433"/>
                        <a:pt x="44" y="461"/>
                        <a:pt x="35" y="488"/>
                      </a:cubicBezTo>
                      <a:cubicBezTo>
                        <a:pt x="26" y="515"/>
                        <a:pt x="7" y="555"/>
                        <a:pt x="0" y="573"/>
                      </a:cubicBezTo>
                    </a:path>
                  </a:pathLst>
                </a:custGeom>
                <a:noFill/>
                <a:ln w="38100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sp>
          <p:nvSpPr>
            <p:cNvPr id="53" name="Rectangle 52"/>
            <p:cNvSpPr/>
            <p:nvPr/>
          </p:nvSpPr>
          <p:spPr>
            <a:xfrm>
              <a:off x="6289457" y="4271888"/>
              <a:ext cx="2638426" cy="1749427"/>
            </a:xfrm>
            <a:prstGeom prst="rect">
              <a:avLst/>
            </a:prstGeom>
            <a:noFill/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6647197" y="3832249"/>
              <a:ext cx="169790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Parity Checker</a:t>
              </a: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9822002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1614</Words>
  <Application>Microsoft Office PowerPoint</Application>
  <PresentationFormat>On-screen Show (4:3)</PresentationFormat>
  <Paragraphs>405</Paragraphs>
  <Slides>18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Office Theme</vt:lpstr>
      <vt:lpstr>Additional Gates</vt:lpstr>
      <vt:lpstr>Presentation Outline</vt:lpstr>
      <vt:lpstr>Additional Logic Gates and Symbols</vt:lpstr>
      <vt:lpstr>NAND Gate</vt:lpstr>
      <vt:lpstr>NOR Gate</vt:lpstr>
      <vt:lpstr>The NAND Gate is Universal</vt:lpstr>
      <vt:lpstr>The NOR Gate is also Universal</vt:lpstr>
      <vt:lpstr>Non-Associative NAND / NOR Operations</vt:lpstr>
      <vt:lpstr>Multiple-Input NAND / NOR Gates</vt:lpstr>
      <vt:lpstr>NAND – NAND Implementation</vt:lpstr>
      <vt:lpstr>NOR – NOR Implementation</vt:lpstr>
      <vt:lpstr>Exclusive OR / Exclusive NOR</vt:lpstr>
      <vt:lpstr>XOR / XNOR Functions</vt:lpstr>
      <vt:lpstr>XOR and XNOR Properties</vt:lpstr>
      <vt:lpstr>Odd Function</vt:lpstr>
      <vt:lpstr>Even Function</vt:lpstr>
      <vt:lpstr>Parity Generators and Checkers</vt:lpstr>
      <vt:lpstr>Example of Parity Generator and Checker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Digital Circuits</dc:title>
  <dc:creator>faisaliradat</dc:creator>
  <cp:lastModifiedBy>faisaliradat</cp:lastModifiedBy>
  <cp:revision>40</cp:revision>
  <dcterms:created xsi:type="dcterms:W3CDTF">2022-08-28T11:36:31Z</dcterms:created>
  <dcterms:modified xsi:type="dcterms:W3CDTF">2022-09-20T13:04:01Z</dcterms:modified>
</cp:coreProperties>
</file>