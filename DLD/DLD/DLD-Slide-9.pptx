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11/1/2022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18" Type="http://schemas.openxmlformats.org/officeDocument/2006/relationships/image" Target="../media/image110.png"/><Relationship Id="rId26" Type="http://schemas.openxmlformats.org/officeDocument/2006/relationships/image" Target="../media/image190.png"/><Relationship Id="rId21" Type="http://schemas.openxmlformats.org/officeDocument/2006/relationships/image" Target="../media/image140.png"/><Relationship Id="rId17" Type="http://schemas.openxmlformats.org/officeDocument/2006/relationships/image" Target="../media/image260.png"/><Relationship Id="rId25" Type="http://schemas.openxmlformats.org/officeDocument/2006/relationships/image" Target="../media/image180.png"/><Relationship Id="rId2" Type="http://schemas.openxmlformats.org/officeDocument/2006/relationships/image" Target="../media/image112.png"/><Relationship Id="rId16" Type="http://schemas.openxmlformats.org/officeDocument/2006/relationships/image" Target="../media/image250.png"/><Relationship Id="rId20" Type="http://schemas.openxmlformats.org/officeDocument/2006/relationships/image" Target="../media/image130.png"/><Relationship Id="rId29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70.png"/><Relationship Id="rId15" Type="http://schemas.openxmlformats.org/officeDocument/2006/relationships/image" Target="../media/image240.png"/><Relationship Id="rId23" Type="http://schemas.openxmlformats.org/officeDocument/2006/relationships/image" Target="../media/image160.png"/><Relationship Id="rId28" Type="http://schemas.openxmlformats.org/officeDocument/2006/relationships/image" Target="../media/image210.png"/><Relationship Id="rId19" Type="http://schemas.openxmlformats.org/officeDocument/2006/relationships/image" Target="../media/image120.png"/><Relationship Id="rId14" Type="http://schemas.openxmlformats.org/officeDocument/2006/relationships/image" Target="../media/image230.png"/><Relationship Id="rId22" Type="http://schemas.openxmlformats.org/officeDocument/2006/relationships/image" Target="../media/image150.png"/><Relationship Id="rId27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17" Type="http://schemas.openxmlformats.org/officeDocument/2006/relationships/image" Target="../media/image42.png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40.png"/><Relationship Id="rId14" Type="http://schemas.openxmlformats.org/officeDocument/2006/relationships/image" Target="../media/image2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70.png"/><Relationship Id="rId7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0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6257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smtClean="0"/>
              <a:t>Sequential </a:t>
            </a:r>
            <a:r>
              <a:rPr lang="en-US" altLang="en-US" sz="4400" dirty="0" smtClean="0"/>
              <a:t>Circuits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774642"/>
            <a:ext cx="8229600" cy="2476500"/>
          </a:xfrm>
        </p:spPr>
        <p:txBody>
          <a:bodyPr/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7311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74667" y="1043736"/>
            <a:ext cx="7436211" cy="5265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1500"/>
              </a:spcBef>
              <a:buFont typeface="Wingdings" pitchFamily="2" charset="2"/>
              <a:buChar char="§"/>
            </a:pPr>
            <a:r>
              <a:rPr lang="en-US" altLang="en-US" sz="2800" kern="0" dirty="0" smtClean="0"/>
              <a:t>Introduction to Sequential Circuits</a:t>
            </a:r>
          </a:p>
          <a:p>
            <a:pPr>
              <a:lnSpc>
                <a:spcPct val="200000"/>
              </a:lnSpc>
              <a:spcBef>
                <a:spcPts val="1500"/>
              </a:spcBef>
              <a:buFont typeface="Wingdings" pitchFamily="2" charset="2"/>
              <a:buChar char="§"/>
            </a:pPr>
            <a:r>
              <a:rPr lang="en-US" altLang="en-US" sz="2800" kern="0" dirty="0" smtClean="0"/>
              <a:t>Synchronous versus Asynchronous</a:t>
            </a:r>
          </a:p>
          <a:p>
            <a:pPr>
              <a:lnSpc>
                <a:spcPct val="200000"/>
              </a:lnSpc>
              <a:spcBef>
                <a:spcPts val="1500"/>
              </a:spcBef>
              <a:buFont typeface="Wingdings" pitchFamily="2" charset="2"/>
              <a:buChar char="§"/>
            </a:pPr>
            <a:r>
              <a:rPr lang="en-US" altLang="en-US" sz="2800" kern="0" dirty="0" smtClean="0"/>
              <a:t>Latches</a:t>
            </a:r>
          </a:p>
          <a:p>
            <a:pPr>
              <a:lnSpc>
                <a:spcPct val="200000"/>
              </a:lnSpc>
              <a:spcBef>
                <a:spcPts val="1500"/>
              </a:spcBef>
              <a:buFont typeface="Wingdings" pitchFamily="2" charset="2"/>
              <a:buChar char="§"/>
            </a:pPr>
            <a:r>
              <a:rPr lang="en-US" altLang="en-US" sz="2800" kern="0" dirty="0" smtClean="0"/>
              <a:t>Flip-Flops</a:t>
            </a:r>
          </a:p>
          <a:p>
            <a:pPr>
              <a:lnSpc>
                <a:spcPct val="200000"/>
              </a:lnSpc>
              <a:spcBef>
                <a:spcPts val="1500"/>
              </a:spcBef>
              <a:buFont typeface="Wingdings" pitchFamily="2" charset="2"/>
              <a:buChar char="§"/>
            </a:pPr>
            <a:r>
              <a:rPr lang="en-US" altLang="en-US" sz="2800" kern="0" dirty="0" smtClean="0"/>
              <a:t>Characteristic Tables and Equations</a:t>
            </a:r>
          </a:p>
        </p:txBody>
      </p:sp>
    </p:spTree>
    <p:extLst>
      <p:ext uri="{BB962C8B-B14F-4D97-AF65-F5344CB8AC3E}">
        <p14:creationId xmlns:p14="http://schemas.microsoft.com/office/powerpoint/2010/main" val="294492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Combinational versus Sequential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5670629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400" dirty="0" smtClean="0"/>
              <a:t>Two classes of digital circuits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Combinational Circuits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Sequential Circuits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Combinational Circuit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Outputs = F(Inputs)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Function of Inputs only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NO internal memory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Sequential Circuit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Outputs is a function of Inputs and internal Memory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There is an internal memory that stores the state of the circuit</a:t>
            </a:r>
          </a:p>
          <a:p>
            <a:pPr lvl="1">
              <a:spcBef>
                <a:spcPts val="1500"/>
              </a:spcBef>
            </a:pPr>
            <a:r>
              <a:rPr lang="en-US" sz="2000" dirty="0" smtClean="0"/>
              <a:t>Time is very important: memory changes with time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073483" y="2933946"/>
            <a:ext cx="4652825" cy="1305145"/>
            <a:chOff x="4547955" y="1583795"/>
            <a:chExt cx="5040560" cy="1305145"/>
          </a:xfrm>
        </p:grpSpPr>
        <p:sp>
          <p:nvSpPr>
            <p:cNvPr id="4" name="TextBox 3"/>
            <p:cNvSpPr txBox="1"/>
            <p:nvPr/>
          </p:nvSpPr>
          <p:spPr>
            <a:xfrm>
              <a:off x="6078126" y="1583795"/>
              <a:ext cx="1980219" cy="1305145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Combinational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Circuit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>
              <a:off x="5493060" y="2236367"/>
              <a:ext cx="585066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8058344" y="2236367"/>
              <a:ext cx="54006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547955" y="2011342"/>
              <a:ext cx="900100" cy="4500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8415" y="2011342"/>
              <a:ext cx="900100" cy="4500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Outputs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225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Introduction to Sequential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150" y="863716"/>
            <a:ext cx="8100899" cy="562562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2400" dirty="0" smtClean="0"/>
              <a:t>A Sequential circuit consists of:</a:t>
            </a:r>
          </a:p>
          <a:p>
            <a:pPr marL="444500" indent="-444500">
              <a:spcBef>
                <a:spcPts val="2500"/>
              </a:spcBef>
              <a:buAutoNum type="arabicPeriod"/>
            </a:pPr>
            <a:r>
              <a:rPr lang="en-US" sz="2400" dirty="0" smtClean="0"/>
              <a:t>Memory elements:</a:t>
            </a:r>
          </a:p>
          <a:p>
            <a:pPr marL="803275" lvl="1" indent="-352425">
              <a:spcBef>
                <a:spcPts val="2500"/>
              </a:spcBef>
            </a:pPr>
            <a:r>
              <a:rPr lang="en-US" sz="2000" b="1" dirty="0" smtClean="0"/>
              <a:t>Latches</a:t>
            </a:r>
            <a:r>
              <a:rPr lang="en-US" sz="2000" dirty="0" smtClean="0"/>
              <a:t> or </a:t>
            </a:r>
            <a:r>
              <a:rPr lang="en-US" sz="2000" b="1" dirty="0" smtClean="0"/>
              <a:t>Flip-Flops</a:t>
            </a:r>
          </a:p>
          <a:p>
            <a:pPr lvl="1">
              <a:spcBef>
                <a:spcPts val="2500"/>
              </a:spcBef>
            </a:pPr>
            <a:r>
              <a:rPr lang="en-US" sz="2000" dirty="0" smtClean="0"/>
              <a:t>Store the </a:t>
            </a:r>
            <a:r>
              <a:rPr lang="en-US" sz="2000" b="1" dirty="0" smtClean="0">
                <a:solidFill>
                  <a:srgbClr val="FF0000"/>
                </a:solidFill>
              </a:rPr>
              <a:t>Present State</a:t>
            </a:r>
            <a:endParaRPr lang="en-US" sz="2000" dirty="0" smtClean="0"/>
          </a:p>
          <a:p>
            <a:pPr marL="444500" indent="-444500">
              <a:spcBef>
                <a:spcPts val="2500"/>
              </a:spcBef>
              <a:buAutoNum type="arabicPeriod"/>
            </a:pPr>
            <a:r>
              <a:rPr lang="en-US" sz="2400" dirty="0" smtClean="0"/>
              <a:t>Combinational Logic</a:t>
            </a:r>
          </a:p>
          <a:p>
            <a:pPr marL="803275" lvl="1" indent="-352425">
              <a:spcBef>
                <a:spcPts val="2500"/>
              </a:spcBef>
            </a:pPr>
            <a:r>
              <a:rPr lang="en-US" sz="2000" dirty="0"/>
              <a:t>Computes the </a:t>
            </a:r>
            <a:r>
              <a:rPr lang="en-US" sz="2000" b="1" dirty="0">
                <a:solidFill>
                  <a:srgbClr val="FF0000"/>
                </a:solidFill>
              </a:rPr>
              <a:t>Outputs</a:t>
            </a:r>
            <a:r>
              <a:rPr lang="en-US" sz="2000" dirty="0"/>
              <a:t> of the circuit</a:t>
            </a:r>
          </a:p>
          <a:p>
            <a:pPr marL="801688" lvl="1" indent="0">
              <a:spcBef>
                <a:spcPts val="2500"/>
              </a:spcBef>
              <a:buNone/>
            </a:pPr>
            <a:r>
              <a:rPr lang="en-US" sz="2000" dirty="0" smtClean="0"/>
              <a:t>Outputs </a:t>
            </a:r>
            <a:r>
              <a:rPr lang="en-US" sz="2000" dirty="0"/>
              <a:t>depend on Inputs and Current State</a:t>
            </a:r>
          </a:p>
          <a:p>
            <a:pPr marL="803275" lvl="1" indent="-352425">
              <a:spcBef>
                <a:spcPts val="2500"/>
              </a:spcBef>
            </a:pPr>
            <a:r>
              <a:rPr lang="en-US" sz="2000" dirty="0" smtClean="0"/>
              <a:t>Computes the </a:t>
            </a:r>
            <a:r>
              <a:rPr lang="en-US" sz="2000" b="1" dirty="0" smtClean="0">
                <a:solidFill>
                  <a:srgbClr val="FF0000"/>
                </a:solidFill>
              </a:rPr>
              <a:t>Next State</a:t>
            </a:r>
            <a:r>
              <a:rPr lang="en-US" sz="2000" dirty="0" smtClean="0"/>
              <a:t> of the circuit</a:t>
            </a:r>
          </a:p>
          <a:p>
            <a:pPr marL="803275" lvl="1" indent="-352425">
              <a:spcBef>
                <a:spcPts val="2500"/>
              </a:spcBef>
              <a:buNone/>
            </a:pPr>
            <a:r>
              <a:rPr lang="en-US" sz="2000" dirty="0" smtClean="0"/>
              <a:t>	Next State also depends on the Inputs and the Present State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198112" y="1583796"/>
            <a:ext cx="4652825" cy="2430269"/>
            <a:chOff x="4547955" y="1583795"/>
            <a:chExt cx="5040560" cy="2430269"/>
          </a:xfrm>
        </p:grpSpPr>
        <p:sp>
          <p:nvSpPr>
            <p:cNvPr id="18" name="Freeform 17"/>
            <p:cNvSpPr/>
            <p:nvPr/>
          </p:nvSpPr>
          <p:spPr>
            <a:xfrm flipH="1">
              <a:off x="8045771" y="2573905"/>
              <a:ext cx="417619" cy="990109"/>
            </a:xfrm>
            <a:custGeom>
              <a:avLst/>
              <a:gdLst>
                <a:gd name="connsiteX0" fmla="*/ 477078 w 500932"/>
                <a:gd name="connsiteY0" fmla="*/ 1081377 h 1081377"/>
                <a:gd name="connsiteX1" fmla="*/ 0 w 500932"/>
                <a:gd name="connsiteY1" fmla="*/ 1081377 h 1081377"/>
                <a:gd name="connsiteX2" fmla="*/ 0 w 500932"/>
                <a:gd name="connsiteY2" fmla="*/ 0 h 1081377"/>
                <a:gd name="connsiteX3" fmla="*/ 500932 w 500932"/>
                <a:gd name="connsiteY3" fmla="*/ 0 h 108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32" h="1081377">
                  <a:moveTo>
                    <a:pt x="477078" y="1081377"/>
                  </a:moveTo>
                  <a:lnTo>
                    <a:pt x="0" y="1081377"/>
                  </a:lnTo>
                  <a:lnTo>
                    <a:pt x="0" y="0"/>
                  </a:lnTo>
                  <a:lnTo>
                    <a:pt x="50093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078126" y="1583795"/>
              <a:ext cx="1980219" cy="1305145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Combinational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Logic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78126" y="3068960"/>
              <a:ext cx="1980217" cy="945104"/>
            </a:xfrm>
            <a:prstGeom prst="rect">
              <a:avLst/>
            </a:prstGeom>
            <a:solidFill>
              <a:srgbClr val="FFE1FF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Memory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Elements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493060" y="1898830"/>
              <a:ext cx="585066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8058344" y="1898830"/>
              <a:ext cx="54006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547955" y="1673805"/>
              <a:ext cx="900100" cy="4500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88415" y="1673805"/>
              <a:ext cx="900100" cy="4500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Outputs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53400" y="2703315"/>
              <a:ext cx="720080" cy="73129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Next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State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92960" y="2703315"/>
              <a:ext cx="990110" cy="73129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Present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State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5673079" y="2573906"/>
              <a:ext cx="417619" cy="990109"/>
            </a:xfrm>
            <a:custGeom>
              <a:avLst/>
              <a:gdLst>
                <a:gd name="connsiteX0" fmla="*/ 477078 w 500932"/>
                <a:gd name="connsiteY0" fmla="*/ 1081377 h 1081377"/>
                <a:gd name="connsiteX1" fmla="*/ 0 w 500932"/>
                <a:gd name="connsiteY1" fmla="*/ 1081377 h 1081377"/>
                <a:gd name="connsiteX2" fmla="*/ 0 w 500932"/>
                <a:gd name="connsiteY2" fmla="*/ 0 h 1081377"/>
                <a:gd name="connsiteX3" fmla="*/ 500932 w 500932"/>
                <a:gd name="connsiteY3" fmla="*/ 0 h 108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32" h="1081377">
                  <a:moveTo>
                    <a:pt x="477078" y="1081377"/>
                  </a:moveTo>
                  <a:lnTo>
                    <a:pt x="0" y="1081377"/>
                  </a:lnTo>
                  <a:lnTo>
                    <a:pt x="0" y="0"/>
                  </a:lnTo>
                  <a:lnTo>
                    <a:pt x="50093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941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Two Types of Sequential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3736"/>
            <a:ext cx="8229600" cy="5310589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2000"/>
              </a:spcBef>
              <a:buFont typeface="+mj-lt"/>
              <a:buAutoNum type="arabicPeriod"/>
            </a:pPr>
            <a:r>
              <a:rPr lang="en-US" sz="2400" b="1" dirty="0" smtClean="0">
                <a:solidFill>
                  <a:srgbClr val="FF0000"/>
                </a:solidFill>
              </a:rPr>
              <a:t>Synchronous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Sequential Circuit</a:t>
            </a:r>
          </a:p>
          <a:p>
            <a:pPr lvl="1">
              <a:spcBef>
                <a:spcPts val="2000"/>
              </a:spcBef>
            </a:pPr>
            <a:r>
              <a:rPr lang="en-US" sz="2000" dirty="0" smtClean="0"/>
              <a:t>Uses a clock signal as an additional input</a:t>
            </a:r>
          </a:p>
          <a:p>
            <a:pPr lvl="1">
              <a:spcBef>
                <a:spcPts val="2000"/>
              </a:spcBef>
            </a:pPr>
            <a:r>
              <a:rPr lang="en-US" sz="2000" dirty="0" smtClean="0"/>
              <a:t>Changes in the memory elements are controlled by the clock</a:t>
            </a:r>
          </a:p>
          <a:p>
            <a:pPr lvl="1">
              <a:spcBef>
                <a:spcPts val="2000"/>
              </a:spcBef>
            </a:pPr>
            <a:r>
              <a:rPr lang="en-US" sz="2000" dirty="0" smtClean="0"/>
              <a:t>Changes happen at discrete instances of time</a:t>
            </a:r>
          </a:p>
          <a:p>
            <a:pPr marL="457200" indent="-457200">
              <a:spcBef>
                <a:spcPts val="2000"/>
              </a:spcBef>
              <a:buFont typeface="+mj-lt"/>
              <a:buAutoNum type="arabicPeriod"/>
            </a:pPr>
            <a:r>
              <a:rPr lang="en-US" sz="2400" b="1" dirty="0" smtClean="0">
                <a:solidFill>
                  <a:srgbClr val="FF0000"/>
                </a:solidFill>
              </a:rPr>
              <a:t>Asynchronous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Sequential Circuit</a:t>
            </a:r>
          </a:p>
          <a:p>
            <a:pPr lvl="1">
              <a:spcBef>
                <a:spcPts val="2000"/>
              </a:spcBef>
            </a:pPr>
            <a:r>
              <a:rPr lang="en-US" sz="2000" dirty="0" smtClean="0"/>
              <a:t>No clock signal</a:t>
            </a:r>
          </a:p>
          <a:p>
            <a:pPr lvl="1">
              <a:spcBef>
                <a:spcPts val="2000"/>
              </a:spcBef>
            </a:pPr>
            <a:r>
              <a:rPr lang="en-US" sz="2000" dirty="0" smtClean="0"/>
              <a:t>Changes in the memory elements can happen at any instance of time</a:t>
            </a:r>
          </a:p>
          <a:p>
            <a:pPr marL="444500" indent="-444500">
              <a:spcBef>
                <a:spcPts val="2000"/>
              </a:spcBef>
            </a:pPr>
            <a:r>
              <a:rPr lang="en-US" sz="2400" dirty="0" smtClean="0"/>
              <a:t>Our focus will be on Synchronous Sequential Circuits</a:t>
            </a:r>
          </a:p>
          <a:p>
            <a:pPr lvl="1">
              <a:spcBef>
                <a:spcPts val="2000"/>
              </a:spcBef>
            </a:pPr>
            <a:r>
              <a:rPr lang="en-US" sz="2000" dirty="0" smtClean="0"/>
              <a:t>Easier to design and analyze than asynchronous sequential circuits</a:t>
            </a:r>
          </a:p>
        </p:txBody>
      </p:sp>
    </p:spTree>
    <p:extLst>
      <p:ext uri="{BB962C8B-B14F-4D97-AF65-F5344CB8AC3E}">
        <p14:creationId xmlns:p14="http://schemas.microsoft.com/office/powerpoint/2010/main" val="137279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Synchronous Sequential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24054"/>
            <a:ext cx="8269108" cy="265529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dirty="0" smtClean="0"/>
              <a:t>Synchronous sequential circuits use a </a:t>
            </a:r>
            <a:r>
              <a:rPr lang="en-US" sz="2400" b="1" dirty="0" smtClean="0">
                <a:solidFill>
                  <a:srgbClr val="FF0000"/>
                </a:solidFill>
              </a:rPr>
              <a:t>clock signal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The clock signal is an input to the memory elements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The clock determines </a:t>
            </a:r>
            <a:r>
              <a:rPr lang="en-US" sz="2400" b="1" dirty="0" smtClean="0">
                <a:solidFill>
                  <a:srgbClr val="FF0000"/>
                </a:solidFill>
              </a:rPr>
              <a:t>when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the memory should be updated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present state </a:t>
            </a:r>
            <a:r>
              <a:rPr lang="en-US" sz="2400" dirty="0" smtClean="0"/>
              <a:t>= output value of memory (stored)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next state </a:t>
            </a:r>
            <a:r>
              <a:rPr lang="en-US" sz="2400" dirty="0" smtClean="0"/>
              <a:t>= input value to memory (not stored yet)</a:t>
            </a:r>
            <a:endParaRPr 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04043" y="953725"/>
            <a:ext cx="4528197" cy="2880320"/>
            <a:chOff x="4682968" y="1088740"/>
            <a:chExt cx="4905547" cy="2880320"/>
          </a:xfrm>
        </p:grpSpPr>
        <p:sp>
          <p:nvSpPr>
            <p:cNvPr id="15" name="Freeform 14"/>
            <p:cNvSpPr/>
            <p:nvPr/>
          </p:nvSpPr>
          <p:spPr>
            <a:xfrm>
              <a:off x="5493060" y="3526088"/>
              <a:ext cx="1575175" cy="307957"/>
            </a:xfrm>
            <a:custGeom>
              <a:avLst/>
              <a:gdLst>
                <a:gd name="connsiteX0" fmla="*/ 0 w 906449"/>
                <a:gd name="connsiteY0" fmla="*/ 540689 h 540689"/>
                <a:gd name="connsiteX1" fmla="*/ 906449 w 906449"/>
                <a:gd name="connsiteY1" fmla="*/ 540689 h 540689"/>
                <a:gd name="connsiteX2" fmla="*/ 906449 w 906449"/>
                <a:gd name="connsiteY2" fmla="*/ 0 h 540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6449" h="540689">
                  <a:moveTo>
                    <a:pt x="0" y="540689"/>
                  </a:moveTo>
                  <a:lnTo>
                    <a:pt x="906449" y="540689"/>
                  </a:lnTo>
                  <a:lnTo>
                    <a:pt x="906449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27974" y="3647639"/>
              <a:ext cx="765085" cy="3214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Clock</a:t>
              </a:r>
            </a:p>
          </p:txBody>
        </p:sp>
        <p:sp>
          <p:nvSpPr>
            <p:cNvPr id="19" name="Freeform 18"/>
            <p:cNvSpPr/>
            <p:nvPr/>
          </p:nvSpPr>
          <p:spPr>
            <a:xfrm flipH="1">
              <a:off x="8045771" y="2078850"/>
              <a:ext cx="417619" cy="990109"/>
            </a:xfrm>
            <a:custGeom>
              <a:avLst/>
              <a:gdLst>
                <a:gd name="connsiteX0" fmla="*/ 477078 w 500932"/>
                <a:gd name="connsiteY0" fmla="*/ 1081377 h 1081377"/>
                <a:gd name="connsiteX1" fmla="*/ 0 w 500932"/>
                <a:gd name="connsiteY1" fmla="*/ 1081377 h 1081377"/>
                <a:gd name="connsiteX2" fmla="*/ 0 w 500932"/>
                <a:gd name="connsiteY2" fmla="*/ 0 h 1081377"/>
                <a:gd name="connsiteX3" fmla="*/ 500932 w 500932"/>
                <a:gd name="connsiteY3" fmla="*/ 0 h 108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32" h="1081377">
                  <a:moveTo>
                    <a:pt x="477078" y="1081377"/>
                  </a:moveTo>
                  <a:lnTo>
                    <a:pt x="0" y="1081377"/>
                  </a:lnTo>
                  <a:lnTo>
                    <a:pt x="0" y="0"/>
                  </a:lnTo>
                  <a:lnTo>
                    <a:pt x="50093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78126" y="1088740"/>
              <a:ext cx="1980219" cy="1305145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Combinational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Logic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78126" y="2573905"/>
              <a:ext cx="1980217" cy="945104"/>
            </a:xfrm>
            <a:prstGeom prst="rect">
              <a:avLst/>
            </a:prstGeom>
            <a:solidFill>
              <a:srgbClr val="FFE1FF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Memory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Elements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5493060" y="1403775"/>
              <a:ext cx="585066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8058344" y="1403775"/>
              <a:ext cx="54006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682969" y="1178750"/>
              <a:ext cx="765085" cy="4500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688415" y="1178750"/>
              <a:ext cx="900100" cy="45005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Outputs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598405" y="2208260"/>
              <a:ext cx="720080" cy="73129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Next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State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82968" y="2208260"/>
              <a:ext cx="900101" cy="73129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Present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 smtClean="0">
                  <a:latin typeface="+mn-lt"/>
                  <a:cs typeface="Times New Roman" panose="02020603050405020304" pitchFamily="18" charset="0"/>
                </a:rPr>
                <a:t>State</a:t>
              </a:r>
            </a:p>
          </p:txBody>
        </p:sp>
        <p:sp>
          <p:nvSpPr>
            <p:cNvPr id="28" name="Freeform 27"/>
            <p:cNvSpPr/>
            <p:nvPr/>
          </p:nvSpPr>
          <p:spPr>
            <a:xfrm>
              <a:off x="5673079" y="2078851"/>
              <a:ext cx="417619" cy="990109"/>
            </a:xfrm>
            <a:custGeom>
              <a:avLst/>
              <a:gdLst>
                <a:gd name="connsiteX0" fmla="*/ 477078 w 500932"/>
                <a:gd name="connsiteY0" fmla="*/ 1081377 h 1081377"/>
                <a:gd name="connsiteX1" fmla="*/ 0 w 500932"/>
                <a:gd name="connsiteY1" fmla="*/ 1081377 h 1081377"/>
                <a:gd name="connsiteX2" fmla="*/ 0 w 500932"/>
                <a:gd name="connsiteY2" fmla="*/ 0 h 1081377"/>
                <a:gd name="connsiteX3" fmla="*/ 500932 w 500932"/>
                <a:gd name="connsiteY3" fmla="*/ 0 h 108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32" h="1081377">
                  <a:moveTo>
                    <a:pt x="477078" y="1081377"/>
                  </a:moveTo>
                  <a:lnTo>
                    <a:pt x="0" y="1081377"/>
                  </a:lnTo>
                  <a:lnTo>
                    <a:pt x="0" y="0"/>
                  </a:lnTo>
                  <a:lnTo>
                    <a:pt x="500932" y="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770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The Clock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78" y="2798930"/>
            <a:ext cx="8474788" cy="373541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Clock is a </a:t>
            </a:r>
            <a:r>
              <a:rPr lang="en-US" sz="2400" dirty="0"/>
              <a:t>p</a:t>
            </a:r>
            <a:r>
              <a:rPr lang="en-US" sz="2400" dirty="0" smtClean="0"/>
              <a:t>eriodic signal = Train of pulses (1's and 0's)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altLang="en-US" sz="2400" dirty="0" smtClean="0"/>
              <a:t>The same clock cycle repeats indefinitely over time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altLang="en-US" sz="2400" b="1" dirty="0">
                <a:solidFill>
                  <a:srgbClr val="FF0000"/>
                </a:solidFill>
              </a:rPr>
              <a:t>Positive Pulse</a:t>
            </a:r>
            <a:r>
              <a:rPr lang="en-US" altLang="en-US" sz="2400" dirty="0"/>
              <a:t>: when the </a:t>
            </a:r>
            <a:r>
              <a:rPr lang="en-US" altLang="en-US" sz="2400" b="1" dirty="0" smtClean="0"/>
              <a:t>level</a:t>
            </a:r>
            <a:r>
              <a:rPr lang="en-US" altLang="en-US" sz="2400" dirty="0" smtClean="0"/>
              <a:t> of </a:t>
            </a:r>
            <a:r>
              <a:rPr lang="en-US" altLang="en-US" sz="2400" dirty="0"/>
              <a:t>the clock is </a:t>
            </a:r>
            <a:r>
              <a:rPr lang="en-US" altLang="en-US" sz="2400" b="1" dirty="0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altLang="en-US" sz="2400" b="1" dirty="0">
                <a:solidFill>
                  <a:srgbClr val="0000FF"/>
                </a:solidFill>
              </a:rPr>
              <a:t>Negative Pulse</a:t>
            </a:r>
            <a:r>
              <a:rPr lang="en-US" altLang="en-US" sz="2400" dirty="0"/>
              <a:t>: when the </a:t>
            </a:r>
            <a:r>
              <a:rPr lang="en-US" altLang="en-US" sz="2400" b="1" dirty="0" smtClean="0"/>
              <a:t>level</a:t>
            </a:r>
            <a:r>
              <a:rPr lang="en-US" altLang="en-US" sz="2400" dirty="0" smtClean="0"/>
              <a:t> of </a:t>
            </a:r>
            <a:r>
              <a:rPr lang="en-US" altLang="en-US" sz="2400" dirty="0"/>
              <a:t>the clock is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0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altLang="en-US" sz="2400" b="1" dirty="0" smtClean="0">
                <a:solidFill>
                  <a:srgbClr val="FF0000"/>
                </a:solidFill>
              </a:rPr>
              <a:t>Rising Edge</a:t>
            </a:r>
            <a:r>
              <a:rPr lang="en-US" altLang="en-US" sz="2400" dirty="0" smtClean="0"/>
              <a:t>: when the clock goes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from 0 to 1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altLang="en-US" sz="2400" b="1" dirty="0" smtClean="0">
                <a:solidFill>
                  <a:srgbClr val="0000FF"/>
                </a:solidFill>
              </a:rPr>
              <a:t>Falling Edge</a:t>
            </a:r>
            <a:r>
              <a:rPr lang="en-US" altLang="en-US" sz="2400" dirty="0" smtClean="0"/>
              <a:t>: when the clock goes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from 1 down to 0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66951" y="953725"/>
            <a:ext cx="8100900" cy="1747937"/>
            <a:chOff x="722530" y="953725"/>
            <a:chExt cx="8775975" cy="1747937"/>
          </a:xfrm>
        </p:grpSpPr>
        <p:grpSp>
          <p:nvGrpSpPr>
            <p:cNvPr id="38" name="Group 37"/>
            <p:cNvGrpSpPr/>
            <p:nvPr/>
          </p:nvGrpSpPr>
          <p:grpSpPr>
            <a:xfrm>
              <a:off x="1033813" y="1222353"/>
              <a:ext cx="7474582" cy="1352955"/>
              <a:chOff x="2846256" y="1327897"/>
              <a:chExt cx="7474582" cy="1657482"/>
            </a:xfrm>
          </p:grpSpPr>
          <p:sp>
            <p:nvSpPr>
              <p:cNvPr id="6" name="Line 3"/>
              <p:cNvSpPr>
                <a:spLocks noChangeShapeType="1"/>
              </p:cNvSpPr>
              <p:nvPr/>
            </p:nvSpPr>
            <p:spPr bwMode="auto">
              <a:xfrm>
                <a:off x="2846256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7" name="Line 4"/>
              <p:cNvSpPr>
                <a:spLocks noChangeShapeType="1"/>
              </p:cNvSpPr>
              <p:nvPr/>
            </p:nvSpPr>
            <p:spPr bwMode="auto">
              <a:xfrm>
                <a:off x="4719109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8" name="Line 5"/>
              <p:cNvSpPr>
                <a:spLocks noChangeShapeType="1"/>
              </p:cNvSpPr>
              <p:nvPr/>
            </p:nvSpPr>
            <p:spPr bwMode="auto">
              <a:xfrm>
                <a:off x="6590242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8463096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44" name="Line 6"/>
              <p:cNvSpPr>
                <a:spLocks noChangeShapeType="1"/>
              </p:cNvSpPr>
              <p:nvPr/>
            </p:nvSpPr>
            <p:spPr bwMode="auto">
              <a:xfrm>
                <a:off x="10320838" y="1329616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7" name="Line 6"/>
              <p:cNvSpPr>
                <a:spLocks noChangeShapeType="1"/>
              </p:cNvSpPr>
              <p:nvPr/>
            </p:nvSpPr>
            <p:spPr bwMode="auto">
              <a:xfrm>
                <a:off x="7523902" y="1329617"/>
                <a:ext cx="0" cy="8821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033813" y="1777922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033813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969380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969380" y="2330440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722530" y="2330440"/>
              <a:ext cx="3112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906666" y="1777922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906666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842233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842233" y="2330440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777799" y="1777922"/>
              <a:ext cx="935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777799" y="1777922"/>
              <a:ext cx="0" cy="5525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722530" y="1222351"/>
              <a:ext cx="8086439" cy="1351553"/>
              <a:chOff x="1532620" y="1500134"/>
              <a:chExt cx="6395907" cy="1444002"/>
            </a:xfrm>
          </p:grpSpPr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1532620" y="2944136"/>
                <a:ext cx="63959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 flipV="1">
                <a:off x="1532620" y="1500134"/>
                <a:ext cx="0" cy="1444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8808968" y="2393885"/>
              <a:ext cx="68953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 smtClean="0"/>
                <a:t>Time</a:t>
              </a:r>
              <a:endParaRPr lang="en-AU" altLang="en-US" sz="1400" dirty="0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1346815" y="1222352"/>
              <a:ext cx="1246849" cy="2777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1033813" y="1200236"/>
              <a:ext cx="1872853" cy="383559"/>
              <a:chOff x="1033813" y="1200236"/>
              <a:chExt cx="1872853" cy="383559"/>
            </a:xfrm>
          </p:grpSpPr>
          <p:sp>
            <p:nvSpPr>
              <p:cNvPr id="5" name="Line 2"/>
              <p:cNvSpPr>
                <a:spLocks noChangeShapeType="1"/>
              </p:cNvSpPr>
              <p:nvPr/>
            </p:nvSpPr>
            <p:spPr bwMode="auto">
              <a:xfrm>
                <a:off x="1033813" y="1583795"/>
                <a:ext cx="18728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4" name="Text Box 34"/>
              <p:cNvSpPr txBox="1">
                <a:spLocks noChangeArrowheads="1"/>
              </p:cNvSpPr>
              <p:nvPr/>
            </p:nvSpPr>
            <p:spPr bwMode="auto">
              <a:xfrm>
                <a:off x="1367876" y="1200236"/>
                <a:ext cx="122578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40000"/>
                  </a:spcBef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40000"/>
                  </a:spcBef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40000"/>
                  </a:spcBef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4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4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dirty="0"/>
                  <a:t>Clock </a:t>
                </a:r>
                <a:r>
                  <a:rPr lang="en-US" altLang="en-US" sz="1400" dirty="0" smtClean="0"/>
                  <a:t>cycle</a:t>
                </a:r>
                <a:endParaRPr lang="en-AU" altLang="en-US" sz="1400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5713366" y="1777922"/>
              <a:ext cx="1869489" cy="552518"/>
              <a:chOff x="5713366" y="1777922"/>
              <a:chExt cx="1869489" cy="552518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5713366" y="1777922"/>
                <a:ext cx="0" cy="55251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5713366" y="2330440"/>
                <a:ext cx="93556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6650653" y="1777922"/>
                <a:ext cx="0" cy="55251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5" name="Line 19"/>
              <p:cNvSpPr>
                <a:spLocks noChangeShapeType="1"/>
              </p:cNvSpPr>
              <p:nvPr/>
            </p:nvSpPr>
            <p:spPr bwMode="auto">
              <a:xfrm>
                <a:off x="6647288" y="1784967"/>
                <a:ext cx="93556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40" name="Line 21"/>
            <p:cNvSpPr>
              <a:spLocks noChangeShapeType="1"/>
            </p:cNvSpPr>
            <p:nvPr/>
          </p:nvSpPr>
          <p:spPr bwMode="auto">
            <a:xfrm>
              <a:off x="7576060" y="1779717"/>
              <a:ext cx="0" cy="5525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7576060" y="2332235"/>
              <a:ext cx="93556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Line 23"/>
            <p:cNvSpPr>
              <a:spLocks noChangeShapeType="1"/>
            </p:cNvSpPr>
            <p:nvPr/>
          </p:nvSpPr>
          <p:spPr bwMode="auto">
            <a:xfrm>
              <a:off x="8513347" y="1779717"/>
              <a:ext cx="0" cy="5525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3" name="Line 19"/>
            <p:cNvSpPr>
              <a:spLocks noChangeShapeType="1"/>
            </p:cNvSpPr>
            <p:nvPr/>
          </p:nvSpPr>
          <p:spPr bwMode="auto">
            <a:xfrm>
              <a:off x="8509983" y="1786762"/>
              <a:ext cx="29898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2908078" y="1202603"/>
              <a:ext cx="1872853" cy="383559"/>
              <a:chOff x="1033813" y="1200236"/>
              <a:chExt cx="1872853" cy="383559"/>
            </a:xfrm>
          </p:grpSpPr>
          <p:sp>
            <p:nvSpPr>
              <p:cNvPr id="46" name="Line 2"/>
              <p:cNvSpPr>
                <a:spLocks noChangeShapeType="1"/>
              </p:cNvSpPr>
              <p:nvPr/>
            </p:nvSpPr>
            <p:spPr bwMode="auto">
              <a:xfrm>
                <a:off x="1033813" y="1583795"/>
                <a:ext cx="18728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47" name="Text Box 34"/>
              <p:cNvSpPr txBox="1">
                <a:spLocks noChangeArrowheads="1"/>
              </p:cNvSpPr>
              <p:nvPr/>
            </p:nvSpPr>
            <p:spPr bwMode="auto">
              <a:xfrm>
                <a:off x="1367876" y="1200236"/>
                <a:ext cx="122578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40000"/>
                  </a:spcBef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spcBef>
                    <a:spcPct val="40000"/>
                  </a:spcBef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spcBef>
                    <a:spcPct val="40000"/>
                  </a:spcBef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spcBef>
                    <a:spcPct val="4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spcBef>
                    <a:spcPct val="4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dirty="0"/>
                  <a:t>Clock </a:t>
                </a:r>
                <a:r>
                  <a:rPr lang="en-US" altLang="en-US" sz="1400" dirty="0" smtClean="0"/>
                  <a:t>cycle</a:t>
                </a:r>
                <a:endParaRPr lang="en-AU" altLang="en-US" sz="1400" dirty="0"/>
              </a:p>
            </p:txBody>
          </p:sp>
        </p:grpSp>
        <p:sp>
          <p:nvSpPr>
            <p:cNvPr id="52" name="Line 2"/>
            <p:cNvSpPr>
              <a:spLocks noChangeShapeType="1"/>
            </p:cNvSpPr>
            <p:nvPr/>
          </p:nvSpPr>
          <p:spPr bwMode="auto">
            <a:xfrm>
              <a:off x="4782387" y="1586162"/>
              <a:ext cx="9309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3" name="Text Box 34"/>
            <p:cNvSpPr txBox="1">
              <a:spLocks noChangeArrowheads="1"/>
            </p:cNvSpPr>
            <p:nvPr/>
          </p:nvSpPr>
          <p:spPr bwMode="auto">
            <a:xfrm>
              <a:off x="4772980" y="953725"/>
              <a:ext cx="9616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 smtClean="0">
                  <a:solidFill>
                    <a:srgbClr val="FF0000"/>
                  </a:solidFill>
                </a:rPr>
                <a:t>Positive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 smtClean="0">
                  <a:solidFill>
                    <a:srgbClr val="FF0000"/>
                  </a:solidFill>
                </a:rPr>
                <a:t>Pulse</a:t>
              </a:r>
              <a:endParaRPr lang="en-AU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55" name="Line 2"/>
            <p:cNvSpPr>
              <a:spLocks noChangeShapeType="1"/>
            </p:cNvSpPr>
            <p:nvPr/>
          </p:nvSpPr>
          <p:spPr bwMode="auto">
            <a:xfrm>
              <a:off x="5695019" y="1585872"/>
              <a:ext cx="9522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Text Box 34"/>
            <p:cNvSpPr txBox="1">
              <a:spLocks noChangeArrowheads="1"/>
            </p:cNvSpPr>
            <p:nvPr/>
          </p:nvSpPr>
          <p:spPr bwMode="auto">
            <a:xfrm>
              <a:off x="5685613" y="953725"/>
              <a:ext cx="9616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 smtClean="0">
                  <a:solidFill>
                    <a:srgbClr val="0000FF"/>
                  </a:solidFill>
                </a:rPr>
                <a:t>Negative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 smtClean="0">
                  <a:solidFill>
                    <a:srgbClr val="0000FF"/>
                  </a:solidFill>
                </a:rPr>
                <a:t>Pulse</a:t>
              </a:r>
              <a:endParaRPr lang="en-AU" altLang="en-US" sz="1400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18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Clock Cycle versus Clock Frequency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693" y="2530933"/>
            <a:ext cx="8433245" cy="4003412"/>
          </a:xfrm>
        </p:spPr>
        <p:txBody>
          <a:bodyPr>
            <a:normAutofit/>
          </a:bodyPr>
          <a:lstStyle/>
          <a:p>
            <a:pPr>
              <a:spcBef>
                <a:spcPts val="1300"/>
              </a:spcBef>
            </a:pPr>
            <a:r>
              <a:rPr lang="en-US" altLang="en-US" sz="2400" dirty="0"/>
              <a:t>Clock cycle (or period) is </a:t>
            </a:r>
            <a:r>
              <a:rPr lang="en-US" altLang="en-US" sz="2400" dirty="0" smtClean="0"/>
              <a:t>a time duration</a:t>
            </a:r>
          </a:p>
          <a:p>
            <a:pPr marL="627063" lvl="1">
              <a:spcBef>
                <a:spcPts val="1300"/>
              </a:spcBef>
            </a:pPr>
            <a:r>
              <a:rPr lang="en-US" altLang="en-US" sz="2000" dirty="0" smtClean="0"/>
              <a:t>Measured </a:t>
            </a:r>
            <a:r>
              <a:rPr lang="en-US" altLang="en-US" sz="2000" dirty="0"/>
              <a:t>in </a:t>
            </a:r>
            <a:r>
              <a:rPr lang="en-US" altLang="en-US" sz="2000" dirty="0" smtClean="0"/>
              <a:t>seconds, </a:t>
            </a:r>
            <a:r>
              <a:rPr lang="en-US" altLang="en-US" sz="2000" dirty="0" err="1" smtClean="0"/>
              <a:t>milli</a:t>
            </a:r>
            <a:r>
              <a:rPr lang="en-US" altLang="en-US" sz="2000" dirty="0" smtClean="0"/>
              <a:t>-, micro-, </a:t>
            </a:r>
            <a:r>
              <a:rPr lang="en-US" altLang="en-US" sz="2000" dirty="0" err="1" smtClean="0"/>
              <a:t>nano</a:t>
            </a:r>
            <a:r>
              <a:rPr lang="en-US" altLang="en-US" sz="2000" dirty="0" smtClean="0"/>
              <a:t>-, or </a:t>
            </a:r>
            <a:r>
              <a:rPr lang="en-US" altLang="en-US" sz="2000" dirty="0" err="1" smtClean="0"/>
              <a:t>pico</a:t>
            </a:r>
            <a:r>
              <a:rPr lang="en-US" altLang="en-US" sz="2000" dirty="0" smtClean="0"/>
              <a:t>-seconds</a:t>
            </a:r>
            <a:endParaRPr lang="en-US" altLang="en-US" sz="2000" dirty="0"/>
          </a:p>
          <a:p>
            <a:pPr marL="627063" lvl="1">
              <a:spcBef>
                <a:spcPts val="1300"/>
              </a:spcBef>
            </a:pPr>
            <a:r>
              <a:rPr lang="en-US" altLang="en-US" sz="2000" dirty="0"/>
              <a:t>1 </a:t>
            </a:r>
            <a:r>
              <a:rPr lang="en-US" altLang="en-US" sz="2000" dirty="0" err="1"/>
              <a:t>ms</a:t>
            </a:r>
            <a:r>
              <a:rPr lang="en-US" altLang="en-US" sz="2000" dirty="0"/>
              <a:t> = 10</a:t>
            </a:r>
            <a:r>
              <a:rPr lang="en-US" altLang="en-US" sz="2000" baseline="30000" dirty="0"/>
              <a:t>-3</a:t>
            </a:r>
            <a:r>
              <a:rPr lang="en-US" altLang="en-US" sz="2000" dirty="0"/>
              <a:t> sec, 1 µs = 10</a:t>
            </a:r>
            <a:r>
              <a:rPr lang="en-US" altLang="en-US" sz="2000" baseline="30000" dirty="0"/>
              <a:t>-6</a:t>
            </a:r>
            <a:r>
              <a:rPr lang="en-US" altLang="en-US" sz="2000" dirty="0"/>
              <a:t> sec, 1 ns = 10</a:t>
            </a:r>
            <a:r>
              <a:rPr lang="en-US" altLang="en-US" sz="2000" baseline="30000" dirty="0"/>
              <a:t>-9</a:t>
            </a:r>
            <a:r>
              <a:rPr lang="en-US" altLang="en-US" sz="2000" dirty="0"/>
              <a:t> sec, 1 </a:t>
            </a:r>
            <a:r>
              <a:rPr lang="en-US" altLang="en-US" sz="2000" dirty="0" err="1"/>
              <a:t>ps</a:t>
            </a:r>
            <a:r>
              <a:rPr lang="en-US" altLang="en-US" sz="2000" dirty="0"/>
              <a:t> = 10</a:t>
            </a:r>
            <a:r>
              <a:rPr lang="en-US" altLang="en-US" sz="2000" baseline="30000" dirty="0"/>
              <a:t>-12</a:t>
            </a:r>
            <a:r>
              <a:rPr lang="en-US" altLang="en-US" sz="2000" dirty="0"/>
              <a:t> sec</a:t>
            </a:r>
          </a:p>
          <a:p>
            <a:pPr>
              <a:spcBef>
                <a:spcPts val="1300"/>
              </a:spcBef>
            </a:pPr>
            <a:r>
              <a:rPr lang="en-US" altLang="en-US" sz="2400" dirty="0"/>
              <a:t>Clock frequency = number of cycles per second (Hertz)</a:t>
            </a:r>
          </a:p>
          <a:p>
            <a:pPr lvl="1">
              <a:spcBef>
                <a:spcPts val="1300"/>
              </a:spcBef>
            </a:pPr>
            <a:r>
              <a:rPr lang="en-US" altLang="en-US" sz="2000" dirty="0"/>
              <a:t>1 Hz = 1 cycle/sec, 1 KHz = 10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 Hz, 1 MHz = 10</a:t>
            </a:r>
            <a:r>
              <a:rPr lang="en-US" altLang="en-US" sz="2000" baseline="30000" dirty="0"/>
              <a:t>6</a:t>
            </a:r>
            <a:r>
              <a:rPr lang="en-US" altLang="en-US" sz="2000" dirty="0"/>
              <a:t> Hz, 1 GHz = 10</a:t>
            </a:r>
            <a:r>
              <a:rPr lang="en-US" altLang="en-US" sz="2000" baseline="30000" dirty="0"/>
              <a:t>9</a:t>
            </a:r>
            <a:r>
              <a:rPr lang="en-US" altLang="en-US" sz="2000" dirty="0"/>
              <a:t> Hz</a:t>
            </a:r>
          </a:p>
          <a:p>
            <a:pPr>
              <a:spcBef>
                <a:spcPts val="1300"/>
              </a:spcBef>
            </a:pPr>
            <a:r>
              <a:rPr lang="en-US" altLang="en-US" sz="2400" dirty="0"/>
              <a:t>Clock frequency = 1 / Clock Cycle</a:t>
            </a:r>
          </a:p>
          <a:p>
            <a:pPr lvl="1">
              <a:spcBef>
                <a:spcPts val="1300"/>
              </a:spcBef>
            </a:pPr>
            <a:r>
              <a:rPr lang="en-US" altLang="en-US" sz="2000" dirty="0"/>
              <a:t>Example: </a:t>
            </a:r>
            <a:r>
              <a:rPr lang="en-US" altLang="en-US" sz="2000" dirty="0" smtClean="0"/>
              <a:t>Given the clock </a:t>
            </a:r>
            <a:r>
              <a:rPr lang="en-US" altLang="en-US" sz="2000" dirty="0"/>
              <a:t>cycle = </a:t>
            </a:r>
            <a:r>
              <a:rPr lang="en-US" altLang="en-US" sz="2000" dirty="0" smtClean="0"/>
              <a:t>0.5 </a:t>
            </a:r>
            <a:r>
              <a:rPr lang="en-US" altLang="en-US" sz="2000" dirty="0"/>
              <a:t>ns </a:t>
            </a:r>
            <a:r>
              <a:rPr lang="en-US" altLang="en-US" sz="2000" dirty="0" smtClean="0"/>
              <a:t>= 0.5 </a:t>
            </a:r>
            <a:r>
              <a:rPr lang="en-US" altLang="en-US" sz="2000" dirty="0"/>
              <a:t>×</a:t>
            </a:r>
            <a:r>
              <a:rPr lang="en-US" altLang="en-US" sz="2000" dirty="0" smtClean="0"/>
              <a:t>10</a:t>
            </a:r>
            <a:r>
              <a:rPr lang="en-US" altLang="en-US" sz="2000" baseline="30000" dirty="0" smtClean="0"/>
              <a:t>-9</a:t>
            </a:r>
            <a:r>
              <a:rPr lang="en-US" altLang="en-US" sz="2000" dirty="0" smtClean="0"/>
              <a:t> sec</a:t>
            </a:r>
          </a:p>
          <a:p>
            <a:pPr lvl="1">
              <a:spcBef>
                <a:spcPts val="1300"/>
              </a:spcBef>
            </a:pPr>
            <a:r>
              <a:rPr lang="en-US" altLang="en-US" sz="2000" dirty="0" smtClean="0">
                <a:sym typeface="Wingdings" panose="05000000000000000000" pitchFamily="2" charset="2"/>
              </a:rPr>
              <a:t>Then, the clock f</a:t>
            </a:r>
            <a:r>
              <a:rPr lang="en-US" altLang="en-US" sz="2000" dirty="0" smtClean="0"/>
              <a:t>requency </a:t>
            </a:r>
            <a:r>
              <a:rPr lang="en-US" altLang="en-US" sz="2000" dirty="0"/>
              <a:t>= 1</a:t>
            </a:r>
            <a:r>
              <a:rPr lang="en-US" altLang="en-US" sz="2000" dirty="0" smtClean="0"/>
              <a:t>/(0.5×10</a:t>
            </a:r>
            <a:r>
              <a:rPr lang="en-US" altLang="en-US" sz="2000" baseline="30000" dirty="0" smtClean="0"/>
              <a:t>-9</a:t>
            </a:r>
            <a:r>
              <a:rPr lang="en-US" altLang="en-US" sz="2000" dirty="0"/>
              <a:t>) = </a:t>
            </a:r>
            <a:r>
              <a:rPr lang="en-US" altLang="en-US" sz="2000" dirty="0" smtClean="0"/>
              <a:t>2×10</a:t>
            </a:r>
            <a:r>
              <a:rPr lang="en-US" altLang="en-US" sz="2000" baseline="30000" dirty="0" smtClean="0"/>
              <a:t>9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Hz = </a:t>
            </a:r>
            <a:r>
              <a:rPr lang="en-US" altLang="en-US" sz="2000" dirty="0" smtClean="0"/>
              <a:t>2 </a:t>
            </a:r>
            <a:r>
              <a:rPr lang="en-US" altLang="en-US" sz="2000" dirty="0"/>
              <a:t>GHz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414726" y="998731"/>
            <a:ext cx="6646892" cy="1501426"/>
            <a:chOff x="1532620" y="1200236"/>
            <a:chExt cx="7200800" cy="1501426"/>
          </a:xfrm>
        </p:grpSpPr>
        <p:sp>
          <p:nvSpPr>
            <p:cNvPr id="5" name="Line 2"/>
            <p:cNvSpPr>
              <a:spLocks noChangeShapeType="1"/>
            </p:cNvSpPr>
            <p:nvPr/>
          </p:nvSpPr>
          <p:spPr bwMode="auto">
            <a:xfrm>
              <a:off x="1843903" y="1583795"/>
              <a:ext cx="18728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1843903" y="1222352"/>
              <a:ext cx="5616840" cy="1351552"/>
              <a:chOff x="2846256" y="1327897"/>
              <a:chExt cx="5616840" cy="1655763"/>
            </a:xfrm>
          </p:grpSpPr>
          <p:sp>
            <p:nvSpPr>
              <p:cNvPr id="6" name="Line 3"/>
              <p:cNvSpPr>
                <a:spLocks noChangeShapeType="1"/>
              </p:cNvSpPr>
              <p:nvPr/>
            </p:nvSpPr>
            <p:spPr bwMode="auto">
              <a:xfrm>
                <a:off x="2846256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7" name="Line 4"/>
              <p:cNvSpPr>
                <a:spLocks noChangeShapeType="1"/>
              </p:cNvSpPr>
              <p:nvPr/>
            </p:nvSpPr>
            <p:spPr bwMode="auto">
              <a:xfrm>
                <a:off x="4719109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8" name="Line 5"/>
              <p:cNvSpPr>
                <a:spLocks noChangeShapeType="1"/>
              </p:cNvSpPr>
              <p:nvPr/>
            </p:nvSpPr>
            <p:spPr bwMode="auto">
              <a:xfrm>
                <a:off x="6590242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8463096" y="1327897"/>
                <a:ext cx="0" cy="1655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843903" y="1777922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843903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779470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779470" y="2330440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532620" y="2330440"/>
              <a:ext cx="3112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3716756" y="1777922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716756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4652323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652323" y="2330440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5587889" y="1777922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5587889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6523456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6523456" y="2330440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7460743" y="1777922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7460743" y="1777922"/>
              <a:ext cx="3112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532620" y="1222351"/>
              <a:ext cx="6395907" cy="1351553"/>
              <a:chOff x="1532620" y="1500134"/>
              <a:chExt cx="6395907" cy="1444002"/>
            </a:xfrm>
          </p:grpSpPr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1532620" y="2944136"/>
                <a:ext cx="63959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 flipV="1">
                <a:off x="1532620" y="1500134"/>
                <a:ext cx="0" cy="1444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8043883" y="2393885"/>
              <a:ext cx="68953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 smtClean="0"/>
                <a:t>Time</a:t>
              </a:r>
              <a:endParaRPr lang="en-AU" altLang="en-US" sz="1400" dirty="0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2156905" y="1222352"/>
              <a:ext cx="1246849" cy="2777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2177966" y="1200236"/>
              <a:ext cx="122578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/>
                <a:t>Clock </a:t>
              </a:r>
              <a:r>
                <a:rPr lang="en-US" altLang="en-US" sz="1400" dirty="0" smtClean="0"/>
                <a:t>cycle</a:t>
              </a:r>
              <a:endParaRPr lang="en-AU" altLang="en-US" sz="1400" dirty="0"/>
            </a:p>
          </p:txBody>
        </p:sp>
        <p:sp>
          <p:nvSpPr>
            <p:cNvPr id="32" name="Line 2"/>
            <p:cNvSpPr>
              <a:spLocks noChangeShapeType="1"/>
            </p:cNvSpPr>
            <p:nvPr/>
          </p:nvSpPr>
          <p:spPr bwMode="auto">
            <a:xfrm>
              <a:off x="3716843" y="1583795"/>
              <a:ext cx="18728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4050906" y="1200236"/>
              <a:ext cx="122578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/>
                <a:t>Clock </a:t>
              </a:r>
              <a:r>
                <a:rPr lang="en-US" altLang="en-US" sz="1400" dirty="0" smtClean="0"/>
                <a:t>cycle</a:t>
              </a:r>
              <a:endParaRPr lang="en-AU" altLang="en-US" sz="1400" dirty="0"/>
            </a:p>
          </p:txBody>
        </p:sp>
        <p:sp>
          <p:nvSpPr>
            <p:cNvPr id="36" name="Line 2"/>
            <p:cNvSpPr>
              <a:spLocks noChangeShapeType="1"/>
            </p:cNvSpPr>
            <p:nvPr/>
          </p:nvSpPr>
          <p:spPr bwMode="auto">
            <a:xfrm>
              <a:off x="5589783" y="1583795"/>
              <a:ext cx="18728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5923846" y="1200236"/>
              <a:ext cx="122578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/>
                <a:t>Clock </a:t>
              </a:r>
              <a:r>
                <a:rPr lang="en-US" altLang="en-US" sz="1400" dirty="0" smtClean="0"/>
                <a:t>cycle</a:t>
              </a:r>
              <a:endParaRPr lang="en-AU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3230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Memory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63" y="863715"/>
            <a:ext cx="8640960" cy="567063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400" dirty="0" smtClean="0"/>
              <a:t>Memory can store and maintain binary state (0's or 1's)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000" dirty="0" smtClean="0"/>
              <a:t>Until </a:t>
            </a:r>
            <a:r>
              <a:rPr lang="en-US" sz="2000" dirty="0"/>
              <a:t>directed by an input signal to </a:t>
            </a:r>
            <a:r>
              <a:rPr lang="en-US" sz="2000" dirty="0" smtClean="0"/>
              <a:t>change state</a:t>
            </a:r>
            <a:endParaRPr lang="en-US" sz="2000" dirty="0"/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400" dirty="0"/>
              <a:t>Main difference between </a:t>
            </a:r>
            <a:r>
              <a:rPr lang="en-US" sz="2400" dirty="0" smtClean="0"/>
              <a:t>memory elements</a:t>
            </a:r>
            <a:endParaRPr lang="en-US" sz="2400" dirty="0"/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Number of inputs they have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How the inputs affect the binary state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400" dirty="0"/>
              <a:t>Two main types: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Latches </a:t>
            </a:r>
            <a:r>
              <a:rPr lang="en-US" sz="2000" dirty="0" smtClean="0"/>
              <a:t>are level-sensitive (the level of the clock)</a:t>
            </a:r>
            <a:endParaRPr lang="en-US" sz="2000" dirty="0"/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Flip-Flops </a:t>
            </a:r>
            <a:r>
              <a:rPr lang="en-US" sz="2000" dirty="0" smtClean="0"/>
              <a:t>are edge-sensitive (sensitive to the edge of the clock)</a:t>
            </a:r>
            <a:endParaRPr lang="en-US" sz="2000" dirty="0"/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400" dirty="0" smtClean="0"/>
              <a:t>Flip-Flips are used in synchronous sequential circuits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400" dirty="0" smtClean="0"/>
              <a:t>Flip-Flops are </a:t>
            </a:r>
            <a:r>
              <a:rPr lang="en-US" sz="2400" dirty="0"/>
              <a:t>built with </a:t>
            </a:r>
            <a:r>
              <a:rPr lang="en-US" sz="2400" dirty="0" smtClean="0"/>
              <a:t>latches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458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SR Latch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8730"/>
                <a:ext cx="8229600" cy="292532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latch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is binary storage </a:t>
                </a:r>
                <a:r>
                  <a:rPr lang="en-US" sz="2400" dirty="0" smtClean="0"/>
                  <a:t>element that can store 0 or 1</a:t>
                </a:r>
                <a:endParaRPr lang="en-US" sz="2400" dirty="0"/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It is the </a:t>
                </a:r>
                <a:r>
                  <a:rPr lang="en-US" sz="2400" dirty="0"/>
                  <a:t>most basic </a:t>
                </a:r>
                <a:r>
                  <a:rPr lang="en-US" sz="2400" dirty="0" smtClean="0"/>
                  <a:t>memory element</a:t>
                </a:r>
                <a:endParaRPr lang="en-US" sz="2400" dirty="0"/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An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SR Latch</a:t>
                </a:r>
                <a:r>
                  <a:rPr lang="en-US" sz="2400" dirty="0" smtClean="0"/>
                  <a:t> can be built using two NOR gates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Two inputs: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400" dirty="0" smtClean="0"/>
                  <a:t> (Set)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 smtClean="0"/>
                  <a:t> (Reset)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Two outputs: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𝑄</m:t>
                        </m:r>
                      </m:e>
                    </m:ba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8730"/>
                <a:ext cx="8229600" cy="2925325"/>
              </a:xfrm>
              <a:blipFill rotWithShape="1">
                <a:blip r:embed="rId2"/>
                <a:stretch>
                  <a:fillRect l="-963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3363" y="3924056"/>
            <a:ext cx="6092825" cy="248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4819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SR Latch Operation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6150" y="3519011"/>
                <a:ext cx="8518367" cy="3015334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𝑅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then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Set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𝑄</m:t>
                    </m:r>
                    <m:r>
                      <a:rPr lang="en-US" sz="2000" b="0" i="1" smtClean="0">
                        <a:latin typeface="Cambria Math"/>
                      </a:rPr>
                      <m:t>=1,  </m:t>
                    </m:r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𝑅</m:t>
                    </m:r>
                    <m:r>
                      <a:rPr lang="en-US" sz="200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 then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Reset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  <m:r>
                      <a:rPr lang="en-US" sz="2000" b="0" i="1" smtClean="0">
                        <a:latin typeface="Cambria Math"/>
                      </a:rPr>
                      <m:t>=0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)</a:t>
                </a:r>
                <a:endParaRPr lang="en-US" sz="2000" dirty="0"/>
              </a:p>
              <a:p>
                <a:pPr>
                  <a:spcBef>
                    <a:spcPts val="1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𝑅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smtClean="0"/>
                  <a:t>are unchanged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The latch stores its outputs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</m:oMath>
                </a14:m>
                <a:r>
                  <a:rPr lang="en-US" sz="2000" dirty="0" smtClean="0"/>
                  <a:t> as long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𝑅</m:t>
                    </m:r>
                    <m:r>
                      <a:rPr lang="en-US" sz="2000" i="1" dirty="0">
                        <a:latin typeface="Cambria Math"/>
                      </a:rPr>
                      <m:t>=0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𝑅</m:t>
                    </m:r>
                    <m:r>
                      <a:rPr lang="en-US" sz="2000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are </a:t>
                </a:r>
                <a:r>
                  <a:rPr lang="en-US" sz="2000" dirty="0" smtClean="0"/>
                  <a:t>undefined (should never be used)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6150" y="3519011"/>
                <a:ext cx="8518367" cy="3015334"/>
              </a:xfrm>
              <a:blipFill rotWithShape="1">
                <a:blip r:embed="rId2"/>
                <a:stretch>
                  <a:fillRect l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50975" y="863716"/>
            <a:ext cx="6092825" cy="2486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536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S R Latch with NAND Gates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606" y="3519011"/>
                <a:ext cx="8516331" cy="306034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𝑆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then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  <m:r>
                      <a:rPr lang="en-US" sz="2000" b="0" i="1" smtClean="0">
                        <a:latin typeface="Cambria Math"/>
                      </a:rPr>
                      <m:t>=1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𝑆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 then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Reset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  <m:r>
                      <a:rPr lang="en-US" sz="2000" b="0" i="1" smtClean="0">
                        <a:latin typeface="Cambria Math"/>
                      </a:rPr>
                      <m:t>=0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𝑆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are unchanged (remain the same)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/>
                  <a:t>The latch stores its outputs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</m:oMath>
                </a14:m>
                <a:r>
                  <a:rPr lang="en-US" sz="2000" dirty="0"/>
                  <a:t> as long as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𝑆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500"/>
                  </a:spcBef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𝑆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US" sz="2000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are undefined (should never be used</a:t>
                </a:r>
                <a:r>
                  <a:rPr lang="en-US" sz="2000" dirty="0" smtClean="0"/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6" y="3519011"/>
                <a:ext cx="8516331" cy="3060340"/>
              </a:xfrm>
              <a:blipFill rotWithShape="1">
                <a:blip r:embed="rId2"/>
                <a:stretch>
                  <a:fillRect l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840057" y="1633186"/>
                <a:ext cx="1847365" cy="1030988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dirty="0" smtClean="0"/>
                  <a:t>Known as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2400" dirty="0" smtClean="0"/>
                  <a:t>the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/>
                          </a:rPr>
                          <m:t>𝑆</m:t>
                        </m:r>
                      </m:e>
                    </m:bar>
                    <m:r>
                      <a:rPr lang="en-US" sz="2400" i="1">
                        <a:latin typeface="Cambria Math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400" i="1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/>
                          </a:rPr>
                          <m:t>𝑅</m:t>
                        </m:r>
                      </m:e>
                    </m:bar>
                  </m:oMath>
                </a14:m>
                <a:r>
                  <a:rPr lang="en-US" sz="2400" dirty="0"/>
                  <a:t> Latch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984" y="1633186"/>
                <a:ext cx="1977465" cy="976934"/>
              </a:xfrm>
              <a:prstGeom prst="rect">
                <a:avLst/>
              </a:prstGeom>
              <a:blipFill rotWithShape="1">
                <a:blip r:embed="rId3"/>
                <a:stretch>
                  <a:fillRect l="-3963" r="-3659" b="-12195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650238" y="818710"/>
            <a:ext cx="5791200" cy="2503488"/>
            <a:chOff x="704425" y="818710"/>
            <a:chExt cx="6273800" cy="2503488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04425" y="818710"/>
              <a:ext cx="6273800" cy="25034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cxnSp>
          <p:nvCxnSpPr>
            <p:cNvPr id="7" name="Straight Connector 6"/>
            <p:cNvCxnSpPr/>
            <p:nvPr/>
          </p:nvCxnSpPr>
          <p:spPr>
            <a:xfrm>
              <a:off x="955506" y="1157598"/>
              <a:ext cx="1397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38432" y="2708920"/>
              <a:ext cx="1397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653867" y="1017119"/>
              <a:ext cx="1397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907995" y="1017119"/>
              <a:ext cx="13972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/>
          <p:cNvCxnSpPr/>
          <p:nvPr/>
        </p:nvCxnSpPr>
        <p:spPr>
          <a:xfrm>
            <a:off x="1447800" y="381000"/>
            <a:ext cx="249258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954787" y="347654"/>
            <a:ext cx="249258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42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SR Latch with a Clock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23" y="3789040"/>
            <a:ext cx="8229600" cy="279031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400" dirty="0" smtClean="0"/>
              <a:t>An additional Clock input signal </a:t>
            </a:r>
            <a:r>
              <a:rPr lang="en-US" sz="2400" b="1" dirty="0" smtClean="0"/>
              <a:t>C</a:t>
            </a:r>
            <a:r>
              <a:rPr lang="en-US" sz="2400" dirty="0" smtClean="0"/>
              <a:t> is used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Clock controls </a:t>
            </a:r>
            <a:r>
              <a:rPr lang="en-US" sz="2400" b="1" dirty="0" smtClean="0">
                <a:solidFill>
                  <a:srgbClr val="FF0000"/>
                </a:solidFill>
              </a:rPr>
              <a:t>when</a:t>
            </a:r>
            <a:r>
              <a:rPr lang="en-US" sz="2400" dirty="0" smtClean="0"/>
              <a:t> the state of the latch can be changed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When </a:t>
            </a:r>
            <a:r>
              <a:rPr lang="en-US" sz="2400" b="1" dirty="0" smtClean="0">
                <a:solidFill>
                  <a:srgbClr val="0000FF"/>
                </a:solidFill>
              </a:rPr>
              <a:t>C=0</a:t>
            </a:r>
            <a:r>
              <a:rPr lang="en-US" sz="2400" dirty="0" smtClean="0"/>
              <a:t>, the S and R inputs have no effect on the latch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 smtClean="0"/>
              <a:t>The latch will remain in the same state, regardless of S and R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When </a:t>
            </a:r>
            <a:r>
              <a:rPr lang="en-US" sz="2400" b="1" dirty="0" smtClean="0">
                <a:solidFill>
                  <a:srgbClr val="FF0000"/>
                </a:solidFill>
              </a:rPr>
              <a:t>C=1</a:t>
            </a:r>
            <a:r>
              <a:rPr lang="en-US" sz="2400" dirty="0" smtClean="0"/>
              <a:t>, then normal SR latch operation</a:t>
            </a:r>
            <a:endParaRPr lang="en-US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411155" y="908718"/>
            <a:ext cx="6812677" cy="2683168"/>
            <a:chOff x="1528751" y="908718"/>
            <a:chExt cx="7380400" cy="2683168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8751" y="908718"/>
              <a:ext cx="7380400" cy="26831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8" name="Group 7"/>
            <p:cNvGrpSpPr/>
            <p:nvPr/>
          </p:nvGrpSpPr>
          <p:grpSpPr>
            <a:xfrm>
              <a:off x="3535343" y="1133745"/>
              <a:ext cx="202522" cy="285748"/>
              <a:chOff x="317486" y="1793102"/>
              <a:chExt cx="202522" cy="28574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7486" y="1793102"/>
                <a:ext cx="202522" cy="28574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54582" y="1824722"/>
                <a:ext cx="12702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3535343" y="2663915"/>
              <a:ext cx="202522" cy="285748"/>
              <a:chOff x="317486" y="1793102"/>
              <a:chExt cx="202522" cy="285748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17486" y="1793102"/>
                <a:ext cx="202522" cy="28574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354582" y="1824722"/>
                <a:ext cx="12702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8307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D-Latch with a Clock Input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7693" y="3474006"/>
                <a:ext cx="8350158" cy="301533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 smtClean="0"/>
                  <a:t>Only one data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𝐷</m:t>
                    </m:r>
                  </m:oMath>
                </a14:m>
                <a:endParaRPr lang="en-US" sz="2000" dirty="0" smtClean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 smtClean="0"/>
                  <a:t>An inverter is added: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𝑅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𝐷</m:t>
                        </m:r>
                      </m:e>
                    </m:bar>
                  </m:oMath>
                </a14:m>
                <a:r>
                  <a:rPr lang="en-US" sz="2000" dirty="0" smtClean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 smtClean="0"/>
                  <a:t> can never be 11 simultaneously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 No undefined state</a:t>
                </a:r>
                <a:endParaRPr lang="en-US" sz="2000" dirty="0" smtClean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 smtClean="0"/>
                  <a:t>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en-US" sz="2000" dirty="0" smtClean="0"/>
                  <a:t> remains the same (No change in state)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 smtClean="0"/>
                  <a:t>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𝑄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𝑄</m:t>
                        </m:r>
                      </m:e>
                    </m:ba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𝐷</m:t>
                        </m:r>
                      </m:e>
                    </m:ba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693" y="3474006"/>
                <a:ext cx="8350158" cy="3015335"/>
              </a:xfrm>
              <a:blipFill rotWithShape="1">
                <a:blip r:embed="rId2"/>
                <a:stretch>
                  <a:fillRect l="-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334607" y="937329"/>
            <a:ext cx="5648912" cy="2536677"/>
            <a:chOff x="820054" y="928118"/>
            <a:chExt cx="7553326" cy="3130952"/>
          </a:xfrm>
        </p:grpSpPr>
        <p:pic>
          <p:nvPicPr>
            <p:cNvPr id="1026" name="Picture 2" descr="C:\Users\mudawar\Documents\+COE 202\202 Lectures\D-latchA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054" y="1120607"/>
              <a:ext cx="7553326" cy="2938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/>
            <p:cNvGrpSpPr/>
            <p:nvPr/>
          </p:nvGrpSpPr>
          <p:grpSpPr>
            <a:xfrm>
              <a:off x="3291572" y="928118"/>
              <a:ext cx="356283" cy="2706509"/>
              <a:chOff x="3291572" y="928118"/>
              <a:chExt cx="356283" cy="2706509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291572" y="928118"/>
                <a:ext cx="356283" cy="29563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291572" y="3338990"/>
                <a:ext cx="356283" cy="29563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</p:grpSp>
      <p:pic>
        <p:nvPicPr>
          <p:cNvPr id="1027" name="Picture 3" descr="C:\Users\mudawar\Documents\+COE 202\202 Lectures\D-latch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021" y="1043735"/>
            <a:ext cx="2728546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65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Graphic Symbols for Latches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383995"/>
                <a:ext cx="8229600" cy="301533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ts val="1000"/>
                  </a:spcBef>
                </a:pPr>
                <a:r>
                  <a:rPr lang="en-US" sz="2400" dirty="0" smtClean="0"/>
                  <a:t>A bubble appears at the complemented output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/>
                          </a:rPr>
                          <m:t>𝑄</m:t>
                        </m:r>
                      </m:e>
                    </m:bar>
                  </m:oMath>
                </a14:m>
                <a:endParaRPr lang="en-US" sz="2400" dirty="0" smtClean="0"/>
              </a:p>
              <a:p>
                <a:pPr marL="357188" indent="0">
                  <a:lnSpc>
                    <a:spcPct val="130000"/>
                  </a:lnSpc>
                  <a:spcBef>
                    <a:spcPts val="1000"/>
                  </a:spcBef>
                  <a:buNone/>
                </a:pPr>
                <a:r>
                  <a:rPr lang="en-US" sz="2400" dirty="0" smtClean="0"/>
                  <a:t>Indicates that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𝑄</m:t>
                        </m:r>
                      </m:e>
                    </m:bar>
                  </m:oMath>
                </a14:m>
                <a:r>
                  <a:rPr lang="en-US" sz="2400" dirty="0" smtClean="0"/>
                  <a:t> is the complement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</m:oMath>
                </a14:m>
                <a:endParaRPr lang="en-US" sz="2400" dirty="0" smtClean="0"/>
              </a:p>
              <a:p>
                <a:pPr>
                  <a:lnSpc>
                    <a:spcPct val="130000"/>
                  </a:lnSpc>
                  <a:spcBef>
                    <a:spcPts val="1000"/>
                  </a:spcBef>
                </a:pPr>
                <a:r>
                  <a:rPr lang="en-US" sz="2400" dirty="0" smtClean="0"/>
                  <a:t>A bubble also appears at the inputs of an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𝑆</m:t>
                        </m:r>
                      </m:e>
                    </m:ba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𝑅</m:t>
                        </m:r>
                      </m:e>
                    </m:bar>
                  </m:oMath>
                </a14:m>
                <a:r>
                  <a:rPr lang="en-US" sz="2400" dirty="0" smtClean="0"/>
                  <a:t> latch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000"/>
                  </a:spcBef>
                  <a:buNone/>
                </a:pPr>
                <a:r>
                  <a:rPr lang="en-US" sz="2400" dirty="0" smtClean="0"/>
                  <a:t>Indicates that </a:t>
                </a:r>
                <a:r>
                  <a:rPr lang="en-US" sz="2400" b="1" dirty="0" smtClean="0"/>
                  <a:t>logic-0</a:t>
                </a:r>
                <a:r>
                  <a:rPr lang="en-US" sz="2400" dirty="0" smtClean="0"/>
                  <a:t> is used </a:t>
                </a:r>
                <a:r>
                  <a:rPr lang="en-US" sz="2400" dirty="0"/>
                  <a:t>(not logic-1) to </a:t>
                </a:r>
                <a:r>
                  <a:rPr lang="en-US" sz="2400" dirty="0" smtClean="0"/>
                  <a:t>set (or reset) the latch (as in the NAND latch implementation)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383995"/>
                <a:ext cx="8229600" cy="3015336"/>
              </a:xfrm>
              <a:blipFill rotWithShape="1">
                <a:blip r:embed="rId2"/>
                <a:stretch>
                  <a:fillRect l="-963" b="-3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/>
          <p:cNvGrpSpPr/>
          <p:nvPr/>
        </p:nvGrpSpPr>
        <p:grpSpPr>
          <a:xfrm>
            <a:off x="6233725" y="1178751"/>
            <a:ext cx="2658759" cy="1845205"/>
            <a:chOff x="317484" y="1313765"/>
            <a:chExt cx="2880322" cy="18452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317484" y="14469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484" y="1446992"/>
                  <a:ext cx="360041" cy="457200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2203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317484" y="25685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484" y="2568542"/>
                  <a:ext cx="360041" cy="457200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4" name="Group 73"/>
            <p:cNvGrpSpPr/>
            <p:nvPr/>
          </p:nvGrpSpPr>
          <p:grpSpPr>
            <a:xfrm>
              <a:off x="632520" y="1689248"/>
              <a:ext cx="2160240" cy="1107894"/>
              <a:chOff x="632520" y="1689248"/>
              <a:chExt cx="2340260" cy="1107894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632520" y="1689248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632520" y="2797142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2837765" y="14469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7765" y="1446992"/>
                  <a:ext cx="360041" cy="457200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5424" r="-6780" b="-14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2837765" y="25685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ba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7765" y="2568542"/>
                  <a:ext cx="360041" cy="457200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Oval 76"/>
            <p:cNvSpPr/>
            <p:nvPr/>
          </p:nvSpPr>
          <p:spPr>
            <a:xfrm>
              <a:off x="2252700" y="2699181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/>
                <p:cNvSpPr/>
                <p:nvPr/>
              </p:nvSpPr>
              <p:spPr>
                <a:xfrm>
                  <a:off x="1037565" y="1313765"/>
                  <a:ext cx="1215135" cy="1845205"/>
                </a:xfrm>
                <a:prstGeom prst="rect">
                  <a:avLst/>
                </a:prstGeom>
                <a:solidFill>
                  <a:srgbClr val="FFE1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𝐷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𝐿𝑎𝑡𝑐h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565" y="1313765"/>
                  <a:ext cx="1215135" cy="1845205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334606" y="1178751"/>
            <a:ext cx="2658759" cy="1845205"/>
            <a:chOff x="362490" y="1313765"/>
            <a:chExt cx="2880322" cy="18452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62490" y="14469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90" y="1446992"/>
                  <a:ext cx="360041" cy="457200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11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62490" y="25685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90" y="2568542"/>
                  <a:ext cx="360041" cy="457200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16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/>
            <p:cNvGrpSpPr/>
            <p:nvPr/>
          </p:nvGrpSpPr>
          <p:grpSpPr>
            <a:xfrm>
              <a:off x="677526" y="1689248"/>
              <a:ext cx="2160240" cy="1107894"/>
              <a:chOff x="632520" y="1689248"/>
              <a:chExt cx="2340260" cy="1107894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632520" y="1689248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632520" y="2797142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82771" y="14469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771" y="1446992"/>
                  <a:ext cx="360041" cy="45720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27119" r="-5085" b="-14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882771" y="25685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ba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771" y="2568542"/>
                  <a:ext cx="360041" cy="45720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Oval 16"/>
            <p:cNvSpPr/>
            <p:nvPr/>
          </p:nvSpPr>
          <p:spPr>
            <a:xfrm>
              <a:off x="2297706" y="2699181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1082571" y="1313765"/>
                  <a:ext cx="1215135" cy="1845205"/>
                </a:xfrm>
                <a:prstGeom prst="rect">
                  <a:avLst/>
                </a:prstGeom>
                <a:solidFill>
                  <a:srgbClr val="FFE1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𝑅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𝐿𝑎𝑡𝑐h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571" y="1313765"/>
                  <a:ext cx="1215135" cy="1845205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62490" y="1988840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90" y="1988840"/>
                  <a:ext cx="360041" cy="457200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16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/>
            <p:cNvCxnSpPr/>
            <p:nvPr/>
          </p:nvCxnSpPr>
          <p:spPr>
            <a:xfrm>
              <a:off x="677526" y="2236367"/>
              <a:ext cx="4050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3284164" y="1178751"/>
            <a:ext cx="2658761" cy="1845205"/>
            <a:chOff x="3557844" y="1313765"/>
            <a:chExt cx="2880324" cy="18452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3557846" y="14469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846" y="1446992"/>
                  <a:ext cx="360041" cy="457200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13559" r="-728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3557846" y="25685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846" y="2568542"/>
                  <a:ext cx="360041" cy="457200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18644" r="-3728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4" name="Group 63"/>
            <p:cNvGrpSpPr/>
            <p:nvPr/>
          </p:nvGrpSpPr>
          <p:grpSpPr>
            <a:xfrm>
              <a:off x="3872882" y="1689248"/>
              <a:ext cx="2160240" cy="1107894"/>
              <a:chOff x="632520" y="1689248"/>
              <a:chExt cx="2340260" cy="1107894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632520" y="1689248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632520" y="2797142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6078127" y="14469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8127" y="1446992"/>
                  <a:ext cx="360041" cy="457200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27119" r="-5085" b="-14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6078127" y="25685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ba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8127" y="2568542"/>
                  <a:ext cx="360041" cy="457200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Oval 66"/>
            <p:cNvSpPr/>
            <p:nvPr/>
          </p:nvSpPr>
          <p:spPr>
            <a:xfrm>
              <a:off x="5501013" y="2699181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4277927" y="1313765"/>
                  <a:ext cx="1215135" cy="1845205"/>
                </a:xfrm>
                <a:prstGeom prst="rect">
                  <a:avLst/>
                </a:prstGeom>
                <a:solidFill>
                  <a:srgbClr val="FFE1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</m:ba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</m:ba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𝐿𝑎𝑡𝑐h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7927" y="1313765"/>
                  <a:ext cx="1215135" cy="1845205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Oval 80"/>
            <p:cNvSpPr/>
            <p:nvPr/>
          </p:nvSpPr>
          <p:spPr>
            <a:xfrm>
              <a:off x="4089954" y="2700969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4089954" y="1583795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3872882" y="2235017"/>
              <a:ext cx="4050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3557844" y="1988840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844" y="1988840"/>
                  <a:ext cx="360041" cy="457200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1864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253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Problem with Latches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606" y="908720"/>
                <a:ext cx="8557874" cy="306034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0"/>
                  </a:spcBef>
                </a:pPr>
                <a:r>
                  <a:rPr lang="en-US" sz="2400" dirty="0" smtClean="0"/>
                  <a:t>A latch is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level-sensitive </a:t>
                </a:r>
                <a:r>
                  <a:rPr lang="en-US" sz="2400" dirty="0" smtClean="0"/>
                  <a:t>(sensitive to the level of the clock)</a:t>
                </a:r>
                <a:endParaRPr lang="en-US" sz="2400" b="1" dirty="0" smtClean="0"/>
              </a:p>
              <a:p>
                <a:pPr>
                  <a:spcBef>
                    <a:spcPts val="2000"/>
                  </a:spcBef>
                </a:pPr>
                <a:r>
                  <a:rPr lang="en-US" sz="2400" dirty="0" smtClean="0"/>
                  <a:t>As long as the clock signal is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high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…</a:t>
                </a:r>
              </a:p>
              <a:p>
                <a:pPr marL="357188" indent="0">
                  <a:spcBef>
                    <a:spcPts val="2000"/>
                  </a:spcBef>
                  <a:buNone/>
                </a:pPr>
                <a:r>
                  <a:rPr lang="en-US" sz="2400" dirty="0" smtClean="0"/>
                  <a:t>Any change in the value of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 smtClean="0"/>
                  <a:t> appears in the output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2000"/>
                  </a:spcBef>
                </a:pPr>
                <a:r>
                  <a:rPr lang="en-US" sz="2400" dirty="0" smtClean="0"/>
                  <a:t>Output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 smtClean="0"/>
                  <a:t> keeps changing its value during a clock cycle</a:t>
                </a:r>
              </a:p>
              <a:p>
                <a:pPr>
                  <a:spcBef>
                    <a:spcPts val="2000"/>
                  </a:spcBef>
                </a:pPr>
                <a:r>
                  <a:rPr lang="en-US" sz="2400" dirty="0" smtClean="0"/>
                  <a:t>Final value of output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 smtClean="0"/>
                  <a:t> is uncertain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6" y="908720"/>
                <a:ext cx="8557874" cy="3060340"/>
              </a:xfrm>
              <a:blipFill rotWithShape="1">
                <a:blip r:embed="rId2"/>
                <a:stretch>
                  <a:fillRect l="-997" t="-1594" b="-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/>
          <p:cNvSpPr/>
          <p:nvPr/>
        </p:nvSpPr>
        <p:spPr>
          <a:xfrm>
            <a:off x="2743200" y="4182386"/>
            <a:ext cx="3198817" cy="189217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Due to this uncertainty, latches </a:t>
            </a:r>
            <a:r>
              <a:rPr lang="en-US" sz="2400" dirty="0" smtClean="0"/>
              <a:t>are NOT used as memory </a:t>
            </a:r>
            <a:r>
              <a:rPr lang="en-US" sz="2400" dirty="0"/>
              <a:t>elements in </a:t>
            </a:r>
            <a:r>
              <a:rPr lang="en-US" sz="2400" dirty="0" smtClean="0"/>
              <a:t>synchronous circuits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052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Flip-Flops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06" y="908720"/>
            <a:ext cx="8474788" cy="387043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 smtClean="0"/>
              <a:t>A </a:t>
            </a:r>
            <a:r>
              <a:rPr lang="en-US" sz="2000" b="1" dirty="0" smtClean="0">
                <a:solidFill>
                  <a:srgbClr val="FF0000"/>
                </a:solidFill>
              </a:rPr>
              <a:t>Flip-Flop</a:t>
            </a:r>
            <a:r>
              <a:rPr lang="en-US" sz="2000" dirty="0" smtClean="0"/>
              <a:t> is a better memory element for synchronous circuits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 smtClean="0"/>
              <a:t>Solves the problem of latches in synchronous sequential circuits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 smtClean="0"/>
              <a:t>A </a:t>
            </a:r>
            <a:r>
              <a:rPr lang="en-US" sz="2000" b="1" dirty="0" smtClean="0">
                <a:solidFill>
                  <a:srgbClr val="FF0000"/>
                </a:solidFill>
              </a:rPr>
              <a:t>latch</a:t>
            </a:r>
            <a:r>
              <a:rPr lang="en-US" sz="2000" dirty="0" smtClean="0"/>
              <a:t> is sensitive </a:t>
            </a:r>
            <a:r>
              <a:rPr lang="en-US" sz="2000" dirty="0"/>
              <a:t>to the </a:t>
            </a:r>
            <a:r>
              <a:rPr lang="en-US" sz="2000" b="1" dirty="0">
                <a:solidFill>
                  <a:srgbClr val="FF0000"/>
                </a:solidFill>
              </a:rPr>
              <a:t>level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of the </a:t>
            </a:r>
            <a:r>
              <a:rPr lang="en-US" sz="2000" dirty="0" smtClean="0"/>
              <a:t>clock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 smtClean="0"/>
              <a:t>However, a </a:t>
            </a:r>
            <a:r>
              <a:rPr lang="en-US" sz="2000" b="1" dirty="0" smtClean="0">
                <a:solidFill>
                  <a:srgbClr val="FF0000"/>
                </a:solidFill>
              </a:rPr>
              <a:t>flip-flop</a:t>
            </a:r>
            <a:r>
              <a:rPr lang="en-US" sz="2000" dirty="0" smtClean="0"/>
              <a:t> is sensitive to the </a:t>
            </a:r>
            <a:r>
              <a:rPr lang="en-US" sz="2000" b="1" dirty="0" smtClean="0">
                <a:solidFill>
                  <a:srgbClr val="FF0000"/>
                </a:solidFill>
              </a:rPr>
              <a:t>edge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of the clock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 smtClean="0"/>
              <a:t>A flip-flop is called an </a:t>
            </a:r>
            <a:r>
              <a:rPr lang="en-US" sz="2000" b="1" dirty="0" smtClean="0">
                <a:solidFill>
                  <a:srgbClr val="FF0000"/>
                </a:solidFill>
              </a:rPr>
              <a:t>edge-triggered</a:t>
            </a:r>
            <a:r>
              <a:rPr lang="en-US" sz="2000" dirty="0" smtClean="0"/>
              <a:t> memory element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 smtClean="0"/>
              <a:t>It changes it output value at the </a:t>
            </a:r>
            <a:r>
              <a:rPr lang="en-US" sz="2000" b="1" dirty="0" smtClean="0">
                <a:solidFill>
                  <a:srgbClr val="FF0000"/>
                </a:solidFill>
              </a:rPr>
              <a:t>edge</a:t>
            </a:r>
            <a:r>
              <a:rPr lang="en-US" sz="2000" dirty="0" smtClean="0"/>
              <a:t> of the clock</a:t>
            </a:r>
            <a:endParaRPr lang="en-US" sz="2000" dirty="0"/>
          </a:p>
        </p:txBody>
      </p:sp>
      <p:grpSp>
        <p:nvGrpSpPr>
          <p:cNvPr id="55" name="Group 54"/>
          <p:cNvGrpSpPr/>
          <p:nvPr/>
        </p:nvGrpSpPr>
        <p:grpSpPr>
          <a:xfrm>
            <a:off x="666951" y="4976339"/>
            <a:ext cx="8100900" cy="1377987"/>
            <a:chOff x="722530" y="4954852"/>
            <a:chExt cx="8775975" cy="1377987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1033813" y="5579828"/>
              <a:ext cx="935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1033813" y="5579828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1969380" y="5579828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1969380" y="6132346"/>
              <a:ext cx="93556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722530" y="6132346"/>
              <a:ext cx="3112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2906666" y="5579828"/>
              <a:ext cx="935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2906666" y="5579828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3842233" y="5579828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>
              <a:off x="3842233" y="6132346"/>
              <a:ext cx="93556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4777799" y="5579828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>
              <a:off x="4777799" y="5579828"/>
              <a:ext cx="0" cy="5525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722530" y="5184195"/>
              <a:ext cx="8086439" cy="1081282"/>
              <a:chOff x="1532620" y="1500134"/>
              <a:chExt cx="6395907" cy="1444002"/>
            </a:xfrm>
          </p:grpSpPr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>
                <a:off x="1532620" y="2944136"/>
                <a:ext cx="63959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29"/>
              <p:cNvSpPr>
                <a:spLocks noChangeShapeType="1"/>
              </p:cNvSpPr>
              <p:nvPr/>
            </p:nvSpPr>
            <p:spPr bwMode="auto">
              <a:xfrm flipV="1">
                <a:off x="1532620" y="1500134"/>
                <a:ext cx="0" cy="1444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" name="Text Box 30"/>
            <p:cNvSpPr txBox="1">
              <a:spLocks noChangeArrowheads="1"/>
            </p:cNvSpPr>
            <p:nvPr/>
          </p:nvSpPr>
          <p:spPr bwMode="auto">
            <a:xfrm>
              <a:off x="8808968" y="5994285"/>
              <a:ext cx="68953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dirty="0" smtClean="0"/>
                <a:t>Time</a:t>
              </a:r>
              <a:endParaRPr lang="en-AU" altLang="en-US" sz="1600" dirty="0"/>
            </a:p>
          </p:txBody>
        </p:sp>
        <p:sp>
          <p:nvSpPr>
            <p:cNvPr id="19" name="Rectangle 33"/>
            <p:cNvSpPr>
              <a:spLocks noChangeArrowheads="1"/>
            </p:cNvSpPr>
            <p:nvPr/>
          </p:nvSpPr>
          <p:spPr bwMode="auto">
            <a:xfrm>
              <a:off x="1346815" y="5024258"/>
              <a:ext cx="1246849" cy="2777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5713366" y="5579828"/>
              <a:ext cx="1869489" cy="552518"/>
              <a:chOff x="5713366" y="1777922"/>
              <a:chExt cx="1869489" cy="552518"/>
            </a:xfrm>
          </p:grpSpPr>
          <p:sp>
            <p:nvSpPr>
              <p:cNvPr id="33" name="Line 21"/>
              <p:cNvSpPr>
                <a:spLocks noChangeShapeType="1"/>
              </p:cNvSpPr>
              <p:nvPr/>
            </p:nvSpPr>
            <p:spPr bwMode="auto">
              <a:xfrm>
                <a:off x="5713366" y="1777922"/>
                <a:ext cx="0" cy="55251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22"/>
              <p:cNvSpPr>
                <a:spLocks noChangeShapeType="1"/>
              </p:cNvSpPr>
              <p:nvPr/>
            </p:nvSpPr>
            <p:spPr bwMode="auto">
              <a:xfrm>
                <a:off x="5713366" y="2330440"/>
                <a:ext cx="93556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3"/>
              <p:cNvSpPr>
                <a:spLocks noChangeShapeType="1"/>
              </p:cNvSpPr>
              <p:nvPr/>
            </p:nvSpPr>
            <p:spPr bwMode="auto">
              <a:xfrm>
                <a:off x="6650653" y="1777922"/>
                <a:ext cx="0" cy="55251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9"/>
              <p:cNvSpPr>
                <a:spLocks noChangeShapeType="1"/>
              </p:cNvSpPr>
              <p:nvPr/>
            </p:nvSpPr>
            <p:spPr bwMode="auto">
              <a:xfrm>
                <a:off x="6647288" y="1784967"/>
                <a:ext cx="93556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7576060" y="5581623"/>
              <a:ext cx="0" cy="5525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7576060" y="6134141"/>
              <a:ext cx="9355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8513347" y="5581623"/>
              <a:ext cx="0" cy="5525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8509983" y="5588668"/>
              <a:ext cx="2989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34"/>
            <p:cNvSpPr txBox="1">
              <a:spLocks noChangeArrowheads="1"/>
            </p:cNvSpPr>
            <p:nvPr/>
          </p:nvSpPr>
          <p:spPr bwMode="auto">
            <a:xfrm>
              <a:off x="4459088" y="4959170"/>
              <a:ext cx="66598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FF0000"/>
                  </a:solidFill>
                  <a:latin typeface="Calibri" panose="020F0502020204030204" pitchFamily="34" charset="0"/>
                </a:rPr>
                <a:t>Rising edge</a:t>
              </a:r>
              <a:endParaRPr lang="en-AU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9" name="Text Box 34"/>
            <p:cNvSpPr txBox="1">
              <a:spLocks noChangeArrowheads="1"/>
            </p:cNvSpPr>
            <p:nvPr/>
          </p:nvSpPr>
          <p:spPr bwMode="auto">
            <a:xfrm>
              <a:off x="5305089" y="4959170"/>
              <a:ext cx="81009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Falling edge</a:t>
              </a:r>
              <a:endParaRPr lang="en-AU" altLang="en-US" sz="1600" b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0" name="Text Box 34"/>
            <p:cNvSpPr txBox="1">
              <a:spLocks noChangeArrowheads="1"/>
            </p:cNvSpPr>
            <p:nvPr/>
          </p:nvSpPr>
          <p:spPr bwMode="auto">
            <a:xfrm>
              <a:off x="6317494" y="4954852"/>
              <a:ext cx="66598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FF0000"/>
                  </a:solidFill>
                  <a:latin typeface="Calibri" panose="020F0502020204030204" pitchFamily="34" charset="0"/>
                </a:rPr>
                <a:t>Rising edge</a:t>
              </a:r>
              <a:endParaRPr lang="en-AU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1" name="Text Box 34"/>
            <p:cNvSpPr txBox="1">
              <a:spLocks noChangeArrowheads="1"/>
            </p:cNvSpPr>
            <p:nvPr/>
          </p:nvSpPr>
          <p:spPr bwMode="auto">
            <a:xfrm>
              <a:off x="7163495" y="4954852"/>
              <a:ext cx="81009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Falling edge</a:t>
              </a:r>
              <a:endParaRPr lang="en-AU" altLang="en-US" sz="1600" b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2" name="Text Box 34"/>
            <p:cNvSpPr txBox="1">
              <a:spLocks noChangeArrowheads="1"/>
            </p:cNvSpPr>
            <p:nvPr/>
          </p:nvSpPr>
          <p:spPr bwMode="auto">
            <a:xfrm>
              <a:off x="1181674" y="4959170"/>
              <a:ext cx="665981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FF0000"/>
                  </a:solidFill>
                  <a:latin typeface="Calibri" panose="020F0502020204030204" pitchFamily="34" charset="0"/>
                </a:rPr>
                <a:t>High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FF0000"/>
                  </a:solidFill>
                  <a:latin typeface="Calibri" panose="020F0502020204030204" pitchFamily="34" charset="0"/>
                </a:rPr>
                <a:t>Level</a:t>
              </a:r>
              <a:endParaRPr lang="en-AU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3" name="Text Box 34"/>
            <p:cNvSpPr txBox="1">
              <a:spLocks noChangeArrowheads="1"/>
            </p:cNvSpPr>
            <p:nvPr/>
          </p:nvSpPr>
          <p:spPr bwMode="auto">
            <a:xfrm>
              <a:off x="2027675" y="4959170"/>
              <a:ext cx="81009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40000"/>
                </a:spcBef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spcBef>
                  <a:spcPct val="40000"/>
                </a:spcBef>
                <a:buFont typeface="Wingdings" pitchFamily="2" charset="2"/>
                <a:buChar char="²"/>
                <a:defRPr sz="20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spcBef>
                  <a:spcPct val="40000"/>
                </a:spcBef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spcBef>
                  <a:spcPct val="40000"/>
                </a:spcBef>
                <a:buChar char="–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spcBef>
                  <a:spcPct val="40000"/>
                </a:spcBef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Low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Level</a:t>
              </a:r>
              <a:endParaRPr lang="en-AU" altLang="en-US" sz="1600" b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6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Positive Edge-Triggered D Flip-Flop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8710"/>
            <a:ext cx="8476823" cy="3195355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defRPr/>
            </a:pPr>
            <a:r>
              <a:rPr lang="en-US" sz="2000" dirty="0" smtClean="0">
                <a:cs typeface="+mj-cs"/>
              </a:rPr>
              <a:t>Built </a:t>
            </a:r>
            <a:r>
              <a:rPr lang="en-US" sz="2000" dirty="0">
                <a:cs typeface="+mj-cs"/>
              </a:rPr>
              <a:t>using two latches in a 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master-slave</a:t>
            </a:r>
            <a:r>
              <a:rPr lang="en-US" sz="2000" dirty="0">
                <a:cs typeface="+mj-cs"/>
              </a:rPr>
              <a:t> configuration</a:t>
            </a:r>
          </a:p>
          <a:p>
            <a:pPr>
              <a:spcBef>
                <a:spcPts val="1500"/>
              </a:spcBef>
              <a:defRPr/>
            </a:pPr>
            <a:r>
              <a:rPr lang="en-US" sz="2000" dirty="0">
                <a:cs typeface="+mj-cs"/>
              </a:rPr>
              <a:t>A master latch </a:t>
            </a:r>
            <a:r>
              <a:rPr lang="en-US" sz="2000" dirty="0" smtClean="0">
                <a:cs typeface="+mj-cs"/>
              </a:rPr>
              <a:t>(D-type) receives </a:t>
            </a:r>
            <a:r>
              <a:rPr lang="en-US" sz="2000" dirty="0">
                <a:cs typeface="+mj-cs"/>
              </a:rPr>
              <a:t>external inputs</a:t>
            </a:r>
          </a:p>
          <a:p>
            <a:pPr>
              <a:spcBef>
                <a:spcPts val="1500"/>
              </a:spcBef>
              <a:defRPr/>
            </a:pPr>
            <a:r>
              <a:rPr lang="en-US" sz="2000" dirty="0">
                <a:cs typeface="+mj-cs"/>
              </a:rPr>
              <a:t>A slave latch </a:t>
            </a:r>
            <a:r>
              <a:rPr lang="en-US" sz="2000" dirty="0" smtClean="0">
                <a:cs typeface="+mj-cs"/>
              </a:rPr>
              <a:t>(SR-type) receives </a:t>
            </a:r>
            <a:r>
              <a:rPr lang="en-US" sz="2000" dirty="0">
                <a:cs typeface="+mj-cs"/>
              </a:rPr>
              <a:t>inputs from the master latch</a:t>
            </a:r>
            <a:endParaRPr lang="ar-SA" sz="2000" dirty="0">
              <a:cs typeface="+mj-cs"/>
            </a:endParaRPr>
          </a:p>
          <a:p>
            <a:pPr>
              <a:spcBef>
                <a:spcPts val="1500"/>
              </a:spcBef>
              <a:defRPr/>
            </a:pPr>
            <a:r>
              <a:rPr lang="en-US" sz="2000" dirty="0" smtClean="0">
                <a:cs typeface="+mj-cs"/>
              </a:rPr>
              <a:t>Only </a:t>
            </a:r>
            <a:r>
              <a:rPr lang="en-US" sz="2000" dirty="0">
                <a:cs typeface="+mj-cs"/>
              </a:rPr>
              <a:t>one latch is </a:t>
            </a:r>
            <a:r>
              <a:rPr lang="en-US" sz="2000" dirty="0" smtClean="0">
                <a:cs typeface="+mj-cs"/>
              </a:rPr>
              <a:t>enabled at </a:t>
            </a:r>
            <a:r>
              <a:rPr lang="en-US" sz="2000" dirty="0">
                <a:cs typeface="+mj-cs"/>
              </a:rPr>
              <a:t>any given time</a:t>
            </a:r>
          </a:p>
          <a:p>
            <a:pPr marL="357188" lvl="1" indent="0">
              <a:spcBef>
                <a:spcPts val="1500"/>
              </a:spcBef>
              <a:buNone/>
              <a:defRPr/>
            </a:pPr>
            <a:r>
              <a:rPr lang="en-US" sz="1800" dirty="0" smtClean="0"/>
              <a:t>When </a:t>
            </a:r>
            <a:r>
              <a:rPr lang="en-US" sz="1800" b="1" dirty="0" smtClean="0">
                <a:solidFill>
                  <a:srgbClr val="0000FF"/>
                </a:solidFill>
              </a:rPr>
              <a:t>C=0</a:t>
            </a:r>
            <a:r>
              <a:rPr lang="en-US" sz="1800" dirty="0" smtClean="0"/>
              <a:t>, </a:t>
            </a:r>
            <a:r>
              <a:rPr lang="en-US" sz="1800" dirty="0"/>
              <a:t>the master </a:t>
            </a:r>
            <a:r>
              <a:rPr lang="en-US" sz="1800" dirty="0" smtClean="0"/>
              <a:t>is </a:t>
            </a:r>
            <a:r>
              <a:rPr lang="en-US" sz="1800" dirty="0"/>
              <a:t>enabled and </a:t>
            </a:r>
            <a:r>
              <a:rPr lang="en-US" sz="1800" dirty="0" smtClean="0"/>
              <a:t>the D input is latched (slave disabled)</a:t>
            </a:r>
            <a:endParaRPr lang="en-US" sz="1800" dirty="0"/>
          </a:p>
          <a:p>
            <a:pPr marL="357188" lvl="1" indent="0">
              <a:spcBef>
                <a:spcPts val="1500"/>
              </a:spcBef>
              <a:buNone/>
              <a:defRPr/>
            </a:pPr>
            <a:r>
              <a:rPr lang="en-US" sz="1800" dirty="0" smtClean="0"/>
              <a:t>When </a:t>
            </a:r>
            <a:r>
              <a:rPr lang="en-US" sz="1800" b="1" dirty="0" smtClean="0">
                <a:solidFill>
                  <a:srgbClr val="FF0000"/>
                </a:solidFill>
              </a:rPr>
              <a:t>C=1</a:t>
            </a:r>
            <a:r>
              <a:rPr lang="en-US" sz="1800" dirty="0" smtClean="0"/>
              <a:t>, </a:t>
            </a:r>
            <a:r>
              <a:rPr lang="en-US" sz="1800" dirty="0"/>
              <a:t>the </a:t>
            </a:r>
            <a:r>
              <a:rPr lang="en-US" sz="1800" dirty="0" smtClean="0"/>
              <a:t>slave </a:t>
            </a:r>
            <a:r>
              <a:rPr lang="en-US" sz="1800" dirty="0"/>
              <a:t>is </a:t>
            </a:r>
            <a:r>
              <a:rPr lang="en-US" sz="1800" dirty="0" smtClean="0"/>
              <a:t>enabled </a:t>
            </a:r>
            <a:r>
              <a:rPr lang="en-US" sz="1800" dirty="0"/>
              <a:t>to generate the </a:t>
            </a:r>
            <a:r>
              <a:rPr lang="en-US" sz="1800" dirty="0" smtClean="0"/>
              <a:t>outputs (master is disabled)</a:t>
            </a:r>
            <a:endParaRPr 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7355388" y="4419111"/>
            <a:ext cx="1329377" cy="2025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 smtClean="0">
                <a:latin typeface="+mn-lt"/>
                <a:cs typeface="Times New Roman" panose="02020603050405020304" pitchFamily="18" charset="0"/>
              </a:rPr>
              <a:t>Outputs change when C changes </a:t>
            </a:r>
            <a:r>
              <a:rPr lang="en-US" sz="2000" b="1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from 0 to 1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08494" y="4090970"/>
            <a:ext cx="6460907" cy="2456576"/>
            <a:chOff x="767535" y="4090970"/>
            <a:chExt cx="6999316" cy="2456576"/>
          </a:xfrm>
        </p:grpSpPr>
        <p:grpSp>
          <p:nvGrpSpPr>
            <p:cNvPr id="7" name="Group 6"/>
            <p:cNvGrpSpPr/>
            <p:nvPr/>
          </p:nvGrpSpPr>
          <p:grpSpPr>
            <a:xfrm>
              <a:off x="767535" y="4090970"/>
              <a:ext cx="6999316" cy="2456576"/>
              <a:chOff x="767535" y="4122774"/>
              <a:chExt cx="6999316" cy="2456576"/>
            </a:xfrm>
          </p:grpSpPr>
          <p:pic>
            <p:nvPicPr>
              <p:cNvPr id="4" name="Picture 2" descr="AADZMCG0.jpg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671"/>
              <a:stretch/>
            </p:blipFill>
            <p:spPr bwMode="auto">
              <a:xfrm>
                <a:off x="767535" y="4122774"/>
                <a:ext cx="6999316" cy="2456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3552283" y="4657934"/>
                <a:ext cx="589891" cy="367246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 smtClean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Master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067737" y="4657934"/>
                <a:ext cx="589891" cy="367246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 smtClean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Slave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592960" y="4109382"/>
              <a:ext cx="419346" cy="1074813"/>
              <a:chOff x="4592960" y="4109382"/>
              <a:chExt cx="419346" cy="10748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592960" y="4109382"/>
                    <a:ext cx="419346" cy="315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 smtClean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60" y="4109382"/>
                    <a:ext cx="419346" cy="315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2899" b="-2115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4592960" y="4869160"/>
                    <a:ext cx="419346" cy="315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en-US" dirty="0" smtClean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60" y="4869160"/>
                    <a:ext cx="419346" cy="31503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2899" b="-2549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97396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Negative Edge-Triggered D Flip-Flop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150" y="998730"/>
            <a:ext cx="8516331" cy="270030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defRPr/>
            </a:pPr>
            <a:r>
              <a:rPr lang="en-US" sz="2000" dirty="0" smtClean="0"/>
              <a:t>Similar to positive edge-triggered flip-flop</a:t>
            </a:r>
            <a:endParaRPr lang="en-US" sz="2000" dirty="0"/>
          </a:p>
          <a:p>
            <a:pPr>
              <a:spcBef>
                <a:spcPts val="1500"/>
              </a:spcBef>
              <a:defRPr/>
            </a:pPr>
            <a:r>
              <a:rPr lang="en-US" sz="2000" dirty="0" smtClean="0"/>
              <a:t>The first inverter at the Master C input is removed</a:t>
            </a:r>
            <a:endParaRPr lang="ar-SA" sz="2000" dirty="0"/>
          </a:p>
          <a:p>
            <a:pPr>
              <a:spcBef>
                <a:spcPts val="1500"/>
              </a:spcBef>
              <a:defRPr/>
            </a:pPr>
            <a:r>
              <a:rPr lang="en-US" sz="2000" dirty="0"/>
              <a:t>Only one latch is enabled at any given time</a:t>
            </a:r>
          </a:p>
          <a:p>
            <a:pPr marL="357188" lvl="1" indent="0">
              <a:spcBef>
                <a:spcPts val="1500"/>
              </a:spcBef>
              <a:buNone/>
              <a:defRPr/>
            </a:pPr>
            <a:r>
              <a:rPr lang="en-US" sz="1800" dirty="0"/>
              <a:t>When </a:t>
            </a:r>
            <a:r>
              <a:rPr lang="en-US" sz="1800" b="1" dirty="0" smtClean="0">
                <a:solidFill>
                  <a:srgbClr val="FF0000"/>
                </a:solidFill>
              </a:rPr>
              <a:t>C=1</a:t>
            </a:r>
            <a:r>
              <a:rPr lang="en-US" sz="1800" dirty="0" smtClean="0"/>
              <a:t>, </a:t>
            </a:r>
            <a:r>
              <a:rPr lang="en-US" sz="1800" dirty="0"/>
              <a:t>the master is enabled and the D input is latched (slave disabled)</a:t>
            </a:r>
          </a:p>
          <a:p>
            <a:pPr marL="357188" lvl="1" indent="0">
              <a:spcBef>
                <a:spcPts val="1500"/>
              </a:spcBef>
              <a:buNone/>
              <a:defRPr/>
            </a:pPr>
            <a:r>
              <a:rPr lang="en-US" sz="1800" dirty="0"/>
              <a:t>When </a:t>
            </a:r>
            <a:r>
              <a:rPr lang="en-US" sz="1800" b="1" dirty="0" smtClean="0">
                <a:solidFill>
                  <a:srgbClr val="0000FF"/>
                </a:solidFill>
              </a:rPr>
              <a:t>C=0</a:t>
            </a:r>
            <a:r>
              <a:rPr lang="en-US" sz="1800" dirty="0" smtClean="0"/>
              <a:t>, </a:t>
            </a:r>
            <a:r>
              <a:rPr lang="en-US" sz="1800" dirty="0"/>
              <a:t>the slave is enabled to generate the outputs (master is disabled</a:t>
            </a:r>
            <a:r>
              <a:rPr lang="en-US" sz="1800" dirty="0" smtClean="0"/>
              <a:t>)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7272300" y="4104076"/>
            <a:ext cx="1329377" cy="2025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 smtClean="0">
                <a:latin typeface="+mn-lt"/>
                <a:cs typeface="Times New Roman" panose="02020603050405020304" pitchFamily="18" charset="0"/>
              </a:rPr>
              <a:t>Outputs change when C changes </a:t>
            </a:r>
            <a:r>
              <a:rPr lang="en-US" sz="2000" b="1" dirty="0" smtClean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from 1 to 0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96542" y="3969280"/>
            <a:ext cx="6077241" cy="2430051"/>
            <a:chOff x="754587" y="3969279"/>
            <a:chExt cx="6583678" cy="2430051"/>
          </a:xfrm>
        </p:grpSpPr>
        <p:grpSp>
          <p:nvGrpSpPr>
            <p:cNvPr id="7" name="Group 6"/>
            <p:cNvGrpSpPr>
              <a:grpSpLocks noChangeAspect="1"/>
            </p:cNvGrpSpPr>
            <p:nvPr/>
          </p:nvGrpSpPr>
          <p:grpSpPr>
            <a:xfrm>
              <a:off x="754587" y="3969279"/>
              <a:ext cx="6583678" cy="2430051"/>
              <a:chOff x="457200" y="3429000"/>
              <a:chExt cx="8229600" cy="3037564"/>
            </a:xfrm>
          </p:grpSpPr>
          <p:pic>
            <p:nvPicPr>
              <p:cNvPr id="4" name="Picture 3" descr="AADZMEX0.jpg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520"/>
              <a:stretch/>
            </p:blipFill>
            <p:spPr bwMode="auto">
              <a:xfrm>
                <a:off x="457200" y="3429000"/>
                <a:ext cx="8229600" cy="3037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3062790" y="4118077"/>
                <a:ext cx="734380" cy="457200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 smtClean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Master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333855" y="4118077"/>
                <a:ext cx="734380" cy="457200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 smtClean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Slave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827875" y="3987348"/>
              <a:ext cx="419346" cy="1119818"/>
              <a:chOff x="4592960" y="4064377"/>
              <a:chExt cx="419346" cy="11198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4592960" y="4064377"/>
                    <a:ext cx="419346" cy="315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 smtClean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60" y="4064377"/>
                    <a:ext cx="419346" cy="315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4348" b="-2115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4592960" y="4869160"/>
                    <a:ext cx="419346" cy="315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en-US" dirty="0" smtClean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60" y="4869160"/>
                    <a:ext cx="419346" cy="31503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4348" b="-2307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70048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D Flip-Flop Timing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79" y="998730"/>
            <a:ext cx="8183986" cy="2430270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sz="2000" dirty="0" smtClean="0"/>
              <a:t>The diagram shows the timing of a positive edge D Flip-Flop</a:t>
            </a:r>
          </a:p>
          <a:p>
            <a:pPr>
              <a:spcBef>
                <a:spcPts val="2000"/>
              </a:spcBef>
            </a:pPr>
            <a:r>
              <a:rPr lang="en-US" sz="2000" dirty="0" smtClean="0"/>
              <a:t>The rising edge of the clock triggers </a:t>
            </a:r>
            <a:r>
              <a:rPr lang="en-US" sz="2000" dirty="0"/>
              <a:t>the </a:t>
            </a:r>
            <a:r>
              <a:rPr lang="en-US" sz="2000" dirty="0" smtClean="0"/>
              <a:t>D Flip-Flop</a:t>
            </a:r>
            <a:endParaRPr lang="en-US" sz="2000" dirty="0"/>
          </a:p>
          <a:p>
            <a:pPr>
              <a:spcBef>
                <a:spcPts val="2000"/>
              </a:spcBef>
            </a:pPr>
            <a:r>
              <a:rPr lang="en-US" sz="2000" dirty="0" smtClean="0"/>
              <a:t>Initially</a:t>
            </a:r>
            <a:r>
              <a:rPr lang="en-US" sz="2000" dirty="0"/>
              <a:t>, the </a:t>
            </a:r>
            <a:r>
              <a:rPr lang="en-US" sz="2000" dirty="0" smtClean="0"/>
              <a:t>value </a:t>
            </a:r>
            <a:r>
              <a:rPr lang="en-US" sz="2000" dirty="0"/>
              <a:t>of </a:t>
            </a:r>
            <a:r>
              <a:rPr lang="en-US" sz="2000" i="1" dirty="0" smtClean="0"/>
              <a:t>q</a:t>
            </a:r>
            <a:r>
              <a:rPr lang="en-US" sz="2000" dirty="0" smtClean="0"/>
              <a:t> </a:t>
            </a:r>
            <a:r>
              <a:rPr lang="en-US" sz="2000" dirty="0"/>
              <a:t>might be unknown</a:t>
            </a:r>
          </a:p>
          <a:p>
            <a:pPr>
              <a:spcBef>
                <a:spcPts val="2000"/>
              </a:spcBef>
            </a:pPr>
            <a:r>
              <a:rPr lang="en-US" sz="2000" dirty="0" smtClean="0"/>
              <a:t>Notice the slight delay in the output </a:t>
            </a:r>
            <a:r>
              <a:rPr lang="en-US" sz="2000" i="1" dirty="0" smtClean="0"/>
              <a:t>q</a:t>
            </a:r>
            <a:r>
              <a:rPr lang="en-US" sz="2000" dirty="0" smtClean="0"/>
              <a:t> (after the rising edge)</a:t>
            </a:r>
          </a:p>
        </p:txBody>
      </p:sp>
      <p:pic>
        <p:nvPicPr>
          <p:cNvPr id="1026" name="Picture 2" descr="C:\Users\mudawar\Documents\+COE 202\202 Lectures\D-FlipFlopTim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2" y="3879051"/>
            <a:ext cx="8729297" cy="225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70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Graphic Symbols for Flip-Flops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24056"/>
            <a:ext cx="8229600" cy="2520279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sz="2400" dirty="0" smtClean="0"/>
              <a:t>A Flip-Flop has a similar symbol to a Latch</a:t>
            </a:r>
          </a:p>
          <a:p>
            <a:pPr>
              <a:spcBef>
                <a:spcPts val="2000"/>
              </a:spcBef>
            </a:pPr>
            <a:r>
              <a:rPr lang="en-US" sz="2400" dirty="0" smtClean="0"/>
              <a:t>The difference is the arrowhead at the clock input </a:t>
            </a:r>
            <a:r>
              <a:rPr lang="en-US" sz="2400" i="1" dirty="0" smtClean="0"/>
              <a:t>C</a:t>
            </a:r>
          </a:p>
          <a:p>
            <a:pPr>
              <a:spcBef>
                <a:spcPts val="2000"/>
              </a:spcBef>
            </a:pPr>
            <a:r>
              <a:rPr lang="en-US" sz="2400" dirty="0" smtClean="0"/>
              <a:t>The arrowhead indicates sensitivity to the edge of the clock</a:t>
            </a:r>
          </a:p>
          <a:p>
            <a:pPr>
              <a:spcBef>
                <a:spcPts val="2000"/>
              </a:spcBef>
            </a:pPr>
            <a:r>
              <a:rPr lang="en-US" sz="2400" dirty="0" smtClean="0"/>
              <a:t>A bubble at the </a:t>
            </a:r>
            <a:r>
              <a:rPr lang="en-US" sz="2400" i="1" dirty="0" smtClean="0"/>
              <a:t>C</a:t>
            </a:r>
            <a:r>
              <a:rPr lang="en-US" sz="2400" dirty="0" smtClean="0"/>
              <a:t> input indicates negative edge-triggered FF</a:t>
            </a:r>
            <a:endParaRPr lang="en-US" sz="2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373183" y="1448781"/>
            <a:ext cx="2658759" cy="1845205"/>
            <a:chOff x="1487615" y="1313765"/>
            <a:chExt cx="2880322" cy="1845205"/>
          </a:xfrm>
        </p:grpSpPr>
        <p:grpSp>
          <p:nvGrpSpPr>
            <p:cNvPr id="4" name="Group 3"/>
            <p:cNvGrpSpPr/>
            <p:nvPr/>
          </p:nvGrpSpPr>
          <p:grpSpPr>
            <a:xfrm>
              <a:off x="1487615" y="1313765"/>
              <a:ext cx="2880322" cy="1845205"/>
              <a:chOff x="317484" y="1313765"/>
              <a:chExt cx="2880322" cy="18452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317484" y="144699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484" y="144699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2203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317484" y="256854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3" name="TextBox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484" y="256854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1864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/>
              <p:cNvGrpSpPr/>
              <p:nvPr/>
            </p:nvGrpSpPr>
            <p:grpSpPr>
              <a:xfrm>
                <a:off x="632520" y="1689248"/>
                <a:ext cx="2160240" cy="1107894"/>
                <a:chOff x="632520" y="1689248"/>
                <a:chExt cx="2340260" cy="1107894"/>
              </a:xfrm>
            </p:grpSpPr>
            <p:cxnSp>
              <p:nvCxnSpPr>
                <p:cNvPr id="12" name="Straight Connector 11"/>
                <p:cNvCxnSpPr/>
                <p:nvPr/>
              </p:nvCxnSpPr>
              <p:spPr>
                <a:xfrm>
                  <a:off x="632520" y="1689248"/>
                  <a:ext cx="234026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632520" y="2797142"/>
                  <a:ext cx="234026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2837765" y="144699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5" name="TextBox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7765" y="144699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25424" r="-6780" b="-1466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837765" y="256854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sz="24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24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ba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TextBox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7765" y="256854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2252700" y="2699181"/>
                <a:ext cx="180020" cy="1800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037565" y="1313765"/>
                <a:ext cx="1215135" cy="1845205"/>
              </a:xfrm>
              <a:prstGeom prst="rect">
                <a:avLst/>
              </a:prstGeom>
              <a:solidFill>
                <a:srgbClr val="FFE1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0" i="0" dirty="0" smtClean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D Flip</a:t>
                </a:r>
                <a:endParaRPr lang="en-US" sz="2400" b="0" i="1" dirty="0" smtClean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sz="2400" b="0" i="0" dirty="0" smtClean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Flop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</a:t>
                </a:r>
              </a:p>
            </p:txBody>
          </p:sp>
        </p:grpSp>
        <p:sp>
          <p:nvSpPr>
            <p:cNvPr id="14" name="Isosceles Triangle 13"/>
            <p:cNvSpPr/>
            <p:nvPr/>
          </p:nvSpPr>
          <p:spPr>
            <a:xfrm rot="5400000">
              <a:off x="2208589" y="2675347"/>
              <a:ext cx="226814" cy="2286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987431" y="1448781"/>
            <a:ext cx="2658759" cy="1845205"/>
            <a:chOff x="1487615" y="1313765"/>
            <a:chExt cx="2880322" cy="1845205"/>
          </a:xfrm>
        </p:grpSpPr>
        <p:grpSp>
          <p:nvGrpSpPr>
            <p:cNvPr id="17" name="Group 16"/>
            <p:cNvGrpSpPr/>
            <p:nvPr/>
          </p:nvGrpSpPr>
          <p:grpSpPr>
            <a:xfrm>
              <a:off x="1487615" y="1313765"/>
              <a:ext cx="2880322" cy="1845205"/>
              <a:chOff x="317484" y="1313765"/>
              <a:chExt cx="2880322" cy="18452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317484" y="144699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484" y="144699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2203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317484" y="256854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484" y="256854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1694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" name="Group 20"/>
              <p:cNvGrpSpPr/>
              <p:nvPr/>
            </p:nvGrpSpPr>
            <p:grpSpPr>
              <a:xfrm>
                <a:off x="632520" y="1689248"/>
                <a:ext cx="2160240" cy="1107894"/>
                <a:chOff x="632520" y="1689248"/>
                <a:chExt cx="2340260" cy="1107894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>
                  <a:off x="632520" y="1689248"/>
                  <a:ext cx="234026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632520" y="2797142"/>
                  <a:ext cx="234026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837765" y="144699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5" name="TextBox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7765" y="144699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25424" r="-6780" b="-14667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2837765" y="2568542"/>
                    <a:ext cx="360041" cy="4572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sz="24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24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</m:ba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TextBox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7765" y="2568542"/>
                    <a:ext cx="360041" cy="457200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Oval 23"/>
              <p:cNvSpPr/>
              <p:nvPr/>
            </p:nvSpPr>
            <p:spPr>
              <a:xfrm>
                <a:off x="2252700" y="2699181"/>
                <a:ext cx="180020" cy="1800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037565" y="1313765"/>
                <a:ext cx="1215135" cy="1845205"/>
              </a:xfrm>
              <a:prstGeom prst="rect">
                <a:avLst/>
              </a:prstGeom>
              <a:solidFill>
                <a:srgbClr val="FFE1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b="0" i="0" dirty="0" smtClean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D Flip</a:t>
                </a:r>
                <a:endParaRPr lang="en-US" sz="2400" b="0" i="1" dirty="0" smtClean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sz="2400" b="0" i="0" dirty="0" smtClean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Flop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</a:t>
                </a: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857544" y="2693018"/>
                <a:ext cx="180020" cy="1800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smtClean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Isosceles Triangle 17"/>
            <p:cNvSpPr/>
            <p:nvPr/>
          </p:nvSpPr>
          <p:spPr>
            <a:xfrm rot="5400000">
              <a:off x="2208589" y="2675347"/>
              <a:ext cx="226814" cy="2286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57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 Flip-Flop with Asynchronous Reset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3715"/>
            <a:ext cx="8435280" cy="279031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400" dirty="0" smtClean="0"/>
              <a:t>When Flip-Flops are powered, their initial state is unknown</a:t>
            </a:r>
            <a:endParaRPr lang="en-US" sz="2400" dirty="0"/>
          </a:p>
          <a:p>
            <a:pPr>
              <a:spcBef>
                <a:spcPts val="1500"/>
              </a:spcBef>
            </a:pPr>
            <a:r>
              <a:rPr lang="en-US" sz="2400" dirty="0" smtClean="0"/>
              <a:t>Some flip-flops have an </a:t>
            </a:r>
            <a:r>
              <a:rPr lang="en-US" sz="2400" b="1" dirty="0" smtClean="0">
                <a:solidFill>
                  <a:srgbClr val="FF0000"/>
                </a:solidFill>
              </a:rPr>
              <a:t>Asynchronous Reset</a:t>
            </a:r>
            <a:r>
              <a:rPr lang="en-US" sz="2400" dirty="0" smtClean="0"/>
              <a:t> input </a:t>
            </a:r>
            <a:r>
              <a:rPr lang="en-US" sz="2400" i="1" dirty="0" smtClean="0"/>
              <a:t>R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Resets the state (to logic value </a:t>
            </a:r>
            <a:r>
              <a:rPr lang="en-US" sz="2400" b="1" dirty="0" smtClean="0"/>
              <a:t>0</a:t>
            </a:r>
            <a:r>
              <a:rPr lang="en-US" sz="2400" dirty="0" smtClean="0"/>
              <a:t>), independent of the clock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This is required to initialize a circuit before operation</a:t>
            </a:r>
          </a:p>
          <a:p>
            <a:pPr>
              <a:spcBef>
                <a:spcPts val="1500"/>
              </a:spcBef>
            </a:pPr>
            <a:r>
              <a:rPr lang="en-US" sz="2400" dirty="0" smtClean="0"/>
              <a:t>If the </a:t>
            </a:r>
            <a:r>
              <a:rPr lang="en-US" sz="2400" i="1" dirty="0" smtClean="0"/>
              <a:t>R</a:t>
            </a:r>
            <a:r>
              <a:rPr lang="en-US" sz="2400" dirty="0" smtClean="0"/>
              <a:t> input is inverted (bubble) then </a:t>
            </a:r>
            <a:r>
              <a:rPr lang="en-US" sz="2400" i="1" dirty="0" smtClean="0"/>
              <a:t>R</a:t>
            </a:r>
            <a:r>
              <a:rPr lang="en-US" sz="2400" dirty="0" smtClean="0"/>
              <a:t> = 0 resets the flip-flop </a:t>
            </a:r>
            <a:endParaRPr lang="en-US" sz="24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999296" y="3789041"/>
            <a:ext cx="3032646" cy="2715739"/>
            <a:chOff x="1082570" y="3564015"/>
            <a:chExt cx="3285367" cy="2715739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2837765" y="5409220"/>
              <a:ext cx="0" cy="45005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082570" y="3697242"/>
                  <a:ext cx="720082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𝐷𝑎𝑡𝑎</m:t>
                      </m:r>
                    </m:oMath>
                  </a14:m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570" y="3697242"/>
                  <a:ext cx="720082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254" r="-847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217585" y="4818792"/>
                  <a:ext cx="585066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  <a:cs typeface="Times New Roman" panose="02020603050405020304" pitchFamily="18" charset="0"/>
                        </a:rPr>
                        <m:t>𝐶𝑙𝑘</m:t>
                      </m:r>
                    </m:oMath>
                  </a14:m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7585" y="4818792"/>
                  <a:ext cx="585066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875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/>
            <p:cNvGrpSpPr/>
            <p:nvPr/>
          </p:nvGrpSpPr>
          <p:grpSpPr>
            <a:xfrm>
              <a:off x="1802651" y="3939498"/>
              <a:ext cx="2160240" cy="1107894"/>
              <a:chOff x="632520" y="1689248"/>
              <a:chExt cx="2340260" cy="1107894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632520" y="1689248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32520" y="2797142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007896" y="369724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896" y="3697242"/>
                  <a:ext cx="360041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5000" r="-5000" b="-1466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007896" y="4818792"/>
                  <a:ext cx="360041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ba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896" y="4818792"/>
                  <a:ext cx="360041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/>
            <p:cNvSpPr/>
            <p:nvPr/>
          </p:nvSpPr>
          <p:spPr>
            <a:xfrm>
              <a:off x="3422831" y="4949431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07696" y="3564015"/>
              <a:ext cx="1215135" cy="1845205"/>
            </a:xfrm>
            <a:prstGeom prst="rect">
              <a:avLst/>
            </a:prstGeom>
            <a:solidFill>
              <a:srgbClr val="FF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400" b="0" i="0" dirty="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D Flip</a:t>
              </a:r>
              <a:endParaRPr lang="en-US" sz="2400" b="0" i="1" dirty="0" smtClean="0">
                <a:solidFill>
                  <a:schemeClr val="tx1"/>
                </a:solidFill>
                <a:latin typeface="Calibri" panose="020F050202020403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2400" b="0" i="0" dirty="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Flop</a:t>
              </a:r>
              <a:r>
                <a:rPr lang="en-US" sz="2400" dirty="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 </a:t>
              </a:r>
            </a:p>
          </p:txBody>
        </p:sp>
        <p:sp>
          <p:nvSpPr>
            <p:cNvPr id="6" name="Isosceles Triangle 5"/>
            <p:cNvSpPr/>
            <p:nvPr/>
          </p:nvSpPr>
          <p:spPr>
            <a:xfrm rot="5400000">
              <a:off x="2208589" y="4925597"/>
              <a:ext cx="226814" cy="2286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702750" y="5904275"/>
                  <a:ext cx="360040" cy="375479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2750" y="5904275"/>
                  <a:ext cx="360040" cy="37547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6949" b="-806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Oval 36"/>
            <p:cNvSpPr/>
            <p:nvPr/>
          </p:nvSpPr>
          <p:spPr>
            <a:xfrm>
              <a:off x="2747755" y="5409220"/>
              <a:ext cx="180020" cy="1800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0035483"/>
                  </p:ext>
                </p:extLst>
              </p:nvPr>
            </p:nvGraphicFramePr>
            <p:xfrm>
              <a:off x="4945888" y="3755179"/>
              <a:ext cx="3489618" cy="23291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4689"/>
                    <a:gridCol w="747775"/>
                    <a:gridCol w="752540"/>
                    <a:gridCol w="658959"/>
                    <a:gridCol w="665655"/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Inputs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b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/>
                    </a:tc>
                    <a:tc hMerge="1">
                      <a:txBody>
                        <a:bodyPr/>
                        <a:lstStyle/>
                        <a:p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</a:rPr>
                            <a:t>Outputs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4406" marR="84406" anchor="b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4406" marR="84406" anchor="b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𝐷𝑎𝑡𝑎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4406" marR="84406" anchor="b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𝐶𝑙𝑘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4406" marR="84406" anchor="b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4406" marR="84406" anchor="b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𝑄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4406" marR="84406" anchor="b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↑</a:t>
                          </a:r>
                          <a:endParaRPr lang="en-US" sz="2400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↑</a:t>
                          </a:r>
                        </a:p>
                      </a:txBody>
                      <a:tcPr marL="84406" marR="84406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5720938"/>
                  </p:ext>
                </p:extLst>
              </p:nvPr>
            </p:nvGraphicFramePr>
            <p:xfrm>
              <a:off x="5358045" y="3755178"/>
              <a:ext cx="3780420" cy="23291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80"/>
                    <a:gridCol w="810090"/>
                    <a:gridCol w="815252"/>
                    <a:gridCol w="713872"/>
                    <a:gridCol w="721126"/>
                  </a:tblGrid>
                  <a:tr h="4572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Inputs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b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/>
                    </a:tc>
                    <a:tc hMerge="1">
                      <a:txBody>
                        <a:bodyPr/>
                        <a:lstStyle/>
                        <a:p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</a:rPr>
                            <a:t>Outputs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/>
                    </a:tc>
                  </a:tr>
                  <a:tr h="5003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l="-847" t="-101220" r="-426271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l="-89474" t="-101220" r="-278195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l="-188060" t="-101220" r="-17611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l="-329915" t="-101220" r="-10170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l="-426271" t="-101220" r="-847" b="-302439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↑</a:t>
                          </a:r>
                          <a:endParaRPr lang="en-US" sz="2400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↑</a:t>
                          </a:r>
                        </a:p>
                      </a:txBody>
                      <a:tcPr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400" dirty="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9" name="TextBox 38"/>
          <p:cNvSpPr txBox="1"/>
          <p:nvPr/>
        </p:nvSpPr>
        <p:spPr>
          <a:xfrm>
            <a:off x="5942922" y="6129300"/>
            <a:ext cx="1744809" cy="450764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000" b="1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Function Table</a:t>
            </a:r>
          </a:p>
        </p:txBody>
      </p:sp>
    </p:spTree>
    <p:extLst>
      <p:ext uri="{BB962C8B-B14F-4D97-AF65-F5344CB8AC3E}">
        <p14:creationId xmlns:p14="http://schemas.microsoft.com/office/powerpoint/2010/main" val="50049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JK Flip-Flop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64" y="818710"/>
            <a:ext cx="8724047" cy="261029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dirty="0" smtClean="0"/>
              <a:t>The </a:t>
            </a:r>
            <a:r>
              <a:rPr lang="en-US" sz="2400" i="1" dirty="0" smtClean="0"/>
              <a:t>D</a:t>
            </a:r>
            <a:r>
              <a:rPr lang="en-US" sz="2400" dirty="0" smtClean="0"/>
              <a:t> Flip-Flop is the most commonly used type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The </a:t>
            </a:r>
            <a:r>
              <a:rPr lang="en-US" sz="2400" i="1" dirty="0" smtClean="0"/>
              <a:t>JK</a:t>
            </a:r>
            <a:r>
              <a:rPr lang="en-US" sz="2400" dirty="0" smtClean="0"/>
              <a:t> is another type of Flip-Flop with inputs: </a:t>
            </a:r>
            <a:r>
              <a:rPr lang="en-US" sz="2400" i="1" dirty="0" smtClean="0"/>
              <a:t>J, K</a:t>
            </a:r>
            <a:r>
              <a:rPr lang="en-US" sz="2400" dirty="0" smtClean="0"/>
              <a:t>, and </a:t>
            </a:r>
            <a:r>
              <a:rPr lang="en-US" sz="2400" i="1" dirty="0" err="1" smtClean="0"/>
              <a:t>Clk</a:t>
            </a:r>
            <a:endParaRPr lang="en-US" sz="2400" i="1" dirty="0" smtClean="0"/>
          </a:p>
          <a:p>
            <a:pPr>
              <a:spcBef>
                <a:spcPts val="1200"/>
              </a:spcBef>
            </a:pPr>
            <a:r>
              <a:rPr lang="en-US" sz="2400" dirty="0" smtClean="0"/>
              <a:t>When </a:t>
            </a:r>
            <a:r>
              <a:rPr lang="en-US" sz="2400" i="1" dirty="0" smtClean="0"/>
              <a:t>JK</a:t>
            </a:r>
            <a:r>
              <a:rPr lang="en-US" sz="2400" dirty="0" smtClean="0"/>
              <a:t> = 10 </a:t>
            </a:r>
            <a:r>
              <a:rPr lang="en-US" sz="2400" dirty="0" smtClean="0">
                <a:sym typeface="Wingdings" panose="05000000000000000000" pitchFamily="2" charset="2"/>
              </a:rPr>
              <a:t> </a:t>
            </a:r>
            <a:r>
              <a:rPr lang="en-US" sz="2400" dirty="0" smtClean="0"/>
              <a:t>Set, When </a:t>
            </a:r>
            <a:r>
              <a:rPr lang="en-US" sz="2400" i="1" dirty="0" smtClean="0"/>
              <a:t>JK</a:t>
            </a:r>
            <a:r>
              <a:rPr lang="en-US" sz="2400" dirty="0" smtClean="0"/>
              <a:t> = 01 </a:t>
            </a:r>
            <a:r>
              <a:rPr lang="en-US" sz="2400" dirty="0" smtClean="0">
                <a:sym typeface="Wingdings" panose="05000000000000000000" pitchFamily="2" charset="2"/>
              </a:rPr>
              <a:t> </a:t>
            </a:r>
            <a:r>
              <a:rPr lang="en-US" sz="2400" dirty="0" smtClean="0"/>
              <a:t>Reset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When</a:t>
            </a:r>
            <a:r>
              <a:rPr lang="en-US" sz="2400" i="1" dirty="0" smtClean="0"/>
              <a:t> JK</a:t>
            </a:r>
            <a:r>
              <a:rPr lang="en-US" sz="2400" dirty="0" smtClean="0"/>
              <a:t> = 00 </a:t>
            </a:r>
            <a:r>
              <a:rPr lang="en-US" sz="2400" dirty="0" smtClean="0">
                <a:sym typeface="Wingdings" panose="05000000000000000000" pitchFamily="2" charset="2"/>
              </a:rPr>
              <a:t> </a:t>
            </a:r>
            <a:r>
              <a:rPr lang="en-US" sz="2400" dirty="0" smtClean="0"/>
              <a:t>No change, When </a:t>
            </a:r>
            <a:r>
              <a:rPr lang="en-US" sz="2400" i="1" dirty="0" smtClean="0"/>
              <a:t>JK</a:t>
            </a:r>
            <a:r>
              <a:rPr lang="en-US" sz="2400" dirty="0" smtClean="0"/>
              <a:t> = 11 </a:t>
            </a:r>
            <a:r>
              <a:rPr lang="en-US" sz="2400" dirty="0" smtClean="0">
                <a:sym typeface="Wingdings" panose="05000000000000000000" pitchFamily="2" charset="2"/>
              </a:rPr>
              <a:t> Invert </a:t>
            </a:r>
            <a:r>
              <a:rPr lang="en-US" sz="2400" dirty="0" smtClean="0"/>
              <a:t>outputs</a:t>
            </a:r>
          </a:p>
          <a:p>
            <a:pPr>
              <a:spcBef>
                <a:spcPts val="1200"/>
              </a:spcBef>
            </a:pPr>
            <a:r>
              <a:rPr lang="en-US" sz="2400" i="1" dirty="0" smtClean="0"/>
              <a:t>JK</a:t>
            </a:r>
            <a:r>
              <a:rPr lang="en-US" sz="2400" dirty="0" smtClean="0"/>
              <a:t> can be implemented using two Clocked </a:t>
            </a:r>
            <a:r>
              <a:rPr lang="en-US" sz="2400" i="1" dirty="0" smtClean="0"/>
              <a:t>SR</a:t>
            </a:r>
            <a:r>
              <a:rPr lang="en-US" sz="2400" dirty="0" smtClean="0"/>
              <a:t> latches and gates</a:t>
            </a:r>
            <a:endParaRPr lang="en-US" sz="2400" dirty="0"/>
          </a:p>
        </p:txBody>
      </p:sp>
      <p:grpSp>
        <p:nvGrpSpPr>
          <p:cNvPr id="73" name="Group 72"/>
          <p:cNvGrpSpPr/>
          <p:nvPr/>
        </p:nvGrpSpPr>
        <p:grpSpPr>
          <a:xfrm>
            <a:off x="583865" y="3742864"/>
            <a:ext cx="7560840" cy="2746476"/>
            <a:chOff x="407495" y="3705308"/>
            <a:chExt cx="8190910" cy="2746476"/>
          </a:xfrm>
        </p:grpSpPr>
        <p:sp>
          <p:nvSpPr>
            <p:cNvPr id="72" name="Freeform 71"/>
            <p:cNvSpPr/>
            <p:nvPr/>
          </p:nvSpPr>
          <p:spPr>
            <a:xfrm>
              <a:off x="3062789" y="5064981"/>
              <a:ext cx="3171033" cy="1097280"/>
            </a:xfrm>
            <a:custGeom>
              <a:avLst/>
              <a:gdLst>
                <a:gd name="connsiteX0" fmla="*/ 0 w 3252084"/>
                <a:gd name="connsiteY0" fmla="*/ 0 h 1097280"/>
                <a:gd name="connsiteX1" fmla="*/ 0 w 3252084"/>
                <a:gd name="connsiteY1" fmla="*/ 1097280 h 1097280"/>
                <a:gd name="connsiteX2" fmla="*/ 2242268 w 3252084"/>
                <a:gd name="connsiteY2" fmla="*/ 1097280 h 1097280"/>
                <a:gd name="connsiteX3" fmla="*/ 2242268 w 3252084"/>
                <a:gd name="connsiteY3" fmla="*/ 15902 h 1097280"/>
                <a:gd name="connsiteX4" fmla="*/ 3252084 w 3252084"/>
                <a:gd name="connsiteY4" fmla="*/ 15902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2084" h="1097280">
                  <a:moveTo>
                    <a:pt x="0" y="0"/>
                  </a:moveTo>
                  <a:lnTo>
                    <a:pt x="0" y="1097280"/>
                  </a:lnTo>
                  <a:lnTo>
                    <a:pt x="2242268" y="1097280"/>
                  </a:lnTo>
                  <a:lnTo>
                    <a:pt x="2242268" y="15902"/>
                  </a:lnTo>
                  <a:lnTo>
                    <a:pt x="3252084" y="1590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1487615" y="5184195"/>
              <a:ext cx="589564" cy="411480"/>
              <a:chOff x="1487615" y="4509120"/>
              <a:chExt cx="589564" cy="411480"/>
            </a:xfrm>
          </p:grpSpPr>
          <p:cxnSp>
            <p:nvCxnSpPr>
              <p:cNvPr id="70" name="Straight Connector 69"/>
              <p:cNvCxnSpPr/>
              <p:nvPr/>
            </p:nvCxnSpPr>
            <p:spPr>
              <a:xfrm>
                <a:off x="1712640" y="4734145"/>
                <a:ext cx="3645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1487615" y="4509120"/>
                    <a:ext cx="225024" cy="41148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7615" y="4509120"/>
                    <a:ext cx="225024" cy="411480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64865" r="-24324" b="-298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" name="Straight Connector 24"/>
            <p:cNvCxnSpPr/>
            <p:nvPr/>
          </p:nvCxnSpPr>
          <p:spPr>
            <a:xfrm>
              <a:off x="1262590" y="5065981"/>
              <a:ext cx="2000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2612741" y="4573574"/>
              <a:ext cx="3617776" cy="997105"/>
              <a:chOff x="632520" y="1689248"/>
              <a:chExt cx="2340260" cy="1107894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632520" y="1689248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632520" y="2797142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547955" y="4059070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7955" y="4059070"/>
                  <a:ext cx="324037" cy="41148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2830" r="-9434" b="-2058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547955" y="5068466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7955" y="5068466"/>
                  <a:ext cx="324037" cy="41148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320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/>
            <p:cNvSpPr/>
            <p:nvPr/>
          </p:nvSpPr>
          <p:spPr>
            <a:xfrm>
              <a:off x="4340934" y="5482514"/>
              <a:ext cx="162018" cy="1620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56307" y="4235639"/>
              <a:ext cx="1084627" cy="1660685"/>
            </a:xfrm>
            <a:prstGeom prst="rect">
              <a:avLst/>
            </a:prstGeom>
            <a:solidFill>
              <a:srgbClr val="FF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180000" rIns="0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SR Latch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310312" y="4355543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0312" y="4355543"/>
                  <a:ext cx="324037" cy="41148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20755" b="-298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310312" y="5364939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0312" y="5364939"/>
                  <a:ext cx="324037" cy="41148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6415" b="-14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3310312" y="4843207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0312" y="4843207"/>
                  <a:ext cx="324037" cy="41148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415" b="-298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Group 41"/>
            <p:cNvGrpSpPr/>
            <p:nvPr/>
          </p:nvGrpSpPr>
          <p:grpSpPr>
            <a:xfrm>
              <a:off x="7293260" y="4577025"/>
              <a:ext cx="948681" cy="997105"/>
              <a:chOff x="632520" y="1689248"/>
              <a:chExt cx="2340260" cy="1107894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632520" y="1689248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632520" y="2797142"/>
                <a:ext cx="23402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8274368" y="4358994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368" y="4358994"/>
                  <a:ext cx="324037" cy="41148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3962" r="-13208" b="-2058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8274368" y="5368390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</m:ba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368" y="5368390"/>
                  <a:ext cx="324037" cy="41148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/>
            <p:cNvSpPr/>
            <p:nvPr/>
          </p:nvSpPr>
          <p:spPr>
            <a:xfrm>
              <a:off x="7315144" y="5485965"/>
              <a:ext cx="162018" cy="1620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30517" y="4239090"/>
              <a:ext cx="1084627" cy="1660685"/>
            </a:xfrm>
            <a:prstGeom prst="rect">
              <a:avLst/>
            </a:prstGeom>
            <a:solidFill>
              <a:srgbClr val="FF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180000" rIns="0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  <a:latin typeface="Calibri" panose="020F0502020204030204" pitchFamily="34" charset="0"/>
                </a:rPr>
                <a:t>SR Latch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6284522" y="4358994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4522" y="4358994"/>
                  <a:ext cx="324037" cy="41148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20755" b="-14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6284522" y="5368390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4522" y="5368390"/>
                  <a:ext cx="324037" cy="41148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26415" b="-298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6284522" y="4846658"/>
                  <a:ext cx="32403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4522" y="4846658"/>
                  <a:ext cx="324037" cy="411480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6415" b="-14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Isosceles Triangle 52"/>
            <p:cNvSpPr/>
            <p:nvPr/>
          </p:nvSpPr>
          <p:spPr>
            <a:xfrm rot="5400000">
              <a:off x="5554049" y="4915435"/>
              <a:ext cx="373075" cy="3150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5916107" y="4993074"/>
              <a:ext cx="162018" cy="1620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256307" y="3879050"/>
              <a:ext cx="1084627" cy="3035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0" i="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Master</a:t>
              </a:r>
              <a:endParaRPr lang="en-US" sz="2000" dirty="0" smtClean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407495" y="4824155"/>
                  <a:ext cx="774087" cy="4114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𝐶𝑙𝑘</m:t>
                        </m:r>
                      </m:oMath>
                    </m:oMathPara>
                  </a14:m>
                  <a:endPara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495" y="4824155"/>
                  <a:ext cx="774087" cy="411480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298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Flowchart: Delay 58"/>
            <p:cNvSpPr/>
            <p:nvPr/>
          </p:nvSpPr>
          <p:spPr>
            <a:xfrm>
              <a:off x="2072680" y="4309814"/>
              <a:ext cx="540060" cy="514341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61" name="Flowchart: Delay 60"/>
            <p:cNvSpPr/>
            <p:nvPr/>
          </p:nvSpPr>
          <p:spPr>
            <a:xfrm>
              <a:off x="2072680" y="5307875"/>
              <a:ext cx="540060" cy="514341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213140" y="3879050"/>
              <a:ext cx="1084627" cy="3035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0" i="0" dirty="0" smtClean="0">
                  <a:latin typeface="Calibri" panose="020F0502020204030204" pitchFamily="34" charset="0"/>
                  <a:cs typeface="Times New Roman" panose="02020603050405020304" pitchFamily="18" charset="0"/>
                </a:rPr>
                <a:t>Slave</a:t>
              </a:r>
              <a:endParaRPr lang="en-US" sz="2000" dirty="0" smtClean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1892410" y="3705308"/>
              <a:ext cx="5796501" cy="1868556"/>
            </a:xfrm>
            <a:custGeom>
              <a:avLst/>
              <a:gdLst>
                <a:gd name="connsiteX0" fmla="*/ 174929 w 5796501"/>
                <a:gd name="connsiteY0" fmla="*/ 699715 h 1868556"/>
                <a:gd name="connsiteX1" fmla="*/ 0 w 5796501"/>
                <a:gd name="connsiteY1" fmla="*/ 699715 h 1868556"/>
                <a:gd name="connsiteX2" fmla="*/ 0 w 5796501"/>
                <a:gd name="connsiteY2" fmla="*/ 0 h 1868556"/>
                <a:gd name="connsiteX3" fmla="*/ 5796501 w 5796501"/>
                <a:gd name="connsiteY3" fmla="*/ 0 h 1868556"/>
                <a:gd name="connsiteX4" fmla="*/ 5796501 w 5796501"/>
                <a:gd name="connsiteY4" fmla="*/ 1868556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6501" h="1868556">
                  <a:moveTo>
                    <a:pt x="174929" y="699715"/>
                  </a:moveTo>
                  <a:lnTo>
                    <a:pt x="0" y="699715"/>
                  </a:lnTo>
                  <a:lnTo>
                    <a:pt x="0" y="0"/>
                  </a:lnTo>
                  <a:lnTo>
                    <a:pt x="5796501" y="0"/>
                  </a:lnTo>
                  <a:lnTo>
                    <a:pt x="5796501" y="186855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 flipV="1">
              <a:off x="1892411" y="4583228"/>
              <a:ext cx="6030920" cy="1868556"/>
            </a:xfrm>
            <a:custGeom>
              <a:avLst/>
              <a:gdLst>
                <a:gd name="connsiteX0" fmla="*/ 174929 w 5796501"/>
                <a:gd name="connsiteY0" fmla="*/ 699715 h 1868556"/>
                <a:gd name="connsiteX1" fmla="*/ 0 w 5796501"/>
                <a:gd name="connsiteY1" fmla="*/ 699715 h 1868556"/>
                <a:gd name="connsiteX2" fmla="*/ 0 w 5796501"/>
                <a:gd name="connsiteY2" fmla="*/ 0 h 1868556"/>
                <a:gd name="connsiteX3" fmla="*/ 5796501 w 5796501"/>
                <a:gd name="connsiteY3" fmla="*/ 0 h 1868556"/>
                <a:gd name="connsiteX4" fmla="*/ 5796501 w 5796501"/>
                <a:gd name="connsiteY4" fmla="*/ 1868556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6501" h="1868556">
                  <a:moveTo>
                    <a:pt x="174929" y="699715"/>
                  </a:moveTo>
                  <a:lnTo>
                    <a:pt x="0" y="699715"/>
                  </a:lnTo>
                  <a:lnTo>
                    <a:pt x="0" y="0"/>
                  </a:lnTo>
                  <a:lnTo>
                    <a:pt x="5796501" y="0"/>
                  </a:lnTo>
                  <a:lnTo>
                    <a:pt x="5796501" y="186855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1487615" y="4509120"/>
              <a:ext cx="589564" cy="411480"/>
              <a:chOff x="1487615" y="4509120"/>
              <a:chExt cx="589564" cy="411480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>
                <a:off x="1712640" y="4734145"/>
                <a:ext cx="3645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1487615" y="4509120"/>
                    <a:ext cx="225024" cy="41148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𝐽</m:t>
                          </m:r>
                        </m:oMath>
                      </m:oMathPara>
                    </a14:m>
                    <a:endPara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7" name="TextBox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7615" y="4509120"/>
                    <a:ext cx="225024" cy="411480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54054" r="-16216" b="-2238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4" name="Isosceles Triangle 73"/>
            <p:cNvSpPr/>
            <p:nvPr/>
          </p:nvSpPr>
          <p:spPr>
            <a:xfrm rot="5400000">
              <a:off x="2403699" y="4906131"/>
              <a:ext cx="373075" cy="3150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2765757" y="4983770"/>
              <a:ext cx="162018" cy="1620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415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T Flip-Flop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3736"/>
            <a:ext cx="8229600" cy="2520280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sz="2400" dirty="0" smtClean="0"/>
              <a:t>The </a:t>
            </a:r>
            <a:r>
              <a:rPr lang="en-US" sz="2400" i="1" dirty="0" smtClean="0"/>
              <a:t>T</a:t>
            </a:r>
            <a:r>
              <a:rPr lang="en-US" sz="2400" dirty="0" smtClean="0"/>
              <a:t> (Toggle) flip-flop has inputs</a:t>
            </a:r>
            <a:r>
              <a:rPr lang="en-US" sz="2400" dirty="0"/>
              <a:t>: </a:t>
            </a:r>
            <a:r>
              <a:rPr lang="en-US" sz="2400" i="1" dirty="0" smtClean="0"/>
              <a:t>T </a:t>
            </a:r>
            <a:r>
              <a:rPr lang="en-US" sz="2400" dirty="0" smtClean="0"/>
              <a:t>and </a:t>
            </a:r>
            <a:r>
              <a:rPr lang="en-US" sz="2400" i="1" dirty="0" err="1" smtClean="0"/>
              <a:t>Clk</a:t>
            </a:r>
            <a:endParaRPr lang="en-US" sz="2400" i="1" dirty="0" smtClean="0"/>
          </a:p>
          <a:p>
            <a:pPr>
              <a:spcBef>
                <a:spcPts val="2000"/>
              </a:spcBef>
            </a:pPr>
            <a:r>
              <a:rPr lang="en-US" sz="2400" dirty="0" smtClean="0"/>
              <a:t>When </a:t>
            </a:r>
            <a:r>
              <a:rPr lang="en-US" sz="2400" i="1" dirty="0" smtClean="0"/>
              <a:t>T</a:t>
            </a:r>
            <a:r>
              <a:rPr lang="en-US" sz="2400" dirty="0" smtClean="0"/>
              <a:t> = 0 </a:t>
            </a:r>
            <a:r>
              <a:rPr lang="en-US" sz="2400" dirty="0" smtClean="0">
                <a:sym typeface="Wingdings" panose="05000000000000000000" pitchFamily="2" charset="2"/>
              </a:rPr>
              <a:t> No change, When </a:t>
            </a:r>
            <a:r>
              <a:rPr lang="en-US" sz="2400" i="1" dirty="0" smtClean="0">
                <a:sym typeface="Wingdings" panose="05000000000000000000" pitchFamily="2" charset="2"/>
              </a:rPr>
              <a:t>T</a:t>
            </a:r>
            <a:r>
              <a:rPr lang="en-US" sz="2400" dirty="0" smtClean="0">
                <a:sym typeface="Wingdings" panose="05000000000000000000" pitchFamily="2" charset="2"/>
              </a:rPr>
              <a:t> = 1  Invert outputs</a:t>
            </a:r>
          </a:p>
          <a:p>
            <a:pPr>
              <a:spcBef>
                <a:spcPts val="2000"/>
              </a:spcBef>
            </a:pPr>
            <a:r>
              <a:rPr lang="en-US" sz="2400" dirty="0" smtClean="0">
                <a:sym typeface="Wingdings" panose="05000000000000000000" pitchFamily="2" charset="2"/>
              </a:rPr>
              <a:t>The </a:t>
            </a:r>
            <a:r>
              <a:rPr lang="en-US" sz="2400" i="1" dirty="0" smtClean="0">
                <a:sym typeface="Wingdings" panose="05000000000000000000" pitchFamily="2" charset="2"/>
              </a:rPr>
              <a:t>T</a:t>
            </a:r>
            <a:r>
              <a:rPr lang="en-US" sz="2400" dirty="0" smtClean="0">
                <a:sym typeface="Wingdings" panose="05000000000000000000" pitchFamily="2" charset="2"/>
              </a:rPr>
              <a:t> flip-flop can be implemented using a </a:t>
            </a:r>
            <a:r>
              <a:rPr lang="en-US" sz="2400" i="1" dirty="0" smtClean="0">
                <a:sym typeface="Wingdings" panose="05000000000000000000" pitchFamily="2" charset="2"/>
              </a:rPr>
              <a:t>JK</a:t>
            </a:r>
            <a:r>
              <a:rPr lang="en-US" sz="2400" dirty="0" smtClean="0">
                <a:sym typeface="Wingdings" panose="05000000000000000000" pitchFamily="2" charset="2"/>
              </a:rPr>
              <a:t> flip-flop</a:t>
            </a:r>
          </a:p>
          <a:p>
            <a:pPr>
              <a:spcBef>
                <a:spcPts val="2000"/>
              </a:spcBef>
            </a:pPr>
            <a:r>
              <a:rPr lang="en-US" sz="2400" dirty="0" smtClean="0"/>
              <a:t>It can also be implemented using a </a:t>
            </a:r>
            <a:r>
              <a:rPr lang="en-US" sz="2400" i="1" dirty="0" smtClean="0"/>
              <a:t>D</a:t>
            </a:r>
            <a:r>
              <a:rPr lang="en-US" sz="2400" dirty="0" smtClean="0"/>
              <a:t> flip-flop and a XOR gate</a:t>
            </a:r>
            <a:endParaRPr lang="en-US" sz="2400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544" y="3699030"/>
            <a:ext cx="8138221" cy="2433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459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Flip-Flop Characteristic Table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6150" y="953725"/>
                <a:ext cx="8433245" cy="252028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0"/>
                  </a:spcBef>
                  <a:defRPr/>
                </a:pPr>
                <a:r>
                  <a:rPr lang="en-US" sz="2400" dirty="0" smtClean="0"/>
                  <a:t>Defines the operation of a flip-flop </a:t>
                </a:r>
                <a:r>
                  <a:rPr lang="en-US" sz="2400" dirty="0"/>
                  <a:t>in a tabular form</a:t>
                </a:r>
              </a:p>
              <a:p>
                <a:pPr>
                  <a:spcBef>
                    <a:spcPts val="2000"/>
                  </a:spcBef>
                  <a:defRPr/>
                </a:pPr>
                <a:r>
                  <a:rPr lang="en-US" sz="2400" dirty="0"/>
                  <a:t>Next state is defined in terms of the current state and the inputs</a:t>
                </a:r>
                <a:endParaRPr lang="ar-SA" sz="2400" dirty="0"/>
              </a:p>
              <a:p>
                <a:pPr marL="357188" lvl="1" indent="0">
                  <a:spcBef>
                    <a:spcPts val="200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𝑄</m:t>
                    </m:r>
                    <m:r>
                      <a:rPr lang="en-US" sz="1800" i="1" dirty="0" smtClean="0">
                        <a:latin typeface="Cambria Math"/>
                      </a:rPr>
                      <m:t>(</m:t>
                    </m:r>
                    <m:r>
                      <a:rPr lang="en-US" sz="1800" i="1" dirty="0" smtClean="0">
                        <a:latin typeface="Cambria Math"/>
                      </a:rPr>
                      <m:t>𝑡</m:t>
                    </m:r>
                    <m:r>
                      <a:rPr lang="en-US" sz="18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refers to current state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before</a:t>
                </a:r>
                <a:r>
                  <a:rPr lang="en-US" sz="1800" dirty="0" smtClean="0"/>
                  <a:t> </a:t>
                </a:r>
                <a:r>
                  <a:rPr lang="en-US" sz="1800" dirty="0"/>
                  <a:t>the </a:t>
                </a:r>
                <a:r>
                  <a:rPr lang="en-US" sz="1800" dirty="0" smtClean="0"/>
                  <a:t>clock edge arrives</a:t>
                </a:r>
                <a:endParaRPr lang="en-US" sz="1800" dirty="0"/>
              </a:p>
              <a:p>
                <a:pPr marL="357188" lvl="1" indent="0">
                  <a:spcBef>
                    <a:spcPts val="2000"/>
                  </a:spcBef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𝑄</m:t>
                    </m:r>
                    <m:r>
                      <a:rPr lang="en-US" sz="1800" i="1" dirty="0" smtClean="0">
                        <a:latin typeface="Cambria Math"/>
                      </a:rPr>
                      <m:t>(</m:t>
                    </m:r>
                    <m:r>
                      <a:rPr lang="en-US" sz="1800" i="1" dirty="0" smtClean="0">
                        <a:latin typeface="Cambria Math"/>
                      </a:rPr>
                      <m:t>𝑡</m:t>
                    </m:r>
                    <m:r>
                      <a:rPr lang="en-US" sz="1800" i="1" dirty="0" smtClean="0">
                        <a:latin typeface="Cambria Math"/>
                      </a:rPr>
                      <m:t>+1)</m:t>
                    </m:r>
                  </m:oMath>
                </a14:m>
                <a:r>
                  <a:rPr lang="en-US" sz="1800" dirty="0"/>
                  <a:t> refers to next state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after</a:t>
                </a:r>
                <a:r>
                  <a:rPr lang="en-US" sz="1800" dirty="0" smtClean="0"/>
                  <a:t> </a:t>
                </a:r>
                <a:r>
                  <a:rPr lang="en-US" sz="1800" dirty="0"/>
                  <a:t>the clock </a:t>
                </a:r>
                <a:r>
                  <a:rPr lang="en-US" sz="1800" dirty="0" smtClean="0"/>
                  <a:t>edge arrives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6150" y="953725"/>
                <a:ext cx="8433245" cy="2520280"/>
              </a:xfrm>
              <a:blipFill rotWithShape="1">
                <a:blip r:embed="rId2"/>
                <a:stretch>
                  <a:fillRect l="-1012" t="-1932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065228"/>
              </p:ext>
            </p:extLst>
          </p:nvPr>
        </p:nvGraphicFramePr>
        <p:xfrm>
          <a:off x="542322" y="3657782"/>
          <a:ext cx="1869438" cy="2102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/>
                <a:gridCol w="1246292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 Flip-Flop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endParaRPr lang="en-US" sz="20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20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20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20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Reset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r>
                        <a:rPr lang="en-US" sz="20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Set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894017"/>
              </p:ext>
            </p:extLst>
          </p:nvPr>
        </p:nvGraphicFramePr>
        <p:xfrm>
          <a:off x="2619475" y="3654026"/>
          <a:ext cx="3074187" cy="2990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318"/>
                <a:gridCol w="2284869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JK Flip-Flop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</a:t>
                      </a:r>
                      <a:r>
                        <a:rPr lang="en-US" sz="2000" b="1" i="1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K</a:t>
                      </a:r>
                      <a:endParaRPr lang="en-US" sz="20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20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20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20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Q(t) 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 change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0</a:t>
                      </a:r>
                      <a:r>
                        <a:rPr lang="en-US" sz="20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Reset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1  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Set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Q'(t)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Complement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905341"/>
              </p:ext>
            </p:extLst>
          </p:nvPr>
        </p:nvGraphicFramePr>
        <p:xfrm>
          <a:off x="5901379" y="3662156"/>
          <a:ext cx="2866472" cy="2102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689"/>
                <a:gridCol w="2201783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 Flip-Flop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endParaRPr lang="en-US" sz="20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20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20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20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Q(t) 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 change</a:t>
                      </a:r>
                      <a:endParaRPr lang="en-US" sz="20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Q'(t)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Complement</a:t>
                      </a:r>
                    </a:p>
                  </a:txBody>
                  <a:tcPr marL="84406" marR="84406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41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Flip-Flop Characteristic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63716"/>
                <a:ext cx="8229600" cy="274530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The characteristic equation defines the operation of a flip-flop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For D Flip-Flop: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𝐷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For JK Flip-Flop: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𝐽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</a:rPr>
                      <m:t>𝑄</m:t>
                    </m:r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	</a:t>
                </a:r>
                <a:endParaRPr lang="en-US" sz="24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For T Flip-Flop: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  <m:r>
                          <a:rPr lang="en-US" sz="2400" i="1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𝑇</m:t>
                    </m:r>
                    <m:r>
                      <a:rPr lang="en-US" sz="2400" b="0" i="1" smtClean="0">
                        <a:latin typeface="Cambria Math"/>
                      </a:rPr>
                      <m:t> ⨁ </m:t>
                    </m:r>
                    <m:r>
                      <a:rPr lang="en-US" sz="2400" b="0" i="1" smtClean="0">
                        <a:latin typeface="Cambria Math"/>
                      </a:rPr>
                      <m:t>𝑄</m:t>
                    </m:r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400" dirty="0" smtClean="0"/>
                  <a:t>Clearly, the D Flip-Flop is the simplest among the three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63716"/>
                <a:ext cx="8229600" cy="2745305"/>
              </a:xfrm>
              <a:blipFill rotWithShape="1">
                <a:blip r:embed="rId2"/>
                <a:stretch>
                  <a:fillRect l="-963" t="-1778" r="-444" b="-2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55143"/>
              </p:ext>
            </p:extLst>
          </p:nvPr>
        </p:nvGraphicFramePr>
        <p:xfrm>
          <a:off x="542322" y="3747792"/>
          <a:ext cx="1869438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/>
                <a:gridCol w="1246292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 Flip-Flop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endParaRPr lang="en-US" sz="18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18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8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18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Reset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r>
                        <a:rPr lang="en-US" sz="18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800" baseline="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023631"/>
              </p:ext>
            </p:extLst>
          </p:nvPr>
        </p:nvGraphicFramePr>
        <p:xfrm>
          <a:off x="2619475" y="3744036"/>
          <a:ext cx="3074187" cy="2733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318"/>
                <a:gridCol w="2284869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JK Flip-Flop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</a:t>
                      </a:r>
                      <a:r>
                        <a:rPr lang="en-US" sz="1800" b="1" i="1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K</a:t>
                      </a:r>
                      <a:endParaRPr lang="en-US" sz="18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18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1800" b="1" i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Q(t)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 change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0</a:t>
                      </a:r>
                      <a:r>
                        <a:rPr lang="en-US" sz="18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800" baseline="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Reset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1 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Set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Q'(t)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Complement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768365"/>
              </p:ext>
            </p:extLst>
          </p:nvPr>
        </p:nvGraphicFramePr>
        <p:xfrm>
          <a:off x="5901379" y="3752166"/>
          <a:ext cx="2866472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689"/>
                <a:gridCol w="2201783"/>
              </a:tblGrid>
              <a:tr h="512557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 Flip-Flop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endParaRPr lang="en-US" sz="1800" b="1" i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</a:t>
                      </a:r>
                      <a:r>
                        <a:rPr lang="en-US" sz="18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800" b="1" i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en-US" sz="1800" b="1" i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+1)</a:t>
                      </a:r>
                      <a:endParaRPr lang="en-US" sz="18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Q(t) 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 change</a:t>
                      </a:r>
                      <a:endParaRPr lang="en-US" sz="180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42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Q'(t) </a:t>
                      </a:r>
                      <a:r>
                        <a:rPr lang="en-US" sz="1800" dirty="0" smtClean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Complement</a:t>
                      </a:r>
                    </a:p>
                  </a:txBody>
                  <a:tcPr marL="84406" marR="84406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8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Timing Considerations for Flip-Flops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63716"/>
            <a:ext cx="8393738" cy="301533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500"/>
              </a:spcBef>
              <a:defRPr/>
            </a:pPr>
            <a:r>
              <a:rPr lang="en-US" sz="2400" b="1" dirty="0" smtClean="0">
                <a:solidFill>
                  <a:srgbClr val="FF0000"/>
                </a:solidFill>
              </a:rPr>
              <a:t>Setup </a:t>
            </a:r>
            <a:r>
              <a:rPr lang="en-US" sz="2400" b="1" dirty="0">
                <a:solidFill>
                  <a:srgbClr val="FF0000"/>
                </a:solidFill>
              </a:rPr>
              <a:t>Time (</a:t>
            </a:r>
            <a:r>
              <a:rPr lang="en-US" sz="2400" b="1" dirty="0" err="1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>
                <a:solidFill>
                  <a:srgbClr val="FF0000"/>
                </a:solidFill>
              </a:rPr>
              <a:t>s</a:t>
            </a:r>
            <a:r>
              <a:rPr lang="en-US" sz="2400" b="1" dirty="0">
                <a:solidFill>
                  <a:srgbClr val="FF0000"/>
                </a:solidFill>
              </a:rPr>
              <a:t>):</a:t>
            </a:r>
            <a:r>
              <a:rPr lang="en-US" sz="2400" dirty="0"/>
              <a:t> </a:t>
            </a:r>
            <a:r>
              <a:rPr lang="en-US" sz="2400" dirty="0" smtClean="0"/>
              <a:t>Time duration for which the data input </a:t>
            </a:r>
            <a:r>
              <a:rPr lang="en-US" sz="2400" dirty="0"/>
              <a:t>must be </a:t>
            </a:r>
            <a:r>
              <a:rPr lang="en-US" sz="2400" dirty="0" smtClean="0"/>
              <a:t>valid and stable </a:t>
            </a:r>
            <a:r>
              <a:rPr lang="en-US" sz="2400" dirty="0">
                <a:solidFill>
                  <a:srgbClr val="FF0000"/>
                </a:solidFill>
              </a:rPr>
              <a:t>before</a:t>
            </a:r>
            <a:r>
              <a:rPr lang="en-US" sz="2400" dirty="0"/>
              <a:t> the </a:t>
            </a:r>
            <a:r>
              <a:rPr lang="en-US" sz="2400" dirty="0" smtClean="0"/>
              <a:t>arrival of the clock edge.</a:t>
            </a:r>
            <a:endParaRPr lang="en-US" sz="2400" dirty="0"/>
          </a:p>
          <a:p>
            <a:pPr>
              <a:lnSpc>
                <a:spcPct val="130000"/>
              </a:lnSpc>
              <a:spcBef>
                <a:spcPts val="1500"/>
              </a:spcBef>
              <a:defRPr/>
            </a:pPr>
            <a:r>
              <a:rPr lang="en-US" sz="2400" b="1" dirty="0">
                <a:solidFill>
                  <a:srgbClr val="FF0000"/>
                </a:solidFill>
              </a:rPr>
              <a:t>Hold Time (</a:t>
            </a:r>
            <a:r>
              <a:rPr lang="en-US" sz="2400" b="1" dirty="0" err="1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>
                <a:solidFill>
                  <a:srgbClr val="FF0000"/>
                </a:solidFill>
              </a:rPr>
              <a:t>h</a:t>
            </a:r>
            <a:r>
              <a:rPr lang="en-US" sz="2400" b="1" dirty="0">
                <a:solidFill>
                  <a:srgbClr val="FF0000"/>
                </a:solidFill>
              </a:rPr>
              <a:t>):</a:t>
            </a:r>
            <a:r>
              <a:rPr lang="en-US" sz="2400" dirty="0"/>
              <a:t> </a:t>
            </a:r>
            <a:r>
              <a:rPr lang="en-US" sz="2400" dirty="0" smtClean="0"/>
              <a:t>Time duration for which the data input </a:t>
            </a:r>
            <a:r>
              <a:rPr lang="en-US" sz="2400" dirty="0"/>
              <a:t>must not be changed </a:t>
            </a:r>
            <a:r>
              <a:rPr lang="en-US" sz="2400" dirty="0">
                <a:solidFill>
                  <a:srgbClr val="FF0000"/>
                </a:solidFill>
              </a:rPr>
              <a:t>after</a:t>
            </a:r>
            <a:r>
              <a:rPr lang="en-US" sz="2400" dirty="0"/>
              <a:t> the clock transition occurs.</a:t>
            </a:r>
          </a:p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sz="2400" b="1" dirty="0" err="1" smtClean="0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 smtClean="0">
                <a:solidFill>
                  <a:srgbClr val="FF0000"/>
                </a:solidFill>
              </a:rPr>
              <a:t>s</a:t>
            </a:r>
            <a:r>
              <a:rPr lang="en-US" sz="2400" dirty="0" smtClean="0"/>
              <a:t> and </a:t>
            </a:r>
            <a:r>
              <a:rPr lang="en-US" sz="2400" b="1" dirty="0" err="1" smtClean="0">
                <a:solidFill>
                  <a:srgbClr val="FF0000"/>
                </a:solidFill>
              </a:rPr>
              <a:t>T</a:t>
            </a:r>
            <a:r>
              <a:rPr lang="en-US" sz="2400" b="1" baseline="-25000" dirty="0" err="1" smtClean="0">
                <a:solidFill>
                  <a:srgbClr val="FF0000"/>
                </a:solidFill>
              </a:rPr>
              <a:t>h</a:t>
            </a:r>
            <a:r>
              <a:rPr lang="en-US" sz="2400" dirty="0" smtClean="0"/>
              <a:t> must be ensured for </a:t>
            </a:r>
            <a:r>
              <a:rPr lang="en-US" sz="2400" dirty="0"/>
              <a:t>the proper operation of </a:t>
            </a:r>
            <a:r>
              <a:rPr lang="en-US" sz="2400" dirty="0" smtClean="0"/>
              <a:t>flip-flops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1747071" y="4145145"/>
            <a:ext cx="5688241" cy="2119171"/>
            <a:chOff x="2489100" y="4186213"/>
            <a:chExt cx="6162261" cy="2119171"/>
          </a:xfrm>
        </p:grpSpPr>
        <p:sp>
          <p:nvSpPr>
            <p:cNvPr id="24" name="Freeform 23"/>
            <p:cNvSpPr/>
            <p:nvPr/>
          </p:nvSpPr>
          <p:spPr>
            <a:xfrm>
              <a:off x="2489100" y="4261899"/>
              <a:ext cx="6162261" cy="612251"/>
            </a:xfrm>
            <a:custGeom>
              <a:avLst/>
              <a:gdLst>
                <a:gd name="connsiteX0" fmla="*/ 0 w 6162261"/>
                <a:gd name="connsiteY0" fmla="*/ 612251 h 612251"/>
                <a:gd name="connsiteX1" fmla="*/ 1661823 w 6162261"/>
                <a:gd name="connsiteY1" fmla="*/ 612251 h 612251"/>
                <a:gd name="connsiteX2" fmla="*/ 1971924 w 6162261"/>
                <a:gd name="connsiteY2" fmla="*/ 0 h 612251"/>
                <a:gd name="connsiteX3" fmla="*/ 4373218 w 6162261"/>
                <a:gd name="connsiteY3" fmla="*/ 0 h 612251"/>
                <a:gd name="connsiteX4" fmla="*/ 4675367 w 6162261"/>
                <a:gd name="connsiteY4" fmla="*/ 612251 h 612251"/>
                <a:gd name="connsiteX5" fmla="*/ 6162261 w 6162261"/>
                <a:gd name="connsiteY5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62261" h="612251">
                  <a:moveTo>
                    <a:pt x="0" y="612251"/>
                  </a:moveTo>
                  <a:lnTo>
                    <a:pt x="1661823" y="612251"/>
                  </a:lnTo>
                  <a:lnTo>
                    <a:pt x="1971924" y="0"/>
                  </a:lnTo>
                  <a:lnTo>
                    <a:pt x="4373218" y="0"/>
                  </a:lnTo>
                  <a:lnTo>
                    <a:pt x="4675367" y="612251"/>
                  </a:lnTo>
                  <a:lnTo>
                    <a:pt x="6162261" y="612251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658507" y="5805774"/>
              <a:ext cx="1328412" cy="3960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dirty="0" smtClean="0">
                  <a:latin typeface="+mn-lt"/>
                  <a:cs typeface="Times New Roman" panose="02020603050405020304" pitchFamily="18" charset="0"/>
                </a:rPr>
                <a:t>Valid data-in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68035" y="5802831"/>
              <a:ext cx="3324779" cy="3960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dirty="0" smtClean="0">
                  <a:latin typeface="+mn-lt"/>
                  <a:cs typeface="Times New Roman" panose="02020603050405020304" pitchFamily="18" charset="0"/>
                </a:rPr>
                <a:t>Data Can be Modified after </a:t>
              </a:r>
              <a:r>
                <a:rPr lang="en-US" dirty="0" err="1" smtClean="0">
                  <a:latin typeface="+mn-lt"/>
                  <a:cs typeface="Times New Roman" panose="02020603050405020304" pitchFamily="18" charset="0"/>
                </a:rPr>
                <a:t>T</a:t>
              </a:r>
              <a:r>
                <a:rPr lang="en-US" baseline="-25000" dirty="0" err="1" smtClean="0">
                  <a:latin typeface="+mn-lt"/>
                  <a:cs typeface="Times New Roman" panose="02020603050405020304" pitchFamily="18" charset="0"/>
                </a:rPr>
                <a:t>h</a:t>
              </a:r>
              <a:endParaRPr lang="en-US" baseline="-25000" dirty="0" smtClean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053699" y="4261899"/>
              <a:ext cx="406248" cy="612251"/>
            </a:xfrm>
            <a:custGeom>
              <a:avLst/>
              <a:gdLst>
                <a:gd name="connsiteX0" fmla="*/ 0 w 763325"/>
                <a:gd name="connsiteY0" fmla="*/ 580445 h 580445"/>
                <a:gd name="connsiteX1" fmla="*/ 182880 w 763325"/>
                <a:gd name="connsiteY1" fmla="*/ 580445 h 580445"/>
                <a:gd name="connsiteX2" fmla="*/ 763325 w 763325"/>
                <a:gd name="connsiteY2" fmla="*/ 0 h 58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3325" h="580445">
                  <a:moveTo>
                    <a:pt x="0" y="580445"/>
                  </a:moveTo>
                  <a:lnTo>
                    <a:pt x="182880" y="580445"/>
                  </a:lnTo>
                  <a:lnTo>
                    <a:pt x="763325" y="0"/>
                  </a:lnTo>
                </a:path>
              </a:pathLst>
            </a:custGeom>
            <a:noFill/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24402" y="4464115"/>
              <a:ext cx="91440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 smtClean="0">
                  <a:latin typeface="+mn-lt"/>
                  <a:cs typeface="Times New Roman" panose="02020603050405020304" pitchFamily="18" charset="0"/>
                </a:rPr>
                <a:t>Clock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34205" y="4186213"/>
              <a:ext cx="900100" cy="58900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Rising</a:t>
              </a:r>
            </a:p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Edge</a:t>
              </a: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3512840" y="4964432"/>
              <a:ext cx="1620180" cy="696914"/>
              <a:chOff x="3512840" y="4973368"/>
              <a:chExt cx="1620180" cy="54006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4322713" y="4973370"/>
                <a:ext cx="0" cy="54006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33020" y="4973370"/>
                <a:ext cx="0" cy="54006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3512840" y="4973368"/>
                <a:ext cx="0" cy="54006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/>
            <p:cNvCxnSpPr/>
            <p:nvPr/>
          </p:nvCxnSpPr>
          <p:spPr>
            <a:xfrm>
              <a:off x="3511209" y="5369465"/>
              <a:ext cx="8115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4321516" y="5369465"/>
              <a:ext cx="8115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502950" y="4919415"/>
              <a:ext cx="45720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err="1" smtClean="0">
                  <a:latin typeface="+mn-lt"/>
                  <a:cs typeface="Times New Roman" panose="02020603050405020304" pitchFamily="18" charset="0"/>
                </a:rPr>
                <a:t>T</a:t>
              </a:r>
              <a:r>
                <a:rPr lang="en-US" sz="2000" baseline="-25000" dirty="0" err="1" smtClean="0">
                  <a:latin typeface="+mn-lt"/>
                  <a:cs typeface="Times New Roman" panose="02020603050405020304" pitchFamily="18" charset="0"/>
                </a:rPr>
                <a:t>h</a:t>
              </a:r>
              <a:endParaRPr lang="en-US" sz="2000" baseline="-25000" dirty="0" smtClean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47855" y="4919415"/>
              <a:ext cx="45720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 err="1" smtClean="0">
                  <a:latin typeface="+mn-lt"/>
                  <a:cs typeface="Times New Roman" panose="02020603050405020304" pitchFamily="18" charset="0"/>
                </a:rPr>
                <a:t>T</a:t>
              </a:r>
              <a:r>
                <a:rPr lang="en-US" sz="2000" baseline="-25000" dirty="0" err="1" smtClean="0">
                  <a:latin typeface="+mn-lt"/>
                  <a:cs typeface="Times New Roman" panose="02020603050405020304" pitchFamily="18" charset="0"/>
                </a:rPr>
                <a:t>s</a:t>
              </a:r>
              <a:endParaRPr lang="en-US" sz="2000" baseline="-25000" dirty="0" smtClean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2702750" y="5701085"/>
              <a:ext cx="5645427" cy="604299"/>
            </a:xfrm>
            <a:custGeom>
              <a:avLst/>
              <a:gdLst>
                <a:gd name="connsiteX0" fmla="*/ 0 w 5645427"/>
                <a:gd name="connsiteY0" fmla="*/ 0 h 604299"/>
                <a:gd name="connsiteX1" fmla="*/ 699715 w 5645427"/>
                <a:gd name="connsiteY1" fmla="*/ 0 h 604299"/>
                <a:gd name="connsiteX2" fmla="*/ 898498 w 5645427"/>
                <a:gd name="connsiteY2" fmla="*/ 604299 h 604299"/>
                <a:gd name="connsiteX3" fmla="*/ 2345635 w 5645427"/>
                <a:gd name="connsiteY3" fmla="*/ 604299 h 604299"/>
                <a:gd name="connsiteX4" fmla="*/ 2520564 w 5645427"/>
                <a:gd name="connsiteY4" fmla="*/ 0 h 604299"/>
                <a:gd name="connsiteX5" fmla="*/ 5645427 w 5645427"/>
                <a:gd name="connsiteY5" fmla="*/ 0 h 60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5427" h="604299">
                  <a:moveTo>
                    <a:pt x="0" y="0"/>
                  </a:moveTo>
                  <a:lnTo>
                    <a:pt x="699715" y="0"/>
                  </a:lnTo>
                  <a:lnTo>
                    <a:pt x="898498" y="604299"/>
                  </a:lnTo>
                  <a:lnTo>
                    <a:pt x="2345635" y="604299"/>
                  </a:lnTo>
                  <a:lnTo>
                    <a:pt x="2520564" y="0"/>
                  </a:lnTo>
                  <a:lnTo>
                    <a:pt x="5645427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flipV="1">
              <a:off x="2702750" y="5701085"/>
              <a:ext cx="5645427" cy="604299"/>
            </a:xfrm>
            <a:custGeom>
              <a:avLst/>
              <a:gdLst>
                <a:gd name="connsiteX0" fmla="*/ 0 w 5645427"/>
                <a:gd name="connsiteY0" fmla="*/ 0 h 604299"/>
                <a:gd name="connsiteX1" fmla="*/ 699715 w 5645427"/>
                <a:gd name="connsiteY1" fmla="*/ 0 h 604299"/>
                <a:gd name="connsiteX2" fmla="*/ 898498 w 5645427"/>
                <a:gd name="connsiteY2" fmla="*/ 604299 h 604299"/>
                <a:gd name="connsiteX3" fmla="*/ 2345635 w 5645427"/>
                <a:gd name="connsiteY3" fmla="*/ 604299 h 604299"/>
                <a:gd name="connsiteX4" fmla="*/ 2520564 w 5645427"/>
                <a:gd name="connsiteY4" fmla="*/ 0 h 604299"/>
                <a:gd name="connsiteX5" fmla="*/ 5645427 w 5645427"/>
                <a:gd name="connsiteY5" fmla="*/ 0 h 60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5427" h="604299">
                  <a:moveTo>
                    <a:pt x="0" y="0"/>
                  </a:moveTo>
                  <a:lnTo>
                    <a:pt x="699715" y="0"/>
                  </a:lnTo>
                  <a:lnTo>
                    <a:pt x="898498" y="604299"/>
                  </a:lnTo>
                  <a:lnTo>
                    <a:pt x="2345635" y="604299"/>
                  </a:lnTo>
                  <a:lnTo>
                    <a:pt x="2520564" y="0"/>
                  </a:lnTo>
                  <a:lnTo>
                    <a:pt x="5645427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605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64" y="908721"/>
            <a:ext cx="8393737" cy="562562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300"/>
              </a:spcBef>
              <a:defRPr/>
            </a:pPr>
            <a:r>
              <a:rPr lang="en-US" dirty="0" smtClean="0"/>
              <a:t>In a sequential circuit there is internal memory</a:t>
            </a:r>
          </a:p>
          <a:p>
            <a:pPr lvl="1">
              <a:spcBef>
                <a:spcPts val="1300"/>
              </a:spcBef>
              <a:defRPr/>
            </a:pPr>
            <a:r>
              <a:rPr lang="en-US" dirty="0" smtClean="0"/>
              <a:t>Output is a function of current inputs and present state</a:t>
            </a:r>
          </a:p>
          <a:p>
            <a:pPr lvl="1">
              <a:spcBef>
                <a:spcPts val="1300"/>
              </a:spcBef>
              <a:defRPr/>
            </a:pPr>
            <a:r>
              <a:rPr lang="en-US" dirty="0" smtClean="0"/>
              <a:t>The stored memory value defines the present state</a:t>
            </a:r>
          </a:p>
          <a:p>
            <a:pPr lvl="1">
              <a:spcBef>
                <a:spcPts val="1300"/>
              </a:spcBef>
              <a:defRPr/>
            </a:pPr>
            <a:r>
              <a:rPr lang="en-US" dirty="0" smtClean="0"/>
              <a:t>Similarly, the next state depends on current inputs and present state</a:t>
            </a:r>
          </a:p>
          <a:p>
            <a:pPr>
              <a:spcBef>
                <a:spcPts val="1300"/>
              </a:spcBef>
              <a:defRPr/>
            </a:pPr>
            <a:r>
              <a:rPr lang="en-US" dirty="0" smtClean="0"/>
              <a:t>Two types of sequential circuits:</a:t>
            </a:r>
          </a:p>
          <a:p>
            <a:pPr lvl="1">
              <a:spcBef>
                <a:spcPts val="1300"/>
              </a:spcBef>
              <a:defRPr/>
            </a:pPr>
            <a:r>
              <a:rPr lang="en-US" dirty="0" smtClean="0"/>
              <a:t>Synchronous sequential circuits are clocked (easier to implement)</a:t>
            </a:r>
          </a:p>
          <a:p>
            <a:pPr lvl="1">
              <a:spcBef>
                <a:spcPts val="1300"/>
              </a:spcBef>
              <a:defRPr/>
            </a:pPr>
            <a:r>
              <a:rPr lang="en-US" dirty="0" smtClean="0"/>
              <a:t>Asynchronous sequential circuits are not clocked</a:t>
            </a:r>
          </a:p>
          <a:p>
            <a:pPr>
              <a:spcBef>
                <a:spcPts val="1300"/>
              </a:spcBef>
              <a:defRPr/>
            </a:pPr>
            <a:r>
              <a:rPr lang="en-US" dirty="0" smtClean="0"/>
              <a:t>Two types of Memory elements: Latches and Flip-Flops</a:t>
            </a:r>
          </a:p>
          <a:p>
            <a:pPr>
              <a:spcBef>
                <a:spcPts val="1300"/>
              </a:spcBef>
              <a:defRPr/>
            </a:pPr>
            <a:r>
              <a:rPr lang="en-US" dirty="0" smtClean="0"/>
              <a:t>Latches are level-sensitive, flip-flops are edge-triggered</a:t>
            </a:r>
          </a:p>
          <a:p>
            <a:pPr>
              <a:spcBef>
                <a:spcPts val="1300"/>
              </a:spcBef>
              <a:defRPr/>
            </a:pPr>
            <a:r>
              <a:rPr lang="en-US" dirty="0" smtClean="0"/>
              <a:t>Flip-flops are better memory elements for synchronous circuits</a:t>
            </a:r>
          </a:p>
          <a:p>
            <a:pPr>
              <a:spcBef>
                <a:spcPts val="1300"/>
              </a:spcBef>
              <a:defRPr/>
            </a:pPr>
            <a:r>
              <a:rPr lang="en-US" dirty="0" smtClean="0"/>
              <a:t>A flip-flop is described using a characteristic table and equation</a:t>
            </a:r>
          </a:p>
        </p:txBody>
      </p:sp>
    </p:spTree>
    <p:extLst>
      <p:ext uri="{BB962C8B-B14F-4D97-AF65-F5344CB8AC3E}">
        <p14:creationId xmlns:p14="http://schemas.microsoft.com/office/powerpoint/2010/main" val="415840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2079</Words>
  <Application>Microsoft Office PowerPoint</Application>
  <PresentationFormat>On-screen Show (4:3)</PresentationFormat>
  <Paragraphs>386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Sequential Circuits</vt:lpstr>
      <vt:lpstr>Outline</vt:lpstr>
      <vt:lpstr>Combinational versus Sequential</vt:lpstr>
      <vt:lpstr>Introduction to Sequential Circuits</vt:lpstr>
      <vt:lpstr>Two Types of Sequential Circuits</vt:lpstr>
      <vt:lpstr>Synchronous Sequential Circuits</vt:lpstr>
      <vt:lpstr>The Clock</vt:lpstr>
      <vt:lpstr>Clock Cycle versus Clock Frequency</vt:lpstr>
      <vt:lpstr>Memory Elements</vt:lpstr>
      <vt:lpstr>SR Latch</vt:lpstr>
      <vt:lpstr>SR Latch Operation</vt:lpstr>
      <vt:lpstr>S R Latch with NAND Gates</vt:lpstr>
      <vt:lpstr>SR Latch with a Clock Input</vt:lpstr>
      <vt:lpstr>D-Latch with a Clock Input</vt:lpstr>
      <vt:lpstr>Graphic Symbols for Latches</vt:lpstr>
      <vt:lpstr>Problem with Latches</vt:lpstr>
      <vt:lpstr>Flip-Flops</vt:lpstr>
      <vt:lpstr>Positive Edge-Triggered D Flip-Flop</vt:lpstr>
      <vt:lpstr>Negative Edge-Triggered D Flip-Flop</vt:lpstr>
      <vt:lpstr>D Flip-Flop Timing Diagram</vt:lpstr>
      <vt:lpstr>Graphic Symbols for Flip-Flops</vt:lpstr>
      <vt:lpstr>D Flip-Flop with Asynchronous Reset</vt:lpstr>
      <vt:lpstr>JK Flip-Flop</vt:lpstr>
      <vt:lpstr>T Flip-Flop</vt:lpstr>
      <vt:lpstr>Flip-Flop Characteristic Table</vt:lpstr>
      <vt:lpstr>Flip-Flop Characteristic Equation</vt:lpstr>
      <vt:lpstr>Timing Considerations for Flip-Flops 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123</cp:revision>
  <dcterms:created xsi:type="dcterms:W3CDTF">2022-08-28T11:36:31Z</dcterms:created>
  <dcterms:modified xsi:type="dcterms:W3CDTF">2022-11-01T07:35:27Z</dcterms:modified>
</cp:coreProperties>
</file>