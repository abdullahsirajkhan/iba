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92.png"/><Relationship Id="rId3" Type="http://schemas.openxmlformats.org/officeDocument/2006/relationships/image" Target="../media/image69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28" Type="http://schemas.openxmlformats.org/officeDocument/2006/relationships/image" Target="../media/image94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Relationship Id="rId27" Type="http://schemas.openxmlformats.org/officeDocument/2006/relationships/image" Target="../media/image93.png"/><Relationship Id="rId30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27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26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" Type="http://schemas.openxmlformats.org/officeDocument/2006/relationships/image" Target="../media/image129.png"/><Relationship Id="rId21" Type="http://schemas.openxmlformats.org/officeDocument/2006/relationships/image" Target="../media/image14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2" Type="http://schemas.openxmlformats.org/officeDocument/2006/relationships/image" Target="../media/image128.pn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24" Type="http://schemas.openxmlformats.org/officeDocument/2006/relationships/image" Target="../media/image150.png"/><Relationship Id="rId32" Type="http://schemas.openxmlformats.org/officeDocument/2006/relationships/image" Target="../media/image158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31" Type="http://schemas.openxmlformats.org/officeDocument/2006/relationships/image" Target="../media/image157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" Type="http://schemas.openxmlformats.org/officeDocument/2006/relationships/image" Target="../media/image129.png"/><Relationship Id="rId21" Type="http://schemas.openxmlformats.org/officeDocument/2006/relationships/image" Target="../media/image14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33" Type="http://schemas.openxmlformats.org/officeDocument/2006/relationships/image" Target="../media/image162.png"/><Relationship Id="rId2" Type="http://schemas.openxmlformats.org/officeDocument/2006/relationships/image" Target="../media/image128.pn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24" Type="http://schemas.openxmlformats.org/officeDocument/2006/relationships/image" Target="../media/image150.png"/><Relationship Id="rId32" Type="http://schemas.openxmlformats.org/officeDocument/2006/relationships/image" Target="../media/image161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31" Type="http://schemas.openxmlformats.org/officeDocument/2006/relationships/image" Target="../media/image160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163.png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82.png"/><Relationship Id="rId7" Type="http://schemas.openxmlformats.org/officeDocument/2006/relationships/image" Target="../media/image180.png"/><Relationship Id="rId12" Type="http://schemas.openxmlformats.org/officeDocument/2006/relationships/image" Target="../media/image19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89.png"/><Relationship Id="rId5" Type="http://schemas.openxmlformats.org/officeDocument/2006/relationships/image" Target="../media/image184.png"/><Relationship Id="rId10" Type="http://schemas.openxmlformats.org/officeDocument/2006/relationships/image" Target="../media/image188.png"/><Relationship Id="rId4" Type="http://schemas.openxmlformats.org/officeDocument/2006/relationships/image" Target="../media/image183.png"/><Relationship Id="rId9" Type="http://schemas.openxmlformats.org/officeDocument/2006/relationships/image" Target="../media/image191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5.png"/><Relationship Id="rId12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9.png"/><Relationship Id="rId15" Type="http://schemas.openxmlformats.org/officeDocument/2006/relationships/image" Target="../media/image197.png"/><Relationship Id="rId10" Type="http://schemas.openxmlformats.org/officeDocument/2006/relationships/image" Target="../media/image188.png"/><Relationship Id="rId14" Type="http://schemas.openxmlformats.org/officeDocument/2006/relationships/image" Target="../media/image19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0.png"/><Relationship Id="rId13" Type="http://schemas.openxmlformats.org/officeDocument/2006/relationships/image" Target="../media/image2100.png"/><Relationship Id="rId18" Type="http://schemas.openxmlformats.org/officeDocument/2006/relationships/image" Target="../media/image2150.png"/><Relationship Id="rId26" Type="http://schemas.openxmlformats.org/officeDocument/2006/relationships/image" Target="../media/image223.png"/><Relationship Id="rId39" Type="http://schemas.openxmlformats.org/officeDocument/2006/relationships/image" Target="../media/image236.png"/><Relationship Id="rId3" Type="http://schemas.openxmlformats.org/officeDocument/2006/relationships/image" Target="../media/image2000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40.png"/><Relationship Id="rId12" Type="http://schemas.openxmlformats.org/officeDocument/2006/relationships/image" Target="../media/image2090.png"/><Relationship Id="rId17" Type="http://schemas.openxmlformats.org/officeDocument/2006/relationships/image" Target="../media/image2140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image" Target="../media/image235.png"/><Relationship Id="rId2" Type="http://schemas.openxmlformats.org/officeDocument/2006/relationships/image" Target="../media/image217.png"/><Relationship Id="rId16" Type="http://schemas.openxmlformats.org/officeDocument/2006/relationships/image" Target="../media/image2130.png"/><Relationship Id="rId20" Type="http://schemas.openxmlformats.org/officeDocument/2006/relationships/image" Target="../media/image2170.png"/><Relationship Id="rId29" Type="http://schemas.openxmlformats.org/officeDocument/2006/relationships/image" Target="../media/image226.png"/><Relationship Id="rId41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0.png"/><Relationship Id="rId11" Type="http://schemas.openxmlformats.org/officeDocument/2006/relationships/image" Target="../media/image2080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4.png"/><Relationship Id="rId40" Type="http://schemas.openxmlformats.org/officeDocument/2006/relationships/image" Target="../media/image237.png"/><Relationship Id="rId5" Type="http://schemas.openxmlformats.org/officeDocument/2006/relationships/image" Target="../media/image2020.png"/><Relationship Id="rId15" Type="http://schemas.openxmlformats.org/officeDocument/2006/relationships/image" Target="../media/image2120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10" Type="http://schemas.openxmlformats.org/officeDocument/2006/relationships/image" Target="../media/image2070.png"/><Relationship Id="rId19" Type="http://schemas.openxmlformats.org/officeDocument/2006/relationships/image" Target="../media/image2160.png"/><Relationship Id="rId31" Type="http://schemas.openxmlformats.org/officeDocument/2006/relationships/image" Target="../media/image228.png"/><Relationship Id="rId4" Type="http://schemas.openxmlformats.org/officeDocument/2006/relationships/image" Target="../media/image2010.png"/><Relationship Id="rId9" Type="http://schemas.openxmlformats.org/officeDocument/2006/relationships/image" Target="../media/image2060.png"/><Relationship Id="rId14" Type="http://schemas.openxmlformats.org/officeDocument/2006/relationships/image" Target="../media/image2110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10" Type="http://schemas.openxmlformats.org/officeDocument/2006/relationships/image" Target="../media/image247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49.png"/><Relationship Id="rId7" Type="http://schemas.openxmlformats.org/officeDocument/2006/relationships/image" Target="../media/image243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11" Type="http://schemas.openxmlformats.org/officeDocument/2006/relationships/image" Target="../media/image251.png"/><Relationship Id="rId5" Type="http://schemas.openxmlformats.org/officeDocument/2006/relationships/image" Target="../media/image241.png"/><Relationship Id="rId10" Type="http://schemas.openxmlformats.org/officeDocument/2006/relationships/image" Target="../media/image250.png"/><Relationship Id="rId4" Type="http://schemas.openxmlformats.org/officeDocument/2006/relationships/image" Target="../media/image240.png"/><Relationship Id="rId9" Type="http://schemas.openxmlformats.org/officeDocument/2006/relationships/image" Target="../media/image245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0.png"/><Relationship Id="rId18" Type="http://schemas.openxmlformats.org/officeDocument/2006/relationships/image" Target="../media/image2150.png"/><Relationship Id="rId26" Type="http://schemas.openxmlformats.org/officeDocument/2006/relationships/image" Target="../media/image223.png"/><Relationship Id="rId39" Type="http://schemas.openxmlformats.org/officeDocument/2006/relationships/image" Target="../media/image236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42" Type="http://schemas.openxmlformats.org/officeDocument/2006/relationships/image" Target="../media/image258.png"/><Relationship Id="rId47" Type="http://schemas.openxmlformats.org/officeDocument/2006/relationships/image" Target="../media/image263.png"/><Relationship Id="rId50" Type="http://schemas.openxmlformats.org/officeDocument/2006/relationships/image" Target="../media/image266.png"/><Relationship Id="rId55" Type="http://schemas.openxmlformats.org/officeDocument/2006/relationships/image" Target="../media/image271.png"/><Relationship Id="rId63" Type="http://schemas.openxmlformats.org/officeDocument/2006/relationships/image" Target="../media/image279.png"/><Relationship Id="rId68" Type="http://schemas.openxmlformats.org/officeDocument/2006/relationships/image" Target="../media/image284.png"/><Relationship Id="rId7" Type="http://schemas.openxmlformats.org/officeDocument/2006/relationships/image" Target="../media/image2040.png"/><Relationship Id="rId71" Type="http://schemas.openxmlformats.org/officeDocument/2006/relationships/image" Target="../media/image287.png"/><Relationship Id="rId2" Type="http://schemas.openxmlformats.org/officeDocument/2006/relationships/image" Target="../media/image252.png"/><Relationship Id="rId16" Type="http://schemas.openxmlformats.org/officeDocument/2006/relationships/image" Target="../media/image2130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0.png"/><Relationship Id="rId11" Type="http://schemas.openxmlformats.org/officeDocument/2006/relationships/image" Target="../media/image2080.png"/><Relationship Id="rId32" Type="http://schemas.openxmlformats.org/officeDocument/2006/relationships/image" Target="../media/image229.png"/><Relationship Id="rId37" Type="http://schemas.openxmlformats.org/officeDocument/2006/relationships/image" Target="../media/image234.png"/><Relationship Id="rId40" Type="http://schemas.openxmlformats.org/officeDocument/2006/relationships/image" Target="../media/image237.png"/><Relationship Id="rId45" Type="http://schemas.openxmlformats.org/officeDocument/2006/relationships/image" Target="../media/image261.png"/><Relationship Id="rId53" Type="http://schemas.openxmlformats.org/officeDocument/2006/relationships/image" Target="../media/image269.png"/><Relationship Id="rId58" Type="http://schemas.openxmlformats.org/officeDocument/2006/relationships/image" Target="../media/image274.png"/><Relationship Id="rId66" Type="http://schemas.openxmlformats.org/officeDocument/2006/relationships/image" Target="../media/image282.png"/><Relationship Id="rId74" Type="http://schemas.openxmlformats.org/officeDocument/2006/relationships/image" Target="../media/image290.png"/><Relationship Id="rId5" Type="http://schemas.openxmlformats.org/officeDocument/2006/relationships/image" Target="../media/image255.png"/><Relationship Id="rId15" Type="http://schemas.openxmlformats.org/officeDocument/2006/relationships/image" Target="../media/image2120.pn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49" Type="http://schemas.openxmlformats.org/officeDocument/2006/relationships/image" Target="../media/image265.png"/><Relationship Id="rId57" Type="http://schemas.openxmlformats.org/officeDocument/2006/relationships/image" Target="../media/image273.png"/><Relationship Id="rId61" Type="http://schemas.openxmlformats.org/officeDocument/2006/relationships/image" Target="../media/image277.png"/><Relationship Id="rId10" Type="http://schemas.openxmlformats.org/officeDocument/2006/relationships/image" Target="../media/image2070.png"/><Relationship Id="rId19" Type="http://schemas.openxmlformats.org/officeDocument/2006/relationships/image" Target="../media/image2160.png"/><Relationship Id="rId31" Type="http://schemas.openxmlformats.org/officeDocument/2006/relationships/image" Target="../media/image228.png"/><Relationship Id="rId44" Type="http://schemas.openxmlformats.org/officeDocument/2006/relationships/image" Target="../media/image260.png"/><Relationship Id="rId52" Type="http://schemas.openxmlformats.org/officeDocument/2006/relationships/image" Target="../media/image268.png"/><Relationship Id="rId60" Type="http://schemas.openxmlformats.org/officeDocument/2006/relationships/image" Target="../media/image276.png"/><Relationship Id="rId65" Type="http://schemas.openxmlformats.org/officeDocument/2006/relationships/image" Target="../media/image281.png"/><Relationship Id="rId73" Type="http://schemas.openxmlformats.org/officeDocument/2006/relationships/image" Target="../media/image289.png"/><Relationship Id="rId4" Type="http://schemas.openxmlformats.org/officeDocument/2006/relationships/image" Target="../media/image254.png"/><Relationship Id="rId9" Type="http://schemas.openxmlformats.org/officeDocument/2006/relationships/image" Target="../media/image2060.png"/><Relationship Id="rId14" Type="http://schemas.openxmlformats.org/officeDocument/2006/relationships/image" Target="../media/image2110.png"/><Relationship Id="rId22" Type="http://schemas.openxmlformats.org/officeDocument/2006/relationships/image" Target="../media/image256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43" Type="http://schemas.openxmlformats.org/officeDocument/2006/relationships/image" Target="../media/image259.png"/><Relationship Id="rId48" Type="http://schemas.openxmlformats.org/officeDocument/2006/relationships/image" Target="../media/image264.png"/><Relationship Id="rId56" Type="http://schemas.openxmlformats.org/officeDocument/2006/relationships/image" Target="../media/image272.png"/><Relationship Id="rId64" Type="http://schemas.openxmlformats.org/officeDocument/2006/relationships/image" Target="../media/image280.png"/><Relationship Id="rId69" Type="http://schemas.openxmlformats.org/officeDocument/2006/relationships/image" Target="../media/image285.png"/><Relationship Id="rId8" Type="http://schemas.openxmlformats.org/officeDocument/2006/relationships/image" Target="../media/image2050.png"/><Relationship Id="rId51" Type="http://schemas.openxmlformats.org/officeDocument/2006/relationships/image" Target="../media/image267.png"/><Relationship Id="rId72" Type="http://schemas.openxmlformats.org/officeDocument/2006/relationships/image" Target="../media/image288.png"/><Relationship Id="rId3" Type="http://schemas.openxmlformats.org/officeDocument/2006/relationships/image" Target="../media/image253.png"/><Relationship Id="rId12" Type="http://schemas.openxmlformats.org/officeDocument/2006/relationships/image" Target="../media/image2090.png"/><Relationship Id="rId17" Type="http://schemas.openxmlformats.org/officeDocument/2006/relationships/image" Target="../media/image2140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image" Target="../media/image235.png"/><Relationship Id="rId46" Type="http://schemas.openxmlformats.org/officeDocument/2006/relationships/image" Target="../media/image262.png"/><Relationship Id="rId59" Type="http://schemas.openxmlformats.org/officeDocument/2006/relationships/image" Target="../media/image275.png"/><Relationship Id="rId67" Type="http://schemas.openxmlformats.org/officeDocument/2006/relationships/image" Target="../media/image283.png"/><Relationship Id="rId20" Type="http://schemas.openxmlformats.org/officeDocument/2006/relationships/image" Target="../media/image2170.png"/><Relationship Id="rId41" Type="http://schemas.openxmlformats.org/officeDocument/2006/relationships/image" Target="../media/image257.png"/><Relationship Id="rId54" Type="http://schemas.openxmlformats.org/officeDocument/2006/relationships/image" Target="../media/image270.png"/><Relationship Id="rId62" Type="http://schemas.openxmlformats.org/officeDocument/2006/relationships/image" Target="../media/image278.png"/><Relationship Id="rId70" Type="http://schemas.openxmlformats.org/officeDocument/2006/relationships/image" Target="../media/image28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12" Type="http://schemas.openxmlformats.org/officeDocument/2006/relationships/image" Target="../media/image295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94.png"/><Relationship Id="rId5" Type="http://schemas.openxmlformats.org/officeDocument/2006/relationships/image" Target="../media/image255.png"/><Relationship Id="rId10" Type="http://schemas.openxmlformats.org/officeDocument/2006/relationships/image" Target="../media/image293.png"/><Relationship Id="rId4" Type="http://schemas.openxmlformats.org/officeDocument/2006/relationships/image" Target="../media/image254.png"/><Relationship Id="rId9" Type="http://schemas.openxmlformats.org/officeDocument/2006/relationships/image" Target="../media/image29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image" Target="../media/image307.png"/><Relationship Id="rId3" Type="http://schemas.openxmlformats.org/officeDocument/2006/relationships/image" Target="../media/image297.png"/><Relationship Id="rId7" Type="http://schemas.openxmlformats.org/officeDocument/2006/relationships/image" Target="../media/image301.png"/><Relationship Id="rId12" Type="http://schemas.openxmlformats.org/officeDocument/2006/relationships/image" Target="../media/image306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05.png"/><Relationship Id="rId5" Type="http://schemas.openxmlformats.org/officeDocument/2006/relationships/image" Target="../media/image299.png"/><Relationship Id="rId15" Type="http://schemas.openxmlformats.org/officeDocument/2006/relationships/image" Target="../media/image309.png"/><Relationship Id="rId10" Type="http://schemas.openxmlformats.org/officeDocument/2006/relationships/image" Target="../media/image304.png"/><Relationship Id="rId4" Type="http://schemas.openxmlformats.org/officeDocument/2006/relationships/image" Target="../media/image298.png"/><Relationship Id="rId9" Type="http://schemas.openxmlformats.org/officeDocument/2006/relationships/image" Target="../media/image303.png"/><Relationship Id="rId14" Type="http://schemas.openxmlformats.org/officeDocument/2006/relationships/image" Target="../media/image30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13" Type="http://schemas.openxmlformats.org/officeDocument/2006/relationships/image" Target="../media/image321.png"/><Relationship Id="rId18" Type="http://schemas.openxmlformats.org/officeDocument/2006/relationships/image" Target="../media/image326.png"/><Relationship Id="rId26" Type="http://schemas.openxmlformats.org/officeDocument/2006/relationships/image" Target="../media/image334.png"/><Relationship Id="rId3" Type="http://schemas.openxmlformats.org/officeDocument/2006/relationships/image" Target="../media/image311.png"/><Relationship Id="rId21" Type="http://schemas.openxmlformats.org/officeDocument/2006/relationships/image" Target="../media/image329.png"/><Relationship Id="rId7" Type="http://schemas.openxmlformats.org/officeDocument/2006/relationships/image" Target="../media/image315.png"/><Relationship Id="rId12" Type="http://schemas.openxmlformats.org/officeDocument/2006/relationships/image" Target="../media/image320.png"/><Relationship Id="rId17" Type="http://schemas.openxmlformats.org/officeDocument/2006/relationships/image" Target="../media/image325.png"/><Relationship Id="rId25" Type="http://schemas.openxmlformats.org/officeDocument/2006/relationships/image" Target="../media/image333.png"/><Relationship Id="rId2" Type="http://schemas.openxmlformats.org/officeDocument/2006/relationships/image" Target="../media/image310.png"/><Relationship Id="rId16" Type="http://schemas.openxmlformats.org/officeDocument/2006/relationships/image" Target="../media/image324.png"/><Relationship Id="rId20" Type="http://schemas.openxmlformats.org/officeDocument/2006/relationships/image" Target="../media/image328.png"/><Relationship Id="rId29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4.png"/><Relationship Id="rId11" Type="http://schemas.openxmlformats.org/officeDocument/2006/relationships/image" Target="../media/image319.png"/><Relationship Id="rId24" Type="http://schemas.openxmlformats.org/officeDocument/2006/relationships/image" Target="../media/image332.png"/><Relationship Id="rId5" Type="http://schemas.openxmlformats.org/officeDocument/2006/relationships/image" Target="../media/image313.png"/><Relationship Id="rId15" Type="http://schemas.openxmlformats.org/officeDocument/2006/relationships/image" Target="../media/image323.png"/><Relationship Id="rId23" Type="http://schemas.openxmlformats.org/officeDocument/2006/relationships/image" Target="../media/image331.png"/><Relationship Id="rId28" Type="http://schemas.openxmlformats.org/officeDocument/2006/relationships/image" Target="../media/image336.png"/><Relationship Id="rId10" Type="http://schemas.openxmlformats.org/officeDocument/2006/relationships/image" Target="../media/image318.png"/><Relationship Id="rId19" Type="http://schemas.openxmlformats.org/officeDocument/2006/relationships/image" Target="../media/image327.png"/><Relationship Id="rId4" Type="http://schemas.openxmlformats.org/officeDocument/2006/relationships/image" Target="../media/image312.png"/><Relationship Id="rId9" Type="http://schemas.openxmlformats.org/officeDocument/2006/relationships/image" Target="../media/image317.png"/><Relationship Id="rId14" Type="http://schemas.openxmlformats.org/officeDocument/2006/relationships/image" Target="../media/image322.png"/><Relationship Id="rId22" Type="http://schemas.openxmlformats.org/officeDocument/2006/relationships/image" Target="../media/image330.png"/><Relationship Id="rId27" Type="http://schemas.openxmlformats.org/officeDocument/2006/relationships/image" Target="../media/image33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3" Type="http://schemas.openxmlformats.org/officeDocument/2006/relationships/image" Target="../media/image339.png"/><Relationship Id="rId7" Type="http://schemas.openxmlformats.org/officeDocument/2006/relationships/image" Target="../media/image343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10" Type="http://schemas.openxmlformats.org/officeDocument/2006/relationships/image" Target="../media/image346.png"/><Relationship Id="rId4" Type="http://schemas.openxmlformats.org/officeDocument/2006/relationships/image" Target="../media/image340.png"/><Relationship Id="rId9" Type="http://schemas.openxmlformats.org/officeDocument/2006/relationships/image" Target="../media/image345.png"/></Relationships>
</file>

<file path=ppt/slides/_rels/slide4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7.png"/><Relationship Id="rId39" Type="http://schemas.openxmlformats.org/officeDocument/2006/relationships/image" Target="../media/image370.png"/><Relationship Id="rId3" Type="http://schemas.openxmlformats.org/officeDocument/2006/relationships/image" Target="../media/image348.png"/><Relationship Id="rId21" Type="http://schemas.openxmlformats.org/officeDocument/2006/relationships/image" Target="../media/image366.png"/><Relationship Id="rId34" Type="http://schemas.openxmlformats.org/officeDocument/2006/relationships/image" Target="../media/image364.png"/><Relationship Id="rId7" Type="http://schemas.openxmlformats.org/officeDocument/2006/relationships/image" Target="../media/image352.png"/><Relationship Id="rId25" Type="http://schemas.openxmlformats.org/officeDocument/2006/relationships/image" Target="../media/image356.png"/><Relationship Id="rId33" Type="http://schemas.openxmlformats.org/officeDocument/2006/relationships/image" Target="../media/image363.png"/><Relationship Id="rId38" Type="http://schemas.openxmlformats.org/officeDocument/2006/relationships/image" Target="../media/image369.png"/><Relationship Id="rId2" Type="http://schemas.openxmlformats.org/officeDocument/2006/relationships/image" Target="../media/image347.png"/><Relationship Id="rId29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24" Type="http://schemas.openxmlformats.org/officeDocument/2006/relationships/image" Target="../media/image355.png"/><Relationship Id="rId32" Type="http://schemas.openxmlformats.org/officeDocument/2006/relationships/image" Target="../media/image362.png"/><Relationship Id="rId37" Type="http://schemas.openxmlformats.org/officeDocument/2006/relationships/image" Target="../media/image368.png"/><Relationship Id="rId5" Type="http://schemas.openxmlformats.org/officeDocument/2006/relationships/image" Target="../media/image350.png"/><Relationship Id="rId23" Type="http://schemas.openxmlformats.org/officeDocument/2006/relationships/image" Target="../media/image354.png"/><Relationship Id="rId28" Type="http://schemas.openxmlformats.org/officeDocument/2006/relationships/image" Target="../media/image358.png"/><Relationship Id="rId36" Type="http://schemas.openxmlformats.org/officeDocument/2006/relationships/image" Target="../media/image367.png"/><Relationship Id="rId31" Type="http://schemas.openxmlformats.org/officeDocument/2006/relationships/image" Target="../media/image361.png"/><Relationship Id="rId4" Type="http://schemas.openxmlformats.org/officeDocument/2006/relationships/image" Target="../media/image349.png"/><Relationship Id="rId22" Type="http://schemas.openxmlformats.org/officeDocument/2006/relationships/image" Target="../media/image353.png"/><Relationship Id="rId27" Type="http://schemas.openxmlformats.org/officeDocument/2006/relationships/image" Target="../media/image372.png"/><Relationship Id="rId30" Type="http://schemas.openxmlformats.org/officeDocument/2006/relationships/image" Target="../media/image360.png"/><Relationship Id="rId35" Type="http://schemas.openxmlformats.org/officeDocument/2006/relationships/image" Target="../media/image3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err="1" smtClean="0"/>
              <a:t>Karnaugh</a:t>
            </a:r>
            <a:r>
              <a:rPr lang="en-US" altLang="en-US" sz="4400" dirty="0" smtClean="0"/>
              <a:t> Maps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Presentation 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The </a:t>
            </a:r>
            <a:r>
              <a:rPr lang="en-US" altLang="en-US" kern="0" dirty="0" err="1" smtClean="0"/>
              <a:t>Karnaugh</a:t>
            </a:r>
            <a:r>
              <a:rPr lang="en-US" altLang="en-US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/>
              <a:t>Prime and Essential Prime </a:t>
            </a:r>
            <a:r>
              <a:rPr lang="en-US" altLang="en-US" kern="0" dirty="0" smtClean="0"/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36243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Boolean Function Minimization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899"/>
            <a:ext cx="8368855" cy="5530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Complexity of a Boolean function is directly related to the complexity of the algebraic expression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The truth table of a function is unique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However, the algebraic expression is not unique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Boolean function can be simplified by algebraic manipulation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However, algebraic manipulation depends on experience</a:t>
            </a:r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2400" dirty="0" smtClean="0"/>
              <a:t>Algebraic manipulation does not guarantee that the simplified Boolean expression is minimal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88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Example: Sum of Minterms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96" y="5906101"/>
            <a:ext cx="8262504" cy="55321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Sum-of-Minterms has 15 literals</a:t>
            </a:r>
            <a:r>
              <a:rPr lang="en-US" sz="2400" dirty="0"/>
              <a:t> </a:t>
            </a:r>
            <a:r>
              <a:rPr lang="en-US" sz="2400" dirty="0" smtClean="0">
                <a:sym typeface="Wingdings" panose="05000000000000000000" pitchFamily="2" charset="2"/>
              </a:rPr>
              <a:t></a:t>
            </a:r>
            <a:r>
              <a:rPr lang="en-US" sz="2400" dirty="0" smtClean="0"/>
              <a:t> Can be simplified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1871" y="951900"/>
            <a:ext cx="13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Truth Table</a:t>
            </a:r>
            <a:endParaRPr 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8901283"/>
                  </p:ext>
                </p:extLst>
              </p:nvPr>
            </p:nvGraphicFramePr>
            <p:xfrm>
              <a:off x="530647" y="1470362"/>
              <a:ext cx="3509596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5033"/>
                    <a:gridCol w="809292"/>
                    <a:gridCol w="1595271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1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2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𝑦𝑧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3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5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7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8901283"/>
                  </p:ext>
                </p:extLst>
              </p:nvPr>
            </p:nvGraphicFramePr>
            <p:xfrm>
              <a:off x="530647" y="1470362"/>
              <a:ext cx="3509596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5033"/>
                    <a:gridCol w="809292"/>
                    <a:gridCol w="1595271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2"/>
                          <a:stretch>
                            <a:fillRect l="-119847" t="-205405" b="-60810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2"/>
                          <a:stretch>
                            <a:fillRect l="-119847" t="-309589" b="-51643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2"/>
                          <a:stretch>
                            <a:fillRect l="-119847" t="-404054" b="-409459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2"/>
                          <a:stretch>
                            <a:fillRect l="-119847" t="-602703" b="-210811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2"/>
                          <a:stretch>
                            <a:fillRect l="-119847" t="-801351" b="-1216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359298" y="1643183"/>
            <a:ext cx="4147702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/>
              <a:t>Focus on the </a:t>
            </a:r>
            <a:r>
              <a:rPr lang="en-US" altLang="en-US" sz="2000" dirty="0" smtClean="0"/>
              <a:t>‘</a:t>
            </a:r>
            <a:r>
              <a:rPr lang="en-US" altLang="en-US" sz="2000" b="1" dirty="0" smtClean="0">
                <a:solidFill>
                  <a:srgbClr val="FF0000"/>
                </a:solidFill>
              </a:rPr>
              <a:t>1</a:t>
            </a:r>
            <a:r>
              <a:rPr lang="en-US" altLang="en-US" sz="2000" dirty="0" smtClean="0"/>
              <a:t>’ </a:t>
            </a:r>
            <a:r>
              <a:rPr lang="en-US" sz="2000" dirty="0" smtClean="0"/>
              <a:t>entries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59298" y="2449682"/>
                <a:ext cx="4147703" cy="63367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𝑓</m:t>
                      </m:r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𝑚</m:t>
                      </m:r>
                      <m:r>
                        <a:rPr lang="en-US" sz="2000" b="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0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 dirty="0" smtClean="0">
                              <a:latin typeface="Cambria Math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298" y="2449682"/>
                <a:ext cx="4147703" cy="6336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59298" y="3313788"/>
                <a:ext cx="4147702" cy="86410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𝑓</m:t>
                      </m:r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1, 2, 3, 5, 7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298" y="3313788"/>
                <a:ext cx="4147702" cy="8641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359298" y="4408320"/>
                <a:ext cx="4147702" cy="109453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𝑓</m:t>
                      </m:r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𝑦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US" sz="2000" b="0" i="1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𝑦𝑧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𝑥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𝑥𝑦𝑧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298" y="4408320"/>
                <a:ext cx="4147702" cy="10945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62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Algebraic Manipulation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4769" y="836685"/>
                <a:ext cx="8667638" cy="576070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spcBef>
                    <a:spcPts val="1700"/>
                  </a:spcBef>
                  <a:tabLst>
                    <a:tab pos="7175500" algn="l"/>
                  </a:tabLst>
                </a:pPr>
                <a:r>
                  <a:rPr lang="en-US" b="1" dirty="0" smtClean="0">
                    <a:solidFill>
                      <a:srgbClr val="FF0000"/>
                    </a:solidFill>
                  </a:rPr>
                  <a:t>Simplify: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𝑥𝑦𝑧</m:t>
                    </m:r>
                  </m:oMath>
                </a14:m>
                <a:r>
                  <a:rPr lang="en-US" dirty="0" smtClean="0"/>
                  <a:t>  (15 literals)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𝑥𝑦𝑧</m:t>
                    </m:r>
                  </m:oMath>
                </a14:m>
                <a:r>
                  <a:rPr lang="en-US" dirty="0" smtClean="0"/>
                  <a:t>	(Sum-of-Minterms)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𝑦𝑧</m:t>
                    </m:r>
                    <m:r>
                      <a:rPr lang="en-US" b="0" i="1" dirty="0" smtClean="0">
                        <a:latin typeface="Cambria Math"/>
                      </a:rPr>
                      <m:t>′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i="1" dirty="0">
                        <a:latin typeface="Cambria Math"/>
                      </a:rPr>
                      <m:t>𝑥𝑦𝑧</m:t>
                    </m:r>
                  </m:oMath>
                </a14:m>
                <a:r>
                  <a:rPr lang="en-US" dirty="0" smtClean="0"/>
                  <a:t>	Reorder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d>
                      <m:d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𝑥𝑧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	</a:t>
                </a:r>
                <a:r>
                  <a:rPr lang="en-US" dirty="0"/>
                  <a:t>Distributive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dirty="0"/>
                  <a:t> over +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 dirty="0" err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err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err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latin typeface="Cambria Math"/>
                      </a:rPr>
                      <m:t>𝑥𝑧</m:t>
                    </m:r>
                  </m:oMath>
                </a14:m>
                <a:r>
                  <a:rPr lang="en-US" dirty="0" smtClean="0"/>
                  <a:t>	Simplify (7 literals)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 dirty="0" err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err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err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𝑥𝑧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 smtClean="0"/>
                  <a:t>	Reorder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=(</m:t>
                    </m:r>
                    <m:sSup>
                      <m:sSupPr>
                        <m:ctrlPr>
                          <a:rPr lang="en-US" i="1" dirty="0" err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 err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 err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	Distributive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dirty="0"/>
                  <a:t> over +</a:t>
                </a:r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Simplify (4 literals)</a:t>
                </a:r>
                <a:endParaRPr lang="en-US" dirty="0"/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=(</m:t>
                    </m:r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  <m:r>
                      <a:rPr lang="en-US" b="0" i="1" dirty="0" smtClean="0">
                        <a:latin typeface="Cambria Math"/>
                      </a:rPr>
                      <m:t>)(</m:t>
                    </m:r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Distributive + over </a:t>
                </a:r>
                <a:r>
                  <a:rPr lang="en-US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endParaRPr lang="en-US" dirty="0" smtClean="0"/>
              </a:p>
              <a:p>
                <a:pPr marL="357188" indent="0">
                  <a:spcBef>
                    <a:spcPts val="1700"/>
                  </a:spcBef>
                  <a:buNone/>
                  <a:tabLst>
                    <a:tab pos="609600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𝑧</m:t>
                    </m:r>
                    <m:r>
                      <a:rPr lang="en-US" i="1" dirty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Simplify (3 </a:t>
                </a:r>
                <a:r>
                  <a:rPr lang="en-US" dirty="0"/>
                  <a:t>literals)</a:t>
                </a:r>
              </a:p>
              <a:p>
                <a:pPr marL="357188" indent="0">
                  <a:spcBef>
                    <a:spcPts val="1200"/>
                  </a:spcBef>
                  <a:buNone/>
                  <a:tabLst>
                    <a:tab pos="6096000" algn="l"/>
                  </a:tabLst>
                </a:pPr>
                <a:endParaRPr lang="en-US" dirty="0"/>
              </a:p>
              <a:p>
                <a:pPr marL="357188" indent="0">
                  <a:spcBef>
                    <a:spcPts val="1200"/>
                  </a:spcBef>
                  <a:buNone/>
                  <a:tabLst>
                    <a:tab pos="6096000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833" y="836685"/>
                <a:ext cx="9389941" cy="5760700"/>
              </a:xfrm>
              <a:blipFill rotWithShape="1">
                <a:blip r:embed="rId2"/>
                <a:stretch>
                  <a:fillRect l="-844" t="-741" b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444973" y="1873612"/>
            <a:ext cx="903987" cy="172821"/>
            <a:chOff x="2786183" y="3429000"/>
            <a:chExt cx="633677" cy="172821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2050230" y="3659429"/>
            <a:ext cx="873324" cy="172821"/>
            <a:chOff x="2786183" y="3429000"/>
            <a:chExt cx="633677" cy="172821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045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Drawback of Algebraic Manipulation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36685"/>
            <a:ext cx="8454935" cy="5645486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1500"/>
              </a:spcBef>
            </a:pPr>
            <a:r>
              <a:rPr lang="en-US" sz="2000" dirty="0" smtClean="0"/>
              <a:t>No </a:t>
            </a:r>
            <a:r>
              <a:rPr lang="en-US" sz="2000" dirty="0"/>
              <a:t>clear steps </a:t>
            </a:r>
            <a:r>
              <a:rPr lang="en-US" sz="2000" dirty="0" smtClean="0"/>
              <a:t>in </a:t>
            </a:r>
            <a:r>
              <a:rPr lang="en-US" sz="2000" dirty="0"/>
              <a:t>the manipulation </a:t>
            </a:r>
            <a:r>
              <a:rPr lang="en-US" sz="2000" dirty="0" smtClean="0"/>
              <a:t>process</a:t>
            </a:r>
            <a:endParaRPr lang="en-US" sz="2000" b="1" dirty="0" smtClean="0"/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Not clear which terms should be grouped together</a:t>
            </a:r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Not clear which property of Boolean algebra should be used next</a:t>
            </a:r>
          </a:p>
          <a:p>
            <a:pPr>
              <a:lnSpc>
                <a:spcPct val="114000"/>
              </a:lnSpc>
              <a:spcBef>
                <a:spcPts val="1500"/>
              </a:spcBef>
            </a:pPr>
            <a:r>
              <a:rPr lang="en-US" sz="2000" dirty="0"/>
              <a:t>Does not always guarantee a minimal expression</a:t>
            </a:r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Simplified expression may or may not be minimal</a:t>
            </a:r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Different steps might lead to different non-minimal expressions</a:t>
            </a:r>
          </a:p>
          <a:p>
            <a:pPr>
              <a:lnSpc>
                <a:spcPct val="114000"/>
              </a:lnSpc>
              <a:spcBef>
                <a:spcPts val="1500"/>
              </a:spcBef>
            </a:pPr>
            <a:r>
              <a:rPr lang="en-US" sz="2000" dirty="0" smtClean="0"/>
              <a:t>However, the goal is </a:t>
            </a:r>
            <a:r>
              <a:rPr lang="en-US" sz="2000" dirty="0"/>
              <a:t>to </a:t>
            </a:r>
            <a:r>
              <a:rPr lang="en-US" sz="2000" dirty="0" smtClean="0"/>
              <a:t>minimize a Boolean function</a:t>
            </a:r>
          </a:p>
          <a:p>
            <a:pPr>
              <a:lnSpc>
                <a:spcPct val="114000"/>
              </a:lnSpc>
              <a:spcBef>
                <a:spcPts val="1500"/>
              </a:spcBef>
            </a:pPr>
            <a:r>
              <a:rPr lang="en-US" sz="2000" dirty="0" smtClean="0"/>
              <a:t>Minimize the </a:t>
            </a:r>
            <a:r>
              <a:rPr lang="en-US" sz="2000" b="1" dirty="0" smtClean="0">
                <a:solidFill>
                  <a:srgbClr val="FF0000"/>
                </a:solidFill>
              </a:rPr>
              <a:t>number </a:t>
            </a:r>
            <a:r>
              <a:rPr lang="en-US" sz="2000" b="1" dirty="0">
                <a:solidFill>
                  <a:srgbClr val="FF0000"/>
                </a:solidFill>
              </a:rPr>
              <a:t>of literals</a:t>
            </a:r>
            <a:r>
              <a:rPr lang="en-US" sz="2000" dirty="0"/>
              <a:t> in the </a:t>
            </a:r>
            <a:r>
              <a:rPr lang="en-US" sz="2000" dirty="0" smtClean="0"/>
              <a:t>Boolean expression</a:t>
            </a:r>
            <a:endParaRPr lang="en-US" sz="2000" dirty="0"/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The </a:t>
            </a:r>
            <a:r>
              <a:rPr lang="en-US" sz="1800" b="1" dirty="0" smtClean="0">
                <a:solidFill>
                  <a:srgbClr val="FF0000"/>
                </a:solidFill>
              </a:rPr>
              <a:t>literal count</a:t>
            </a:r>
            <a:r>
              <a:rPr lang="en-US" sz="1800" dirty="0" smtClean="0"/>
              <a:t> is a good measure of the </a:t>
            </a:r>
            <a:r>
              <a:rPr lang="en-US" sz="1800" b="1" dirty="0" smtClean="0">
                <a:solidFill>
                  <a:srgbClr val="FF0000"/>
                </a:solidFill>
              </a:rPr>
              <a:t>cost</a:t>
            </a:r>
            <a:r>
              <a:rPr lang="en-US" sz="1800" dirty="0" smtClean="0"/>
              <a:t> of logic implementation</a:t>
            </a:r>
          </a:p>
          <a:p>
            <a:pPr lvl="1">
              <a:lnSpc>
                <a:spcPct val="114000"/>
              </a:lnSpc>
              <a:spcBef>
                <a:spcPts val="1500"/>
              </a:spcBef>
            </a:pPr>
            <a:r>
              <a:rPr lang="en-US" sz="1800" dirty="0" smtClean="0"/>
              <a:t>Proportional to the number of transistors in the circuit implementation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741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899"/>
            <a:ext cx="8508111" cy="553027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Called also K-map for short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The </a:t>
            </a:r>
            <a:r>
              <a:rPr lang="en-US" sz="2400" dirty="0" err="1" smtClean="0"/>
              <a:t>Karnaugh</a:t>
            </a:r>
            <a:r>
              <a:rPr lang="en-US" sz="2400" dirty="0" smtClean="0"/>
              <a:t> map is a diagram made up of squares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It is </a:t>
            </a:r>
            <a:r>
              <a:rPr lang="en-US" sz="2400" dirty="0"/>
              <a:t>a reorganized version of the truth </a:t>
            </a:r>
            <a:r>
              <a:rPr lang="en-US" sz="2400" dirty="0" smtClean="0"/>
              <a:t>table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Each square in the </a:t>
            </a:r>
            <a:r>
              <a:rPr lang="en-US" sz="2400" dirty="0" err="1" smtClean="0"/>
              <a:t>Karnaugh</a:t>
            </a:r>
            <a:r>
              <a:rPr lang="en-US" sz="2400" dirty="0" smtClean="0"/>
              <a:t> map represents a </a:t>
            </a:r>
            <a:r>
              <a:rPr lang="en-US" sz="2400" dirty="0" err="1" smtClean="0"/>
              <a:t>minterm</a:t>
            </a:r>
            <a:endParaRPr lang="en-US" sz="2400" dirty="0" smtClean="0"/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Adjacent squares differ in the value of one variable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Simplified expressions can be derived from the </a:t>
            </a:r>
            <a:r>
              <a:rPr lang="en-US" sz="2400" dirty="0" err="1" smtClean="0"/>
              <a:t>Karnaugh</a:t>
            </a:r>
            <a:r>
              <a:rPr lang="en-US" sz="2400" dirty="0" smtClean="0"/>
              <a:t> map</a:t>
            </a:r>
          </a:p>
          <a:p>
            <a:pPr lvl="1">
              <a:lnSpc>
                <a:spcPct val="120000"/>
              </a:lnSpc>
              <a:spcBef>
                <a:spcPts val="1500"/>
              </a:spcBef>
            </a:pPr>
            <a:r>
              <a:rPr lang="en-US" sz="2000" dirty="0"/>
              <a:t>By recognizing patterns of </a:t>
            </a:r>
            <a:r>
              <a:rPr lang="en-US" sz="2000" dirty="0" smtClean="0"/>
              <a:t>squares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Simplified sum-of-products expression (AND-OR circuits)</a:t>
            </a:r>
          </a:p>
          <a:p>
            <a:pPr>
              <a:lnSpc>
                <a:spcPct val="120000"/>
              </a:lnSpc>
              <a:spcBef>
                <a:spcPts val="1500"/>
              </a:spcBef>
            </a:pPr>
            <a:r>
              <a:rPr lang="en-US" sz="2400" dirty="0" smtClean="0"/>
              <a:t>Simplified product-of-sums expression (OR-AND circuits)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048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The </a:t>
            </a:r>
            <a:r>
              <a:rPr lang="en-US" altLang="en-US" sz="2000" kern="0" dirty="0" err="1" smtClean="0"/>
              <a:t>Karnaugh</a:t>
            </a:r>
            <a:r>
              <a:rPr lang="en-US" altLang="en-US" sz="2000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/>
              <a:t>Prime and Essential Prime </a:t>
            </a:r>
            <a:r>
              <a:rPr lang="en-US" altLang="en-US" sz="2000" kern="0" dirty="0" smtClean="0"/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sz="2000" kern="0" dirty="0" smtClean="0"/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sz="2000" kern="0" dirty="0" smtClean="0"/>
          </a:p>
          <a:p>
            <a:pPr>
              <a:spcBef>
                <a:spcPts val="2500"/>
              </a:spcBef>
            </a:pPr>
            <a:endParaRPr lang="en-US" altLang="en-US" sz="2000" kern="0" dirty="0" smtClean="0"/>
          </a:p>
        </p:txBody>
      </p:sp>
    </p:spTree>
    <p:extLst>
      <p:ext uri="{BB962C8B-B14F-4D97-AF65-F5344CB8AC3E}">
        <p14:creationId xmlns:p14="http://schemas.microsoft.com/office/powerpoint/2010/main" val="275337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Two-Variable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1900"/>
                <a:ext cx="8229600" cy="236188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Minterms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 smtClean="0"/>
                  <a:t> are adjacent (also,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𝑚</m:t>
                    </m:r>
                    <m:r>
                      <a:rPr lang="en-US" sz="2000" i="1" baseline="-25000" dirty="0"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𝑚</m:t>
                    </m:r>
                    <m:r>
                      <a:rPr lang="en-US" sz="2000" i="1" baseline="-25000" dirty="0">
                        <a:latin typeface="Cambria Math"/>
                      </a:rPr>
                      <m:t>3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lvl="1">
                  <a:spcBef>
                    <a:spcPts val="2000"/>
                  </a:spcBef>
                </a:pPr>
                <a:r>
                  <a:rPr lang="en-US" sz="1800" dirty="0" smtClean="0"/>
                  <a:t>They differ in the value of variable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sz="1800" dirty="0" smtClean="0"/>
              </a:p>
              <a:p>
                <a:pPr>
                  <a:spcBef>
                    <a:spcPts val="2000"/>
                  </a:spcBef>
                </a:pPr>
                <a:r>
                  <a:rPr lang="en-US" sz="2000" dirty="0" smtClean="0"/>
                  <a:t>Minterms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 smtClean="0"/>
                  <a:t> are adjacent (also,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lvl="1">
                  <a:spcBef>
                    <a:spcPts val="2000"/>
                  </a:spcBef>
                </a:pPr>
                <a:r>
                  <a:rPr lang="en-US" sz="1800" dirty="0" smtClean="0"/>
                  <a:t>They differ in the value of variable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51900"/>
                <a:ext cx="8229600" cy="2361887"/>
              </a:xfrm>
              <a:blipFill rotWithShape="1">
                <a:blip r:embed="rId2"/>
                <a:stretch>
                  <a:fillRect l="-593" t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127"/>
          <p:cNvGrpSpPr>
            <a:grpSpLocks/>
          </p:cNvGrpSpPr>
          <p:nvPr/>
        </p:nvGrpSpPr>
        <p:grpSpPr bwMode="auto">
          <a:xfrm>
            <a:off x="2010707" y="3959655"/>
            <a:ext cx="2135888" cy="2407302"/>
            <a:chOff x="2014" y="3209"/>
            <a:chExt cx="2019" cy="975"/>
          </a:xfrm>
        </p:grpSpPr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3257" y="3829"/>
              <a:ext cx="776" cy="35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m</a:t>
              </a:r>
              <a:r>
                <a:rPr lang="en-US" altLang="en-US" sz="2400" baseline="-25000" dirty="0" smtClean="0"/>
                <a:t>3</a:t>
              </a:r>
              <a:endParaRPr lang="en-US" altLang="en-US" sz="2400" baseline="-25000" dirty="0"/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2480" y="3829"/>
              <a:ext cx="777" cy="35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m</a:t>
              </a:r>
              <a:r>
                <a:rPr lang="en-US" altLang="en-US" sz="2400" baseline="-25000" dirty="0" smtClean="0"/>
                <a:t>2</a:t>
              </a:r>
              <a:endParaRPr lang="en-US" altLang="en-US" sz="2400" baseline="-25000" dirty="0"/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2014" y="3829"/>
              <a:ext cx="466" cy="35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3257" y="3473"/>
              <a:ext cx="776" cy="35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m</a:t>
              </a:r>
              <a:r>
                <a:rPr lang="en-US" altLang="en-US" sz="2400" baseline="-25000" dirty="0" smtClean="0"/>
                <a:t>1</a:t>
              </a:r>
              <a:endParaRPr lang="en-US" altLang="en-US" sz="2400" baseline="-25000" dirty="0"/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480" y="3473"/>
              <a:ext cx="777" cy="35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m</a:t>
              </a:r>
              <a:r>
                <a:rPr lang="en-US" altLang="en-US" sz="2400" baseline="-25000" dirty="0" smtClean="0"/>
                <a:t>0</a:t>
              </a:r>
              <a:endParaRPr lang="en-US" altLang="en-US" sz="2400" baseline="-25000" dirty="0"/>
            </a:p>
          </p:txBody>
        </p:sp>
        <p:sp>
          <p:nvSpPr>
            <p:cNvPr id="56" name="Rectangle 51"/>
            <p:cNvSpPr>
              <a:spLocks noChangeArrowheads="1"/>
            </p:cNvSpPr>
            <p:nvPr/>
          </p:nvSpPr>
          <p:spPr bwMode="auto">
            <a:xfrm>
              <a:off x="2014" y="3473"/>
              <a:ext cx="466" cy="35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7" name="Rectangle 50"/>
            <p:cNvSpPr>
              <a:spLocks noChangeArrowheads="1"/>
            </p:cNvSpPr>
            <p:nvPr/>
          </p:nvSpPr>
          <p:spPr bwMode="auto">
            <a:xfrm>
              <a:off x="3257" y="3228"/>
              <a:ext cx="776" cy="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Rectangle 49"/>
            <p:cNvSpPr>
              <a:spLocks noChangeArrowheads="1"/>
            </p:cNvSpPr>
            <p:nvPr/>
          </p:nvSpPr>
          <p:spPr bwMode="auto">
            <a:xfrm>
              <a:off x="2480" y="3228"/>
              <a:ext cx="777" cy="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Line 123"/>
            <p:cNvSpPr>
              <a:spLocks noChangeShapeType="1"/>
            </p:cNvSpPr>
            <p:nvPr/>
          </p:nvSpPr>
          <p:spPr bwMode="auto">
            <a:xfrm>
              <a:off x="2183" y="3301"/>
              <a:ext cx="297" cy="1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p:sp>
          <p:nvSpPr>
            <p:cNvPr id="68" name="Text Box 124"/>
            <p:cNvSpPr txBox="1">
              <a:spLocks noChangeArrowheads="1"/>
            </p:cNvSpPr>
            <p:nvPr/>
          </p:nvSpPr>
          <p:spPr bwMode="auto">
            <a:xfrm>
              <a:off x="2114" y="3334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 marL="2857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/>
                <a:t>x</a:t>
              </a:r>
            </a:p>
          </p:txBody>
        </p:sp>
        <p:sp>
          <p:nvSpPr>
            <p:cNvPr id="69" name="Text Box 125"/>
            <p:cNvSpPr txBox="1">
              <a:spLocks noChangeArrowheads="1"/>
            </p:cNvSpPr>
            <p:nvPr/>
          </p:nvSpPr>
          <p:spPr bwMode="auto">
            <a:xfrm>
              <a:off x="2391" y="3209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 marL="2857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/>
                <a:t>y</a:t>
              </a:r>
            </a:p>
          </p:txBody>
        </p:sp>
      </p:grpSp>
      <p:grpSp>
        <p:nvGrpSpPr>
          <p:cNvPr id="70" name="Group 127"/>
          <p:cNvGrpSpPr>
            <a:grpSpLocks/>
          </p:cNvGrpSpPr>
          <p:nvPr/>
        </p:nvGrpSpPr>
        <p:grpSpPr bwMode="auto">
          <a:xfrm>
            <a:off x="4678352" y="3959655"/>
            <a:ext cx="2135888" cy="2407302"/>
            <a:chOff x="2014" y="3209"/>
            <a:chExt cx="2019" cy="975"/>
          </a:xfrm>
        </p:grpSpPr>
        <p:sp>
          <p:nvSpPr>
            <p:cNvPr id="71" name="Rectangle 56"/>
            <p:cNvSpPr>
              <a:spLocks noChangeArrowheads="1"/>
            </p:cNvSpPr>
            <p:nvPr/>
          </p:nvSpPr>
          <p:spPr bwMode="auto">
            <a:xfrm>
              <a:off x="3257" y="3829"/>
              <a:ext cx="776" cy="35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x </a:t>
              </a:r>
              <a:r>
                <a:rPr lang="en-US" altLang="en-US" sz="2400" i="1" dirty="0"/>
                <a:t>y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2480" y="3829"/>
              <a:ext cx="777" cy="35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x y'</a:t>
              </a:r>
              <a:endParaRPr lang="en-US" altLang="en-US" sz="2400" i="1" dirty="0"/>
            </a:p>
          </p:txBody>
        </p:sp>
        <p:sp>
          <p:nvSpPr>
            <p:cNvPr id="73" name="Rectangle 54"/>
            <p:cNvSpPr>
              <a:spLocks noChangeArrowheads="1"/>
            </p:cNvSpPr>
            <p:nvPr/>
          </p:nvSpPr>
          <p:spPr bwMode="auto">
            <a:xfrm>
              <a:off x="2014" y="3829"/>
              <a:ext cx="466" cy="35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257" y="3473"/>
              <a:ext cx="776" cy="35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x' </a:t>
              </a:r>
              <a:r>
                <a:rPr lang="en-US" altLang="en-US" sz="2400" i="1" dirty="0"/>
                <a:t>y</a:t>
              </a:r>
            </a:p>
          </p:txBody>
        </p:sp>
        <p:sp>
          <p:nvSpPr>
            <p:cNvPr id="75" name="Rectangle 52"/>
            <p:cNvSpPr>
              <a:spLocks noChangeArrowheads="1"/>
            </p:cNvSpPr>
            <p:nvPr/>
          </p:nvSpPr>
          <p:spPr bwMode="auto">
            <a:xfrm>
              <a:off x="2480" y="3473"/>
              <a:ext cx="777" cy="35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i="1" dirty="0" smtClean="0"/>
                <a:t>x' y'</a:t>
              </a:r>
              <a:endParaRPr lang="en-US" altLang="en-US" sz="2400" i="1" dirty="0"/>
            </a:p>
          </p:txBody>
        </p:sp>
        <p:sp>
          <p:nvSpPr>
            <p:cNvPr id="76" name="Rectangle 51"/>
            <p:cNvSpPr>
              <a:spLocks noChangeArrowheads="1"/>
            </p:cNvSpPr>
            <p:nvPr/>
          </p:nvSpPr>
          <p:spPr bwMode="auto">
            <a:xfrm>
              <a:off x="2014" y="3473"/>
              <a:ext cx="466" cy="35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7" name="Rectangle 50"/>
            <p:cNvSpPr>
              <a:spLocks noChangeArrowheads="1"/>
            </p:cNvSpPr>
            <p:nvPr/>
          </p:nvSpPr>
          <p:spPr bwMode="auto">
            <a:xfrm>
              <a:off x="3257" y="3228"/>
              <a:ext cx="776" cy="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8" name="Rectangle 49"/>
            <p:cNvSpPr>
              <a:spLocks noChangeArrowheads="1"/>
            </p:cNvSpPr>
            <p:nvPr/>
          </p:nvSpPr>
          <p:spPr bwMode="auto">
            <a:xfrm>
              <a:off x="2480" y="3228"/>
              <a:ext cx="777" cy="24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20000"/>
                </a:spcBef>
                <a:buClr>
                  <a:srgbClr val="3333FF"/>
                </a:buClr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20000"/>
                </a:spcBef>
                <a:buClr>
                  <a:srgbClr val="3333FF"/>
                </a:buClr>
                <a:buChar char="•"/>
                <a:defRPr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20000"/>
                </a:spcBef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FF"/>
                </a:buClr>
                <a:buFont typeface="Wingdings" pitchFamily="2" charset="2"/>
                <a:buChar char="§"/>
                <a:defRPr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altLang="en-US" sz="2400" dirty="0" smtClean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altLang="en-US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9" name="Line 123"/>
            <p:cNvSpPr>
              <a:spLocks noChangeShapeType="1"/>
            </p:cNvSpPr>
            <p:nvPr/>
          </p:nvSpPr>
          <p:spPr bwMode="auto">
            <a:xfrm>
              <a:off x="2183" y="3301"/>
              <a:ext cx="297" cy="1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p:sp>
          <p:nvSpPr>
            <p:cNvPr id="80" name="Text Box 124"/>
            <p:cNvSpPr txBox="1">
              <a:spLocks noChangeArrowheads="1"/>
            </p:cNvSpPr>
            <p:nvPr/>
          </p:nvSpPr>
          <p:spPr bwMode="auto">
            <a:xfrm>
              <a:off x="2114" y="3334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 marL="2857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/>
                <a:t>x</a:t>
              </a:r>
            </a:p>
          </p:txBody>
        </p:sp>
        <p:sp>
          <p:nvSpPr>
            <p:cNvPr id="81" name="Text Box 125"/>
            <p:cNvSpPr txBox="1">
              <a:spLocks noChangeArrowheads="1"/>
            </p:cNvSpPr>
            <p:nvPr/>
          </p:nvSpPr>
          <p:spPr bwMode="auto">
            <a:xfrm>
              <a:off x="2391" y="3209"/>
              <a:ext cx="176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>
              <a:lvl1pPr marL="2857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/>
                <a:t>y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136257" y="3428192"/>
            <a:ext cx="2848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Two-variable K-map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5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From a Truth Table to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9506"/>
            <a:ext cx="8229600" cy="2073852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sz="2400" dirty="0" smtClean="0"/>
              <a:t>Given a truth table, construct the corresponding K-map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Copy the function values from the truth table into the K-map</a:t>
            </a:r>
          </a:p>
          <a:p>
            <a:pPr>
              <a:spcBef>
                <a:spcPts val="2000"/>
              </a:spcBef>
            </a:pPr>
            <a:r>
              <a:rPr lang="en-US" sz="2400" dirty="0" smtClean="0"/>
              <a:t>Make sure to copy each value into the proper K-map square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51329"/>
              </p:ext>
            </p:extLst>
          </p:nvPr>
        </p:nvGraphicFramePr>
        <p:xfrm>
          <a:off x="1753689" y="3851338"/>
          <a:ext cx="18611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877"/>
                <a:gridCol w="92927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</a:t>
                      </a:r>
                      <a:endParaRPr lang="en-U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60040" y="3199381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146595" y="3198573"/>
            <a:ext cx="2986699" cy="2881159"/>
            <a:chOff x="4492144" y="3428191"/>
            <a:chExt cx="3235591" cy="2881159"/>
          </a:xfrm>
        </p:grpSpPr>
        <p:grpSp>
          <p:nvGrpSpPr>
            <p:cNvPr id="4" name="Group 127"/>
            <p:cNvGrpSpPr>
              <a:grpSpLocks/>
            </p:cNvGrpSpPr>
            <p:nvPr/>
          </p:nvGrpSpPr>
          <p:grpSpPr bwMode="auto">
            <a:xfrm>
              <a:off x="5413856" y="3902048"/>
              <a:ext cx="2313879" cy="2407302"/>
              <a:chOff x="2014" y="3209"/>
              <a:chExt cx="2019" cy="975"/>
            </a:xfrm>
          </p:grpSpPr>
          <p:sp>
            <p:nvSpPr>
              <p:cNvPr id="5" name="Rectangle 56"/>
              <p:cNvSpPr>
                <a:spLocks noChangeArrowheads="1"/>
              </p:cNvSpPr>
              <p:nvPr/>
            </p:nvSpPr>
            <p:spPr bwMode="auto">
              <a:xfrm>
                <a:off x="3257" y="3829"/>
                <a:ext cx="776" cy="355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6" name="Rectangle 55"/>
              <p:cNvSpPr>
                <a:spLocks noChangeArrowheads="1"/>
              </p:cNvSpPr>
              <p:nvPr/>
            </p:nvSpPr>
            <p:spPr bwMode="auto">
              <a:xfrm>
                <a:off x="2480" y="3829"/>
                <a:ext cx="777" cy="355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7" name="Rectangle 54"/>
              <p:cNvSpPr>
                <a:spLocks noChangeArrowheads="1"/>
              </p:cNvSpPr>
              <p:nvPr/>
            </p:nvSpPr>
            <p:spPr bwMode="auto">
              <a:xfrm>
                <a:off x="2014" y="3829"/>
                <a:ext cx="466" cy="35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3257" y="3473"/>
                <a:ext cx="776" cy="356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" name="Rectangle 52"/>
              <p:cNvSpPr>
                <a:spLocks noChangeArrowheads="1"/>
              </p:cNvSpPr>
              <p:nvPr/>
            </p:nvSpPr>
            <p:spPr bwMode="auto">
              <a:xfrm>
                <a:off x="2480" y="3473"/>
                <a:ext cx="777" cy="356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0" name="Rectangle 51"/>
              <p:cNvSpPr>
                <a:spLocks noChangeArrowheads="1"/>
              </p:cNvSpPr>
              <p:nvPr/>
            </p:nvSpPr>
            <p:spPr bwMode="auto">
              <a:xfrm>
                <a:off x="2014" y="3473"/>
                <a:ext cx="466" cy="356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sz="2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Rectangle 50"/>
              <p:cNvSpPr>
                <a:spLocks noChangeArrowheads="1"/>
              </p:cNvSpPr>
              <p:nvPr/>
            </p:nvSpPr>
            <p:spPr bwMode="auto">
              <a:xfrm>
                <a:off x="3257" y="3228"/>
                <a:ext cx="776" cy="24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2" name="Rectangle 49"/>
              <p:cNvSpPr>
                <a:spLocks noChangeArrowheads="1"/>
              </p:cNvSpPr>
              <p:nvPr/>
            </p:nvSpPr>
            <p:spPr bwMode="auto">
              <a:xfrm>
                <a:off x="2480" y="3228"/>
                <a:ext cx="777" cy="24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Line 123"/>
              <p:cNvSpPr>
                <a:spLocks noChangeShapeType="1"/>
              </p:cNvSpPr>
              <p:nvPr/>
            </p:nvSpPr>
            <p:spPr bwMode="auto">
              <a:xfrm>
                <a:off x="2183" y="3301"/>
                <a:ext cx="297" cy="1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" name="Text Box 124"/>
              <p:cNvSpPr txBox="1">
                <a:spLocks noChangeArrowheads="1"/>
              </p:cNvSpPr>
              <p:nvPr/>
            </p:nvSpPr>
            <p:spPr bwMode="auto">
              <a:xfrm>
                <a:off x="2114" y="3334"/>
                <a:ext cx="176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marL="2857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i="1" dirty="0"/>
                  <a:t>x</a:t>
                </a:r>
              </a:p>
            </p:txBody>
          </p:sp>
          <p:sp>
            <p:nvSpPr>
              <p:cNvPr id="15" name="Text Box 125"/>
              <p:cNvSpPr txBox="1">
                <a:spLocks noChangeArrowheads="1"/>
              </p:cNvSpPr>
              <p:nvPr/>
            </p:nvSpPr>
            <p:spPr bwMode="auto">
              <a:xfrm>
                <a:off x="2391" y="3209"/>
                <a:ext cx="176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marL="2857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i="1" dirty="0"/>
                  <a:t>y</a:t>
                </a: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6238831" y="3428191"/>
              <a:ext cx="1143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</a:rPr>
                <a:t>K-map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4492144" y="4993358"/>
              <a:ext cx="633677" cy="50949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479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K-Map Function Minimization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4750"/>
                <a:ext cx="8262504" cy="539220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:r>
                  <a:rPr lang="en-US" sz="2000" dirty="0" smtClean="0"/>
                  <a:t>Two adjacent cells containing 1's can be combined</a:t>
                </a: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𝑓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𝑚</m:t>
                    </m:r>
                    <m:r>
                      <a:rPr lang="en-US" sz="2000" i="1" baseline="-25000" dirty="0">
                        <a:latin typeface="Cambria Math"/>
                      </a:rPr>
                      <m:t>0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i="1" dirty="0">
                        <a:latin typeface="Cambria Math"/>
                      </a:rPr>
                      <m:t>𝑚</m:t>
                    </m:r>
                    <m:r>
                      <a:rPr lang="en-US" sz="2000" i="1" baseline="-25000" dirty="0">
                        <a:latin typeface="Cambria Math"/>
                      </a:rPr>
                      <m:t>2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i="1" dirty="0">
                        <a:latin typeface="Cambria Math"/>
                      </a:rPr>
                      <m:t>𝑚</m:t>
                    </m:r>
                    <m:r>
                      <a:rPr lang="en-US" sz="2000" i="1" baseline="-25000" dirty="0">
                        <a:latin typeface="Cambria Math"/>
                      </a:rPr>
                      <m:t>3</m:t>
                    </m:r>
                  </m:oMath>
                </a14:m>
                <a:endParaRPr lang="en-US" sz="2000" baseline="-25000" dirty="0"/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𝑓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  <m:r>
                      <a:rPr lang="en-US" sz="2000" i="1" dirty="0">
                        <a:latin typeface="Cambria Math"/>
                      </a:rPr>
                      <m:t>′</m:t>
                    </m:r>
                    <m:r>
                      <a:rPr lang="en-US" sz="2000" i="1" dirty="0">
                        <a:latin typeface="Cambria Math"/>
                      </a:rPr>
                      <m:t>𝑦</m:t>
                    </m:r>
                    <m:r>
                      <a:rPr lang="en-US" sz="2000" i="1" dirty="0">
                        <a:latin typeface="Cambria Math"/>
                      </a:rPr>
                      <m:t>′+</m:t>
                    </m:r>
                    <m:r>
                      <a:rPr lang="en-US" sz="2000" i="1" dirty="0" err="1">
                        <a:latin typeface="Cambria Math"/>
                      </a:rPr>
                      <m:t>𝑥𝑦</m:t>
                    </m:r>
                    <m:r>
                      <a:rPr lang="en-US" sz="2000" i="1" dirty="0">
                        <a:latin typeface="Cambria Math"/>
                      </a:rPr>
                      <m:t>′+</m:t>
                    </m:r>
                    <m:r>
                      <a:rPr lang="en-US" sz="2000" i="1" dirty="0" err="1">
                        <a:latin typeface="Cambria Math"/>
                      </a:rPr>
                      <m:t>𝑥𝑦</m:t>
                    </m:r>
                  </m:oMath>
                </a14:m>
                <a:r>
                  <a:rPr lang="en-US" sz="2000" dirty="0" smtClean="0"/>
                  <a:t>	(6 literals)</a:t>
                </a:r>
                <a:endParaRPr lang="en-US" sz="2000" dirty="0"/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′=(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′=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𝑚</m:t>
                    </m:r>
                    <m:r>
                      <a:rPr lang="en-US" sz="2000" i="1" baseline="-25000" dirty="0" smtClean="0">
                        <a:latin typeface="Cambria Math"/>
                      </a:rPr>
                      <m:t>3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  <a:tabLst>
                    <a:tab pos="6818313" algn="l"/>
                  </a:tabLst>
                </a:pPr>
                <a:r>
                  <a:rPr lang="en-US" sz="2000" dirty="0" smtClean="0"/>
                  <a:t>Therefore,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can be simplified as: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 smtClean="0"/>
                  <a:t>	(2 literals)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4750"/>
                <a:ext cx="8262504" cy="5392207"/>
              </a:xfrm>
              <a:blipFill rotWithShape="1">
                <a:blip r:embed="rId2"/>
                <a:stretch>
                  <a:fillRect l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158411" y="1816005"/>
            <a:ext cx="2135888" cy="2881159"/>
            <a:chOff x="5413856" y="3428191"/>
            <a:chExt cx="2313879" cy="2881159"/>
          </a:xfrm>
        </p:grpSpPr>
        <p:grpSp>
          <p:nvGrpSpPr>
            <p:cNvPr id="5" name="Group 127"/>
            <p:cNvGrpSpPr>
              <a:grpSpLocks/>
            </p:cNvGrpSpPr>
            <p:nvPr/>
          </p:nvGrpSpPr>
          <p:grpSpPr bwMode="auto">
            <a:xfrm>
              <a:off x="5413856" y="3902048"/>
              <a:ext cx="2313879" cy="2407302"/>
              <a:chOff x="2014" y="3209"/>
              <a:chExt cx="2019" cy="975"/>
            </a:xfrm>
          </p:grpSpPr>
          <p:sp>
            <p:nvSpPr>
              <p:cNvPr id="8" name="Rectangle 56"/>
              <p:cNvSpPr>
                <a:spLocks noChangeArrowheads="1"/>
              </p:cNvSpPr>
              <p:nvPr/>
            </p:nvSpPr>
            <p:spPr bwMode="auto">
              <a:xfrm>
                <a:off x="3257" y="3829"/>
                <a:ext cx="776" cy="355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9" name="Rectangle 55"/>
              <p:cNvSpPr>
                <a:spLocks noChangeArrowheads="1"/>
              </p:cNvSpPr>
              <p:nvPr/>
            </p:nvSpPr>
            <p:spPr bwMode="auto">
              <a:xfrm>
                <a:off x="2480" y="3829"/>
                <a:ext cx="777" cy="355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0" name="Rectangle 54"/>
              <p:cNvSpPr>
                <a:spLocks noChangeArrowheads="1"/>
              </p:cNvSpPr>
              <p:nvPr/>
            </p:nvSpPr>
            <p:spPr bwMode="auto">
              <a:xfrm>
                <a:off x="2014" y="3829"/>
                <a:ext cx="466" cy="35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3257" y="3473"/>
                <a:ext cx="776" cy="356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2" name="Rectangle 52"/>
              <p:cNvSpPr>
                <a:spLocks noChangeArrowheads="1"/>
              </p:cNvSpPr>
              <p:nvPr/>
            </p:nvSpPr>
            <p:spPr bwMode="auto">
              <a:xfrm>
                <a:off x="2480" y="3473"/>
                <a:ext cx="777" cy="356"/>
              </a:xfrm>
              <a:prstGeom prst="rect">
                <a:avLst/>
              </a:prstGeom>
              <a:noFill/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sz="24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Rectangle 51"/>
              <p:cNvSpPr>
                <a:spLocks noChangeArrowheads="1"/>
              </p:cNvSpPr>
              <p:nvPr/>
            </p:nvSpPr>
            <p:spPr bwMode="auto">
              <a:xfrm>
                <a:off x="2014" y="3473"/>
                <a:ext cx="466" cy="356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sz="2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4" name="Rectangle 50"/>
              <p:cNvSpPr>
                <a:spLocks noChangeArrowheads="1"/>
              </p:cNvSpPr>
              <p:nvPr/>
            </p:nvSpPr>
            <p:spPr bwMode="auto">
              <a:xfrm>
                <a:off x="3257" y="3228"/>
                <a:ext cx="776" cy="24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5" name="Rectangle 49"/>
              <p:cNvSpPr>
                <a:spLocks noChangeArrowheads="1"/>
              </p:cNvSpPr>
              <p:nvPr/>
            </p:nvSpPr>
            <p:spPr bwMode="auto">
              <a:xfrm>
                <a:off x="2480" y="3228"/>
                <a:ext cx="777" cy="245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20000"/>
                  </a:spcBef>
                  <a:buClr>
                    <a:srgbClr val="3333FF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20000"/>
                  </a:spcBef>
                  <a:buClr>
                    <a:srgbClr val="3333FF"/>
                  </a:buClr>
                  <a:buChar char="•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20000"/>
                  </a:spcBef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FF"/>
                  </a:buClr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itchFamily="2" charset="2"/>
                  <a:buNone/>
                </a:pPr>
                <a:r>
                  <a:rPr lang="en-US" alt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endParaRPr lang="en-US" altLang="en-US" b="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sp>
            <p:nvSpPr>
              <p:cNvPr id="16" name="Line 123"/>
              <p:cNvSpPr>
                <a:spLocks noChangeShapeType="1"/>
              </p:cNvSpPr>
              <p:nvPr/>
            </p:nvSpPr>
            <p:spPr bwMode="auto">
              <a:xfrm>
                <a:off x="2183" y="3301"/>
                <a:ext cx="297" cy="1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" name="Text Box 124"/>
              <p:cNvSpPr txBox="1">
                <a:spLocks noChangeArrowheads="1"/>
              </p:cNvSpPr>
              <p:nvPr/>
            </p:nvSpPr>
            <p:spPr bwMode="auto">
              <a:xfrm>
                <a:off x="2114" y="3334"/>
                <a:ext cx="176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marL="2857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i="1" dirty="0"/>
                  <a:t>x</a:t>
                </a:r>
              </a:p>
            </p:txBody>
          </p:sp>
          <p:sp>
            <p:nvSpPr>
              <p:cNvPr id="18" name="Text Box 125"/>
              <p:cNvSpPr txBox="1">
                <a:spLocks noChangeArrowheads="1"/>
              </p:cNvSpPr>
              <p:nvPr/>
            </p:nvSpPr>
            <p:spPr bwMode="auto">
              <a:xfrm>
                <a:off x="2391" y="3209"/>
                <a:ext cx="176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 anchorCtr="1"/>
              <a:lstStyle>
                <a:lvl1pPr marL="2857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en-US" i="1" dirty="0"/>
                  <a:t>y</a:t>
                </a: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6238831" y="3428191"/>
              <a:ext cx="11432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</a:rPr>
                <a:t>K-map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41865" y="3140965"/>
            <a:ext cx="1595271" cy="1382568"/>
            <a:chOff x="6220354" y="3140965"/>
            <a:chExt cx="1728210" cy="1382568"/>
          </a:xfrm>
        </p:grpSpPr>
        <p:sp>
          <p:nvSpPr>
            <p:cNvPr id="19" name="Rounded Rectangle 18"/>
            <p:cNvSpPr/>
            <p:nvPr/>
          </p:nvSpPr>
          <p:spPr>
            <a:xfrm>
              <a:off x="7372494" y="3140965"/>
              <a:ext cx="576070" cy="138256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 flipH="1">
              <a:off x="6220354" y="3601821"/>
              <a:ext cx="1152140" cy="46085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422811" y="4062678"/>
            <a:ext cx="2711959" cy="966523"/>
            <a:chOff x="6096000" y="4062677"/>
            <a:chExt cx="2716668" cy="966523"/>
          </a:xfrm>
        </p:grpSpPr>
        <p:sp>
          <p:nvSpPr>
            <p:cNvPr id="20" name="Rounded Rectangle 19"/>
            <p:cNvSpPr/>
            <p:nvPr/>
          </p:nvSpPr>
          <p:spPr>
            <a:xfrm>
              <a:off x="7430101" y="4062677"/>
              <a:ext cx="1382567" cy="403249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6096000" y="4472609"/>
              <a:ext cx="2445026" cy="556591"/>
            </a:xfrm>
            <a:custGeom>
              <a:avLst/>
              <a:gdLst>
                <a:gd name="connsiteX0" fmla="*/ 0 w 2445026"/>
                <a:gd name="connsiteY0" fmla="*/ 556591 h 556591"/>
                <a:gd name="connsiteX1" fmla="*/ 2166730 w 2445026"/>
                <a:gd name="connsiteY1" fmla="*/ 556591 h 556591"/>
                <a:gd name="connsiteX2" fmla="*/ 2445026 w 2445026"/>
                <a:gd name="connsiteY2" fmla="*/ 0 h 55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45026" h="556591">
                  <a:moveTo>
                    <a:pt x="0" y="556591"/>
                  </a:moveTo>
                  <a:lnTo>
                    <a:pt x="2166730" y="556591"/>
                  </a:lnTo>
                  <a:lnTo>
                    <a:pt x="2445026" y="0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502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Three-Variable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96" y="779079"/>
            <a:ext cx="8348450" cy="3053171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400" dirty="0" smtClean="0"/>
              <a:t>Have eight squares (for the 8 minterms), numbered 0 to 7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400" dirty="0" smtClean="0"/>
              <a:t>The last two columns are not in numeric order: 11, 10</a:t>
            </a: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en-US" sz="2000" dirty="0" smtClean="0"/>
              <a:t>Remember the numbering of the squares in the K-map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400" dirty="0" smtClean="0"/>
              <a:t>Each square is adjacent to three other squares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400" dirty="0" smtClean="0"/>
              <a:t>Minterms in adjacent squares can always be combined</a:t>
            </a: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en-US" sz="2000" dirty="0" smtClean="0"/>
              <a:t>This is the key idea that makes the K-map work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2400" dirty="0" smtClean="0"/>
              <a:t>Labeling of rows and columns is also useful</a:t>
            </a:r>
            <a:endParaRPr lang="en-US" sz="2400" dirty="0"/>
          </a:p>
        </p:txBody>
      </p:sp>
      <p:grpSp>
        <p:nvGrpSpPr>
          <p:cNvPr id="88" name="Group 87"/>
          <p:cNvGrpSpPr/>
          <p:nvPr/>
        </p:nvGrpSpPr>
        <p:grpSpPr>
          <a:xfrm>
            <a:off x="317945" y="3889857"/>
            <a:ext cx="3534571" cy="2304279"/>
            <a:chOff x="3282397" y="1412755"/>
            <a:chExt cx="3829119" cy="2304279"/>
          </a:xfrm>
        </p:grpSpPr>
        <p:sp>
          <p:nvSpPr>
            <p:cNvPr id="87" name="Rectangle 86"/>
            <p:cNvSpPr/>
            <p:nvPr/>
          </p:nvSpPr>
          <p:spPr>
            <a:xfrm>
              <a:off x="3893570" y="2182440"/>
              <a:ext cx="3217946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7"/>
            <p:cNvSpPr>
              <a:spLocks noChangeArrowheads="1"/>
            </p:cNvSpPr>
            <p:nvPr/>
          </p:nvSpPr>
          <p:spPr bwMode="auto">
            <a:xfrm>
              <a:off x="4116746" y="1757931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4921817" y="1757931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5728056" y="1757931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13"/>
            <p:cNvSpPr>
              <a:spLocks noChangeArrowheads="1"/>
            </p:cNvSpPr>
            <p:nvPr/>
          </p:nvSpPr>
          <p:spPr bwMode="auto">
            <a:xfrm>
              <a:off x="6534295" y="1757931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Line 17"/>
            <p:cNvSpPr>
              <a:spLocks noChangeShapeType="1"/>
            </p:cNvSpPr>
            <p:nvPr/>
          </p:nvSpPr>
          <p:spPr bwMode="auto">
            <a:xfrm>
              <a:off x="4703314" y="2184711"/>
              <a:ext cx="0" cy="15323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 flipH="1">
              <a:off x="5509554" y="2184711"/>
              <a:ext cx="0" cy="15209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6302940" y="2182441"/>
              <a:ext cx="0" cy="15323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21"/>
            <p:cNvSpPr>
              <a:spLocks noChangeArrowheads="1"/>
            </p:cNvSpPr>
            <p:nvPr/>
          </p:nvSpPr>
          <p:spPr bwMode="auto">
            <a:xfrm>
              <a:off x="3628329" y="2348159"/>
              <a:ext cx="168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23"/>
                <p:cNvSpPr>
                  <a:spLocks noChangeArrowheads="1"/>
                </p:cNvSpPr>
                <p:nvPr/>
              </p:nvSpPr>
              <p:spPr bwMode="auto">
                <a:xfrm>
                  <a:off x="4088895" y="2348159"/>
                  <a:ext cx="428826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8895" y="2348159"/>
                  <a:ext cx="428826" cy="370028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1429" r="-8571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25"/>
                <p:cNvSpPr>
                  <a:spLocks noChangeArrowheads="1"/>
                </p:cNvSpPr>
                <p:nvPr/>
              </p:nvSpPr>
              <p:spPr bwMode="auto">
                <a:xfrm>
                  <a:off x="4893966" y="2348159"/>
                  <a:ext cx="428826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93966" y="2348159"/>
                  <a:ext cx="428826" cy="370028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1429" r="-8571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27"/>
                <p:cNvSpPr>
                  <a:spLocks noChangeArrowheads="1"/>
                </p:cNvSpPr>
                <p:nvPr/>
              </p:nvSpPr>
              <p:spPr bwMode="auto">
                <a:xfrm>
                  <a:off x="5700205" y="2348159"/>
                  <a:ext cx="428826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00205" y="2348159"/>
                  <a:ext cx="428826" cy="37002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000" r="-10000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29"/>
                <p:cNvSpPr>
                  <a:spLocks noChangeArrowheads="1"/>
                </p:cNvSpPr>
                <p:nvPr/>
              </p:nvSpPr>
              <p:spPr bwMode="auto">
                <a:xfrm>
                  <a:off x="6506444" y="2348159"/>
                  <a:ext cx="428826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06444" y="2348159"/>
                  <a:ext cx="428826" cy="37002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859" r="-8451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3628329" y="3129076"/>
              <a:ext cx="168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33"/>
                <p:cNvSpPr>
                  <a:spLocks noChangeArrowheads="1"/>
                </p:cNvSpPr>
                <p:nvPr/>
              </p:nvSpPr>
              <p:spPr bwMode="auto">
                <a:xfrm>
                  <a:off x="4088895" y="3129076"/>
                  <a:ext cx="428826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8895" y="3129076"/>
                  <a:ext cx="428826" cy="37002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1429" r="-8571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35"/>
                <p:cNvSpPr>
                  <a:spLocks noChangeArrowheads="1"/>
                </p:cNvSpPr>
                <p:nvPr/>
              </p:nvSpPr>
              <p:spPr bwMode="auto">
                <a:xfrm>
                  <a:off x="4893966" y="3129076"/>
                  <a:ext cx="429994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93966" y="3129076"/>
                  <a:ext cx="429994" cy="370028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11429" r="-10000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37"/>
                <p:cNvSpPr>
                  <a:spLocks noChangeArrowheads="1"/>
                </p:cNvSpPr>
                <p:nvPr/>
              </p:nvSpPr>
              <p:spPr bwMode="auto">
                <a:xfrm>
                  <a:off x="5700205" y="3129076"/>
                  <a:ext cx="429994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7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00205" y="3129076"/>
                  <a:ext cx="429994" cy="370028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9859" r="-8451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angle 39"/>
                <p:cNvSpPr>
                  <a:spLocks noChangeArrowheads="1"/>
                </p:cNvSpPr>
                <p:nvPr/>
              </p:nvSpPr>
              <p:spPr bwMode="auto">
                <a:xfrm>
                  <a:off x="6506444" y="3129076"/>
                  <a:ext cx="458037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en-US" sz="2400" i="1" baseline="-2500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6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06444" y="3129076"/>
                  <a:ext cx="458037" cy="370028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6579" r="-3947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Line 41"/>
            <p:cNvSpPr>
              <a:spLocks noChangeShapeType="1"/>
            </p:cNvSpPr>
            <p:nvPr/>
          </p:nvSpPr>
          <p:spPr bwMode="auto">
            <a:xfrm flipV="1">
              <a:off x="3897076" y="2942927"/>
              <a:ext cx="321210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08"/>
            <p:cNvSpPr>
              <a:spLocks noChangeShapeType="1"/>
            </p:cNvSpPr>
            <p:nvPr/>
          </p:nvSpPr>
          <p:spPr bwMode="auto">
            <a:xfrm>
              <a:off x="3416393" y="1806426"/>
              <a:ext cx="480683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282397" y="1877267"/>
                  <a:ext cx="34593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82397" y="1877267"/>
                  <a:ext cx="345932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071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570432" y="1412755"/>
                  <a:ext cx="468313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0432" y="1412755"/>
                  <a:ext cx="468313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6883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2" name="Group 121"/>
          <p:cNvGrpSpPr/>
          <p:nvPr/>
        </p:nvGrpSpPr>
        <p:grpSpPr>
          <a:xfrm>
            <a:off x="4199771" y="3889856"/>
            <a:ext cx="4519934" cy="2765136"/>
            <a:chOff x="4549751" y="3774642"/>
            <a:chExt cx="4896595" cy="2765136"/>
          </a:xfrm>
        </p:grpSpPr>
        <p:sp>
          <p:nvSpPr>
            <p:cNvPr id="90" name="Rectangle 89"/>
            <p:cNvSpPr/>
            <p:nvPr/>
          </p:nvSpPr>
          <p:spPr>
            <a:xfrm>
              <a:off x="5331306" y="4544327"/>
              <a:ext cx="4115040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7"/>
            <p:cNvSpPr>
              <a:spLocks noChangeArrowheads="1"/>
            </p:cNvSpPr>
            <p:nvPr/>
          </p:nvSpPr>
          <p:spPr bwMode="auto">
            <a:xfrm>
              <a:off x="5616699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9"/>
            <p:cNvSpPr>
              <a:spLocks noChangeArrowheads="1"/>
            </p:cNvSpPr>
            <p:nvPr/>
          </p:nvSpPr>
          <p:spPr bwMode="auto">
            <a:xfrm>
              <a:off x="6646206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7677207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13"/>
            <p:cNvSpPr>
              <a:spLocks noChangeArrowheads="1"/>
            </p:cNvSpPr>
            <p:nvPr/>
          </p:nvSpPr>
          <p:spPr bwMode="auto">
            <a:xfrm>
              <a:off x="8708208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5" name="Line 17"/>
            <p:cNvSpPr>
              <a:spLocks noChangeShapeType="1"/>
            </p:cNvSpPr>
            <p:nvPr/>
          </p:nvSpPr>
          <p:spPr bwMode="auto">
            <a:xfrm>
              <a:off x="6366789" y="4546598"/>
              <a:ext cx="0" cy="187796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18"/>
            <p:cNvSpPr>
              <a:spLocks noChangeShapeType="1"/>
            </p:cNvSpPr>
            <p:nvPr/>
          </p:nvSpPr>
          <p:spPr bwMode="auto">
            <a:xfrm flipH="1">
              <a:off x="7397791" y="4119818"/>
              <a:ext cx="0" cy="19477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19"/>
            <p:cNvSpPr>
              <a:spLocks noChangeShapeType="1"/>
            </p:cNvSpPr>
            <p:nvPr/>
          </p:nvSpPr>
          <p:spPr bwMode="auto">
            <a:xfrm>
              <a:off x="8412356" y="4544328"/>
              <a:ext cx="0" cy="18802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Rectangle 21"/>
            <p:cNvSpPr>
              <a:spLocks noChangeArrowheads="1"/>
            </p:cNvSpPr>
            <p:nvPr/>
          </p:nvSpPr>
          <p:spPr bwMode="auto">
            <a:xfrm>
              <a:off x="4992121" y="4710046"/>
              <a:ext cx="168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23"/>
                <p:cNvSpPr>
                  <a:spLocks noChangeArrowheads="1"/>
                </p:cNvSpPr>
                <p:nvPr/>
              </p:nvSpPr>
              <p:spPr bwMode="auto">
                <a:xfrm>
                  <a:off x="5487397" y="4722857"/>
                  <a:ext cx="687685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87397" y="4722857"/>
                  <a:ext cx="687685" cy="370028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10619" r="-30973" b="-2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25"/>
                <p:cNvSpPr>
                  <a:spLocks noChangeArrowheads="1"/>
                </p:cNvSpPr>
                <p:nvPr/>
              </p:nvSpPr>
              <p:spPr bwMode="auto">
                <a:xfrm>
                  <a:off x="6516904" y="4722857"/>
                  <a:ext cx="687685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16904" y="4722857"/>
                  <a:ext cx="687685" cy="370028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10619" r="-13274" b="-2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27"/>
                <p:cNvSpPr>
                  <a:spLocks noChangeArrowheads="1"/>
                </p:cNvSpPr>
                <p:nvPr/>
              </p:nvSpPr>
              <p:spPr bwMode="auto">
                <a:xfrm>
                  <a:off x="7547906" y="4722857"/>
                  <a:ext cx="687685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𝑦𝑧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7906" y="4722857"/>
                  <a:ext cx="687685" cy="370028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3540" r="-9735" b="-2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Rectangle 29"/>
                <p:cNvSpPr>
                  <a:spLocks noChangeArrowheads="1"/>
                </p:cNvSpPr>
                <p:nvPr/>
              </p:nvSpPr>
              <p:spPr bwMode="auto">
                <a:xfrm>
                  <a:off x="8578907" y="4722857"/>
                  <a:ext cx="687685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𝑦𝑧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78907" y="4722857"/>
                  <a:ext cx="687685" cy="370028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8850" t="-5000" r="-22124" b="-3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Rectangle 31"/>
            <p:cNvSpPr>
              <a:spLocks noChangeArrowheads="1"/>
            </p:cNvSpPr>
            <p:nvPr/>
          </p:nvSpPr>
          <p:spPr bwMode="auto">
            <a:xfrm>
              <a:off x="4992121" y="5490963"/>
              <a:ext cx="168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33"/>
                <p:cNvSpPr>
                  <a:spLocks noChangeArrowheads="1"/>
                </p:cNvSpPr>
                <p:nvPr/>
              </p:nvSpPr>
              <p:spPr bwMode="auto">
                <a:xfrm>
                  <a:off x="5487397" y="5503774"/>
                  <a:ext cx="687685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87397" y="5503774"/>
                  <a:ext cx="687685" cy="370028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9735" r="-16814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35"/>
                <p:cNvSpPr>
                  <a:spLocks noChangeArrowheads="1"/>
                </p:cNvSpPr>
                <p:nvPr/>
              </p:nvSpPr>
              <p:spPr bwMode="auto">
                <a:xfrm>
                  <a:off x="6516904" y="5503774"/>
                  <a:ext cx="689557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16904" y="5503774"/>
                  <a:ext cx="689557" cy="370028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4425" r="-4425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37"/>
                <p:cNvSpPr>
                  <a:spLocks noChangeArrowheads="1"/>
                </p:cNvSpPr>
                <p:nvPr/>
              </p:nvSpPr>
              <p:spPr bwMode="auto">
                <a:xfrm>
                  <a:off x="7547905" y="5503774"/>
                  <a:ext cx="689557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𝑥𝑦𝑧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47905" y="5503774"/>
                  <a:ext cx="689557" cy="370028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r="-1770" b="-2459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39"/>
                <p:cNvSpPr>
                  <a:spLocks noChangeArrowheads="1"/>
                </p:cNvSpPr>
                <p:nvPr/>
              </p:nvSpPr>
              <p:spPr bwMode="auto">
                <a:xfrm>
                  <a:off x="8578907" y="5503774"/>
                  <a:ext cx="734528" cy="3700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𝑥𝑦𝑧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400" baseline="-25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78907" y="5503774"/>
                  <a:ext cx="734528" cy="370028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8264" t="-4918" r="-9091" b="-3606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Line 41"/>
            <p:cNvSpPr>
              <a:spLocks noChangeShapeType="1"/>
            </p:cNvSpPr>
            <p:nvPr/>
          </p:nvSpPr>
          <p:spPr bwMode="auto">
            <a:xfrm flipV="1">
              <a:off x="4918085" y="5304814"/>
              <a:ext cx="452527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08"/>
            <p:cNvSpPr>
              <a:spLocks noChangeShapeType="1"/>
            </p:cNvSpPr>
            <p:nvPr/>
          </p:nvSpPr>
          <p:spPr bwMode="auto">
            <a:xfrm>
              <a:off x="4721102" y="4168313"/>
              <a:ext cx="614687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49751" y="4120284"/>
                  <a:ext cx="44237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9751" y="4120284"/>
                  <a:ext cx="442370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918084" y="3774642"/>
                  <a:ext cx="598869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18084" y="3774642"/>
                  <a:ext cx="598869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2041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294206" y="3778298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94206" y="3778298"/>
                  <a:ext cx="310391" cy="45720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31373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220354" y="3774642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20354" y="3774642"/>
                  <a:ext cx="310391" cy="457200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52941" r="-29412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257280" y="6082578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280" y="6082578"/>
                  <a:ext cx="310391" cy="457200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1176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790313" y="6078922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90313" y="6078922"/>
                  <a:ext cx="310391" cy="457200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39216" r="-13725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644284" y="6075266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44284" y="6075266"/>
                  <a:ext cx="310391" cy="457200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39216" r="-13725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607358" y="4642403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7358" y="4642403"/>
                  <a:ext cx="310391" cy="457200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45098" r="-13725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607358" y="5448901"/>
                  <a:ext cx="310391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7358" y="5448901"/>
                  <a:ext cx="310391" cy="457200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1764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777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Simplifying a Three-Variable Function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Simplify the Boolean function: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(3, 4, 5, 7)</m:t>
                        </m:r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i="1" dirty="0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𝑥𝑦</m:t>
                    </m:r>
                    <m:r>
                      <a:rPr lang="en-US" sz="2400" i="1" dirty="0" err="1">
                        <a:latin typeface="Cambria Math"/>
                      </a:rPr>
                      <m:t>′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i="1" dirty="0" err="1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𝑥𝑦𝑧</m:t>
                    </m:r>
                  </m:oMath>
                </a14:m>
                <a:r>
                  <a:rPr lang="en-US" sz="2400" dirty="0"/>
                  <a:t>	(12 literals</a:t>
                </a:r>
                <a:r>
                  <a:rPr lang="en-US" sz="2400" dirty="0" smtClean="0"/>
                  <a:t>)</a:t>
                </a:r>
              </a:p>
              <a:p>
                <a:pPr marL="357188" indent="-357188">
                  <a:lnSpc>
                    <a:spcPct val="150000"/>
                  </a:lnSpc>
                  <a:spcBef>
                    <a:spcPts val="20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Mark </a:t>
                </a:r>
                <a:r>
                  <a:rPr lang="en-US" altLang="en-US" sz="2400" b="1" dirty="0"/>
                  <a:t>‘</a:t>
                </a:r>
                <a:r>
                  <a:rPr lang="en-US" altLang="en-US" sz="2400" b="1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en-US" sz="2400" b="1" dirty="0"/>
                  <a:t>’</a:t>
                </a:r>
                <a:r>
                  <a:rPr lang="en-US" sz="2400" dirty="0" smtClean="0"/>
                  <a:t> all the K-map squares that represent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50000"/>
                  </a:lnSpc>
                  <a:spcBef>
                    <a:spcPts val="20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Find possible adjacent squares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i="1" dirty="0">
                        <a:latin typeface="Cambria Math"/>
                      </a:rPr>
                      <m:t>𝑥𝑦𝑧</m:t>
                    </m:r>
                    <m:r>
                      <a:rPr lang="en-US" sz="2400" i="1" dirty="0">
                        <a:latin typeface="Cambria Math"/>
                      </a:rPr>
                      <m:t>=(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i="1" dirty="0" err="1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  <m:r>
                      <a:rPr lang="en-US" sz="2400" i="1" dirty="0" err="1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 err="1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𝑥𝑦</m:t>
                    </m:r>
                    <m:r>
                      <a:rPr lang="en-US" sz="2400" i="1" dirty="0" err="1">
                        <a:latin typeface="Cambria Math"/>
                      </a:rPr>
                      <m:t>′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 err="1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i="1" dirty="0" err="1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)=</m:t>
                    </m:r>
                    <m:r>
                      <a:rPr lang="en-US" sz="2400" i="1" dirty="0" err="1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Therefore,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𝑥𝑦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(4 literals)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  <a:blipFill rotWithShape="1">
                <a:blip r:embed="rId2"/>
                <a:stretch>
                  <a:fillRect l="-1161" t="-8784" b="-2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4999268" y="3486607"/>
            <a:ext cx="3720437" cy="2765136"/>
            <a:chOff x="4549751" y="3774642"/>
            <a:chExt cx="4030473" cy="2765136"/>
          </a:xfrm>
        </p:grpSpPr>
        <p:sp>
          <p:nvSpPr>
            <p:cNvPr id="5" name="Rectangle 4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5427975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627538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7124015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797265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87796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H="1">
              <a:off x="6894023" y="4119818"/>
              <a:ext cx="0" cy="19477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8802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4913873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4913873" y="5502943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41"/>
            <p:cNvSpPr>
              <a:spLocks noChangeShapeType="1"/>
            </p:cNvSpPr>
            <p:nvPr/>
          </p:nvSpPr>
          <p:spPr bwMode="auto">
            <a:xfrm flipV="1">
              <a:off x="4852933" y="5304814"/>
              <a:ext cx="37248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1905" r="-30952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095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5533394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6377621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7226177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8068102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5529070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6373297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8063778" y="5502943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360985" y="5196412"/>
            <a:ext cx="2637296" cy="421655"/>
            <a:chOff x="4724400" y="5196411"/>
            <a:chExt cx="2857071" cy="421655"/>
          </a:xfrm>
        </p:grpSpPr>
        <p:sp>
          <p:nvSpPr>
            <p:cNvPr id="43" name="Rounded Rectangle 42"/>
            <p:cNvSpPr/>
            <p:nvPr/>
          </p:nvSpPr>
          <p:spPr>
            <a:xfrm>
              <a:off x="6211994" y="5196411"/>
              <a:ext cx="1369477" cy="421655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4724400" y="5254487"/>
              <a:ext cx="1484243" cy="152400"/>
            </a:xfrm>
            <a:custGeom>
              <a:avLst/>
              <a:gdLst>
                <a:gd name="connsiteX0" fmla="*/ 1484243 w 1484243"/>
                <a:gd name="connsiteY0" fmla="*/ 0 h 152400"/>
                <a:gd name="connsiteX1" fmla="*/ 351183 w 1484243"/>
                <a:gd name="connsiteY1" fmla="*/ 0 h 152400"/>
                <a:gd name="connsiteX2" fmla="*/ 0 w 1484243"/>
                <a:gd name="connsiteY2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4243" h="152400">
                  <a:moveTo>
                    <a:pt x="1484243" y="0"/>
                  </a:moveTo>
                  <a:lnTo>
                    <a:pt x="351183" y="0"/>
                  </a:lnTo>
                  <a:lnTo>
                    <a:pt x="0" y="152400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4140795" y="4404724"/>
            <a:ext cx="3621748" cy="1180212"/>
            <a:chOff x="4485861" y="4404724"/>
            <a:chExt cx="3923560" cy="1180212"/>
          </a:xfrm>
        </p:grpSpPr>
        <p:sp>
          <p:nvSpPr>
            <p:cNvPr id="44" name="Rounded Rectangle 43"/>
            <p:cNvSpPr/>
            <p:nvPr/>
          </p:nvSpPr>
          <p:spPr>
            <a:xfrm>
              <a:off x="7935349" y="4404724"/>
              <a:ext cx="474072" cy="1180212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4485861" y="4638261"/>
              <a:ext cx="3445565" cy="231913"/>
            </a:xfrm>
            <a:custGeom>
              <a:avLst/>
              <a:gdLst>
                <a:gd name="connsiteX0" fmla="*/ 3445565 w 3445565"/>
                <a:gd name="connsiteY0" fmla="*/ 231913 h 231913"/>
                <a:gd name="connsiteX1" fmla="*/ 576469 w 3445565"/>
                <a:gd name="connsiteY1" fmla="*/ 231913 h 231913"/>
                <a:gd name="connsiteX2" fmla="*/ 0 w 3445565"/>
                <a:gd name="connsiteY2" fmla="*/ 0 h 23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45565" h="231913">
                  <a:moveTo>
                    <a:pt x="3445565" y="231913"/>
                  </a:moveTo>
                  <a:lnTo>
                    <a:pt x="576469" y="231913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777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Simplifying a Three-Variable Function (2)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Here is a second example: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(3, 4, 6, 7)</m:t>
                        </m:r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i="1" dirty="0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𝑥𝑦𝑧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err="1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𝑥𝑦𝑧</m:t>
                    </m:r>
                  </m:oMath>
                </a14:m>
                <a:r>
                  <a:rPr lang="en-US" sz="2400" dirty="0"/>
                  <a:t>	(12 literals</a:t>
                </a:r>
                <a:r>
                  <a:rPr lang="en-US" sz="2400" dirty="0" smtClean="0"/>
                  <a:t>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Learn the locations of the 8 indices based on the variable order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i="1" dirty="0">
                        <a:latin typeface="Cambria Math"/>
                      </a:rPr>
                      <m:t>𝑥𝑦𝑧</m:t>
                    </m:r>
                    <m:r>
                      <a:rPr lang="en-US" sz="2400" i="1" dirty="0">
                        <a:latin typeface="Cambria Math"/>
                      </a:rPr>
                      <m:t>=(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i="1" dirty="0" err="1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  <m:r>
                      <a:rPr lang="en-US" sz="2400" i="1" dirty="0" err="1">
                        <a:latin typeface="Cambria Math"/>
                      </a:rPr>
                      <m:t>𝑦𝑧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 err="1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400" dirty="0" smtClean="0"/>
                  <a:t>  </a:t>
                </a:r>
                <a:endParaRPr lang="en-US" sz="2400" dirty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/>
                  <a:t>Corner squares can be combined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𝑥𝑦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′+</m:t>
                    </m:r>
                    <m:r>
                      <a:rPr lang="en-US" sz="2400" i="1" dirty="0" err="1">
                        <a:latin typeface="Cambria Math"/>
                      </a:rPr>
                      <m:t>𝑥𝑦𝑧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′(</m:t>
                    </m:r>
                    <m:r>
                      <a:rPr lang="en-US" sz="2400" b="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err="1">
                        <a:latin typeface="Cambria Math"/>
                      </a:rPr>
                      <m:t>′+</m:t>
                    </m:r>
                    <m:r>
                      <a:rPr lang="en-US" sz="2400" b="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>
                        <a:latin typeface="Cambria Math"/>
                      </a:rPr>
                      <m:t>)=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Therefore,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(4 literals)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  <a:blipFill rotWithShape="1">
                <a:blip r:embed="rId2"/>
                <a:stretch>
                  <a:fillRect l="-1161" t="-8784" b="-2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4999268" y="3486607"/>
            <a:ext cx="3720437" cy="2765136"/>
            <a:chOff x="4549751" y="3774642"/>
            <a:chExt cx="4030473" cy="2765136"/>
          </a:xfrm>
        </p:grpSpPr>
        <p:sp>
          <p:nvSpPr>
            <p:cNvPr id="5" name="Rectangle 4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5427975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627538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7124015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797265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87796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H="1">
              <a:off x="6894023" y="4119818"/>
              <a:ext cx="0" cy="19477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8802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4913873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4913873" y="5502943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41"/>
            <p:cNvSpPr>
              <a:spLocks noChangeShapeType="1"/>
            </p:cNvSpPr>
            <p:nvPr/>
          </p:nvSpPr>
          <p:spPr bwMode="auto">
            <a:xfrm flipV="1">
              <a:off x="4852933" y="5304814"/>
              <a:ext cx="37248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1905" r="-30952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095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5533394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6377621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7226177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8068102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5529070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6373297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8063778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7337136" y="4404724"/>
            <a:ext cx="437605" cy="1180212"/>
          </a:xfrm>
          <a:prstGeom prst="round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67754" y="5138418"/>
            <a:ext cx="2758467" cy="490331"/>
            <a:chOff x="6248400" y="5138417"/>
            <a:chExt cx="2988339" cy="490331"/>
          </a:xfrm>
        </p:grpSpPr>
        <p:sp>
          <p:nvSpPr>
            <p:cNvPr id="15" name="Freeform 14"/>
            <p:cNvSpPr/>
            <p:nvPr/>
          </p:nvSpPr>
          <p:spPr>
            <a:xfrm>
              <a:off x="6248400" y="5138417"/>
              <a:ext cx="424070" cy="490331"/>
            </a:xfrm>
            <a:custGeom>
              <a:avLst/>
              <a:gdLst>
                <a:gd name="connsiteX0" fmla="*/ 0 w 424070"/>
                <a:gd name="connsiteY0" fmla="*/ 0 h 490331"/>
                <a:gd name="connsiteX1" fmla="*/ 424070 w 424070"/>
                <a:gd name="connsiteY1" fmla="*/ 0 h 490331"/>
                <a:gd name="connsiteX2" fmla="*/ 424070 w 424070"/>
                <a:gd name="connsiteY2" fmla="*/ 490331 h 490331"/>
                <a:gd name="connsiteX3" fmla="*/ 0 w 42407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070" h="490331">
                  <a:moveTo>
                    <a:pt x="0" y="0"/>
                  </a:moveTo>
                  <a:lnTo>
                    <a:pt x="424070" y="0"/>
                  </a:lnTo>
                  <a:lnTo>
                    <a:pt x="424070" y="490331"/>
                  </a:lnTo>
                  <a:lnTo>
                    <a:pt x="0" y="490331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 flipH="1">
              <a:off x="8812669" y="5138417"/>
              <a:ext cx="424070" cy="490331"/>
            </a:xfrm>
            <a:custGeom>
              <a:avLst/>
              <a:gdLst>
                <a:gd name="connsiteX0" fmla="*/ 0 w 424070"/>
                <a:gd name="connsiteY0" fmla="*/ 0 h 490331"/>
                <a:gd name="connsiteX1" fmla="*/ 424070 w 424070"/>
                <a:gd name="connsiteY1" fmla="*/ 0 h 490331"/>
                <a:gd name="connsiteX2" fmla="*/ 424070 w 424070"/>
                <a:gd name="connsiteY2" fmla="*/ 490331 h 490331"/>
                <a:gd name="connsiteX3" fmla="*/ 0 w 42407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070" h="490331">
                  <a:moveTo>
                    <a:pt x="0" y="0"/>
                  </a:moveTo>
                  <a:lnTo>
                    <a:pt x="424070" y="0"/>
                  </a:lnTo>
                  <a:lnTo>
                    <a:pt x="424070" y="490331"/>
                  </a:lnTo>
                  <a:lnTo>
                    <a:pt x="0" y="490331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158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Combining Squares on a 3-Variable K-Map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291"/>
            <a:ext cx="8229600" cy="5472665"/>
          </a:xfrm>
        </p:spPr>
        <p:txBody>
          <a:bodyPr>
            <a:normAutofit/>
          </a:bodyPr>
          <a:lstStyle/>
          <a:p>
            <a:pPr marL="536575" indent="-536575">
              <a:lnSpc>
                <a:spcPct val="150000"/>
              </a:lnSpc>
              <a:spcBef>
                <a:spcPts val="2000"/>
              </a:spcBef>
              <a:buSzPct val="125000"/>
            </a:pPr>
            <a:r>
              <a:rPr lang="en-US" altLang="en-US" sz="2400" dirty="0">
                <a:cs typeface="Times New Roman" pitchFamily="18" charset="0"/>
              </a:rPr>
              <a:t>By combining squares, we reduce number of literals in a product term, thereby reducing the </a:t>
            </a:r>
            <a:r>
              <a:rPr lang="en-US" altLang="en-US" sz="2400" dirty="0" smtClean="0">
                <a:cs typeface="Times New Roman" pitchFamily="18" charset="0"/>
              </a:rPr>
              <a:t>cost</a:t>
            </a:r>
            <a:endParaRPr lang="en-US" altLang="en-US" sz="2400" dirty="0">
              <a:cs typeface="Times New Roman" pitchFamily="18" charset="0"/>
            </a:endParaRPr>
          </a:p>
          <a:p>
            <a:pPr marL="536575" indent="-536575">
              <a:lnSpc>
                <a:spcPct val="150000"/>
              </a:lnSpc>
              <a:spcBef>
                <a:spcPts val="2000"/>
              </a:spcBef>
              <a:buSzPct val="125000"/>
            </a:pPr>
            <a:r>
              <a:rPr lang="en-US" altLang="en-US" sz="2400" dirty="0" smtClean="0"/>
              <a:t>On </a:t>
            </a:r>
            <a:r>
              <a:rPr lang="en-US" altLang="en-US" sz="2400" dirty="0"/>
              <a:t>a 3-variable K-Map:</a:t>
            </a:r>
          </a:p>
          <a:p>
            <a:pPr lvl="1">
              <a:lnSpc>
                <a:spcPct val="150000"/>
              </a:lnSpc>
              <a:spcBef>
                <a:spcPts val="2000"/>
              </a:spcBef>
            </a:pPr>
            <a:r>
              <a:rPr lang="en-US" altLang="en-US" sz="2000" dirty="0">
                <a:cs typeface="Times New Roman" pitchFamily="18" charset="0"/>
              </a:rPr>
              <a:t>One square represents a </a:t>
            </a:r>
            <a:r>
              <a:rPr lang="en-US" altLang="en-US" sz="2000" dirty="0" err="1">
                <a:cs typeface="Times New Roman" pitchFamily="18" charset="0"/>
              </a:rPr>
              <a:t>minterm</a:t>
            </a:r>
            <a:r>
              <a:rPr lang="en-US" altLang="en-US" sz="2000" dirty="0">
                <a:cs typeface="Times New Roman" pitchFamily="18" charset="0"/>
              </a:rPr>
              <a:t> with 3 variables</a:t>
            </a:r>
          </a:p>
          <a:p>
            <a:pPr lvl="1">
              <a:lnSpc>
                <a:spcPct val="150000"/>
              </a:lnSpc>
              <a:spcBef>
                <a:spcPts val="2000"/>
              </a:spcBef>
            </a:pPr>
            <a:r>
              <a:rPr lang="en-US" altLang="en-US" sz="2000" dirty="0">
                <a:cs typeface="Times New Roman" pitchFamily="18" charset="0"/>
              </a:rPr>
              <a:t>Two adjacent squares represent a term with 2 variables</a:t>
            </a:r>
          </a:p>
          <a:p>
            <a:pPr lvl="1">
              <a:lnSpc>
                <a:spcPct val="150000"/>
              </a:lnSpc>
              <a:spcBef>
                <a:spcPts val="2000"/>
              </a:spcBef>
            </a:pPr>
            <a:r>
              <a:rPr lang="en-US" altLang="en-US" sz="2000" dirty="0">
                <a:cs typeface="Times New Roman" pitchFamily="18" charset="0"/>
              </a:rPr>
              <a:t>Four adjacent squares represent a term with 1 variable</a:t>
            </a:r>
          </a:p>
          <a:p>
            <a:pPr lvl="1">
              <a:lnSpc>
                <a:spcPct val="150000"/>
              </a:lnSpc>
              <a:spcBef>
                <a:spcPts val="2000"/>
              </a:spcBef>
            </a:pPr>
            <a:r>
              <a:rPr lang="en-US" altLang="en-US" sz="2000" dirty="0">
                <a:cs typeface="Times New Roman" pitchFamily="18" charset="0"/>
              </a:rPr>
              <a:t>Eight adjacent square is the </a:t>
            </a:r>
            <a:r>
              <a:rPr lang="en-US" altLang="en-US" sz="2000" dirty="0" smtClean="0">
                <a:cs typeface="Times New Roman" pitchFamily="18" charset="0"/>
              </a:rPr>
              <a:t>constant </a:t>
            </a:r>
            <a:r>
              <a:rPr lang="en-US" altLang="en-US" sz="2000" b="1" dirty="0" smtClean="0"/>
              <a:t>‘</a:t>
            </a:r>
            <a:r>
              <a:rPr lang="en-US" altLang="en-US" sz="2000" b="1" dirty="0" smtClean="0">
                <a:solidFill>
                  <a:srgbClr val="FF0000"/>
                </a:solidFill>
              </a:rPr>
              <a:t>1</a:t>
            </a:r>
            <a:r>
              <a:rPr lang="en-US" altLang="en-US" sz="2000" b="1" dirty="0"/>
              <a:t>’</a:t>
            </a:r>
            <a:r>
              <a:rPr lang="en-US" altLang="en-US" sz="2000" dirty="0" smtClean="0">
                <a:cs typeface="Times New Roman" pitchFamily="18" charset="0"/>
              </a:rPr>
              <a:t> </a:t>
            </a:r>
            <a:r>
              <a:rPr lang="en-US" altLang="en-US" sz="2000" dirty="0">
                <a:cs typeface="Times New Roman" pitchFamily="18" charset="0"/>
              </a:rPr>
              <a:t>(no variables)</a:t>
            </a:r>
            <a:endParaRPr lang="en-US" altLang="en-US" sz="20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374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 of Combining Squares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0" y="1009506"/>
                <a:ext cx="8508111" cy="145190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sz="2400" dirty="0" smtClean="0"/>
                  <a:t>Consider </a:t>
                </a:r>
                <a:r>
                  <a:rPr lang="en-US" sz="2400" dirty="0"/>
                  <a:t>the Boolean function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r>
                      <a:rPr lang="en-US" sz="2400" i="1" dirty="0" err="1">
                        <a:latin typeface="Cambria Math"/>
                      </a:rPr>
                      <m:t>,</m:t>
                    </m:r>
                    <m:r>
                      <a:rPr lang="en-US" sz="2400" i="1" dirty="0" err="1">
                        <a:latin typeface="Cambria Math"/>
                      </a:rPr>
                      <m:t>𝑦</m:t>
                    </m:r>
                    <m:r>
                      <a:rPr lang="en-US" sz="2400" i="1" dirty="0" err="1">
                        <a:latin typeface="Cambria Math"/>
                      </a:rPr>
                      <m:t>,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 dirty="0">
                            <a:latin typeface="Cambria Math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2, </m:t>
                        </m:r>
                        <m:r>
                          <a:rPr lang="en-US" sz="2400" i="1" dirty="0">
                            <a:latin typeface="Cambria Math"/>
                          </a:rPr>
                          <m:t>3, 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5</m:t>
                        </m:r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6</m:t>
                        </m:r>
                        <m:r>
                          <a:rPr lang="en-US" sz="2400" i="1" dirty="0">
                            <a:latin typeface="Cambria Math"/>
                          </a:rPr>
                          <m:t>, 7)</m:t>
                        </m:r>
                      </m:e>
                    </m:nary>
                  </m:oMath>
                </a14:m>
                <a:r>
                  <a:rPr lang="en-US" sz="2400" dirty="0" smtClean="0"/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𝑦𝑧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𝑦𝑧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𝑥𝑦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𝑥𝑦𝑧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smtClean="0">
                        <a:latin typeface="Cambria Math"/>
                      </a:rPr>
                      <m:t>𝑥𝑦𝑧</m:t>
                    </m:r>
                  </m:oMath>
                </a14:m>
                <a:endParaRPr lang="en-US" sz="2400" dirty="0" smtClean="0"/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endParaRPr lang="en-US" sz="2400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0" y="1009506"/>
                <a:ext cx="8508111" cy="1451903"/>
              </a:xfrm>
              <a:blipFill rotWithShape="1">
                <a:blip r:embed="rId2"/>
                <a:stretch>
                  <a:fillRect l="-1003" t="-38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999268" y="2104039"/>
            <a:ext cx="3720437" cy="2765136"/>
            <a:chOff x="4549751" y="3774642"/>
            <a:chExt cx="4030473" cy="2765136"/>
          </a:xfrm>
        </p:grpSpPr>
        <p:sp>
          <p:nvSpPr>
            <p:cNvPr id="5" name="Rectangle 4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5427975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627538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7124015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797265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87796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H="1">
              <a:off x="6894023" y="4119818"/>
              <a:ext cx="0" cy="19477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8802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4913873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31"/>
            <p:cNvSpPr>
              <a:spLocks noChangeArrowheads="1"/>
            </p:cNvSpPr>
            <p:nvPr/>
          </p:nvSpPr>
          <p:spPr bwMode="auto">
            <a:xfrm>
              <a:off x="4913873" y="5502943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5" name="Line 41"/>
            <p:cNvSpPr>
              <a:spLocks noChangeShapeType="1"/>
            </p:cNvSpPr>
            <p:nvPr/>
          </p:nvSpPr>
          <p:spPr bwMode="auto">
            <a:xfrm flipV="1">
              <a:off x="4852933" y="5304814"/>
              <a:ext cx="37248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1905" r="-3095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095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5533394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6377621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7226177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8068102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5529070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6373297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8063778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7292285" y="2968144"/>
            <a:ext cx="1267892" cy="1321304"/>
          </a:xfrm>
          <a:prstGeom prst="roundRect">
            <a:avLst>
              <a:gd name="adj" fmla="val 914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6522452" y="3774641"/>
            <a:ext cx="1267892" cy="457200"/>
          </a:xfrm>
          <a:prstGeom prst="roundRect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 bwMode="auto">
              <a:xfrm>
                <a:off x="371120" y="2447853"/>
                <a:ext cx="4041354" cy="4034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000" kern="0" dirty="0" smtClean="0"/>
                  <a:t>The four minterms that form the 2×2 red square are reduced to the term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kern="0" dirty="0" smtClean="0"/>
                  <a:t> </a:t>
                </a:r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000" kern="0" dirty="0" smtClean="0"/>
                  <a:t>The two minterms that form the blue rectangle are reduced to the term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𝑥𝑧</m:t>
                    </m:r>
                  </m:oMath>
                </a14:m>
                <a:endParaRPr lang="en-US" sz="2000" kern="0" dirty="0" smtClean="0"/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000" kern="0" dirty="0" smtClean="0"/>
                  <a:t>Therefore: </a:t>
                </a:r>
                <a14:m>
                  <m:oMath xmlns:m="http://schemas.openxmlformats.org/officeDocument/2006/math">
                    <m:r>
                      <a:rPr lang="en-US" sz="2000" i="1" kern="0" dirty="0" smtClean="0">
                        <a:latin typeface="Cambria Math"/>
                      </a:rPr>
                      <m:t>𝑓</m:t>
                    </m:r>
                    <m:r>
                      <a:rPr lang="en-US" sz="2000" i="1" kern="0" dirty="0" smtClean="0">
                        <a:latin typeface="Cambria Math"/>
                      </a:rPr>
                      <m:t>=</m:t>
                    </m:r>
                    <m:r>
                      <a:rPr lang="en-US" sz="2000" i="1" kern="0" dirty="0" err="1" smtClean="0">
                        <a:latin typeface="Cambria Math"/>
                      </a:rPr>
                      <m:t>𝑦</m:t>
                    </m:r>
                    <m:r>
                      <a:rPr lang="en-US" sz="2000" i="1" kern="0" dirty="0" err="1" smtClean="0">
                        <a:latin typeface="Cambria Math"/>
                      </a:rPr>
                      <m:t>+</m:t>
                    </m:r>
                    <m:r>
                      <a:rPr lang="en-US" sz="2000" i="1" kern="0" dirty="0" err="1" smtClean="0">
                        <a:latin typeface="Cambria Math"/>
                      </a:rPr>
                      <m:t>𝑥𝑧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endParaRPr lang="en-US" sz="2000" kern="0" dirty="0"/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120" y="2447853"/>
                <a:ext cx="4041354" cy="4034318"/>
              </a:xfrm>
              <a:prstGeom prst="rect">
                <a:avLst/>
              </a:prstGeom>
              <a:blipFill rotWithShape="1">
                <a:blip r:embed="rId12"/>
                <a:stretch>
                  <a:fillRect l="-1357" r="-165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5042077" y="4289449"/>
            <a:ext cx="3783978" cy="2192723"/>
            <a:chOff x="5462250" y="4289448"/>
            <a:chExt cx="4099310" cy="2192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ontent Placeholder 2"/>
                <p:cNvSpPr txBox="1">
                  <a:spLocks/>
                </p:cNvSpPr>
                <p:nvPr/>
              </p:nvSpPr>
              <p:spPr bwMode="auto">
                <a:xfrm>
                  <a:off x="5462250" y="4984389"/>
                  <a:ext cx="4099310" cy="1497782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lvl1pPr marL="347663" indent="-347663" algn="l" rtl="0" fontAlgn="base">
                    <a:spcBef>
                      <a:spcPct val="40000"/>
                    </a:spcBef>
                    <a:spcAft>
                      <a:spcPct val="0"/>
                    </a:spcAft>
                    <a:buFont typeface="Wingdings" pitchFamily="2" charset="2"/>
                    <a:buChar char="v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98513" indent="-336550" algn="l" rtl="0" fontAlgn="base">
                    <a:spcBef>
                      <a:spcPct val="40000"/>
                    </a:spcBef>
                    <a:spcAft>
                      <a:spcPct val="0"/>
                    </a:spcAft>
                    <a:buFont typeface="Wingdings" pitchFamily="2" charset="2"/>
                    <a:buChar char="²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2pPr>
                  <a:lvl3pPr marL="1144588" indent="-231775" algn="l" rtl="0" fontAlgn="base">
                    <a:spcBef>
                      <a:spcPct val="40000"/>
                    </a:spcBef>
                    <a:spcAft>
                      <a:spcPct val="0"/>
                    </a:spcAft>
                    <a:buFont typeface="Wingdings" pitchFamily="2" charset="2"/>
                    <a:buChar char="§"/>
                    <a:defRPr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3pPr>
                  <a:lvl4pPr marL="1481138" indent="-222250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–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4pPr>
                  <a:lvl5pPr marL="1828800" indent="-233363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5pPr>
                  <a:lvl6pPr marL="2286000" indent="-233363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6pPr>
                  <a:lvl7pPr marL="2743200" indent="-233363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7pPr>
                  <a:lvl8pPr marL="3200400" indent="-233363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8pPr>
                  <a:lvl9pPr marL="3657600" indent="-233363" algn="l" rtl="0" fontAlgn="base">
                    <a:spcBef>
                      <a:spcPct val="40000"/>
                    </a:spcBef>
                    <a:spcAft>
                      <a:spcPct val="0"/>
                    </a:spcAft>
                    <a:buChar char="»"/>
                    <a:defRPr sz="16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spcBef>
                      <a:spcPts val="1000"/>
                    </a:spcBef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kern="0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kern="0" dirty="0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kern="0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 kern="0" dirty="0" err="1" smtClean="0">
                            <a:latin typeface="Cambria Math"/>
                          </a:rPr>
                          <m:t>𝑦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𝑧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kern="0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 kern="0" dirty="0" err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kern="0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kern="0" dirty="0" smtClean="0">
                            <a:latin typeface="Cambria Math"/>
                          </a:rPr>
                          <m:t>𝑦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𝑧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′+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𝑥𝑦𝑧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𝑥𝑦𝑧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b="0" kern="0" dirty="0" smtClean="0"/>
                </a:p>
                <a:p>
                  <a:pPr marL="0" indent="0">
                    <a:lnSpc>
                      <a:spcPct val="120000"/>
                    </a:lnSpc>
                    <a:spcBef>
                      <a:spcPts val="1000"/>
                    </a:spcBef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0" dirty="0" smtClean="0">
                            <a:latin typeface="Cambria Math"/>
                          </a:rPr>
                          <m:t>=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′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𝑦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(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𝑧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+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𝑧</m:t>
                        </m:r>
                        <m:r>
                          <a:rPr lang="en-US" b="0" i="1" kern="0" dirty="0" smtClean="0">
                            <a:latin typeface="Cambria Math"/>
                          </a:rPr>
                          <m:t>′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)+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𝑥𝑦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(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𝑧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+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𝑧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′)</m:t>
                        </m:r>
                      </m:oMath>
                    </m:oMathPara>
                  </a14:m>
                  <a:endParaRPr lang="en-US" kern="0" dirty="0" smtClean="0"/>
                </a:p>
                <a:p>
                  <a:pPr marL="0" indent="0">
                    <a:lnSpc>
                      <a:spcPct val="120000"/>
                    </a:lnSpc>
                    <a:spcBef>
                      <a:spcPts val="1000"/>
                    </a:spcBef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kern="0" dirty="0" smtClean="0">
                            <a:latin typeface="Cambria Math"/>
                          </a:rPr>
                          <m:t>=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′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𝑦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+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𝑥𝑦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=(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′+</m:t>
                        </m:r>
                        <m:r>
                          <a:rPr lang="en-US" i="1" kern="0" dirty="0" err="1" smtClean="0">
                            <a:latin typeface="Cambria Math"/>
                          </a:rPr>
                          <m:t>𝑥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)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𝑦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=</m:t>
                        </m:r>
                        <m:r>
                          <a:rPr lang="en-US" i="1" kern="0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kern="0" dirty="0"/>
                </a:p>
              </p:txBody>
            </p:sp>
          </mc:Choice>
          <mc:Fallback xmlns="">
            <p:sp>
              <p:nvSpPr>
                <p:cNvPr id="37" name="Content Placeholder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62250" y="4984389"/>
                  <a:ext cx="4099310" cy="149778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/>
            <p:cNvCxnSpPr/>
            <p:nvPr/>
          </p:nvCxnSpPr>
          <p:spPr>
            <a:xfrm flipH="1">
              <a:off x="8303764" y="4289448"/>
              <a:ext cx="135776" cy="69494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70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Minimal Sum-of-Products Expression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Consider the function: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(0, 1, 2, 4, 6, 7)</m:t>
                        </m:r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Find a minimal sum-of-products (SOP) expression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Red block: term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Green block: term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>
                    <a:solidFill>
                      <a:srgbClr val="008000"/>
                    </a:solidFill>
                  </a:rPr>
                  <a:t> </a:t>
                </a:r>
                <a:endParaRPr lang="en-US" sz="2400" dirty="0" smtClean="0"/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Blue block: </a:t>
                </a:r>
                <a:r>
                  <a:rPr lang="en-US" sz="2400" dirty="0"/>
                  <a:t>term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2000"/>
                  </a:spcBef>
                  <a:buNone/>
                </a:pPr>
                <a:r>
                  <a:rPr lang="en-US" sz="2400" dirty="0" smtClean="0"/>
                  <a:t>Minimal sum-of-products: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r>
                      <a:rPr lang="en-US" sz="24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(5 literals)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1" y="1009506"/>
                <a:ext cx="8401759" cy="5415058"/>
              </a:xfrm>
              <a:blipFill rotWithShape="1">
                <a:blip r:embed="rId2"/>
                <a:stretch>
                  <a:fillRect l="-1161" t="-8784" b="-2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4999268" y="2737716"/>
            <a:ext cx="3720437" cy="2765136"/>
            <a:chOff x="4549751" y="3774642"/>
            <a:chExt cx="4030473" cy="2765136"/>
          </a:xfrm>
        </p:grpSpPr>
        <p:sp>
          <p:nvSpPr>
            <p:cNvPr id="5" name="Rectangle 4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5427975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627538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7124015" y="411981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7972650" y="411981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87796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 flipH="1">
              <a:off x="6894023" y="4119818"/>
              <a:ext cx="0" cy="19477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8802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4913873" y="4710046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4913873" y="5502943"/>
              <a:ext cx="168497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3" name="Line 41"/>
            <p:cNvSpPr>
              <a:spLocks noChangeShapeType="1"/>
            </p:cNvSpPr>
            <p:nvPr/>
          </p:nvSpPr>
          <p:spPr bwMode="auto">
            <a:xfrm flipV="1">
              <a:off x="4852933" y="5304814"/>
              <a:ext cx="37248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9751" y="4120284"/>
                  <a:ext cx="364122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2" y="377464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31877" y="377829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4854" y="377464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365" y="608257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0232" y="607892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50680" y="6075266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4642403"/>
                  <a:ext cx="255488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61905" r="-30952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97168" y="5448901"/>
                  <a:ext cx="255488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095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5533394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6377621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7226177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8068102" y="4710046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5529070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6373297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8063778" y="5502943"/>
              <a:ext cx="1715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7337135" y="4411975"/>
            <a:ext cx="1189085" cy="424070"/>
          </a:xfrm>
          <a:prstGeom prst="roundRect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767754" y="3601822"/>
            <a:ext cx="2758467" cy="1328555"/>
            <a:chOff x="6248400" y="5138417"/>
            <a:chExt cx="2988339" cy="490331"/>
          </a:xfrm>
        </p:grpSpPr>
        <p:sp>
          <p:nvSpPr>
            <p:cNvPr id="15" name="Freeform 14"/>
            <p:cNvSpPr/>
            <p:nvPr/>
          </p:nvSpPr>
          <p:spPr>
            <a:xfrm>
              <a:off x="6248400" y="5138417"/>
              <a:ext cx="424070" cy="490331"/>
            </a:xfrm>
            <a:custGeom>
              <a:avLst/>
              <a:gdLst>
                <a:gd name="connsiteX0" fmla="*/ 0 w 424070"/>
                <a:gd name="connsiteY0" fmla="*/ 0 h 490331"/>
                <a:gd name="connsiteX1" fmla="*/ 424070 w 424070"/>
                <a:gd name="connsiteY1" fmla="*/ 0 h 490331"/>
                <a:gd name="connsiteX2" fmla="*/ 424070 w 424070"/>
                <a:gd name="connsiteY2" fmla="*/ 490331 h 490331"/>
                <a:gd name="connsiteX3" fmla="*/ 0 w 42407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070" h="490331">
                  <a:moveTo>
                    <a:pt x="0" y="0"/>
                  </a:moveTo>
                  <a:lnTo>
                    <a:pt x="424070" y="0"/>
                  </a:lnTo>
                  <a:lnTo>
                    <a:pt x="424070" y="490331"/>
                  </a:lnTo>
                  <a:lnTo>
                    <a:pt x="0" y="490331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 flipH="1">
              <a:off x="8812669" y="5138417"/>
              <a:ext cx="424070" cy="490331"/>
            </a:xfrm>
            <a:custGeom>
              <a:avLst/>
              <a:gdLst>
                <a:gd name="connsiteX0" fmla="*/ 0 w 424070"/>
                <a:gd name="connsiteY0" fmla="*/ 0 h 490331"/>
                <a:gd name="connsiteX1" fmla="*/ 424070 w 424070"/>
                <a:gd name="connsiteY1" fmla="*/ 0 h 490331"/>
                <a:gd name="connsiteX2" fmla="*/ 424070 w 424070"/>
                <a:gd name="connsiteY2" fmla="*/ 490331 h 490331"/>
                <a:gd name="connsiteX3" fmla="*/ 0 w 42407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070" h="490331">
                  <a:moveTo>
                    <a:pt x="0" y="0"/>
                  </a:moveTo>
                  <a:lnTo>
                    <a:pt x="424070" y="0"/>
                  </a:lnTo>
                  <a:lnTo>
                    <a:pt x="424070" y="490331"/>
                  </a:lnTo>
                  <a:lnTo>
                    <a:pt x="0" y="490331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5775822" y="3659428"/>
            <a:ext cx="1189085" cy="424070"/>
          </a:xfrm>
          <a:prstGeom prst="round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Four-Variable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96" y="894292"/>
                <a:ext cx="3828650" cy="55878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4 variables </a:t>
                </a:r>
                <a:r>
                  <a:rPr lang="en-US" sz="2400" dirty="0" smtClean="0">
                    <a:sym typeface="Wingdings" panose="05000000000000000000" pitchFamily="2" charset="2"/>
                  </a:rPr>
                  <a:t> 16 squares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>
                    <a:sym typeface="Wingdings" panose="05000000000000000000" pitchFamily="2" charset="2"/>
                  </a:rPr>
                  <a:t>Remember the </a:t>
                </a:r>
                <a:r>
                  <a:rPr lang="en-US" sz="2400" dirty="0">
                    <a:sym typeface="Wingdings" panose="05000000000000000000" pitchFamily="2" charset="2"/>
                  </a:rPr>
                  <a:t>numbering of the squares in the K-map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>
                    <a:sym typeface="Wingdings" panose="05000000000000000000" pitchFamily="2" charset="2"/>
                  </a:rPr>
                  <a:t>Each square is adjacent to  four other squares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180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i="1" dirty="0" smtClean="0"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b="0" i="0" dirty="0" smtClean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 smtClean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3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4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′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 smtClean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5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′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 smtClean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6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7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8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9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10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11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12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′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13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′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1600" dirty="0" smtClean="0"/>
                  <a:t> </a:t>
                </a:r>
                <a:endParaRPr lang="en-US" sz="1600" dirty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  <a:tabLst>
                    <a:tab pos="21542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14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sSup>
                      <m:sSup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 err="1">
                            <a:latin typeface="Cambria Math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p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Wingdings" panose="05000000000000000000" pitchFamily="2" charset="2"/>
                          </a:rPr>
                          <m:t>15</m:t>
                        </m:r>
                      </m:sub>
                    </m:sSub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sz="1600" b="0" i="1" dirty="0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latin typeface="Cambria Math"/>
                        <a:sym typeface="Wingdings" panose="05000000000000000000" pitchFamily="2" charset="2"/>
                      </a:rPr>
                      <m:t>𝑧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296" y="894292"/>
                <a:ext cx="3828650" cy="5587879"/>
              </a:xfrm>
              <a:blipFill rotWithShape="1">
                <a:blip r:embed="rId2"/>
                <a:stretch>
                  <a:fillRect l="-2548" t="-983" r="-2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/>
          <p:cNvGrpSpPr/>
          <p:nvPr/>
        </p:nvGrpSpPr>
        <p:grpSpPr>
          <a:xfrm>
            <a:off x="4442515" y="2104039"/>
            <a:ext cx="4436716" cy="4378132"/>
            <a:chOff x="2418291" y="2046432"/>
            <a:chExt cx="4806442" cy="4378132"/>
          </a:xfrm>
        </p:grpSpPr>
        <p:sp>
          <p:nvSpPr>
            <p:cNvPr id="6" name="Rectangle 5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586568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443397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5282608" y="239160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613124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 flipH="1">
              <a:off x="5052616" y="2391608"/>
              <a:ext cx="0" cy="3507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203980" y="2816117"/>
              <a:ext cx="1683742" cy="3435625"/>
              <a:chOff x="4203980" y="2816118"/>
              <a:chExt cx="1683742" cy="1880236"/>
            </a:xfrm>
          </p:grpSpPr>
          <p:sp>
            <p:nvSpPr>
              <p:cNvPr id="11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8779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8802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2936755" y="2981836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7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</a:rPr>
                          <m:t>𝑤</m:t>
                        </m:r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3580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7619" r="-11905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857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61905" r="-2381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28358" r="-7463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75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1"/>
                <p:cNvSpPr>
                  <a:spLocks noChangeArrowheads="1"/>
                </p:cNvSpPr>
                <p:nvPr/>
              </p:nvSpPr>
              <p:spPr bwMode="auto">
                <a:xfrm>
                  <a:off x="3548996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8996" y="2981836"/>
                  <a:ext cx="48564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7500" r="-25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3223" y="2981836"/>
                  <a:ext cx="50104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223" y="2981836"/>
                  <a:ext cx="478529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329" r="-3797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1"/>
                <p:cNvSpPr>
                  <a:spLocks noChangeArrowheads="1"/>
                </p:cNvSpPr>
                <p:nvPr/>
              </p:nvSpPr>
              <p:spPr bwMode="auto">
                <a:xfrm>
                  <a:off x="5241779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1779" y="2981836"/>
                  <a:ext cx="485646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595" r="-3797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3704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3704" y="2981836"/>
                  <a:ext cx="48564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7595" r="-3797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21"/>
                <p:cNvSpPr>
                  <a:spLocks noChangeArrowheads="1"/>
                </p:cNvSpPr>
                <p:nvPr/>
              </p:nvSpPr>
              <p:spPr bwMode="auto">
                <a:xfrm>
                  <a:off x="3544672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4672" y="3774733"/>
                  <a:ext cx="485646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8899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8899" y="3774733"/>
                  <a:ext cx="485646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7595" r="-3797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7455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7455" y="3774733"/>
                  <a:ext cx="485646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7500" r="-25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9380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9380" y="3774733"/>
                  <a:ext cx="485646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V="1">
              <a:off x="2849386" y="4350712"/>
              <a:ext cx="388943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3351656" y="3576604"/>
              <a:ext cx="3790410" cy="1548216"/>
              <a:chOff x="3351656" y="3979853"/>
              <a:chExt cx="3389620" cy="1548216"/>
            </a:xfrm>
          </p:grpSpPr>
          <p:sp>
            <p:nvSpPr>
              <p:cNvPr id="16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38101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3896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27869" r="-4918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491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27869" r="-4918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angle 21"/>
            <p:cNvSpPr>
              <a:spLocks noChangeArrowheads="1"/>
            </p:cNvSpPr>
            <p:nvPr/>
          </p:nvSpPr>
          <p:spPr bwMode="auto">
            <a:xfrm>
              <a:off x="2936755" y="3750952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21"/>
            <p:cNvSpPr>
              <a:spLocks noChangeArrowheads="1"/>
            </p:cNvSpPr>
            <p:nvPr/>
          </p:nvSpPr>
          <p:spPr bwMode="auto">
            <a:xfrm>
              <a:off x="2936755" y="4557450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21"/>
            <p:cNvSpPr>
              <a:spLocks noChangeArrowheads="1"/>
            </p:cNvSpPr>
            <p:nvPr/>
          </p:nvSpPr>
          <p:spPr bwMode="auto">
            <a:xfrm>
              <a:off x="2936755" y="5330031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21"/>
                <p:cNvSpPr>
                  <a:spLocks noChangeArrowheads="1"/>
                </p:cNvSpPr>
                <p:nvPr/>
              </p:nvSpPr>
              <p:spPr bwMode="auto">
                <a:xfrm>
                  <a:off x="3546979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6979" y="4513444"/>
                  <a:ext cx="608372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6061" r="-303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1206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1206" y="4513444"/>
                  <a:ext cx="608372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5000" r="-30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9762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9762" y="4513444"/>
                  <a:ext cx="608372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5000" r="-3000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1687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1687" y="4513444"/>
                  <a:ext cx="608372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5000" r="-30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1"/>
                <p:cNvSpPr>
                  <a:spLocks noChangeArrowheads="1"/>
                </p:cNvSpPr>
                <p:nvPr/>
              </p:nvSpPr>
              <p:spPr bwMode="auto">
                <a:xfrm>
                  <a:off x="3542656" y="5306341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42655" y="5306341"/>
                  <a:ext cx="485646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7500" r="-25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6882" y="5306341"/>
                  <a:ext cx="5018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6882" y="5306341"/>
                  <a:ext cx="479234" cy="36933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6329" r="-3797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5438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5438" y="5306341"/>
                  <a:ext cx="608372" cy="36933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6061" r="-303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7363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7363" y="5306341"/>
                  <a:ext cx="608372" cy="369332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6000" r="-20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TextBox 106"/>
          <p:cNvSpPr txBox="1"/>
          <p:nvPr/>
        </p:nvSpPr>
        <p:spPr>
          <a:xfrm>
            <a:off x="4571999" y="1067114"/>
            <a:ext cx="4360408" cy="9793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 smtClean="0"/>
              <a:t>Notice the order of Rows 11 and 10</a:t>
            </a:r>
          </a:p>
          <a:p>
            <a:pPr algn="ctr">
              <a:lnSpc>
                <a:spcPct val="120000"/>
              </a:lnSpc>
            </a:pPr>
            <a:r>
              <a:rPr lang="en-US" sz="2200" dirty="0" smtClean="0"/>
              <a:t>and the order of columns 11 and 10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4330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Squares on a </a:t>
            </a:r>
            <a:r>
              <a:rPr lang="en-US" dirty="0" smtClean="0"/>
              <a:t>4-Variable </a:t>
            </a:r>
            <a:r>
              <a:rPr lang="en-US" dirty="0"/>
              <a:t>K-Map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indent="-536575">
              <a:lnSpc>
                <a:spcPct val="150000"/>
              </a:lnSpc>
              <a:spcBef>
                <a:spcPts val="2500"/>
              </a:spcBef>
              <a:buSzPct val="125000"/>
            </a:pPr>
            <a:r>
              <a:rPr lang="en-US" altLang="en-US" sz="2400" dirty="0"/>
              <a:t>On a </a:t>
            </a:r>
            <a:r>
              <a:rPr lang="en-US" altLang="en-US" sz="2400" dirty="0" smtClean="0"/>
              <a:t>4-variable </a:t>
            </a:r>
            <a:r>
              <a:rPr lang="en-US" altLang="en-US" sz="2400" dirty="0"/>
              <a:t>K-Map:</a:t>
            </a:r>
          </a:p>
          <a:p>
            <a:pPr lvl="1">
              <a:lnSpc>
                <a:spcPct val="150000"/>
              </a:lnSpc>
              <a:spcBef>
                <a:spcPts val="2500"/>
              </a:spcBef>
            </a:pPr>
            <a:r>
              <a:rPr lang="en-US" altLang="en-US" sz="2000" dirty="0">
                <a:cs typeface="Times New Roman" pitchFamily="18" charset="0"/>
              </a:rPr>
              <a:t>One square represents a </a:t>
            </a:r>
            <a:r>
              <a:rPr lang="en-US" altLang="en-US" sz="2000" dirty="0" err="1">
                <a:cs typeface="Times New Roman" pitchFamily="18" charset="0"/>
              </a:rPr>
              <a:t>minterm</a:t>
            </a:r>
            <a:r>
              <a:rPr lang="en-US" altLang="en-US" sz="2000" dirty="0">
                <a:cs typeface="Times New Roman" pitchFamily="18" charset="0"/>
              </a:rPr>
              <a:t> with </a:t>
            </a:r>
            <a:r>
              <a:rPr lang="en-US" altLang="en-US" sz="2000" dirty="0" smtClean="0">
                <a:cs typeface="Times New Roman" pitchFamily="18" charset="0"/>
              </a:rPr>
              <a:t>4 </a:t>
            </a:r>
            <a:r>
              <a:rPr lang="en-US" altLang="en-US" sz="2000" dirty="0">
                <a:cs typeface="Times New Roman" pitchFamily="18" charset="0"/>
              </a:rPr>
              <a:t>variables</a:t>
            </a:r>
          </a:p>
          <a:p>
            <a:pPr lvl="1">
              <a:lnSpc>
                <a:spcPct val="150000"/>
              </a:lnSpc>
              <a:spcBef>
                <a:spcPts val="2500"/>
              </a:spcBef>
            </a:pPr>
            <a:r>
              <a:rPr lang="en-US" altLang="en-US" sz="2000" dirty="0">
                <a:cs typeface="Times New Roman" pitchFamily="18" charset="0"/>
              </a:rPr>
              <a:t>Two adjacent squares represent a term with </a:t>
            </a:r>
            <a:r>
              <a:rPr lang="en-US" altLang="en-US" sz="2000" dirty="0" smtClean="0">
                <a:cs typeface="Times New Roman" pitchFamily="18" charset="0"/>
              </a:rPr>
              <a:t>3 </a:t>
            </a:r>
            <a:r>
              <a:rPr lang="en-US" altLang="en-US" sz="2000" dirty="0">
                <a:cs typeface="Times New Roman" pitchFamily="18" charset="0"/>
              </a:rPr>
              <a:t>variables</a:t>
            </a:r>
          </a:p>
          <a:p>
            <a:pPr lvl="1">
              <a:lnSpc>
                <a:spcPct val="150000"/>
              </a:lnSpc>
              <a:spcBef>
                <a:spcPts val="2500"/>
              </a:spcBef>
            </a:pPr>
            <a:r>
              <a:rPr lang="en-US" altLang="en-US" sz="2000" dirty="0">
                <a:cs typeface="Times New Roman" pitchFamily="18" charset="0"/>
              </a:rPr>
              <a:t>Four adjacent squares represent a term with </a:t>
            </a:r>
            <a:r>
              <a:rPr lang="en-US" altLang="en-US" sz="2000" dirty="0" smtClean="0">
                <a:cs typeface="Times New Roman" pitchFamily="18" charset="0"/>
              </a:rPr>
              <a:t>2 variables</a:t>
            </a:r>
          </a:p>
          <a:p>
            <a:pPr lvl="1">
              <a:lnSpc>
                <a:spcPct val="150000"/>
              </a:lnSpc>
              <a:spcBef>
                <a:spcPts val="2500"/>
              </a:spcBef>
            </a:pPr>
            <a:r>
              <a:rPr lang="en-US" altLang="en-US" sz="2000" dirty="0" smtClean="0">
                <a:cs typeface="Times New Roman" pitchFamily="18" charset="0"/>
              </a:rPr>
              <a:t>Eight adjacent squares represent a term with 1 variable</a:t>
            </a:r>
            <a:endParaRPr lang="en-US" altLang="en-US" sz="2000" dirty="0">
              <a:cs typeface="Times New Roman" pitchFamily="18" charset="0"/>
            </a:endParaRPr>
          </a:p>
          <a:p>
            <a:pPr lvl="1">
              <a:lnSpc>
                <a:spcPct val="150000"/>
              </a:lnSpc>
              <a:spcBef>
                <a:spcPts val="2500"/>
              </a:spcBef>
            </a:pPr>
            <a:r>
              <a:rPr lang="en-US" altLang="en-US" sz="2000" dirty="0" smtClean="0">
                <a:cs typeface="Times New Roman" pitchFamily="18" charset="0"/>
              </a:rPr>
              <a:t>Combining all 16 squares </a:t>
            </a:r>
            <a:r>
              <a:rPr lang="en-US" altLang="en-US" sz="2000" dirty="0">
                <a:cs typeface="Times New Roman" pitchFamily="18" charset="0"/>
              </a:rPr>
              <a:t>is the </a:t>
            </a:r>
            <a:r>
              <a:rPr lang="en-US" altLang="en-US" sz="2000" dirty="0" smtClean="0">
                <a:cs typeface="Times New Roman" pitchFamily="18" charset="0"/>
              </a:rPr>
              <a:t>constant </a:t>
            </a:r>
            <a:r>
              <a:rPr lang="en-US" altLang="en-US" sz="2000" b="1" dirty="0" smtClean="0"/>
              <a:t>‘</a:t>
            </a:r>
            <a:r>
              <a:rPr lang="en-US" altLang="en-US" sz="2000" b="1" dirty="0" smtClean="0">
                <a:solidFill>
                  <a:srgbClr val="FF0000"/>
                </a:solidFill>
              </a:rPr>
              <a:t>1</a:t>
            </a:r>
            <a:r>
              <a:rPr lang="en-US" altLang="en-US" sz="2000" b="1" dirty="0"/>
              <a:t>’</a:t>
            </a:r>
            <a:r>
              <a:rPr lang="en-US" altLang="en-US" sz="2000" dirty="0">
                <a:cs typeface="Times New Roman" pitchFamily="18" charset="0"/>
              </a:rPr>
              <a:t> (no variables)</a:t>
            </a:r>
            <a:endParaRPr lang="en-US" altLang="en-US" sz="20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514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Eight Squares</a:t>
            </a:r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205077" y="1470362"/>
            <a:ext cx="4436716" cy="4378132"/>
            <a:chOff x="2418291" y="2046432"/>
            <a:chExt cx="4806442" cy="4378132"/>
          </a:xfrm>
        </p:grpSpPr>
        <p:sp>
          <p:nvSpPr>
            <p:cNvPr id="52" name="Rectangle 51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586568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3397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5282608" y="239160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613124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 flipH="1">
              <a:off x="5052616" y="2391608"/>
              <a:ext cx="0" cy="3507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4203980" y="2816117"/>
              <a:ext cx="1683742" cy="3435625"/>
              <a:chOff x="4203980" y="2816118"/>
              <a:chExt cx="1683742" cy="1880236"/>
            </a:xfrm>
          </p:grpSpPr>
          <p:sp>
            <p:nvSpPr>
              <p:cNvPr id="96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8779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8802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2936755" y="2981836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0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</a:rPr>
                          <m:t>𝑤</m:t>
                        </m:r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645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0303" r="-7576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75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9165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9165" y="2981836"/>
                  <a:ext cx="485646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3223" y="2981836"/>
                  <a:ext cx="50104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223" y="2981836"/>
                  <a:ext cx="478529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7692" r="-3846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41779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1779" y="2981836"/>
                  <a:ext cx="485646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3704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3704" y="2981836"/>
                  <a:ext cx="485646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4841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4841" y="3774733"/>
                  <a:ext cx="48564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7595" r="-3797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8899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8899" y="3774733"/>
                  <a:ext cx="485646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6250" r="-3750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7455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7455" y="3774733"/>
                  <a:ext cx="485646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9380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9380" y="3774733"/>
                  <a:ext cx="485646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Line 41"/>
            <p:cNvSpPr>
              <a:spLocks noChangeShapeType="1"/>
            </p:cNvSpPr>
            <p:nvPr/>
          </p:nvSpPr>
          <p:spPr bwMode="auto">
            <a:xfrm flipV="1">
              <a:off x="2849386" y="4350712"/>
              <a:ext cx="388943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3351656" y="3576604"/>
              <a:ext cx="3790410" cy="1548216"/>
              <a:chOff x="3351656" y="3979853"/>
              <a:chExt cx="3389620" cy="1548216"/>
            </a:xfrm>
          </p:grpSpPr>
          <p:sp>
            <p:nvSpPr>
              <p:cNvPr id="94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38101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3896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ectangle 21"/>
            <p:cNvSpPr>
              <a:spLocks noChangeArrowheads="1"/>
            </p:cNvSpPr>
            <p:nvPr/>
          </p:nvSpPr>
          <p:spPr bwMode="auto">
            <a:xfrm>
              <a:off x="2936755" y="3750952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2936755" y="4557450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2936755" y="5330031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7148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7148" y="4513444"/>
                  <a:ext cx="608372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5000" r="-30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1206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1206" y="4513444"/>
                  <a:ext cx="608372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6061" r="-303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9762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9762" y="4513444"/>
                  <a:ext cx="608372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6000" r="-2000" b="-1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1687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1687" y="4513444"/>
                  <a:ext cx="608372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6000" r="-200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2824" y="5306341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824" y="5306341"/>
                  <a:ext cx="485646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6250" r="-375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6882" y="5306341"/>
                  <a:ext cx="5018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6882" y="5306341"/>
                  <a:ext cx="479234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7692" r="-3846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5438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5438" y="5306341"/>
                  <a:ext cx="608372" cy="36933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5000" r="-200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7363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7363" y="5306341"/>
                  <a:ext cx="608372" cy="36933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5000" r="-300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Rounded Rectangle 97"/>
          <p:cNvSpPr/>
          <p:nvPr/>
        </p:nvSpPr>
        <p:spPr>
          <a:xfrm>
            <a:off x="3162241" y="2321215"/>
            <a:ext cx="2924663" cy="1382568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690175" y="2448873"/>
            <a:ext cx="2472066" cy="461665"/>
            <a:chOff x="1238003" y="2448872"/>
            <a:chExt cx="2678071" cy="461665"/>
          </a:xfrm>
        </p:grpSpPr>
        <p:cxnSp>
          <p:nvCxnSpPr>
            <p:cNvPr id="100" name="Straight Connector 99"/>
            <p:cNvCxnSpPr/>
            <p:nvPr/>
          </p:nvCxnSpPr>
          <p:spPr>
            <a:xfrm>
              <a:off x="2763934" y="2680109"/>
              <a:ext cx="1152140" cy="17282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1238003" y="2448872"/>
                  <a:ext cx="1525931" cy="461665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𝑤</m:t>
                      </m:r>
                      <m:r>
                        <a:rPr lang="en-US" sz="240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003" y="2448872"/>
                  <a:ext cx="1525931" cy="461665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5512" t="-6329" b="-27848"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Rounded Rectangle 102"/>
          <p:cNvSpPr/>
          <p:nvPr/>
        </p:nvSpPr>
        <p:spPr>
          <a:xfrm>
            <a:off x="4704335" y="2393902"/>
            <a:ext cx="1439922" cy="2878522"/>
          </a:xfrm>
          <a:prstGeom prst="roundRect">
            <a:avLst>
              <a:gd name="adj" fmla="val 8596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" name="Group 120"/>
          <p:cNvGrpSpPr/>
          <p:nvPr/>
        </p:nvGrpSpPr>
        <p:grpSpPr>
          <a:xfrm>
            <a:off x="5808689" y="1355148"/>
            <a:ext cx="1778549" cy="1038754"/>
            <a:chOff x="6783060" y="1355148"/>
            <a:chExt cx="1926761" cy="1038754"/>
          </a:xfrm>
        </p:grpSpPr>
        <p:cxnSp>
          <p:nvCxnSpPr>
            <p:cNvPr id="105" name="Straight Connector 104"/>
            <p:cNvCxnSpPr/>
            <p:nvPr/>
          </p:nvCxnSpPr>
          <p:spPr>
            <a:xfrm flipV="1">
              <a:off x="6783060" y="1816408"/>
              <a:ext cx="814363" cy="577494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7314887" y="1355148"/>
                  <a:ext cx="1394934" cy="461665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𝑦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4887" y="1355148"/>
                  <a:ext cx="1394934" cy="461665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l="-6034" t="-6250" b="-26250"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/>
          <p:cNvGrpSpPr/>
          <p:nvPr/>
        </p:nvGrpSpPr>
        <p:grpSpPr>
          <a:xfrm>
            <a:off x="2974004" y="2449683"/>
            <a:ext cx="3325603" cy="2703875"/>
            <a:chOff x="3712151" y="2449682"/>
            <a:chExt cx="3602737" cy="2703875"/>
          </a:xfrm>
        </p:grpSpPr>
        <p:sp>
          <p:nvSpPr>
            <p:cNvPr id="112" name="Freeform 111"/>
            <p:cNvSpPr/>
            <p:nvPr/>
          </p:nvSpPr>
          <p:spPr>
            <a:xfrm rot="5400000">
              <a:off x="5554914" y="3393584"/>
              <a:ext cx="2703131" cy="816816"/>
            </a:xfrm>
            <a:custGeom>
              <a:avLst/>
              <a:gdLst>
                <a:gd name="connsiteX0" fmla="*/ 0 w 3014869"/>
                <a:gd name="connsiteY0" fmla="*/ 33131 h 510209"/>
                <a:gd name="connsiteX1" fmla="*/ 0 w 3014869"/>
                <a:gd name="connsiteY1" fmla="*/ 510209 h 510209"/>
                <a:gd name="connsiteX2" fmla="*/ 3014869 w 3014869"/>
                <a:gd name="connsiteY2" fmla="*/ 510209 h 510209"/>
                <a:gd name="connsiteX3" fmla="*/ 3014869 w 3014869"/>
                <a:gd name="connsiteY3" fmla="*/ 0 h 5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14869" h="510209">
                  <a:moveTo>
                    <a:pt x="0" y="33131"/>
                  </a:moveTo>
                  <a:lnTo>
                    <a:pt x="0" y="510209"/>
                  </a:lnTo>
                  <a:lnTo>
                    <a:pt x="3014869" y="510209"/>
                  </a:lnTo>
                  <a:lnTo>
                    <a:pt x="3014869" y="0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 rot="16200000" flipH="1">
              <a:off x="2789914" y="3371919"/>
              <a:ext cx="2703131" cy="858658"/>
            </a:xfrm>
            <a:custGeom>
              <a:avLst/>
              <a:gdLst>
                <a:gd name="connsiteX0" fmla="*/ 0 w 3014869"/>
                <a:gd name="connsiteY0" fmla="*/ 33131 h 510209"/>
                <a:gd name="connsiteX1" fmla="*/ 0 w 3014869"/>
                <a:gd name="connsiteY1" fmla="*/ 510209 h 510209"/>
                <a:gd name="connsiteX2" fmla="*/ 3014869 w 3014869"/>
                <a:gd name="connsiteY2" fmla="*/ 510209 h 510209"/>
                <a:gd name="connsiteX3" fmla="*/ 3014869 w 3014869"/>
                <a:gd name="connsiteY3" fmla="*/ 0 h 5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14869" h="510209">
                  <a:moveTo>
                    <a:pt x="0" y="33131"/>
                  </a:moveTo>
                  <a:lnTo>
                    <a:pt x="0" y="510209"/>
                  </a:lnTo>
                  <a:lnTo>
                    <a:pt x="3014869" y="510209"/>
                  </a:lnTo>
                  <a:lnTo>
                    <a:pt x="3014869" y="0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1660332" y="5153559"/>
            <a:ext cx="1560937" cy="983779"/>
            <a:chOff x="2289007" y="5153558"/>
            <a:chExt cx="1691015" cy="983779"/>
          </a:xfrm>
        </p:grpSpPr>
        <p:cxnSp>
          <p:nvCxnSpPr>
            <p:cNvPr id="115" name="Straight Connector 114"/>
            <p:cNvCxnSpPr/>
            <p:nvPr/>
          </p:nvCxnSpPr>
          <p:spPr>
            <a:xfrm flipV="1">
              <a:off x="3475716" y="5153558"/>
              <a:ext cx="504306" cy="522114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2289007" y="5675672"/>
                  <a:ext cx="1447384" cy="461665"/>
                </a:xfrm>
                <a:prstGeom prst="rect">
                  <a:avLst/>
                </a:prstGeom>
                <a:noFill/>
                <a:ln w="25400">
                  <a:solidFill>
                    <a:srgbClr val="000099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9007" y="5675672"/>
                  <a:ext cx="1447384" cy="461665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l="-5394" t="-6250" r="-415" b="-26250"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3942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Four Squares</a:t>
            </a:r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205077" y="1239934"/>
            <a:ext cx="4436716" cy="4378132"/>
            <a:chOff x="2418291" y="2046432"/>
            <a:chExt cx="4806442" cy="4378132"/>
          </a:xfrm>
        </p:grpSpPr>
        <p:sp>
          <p:nvSpPr>
            <p:cNvPr id="52" name="Rectangle 51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586568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3397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5282608" y="239160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613124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 flipH="1">
              <a:off x="5052616" y="2391608"/>
              <a:ext cx="0" cy="3507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4203980" y="2816117"/>
              <a:ext cx="1683742" cy="3435625"/>
              <a:chOff x="4203980" y="2816118"/>
              <a:chExt cx="1683742" cy="1880236"/>
            </a:xfrm>
          </p:grpSpPr>
          <p:sp>
            <p:nvSpPr>
              <p:cNvPr id="96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8779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8802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2936755" y="2981836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0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</a:rPr>
                          <m:t>𝑤</m:t>
                        </m:r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645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0303" r="-7576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75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9165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9165" y="2981836"/>
                  <a:ext cx="485646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3223" y="2981836"/>
                  <a:ext cx="50104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223" y="2981836"/>
                  <a:ext cx="478529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7692" r="-3846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41779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1779" y="2981836"/>
                  <a:ext cx="485646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3704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3704" y="2981836"/>
                  <a:ext cx="485646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4841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4841" y="3774733"/>
                  <a:ext cx="48564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7595" r="-3797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8899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8899" y="3774733"/>
                  <a:ext cx="485646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6250" r="-375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7455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7455" y="3774733"/>
                  <a:ext cx="485646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6250" r="-375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9380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9380" y="3774733"/>
                  <a:ext cx="485646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250" r="-375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Line 41"/>
            <p:cNvSpPr>
              <a:spLocks noChangeShapeType="1"/>
            </p:cNvSpPr>
            <p:nvPr/>
          </p:nvSpPr>
          <p:spPr bwMode="auto">
            <a:xfrm flipV="1">
              <a:off x="2849386" y="4350712"/>
              <a:ext cx="388943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3351656" y="3576604"/>
              <a:ext cx="3790410" cy="1548216"/>
              <a:chOff x="3351656" y="3979853"/>
              <a:chExt cx="3389620" cy="1548216"/>
            </a:xfrm>
          </p:grpSpPr>
          <p:sp>
            <p:nvSpPr>
              <p:cNvPr id="94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38101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3896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ectangle 21"/>
            <p:cNvSpPr>
              <a:spLocks noChangeArrowheads="1"/>
            </p:cNvSpPr>
            <p:nvPr/>
          </p:nvSpPr>
          <p:spPr bwMode="auto">
            <a:xfrm>
              <a:off x="2936755" y="3750952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2936755" y="4557450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2936755" y="5330031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7148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7148" y="4513444"/>
                  <a:ext cx="608372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5000" r="-3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1206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1206" y="4513444"/>
                  <a:ext cx="608372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6061" r="-303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9762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9762" y="4513444"/>
                  <a:ext cx="608372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6000" r="-2000" b="-180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1687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1687" y="4513444"/>
                  <a:ext cx="608372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6000" r="-2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2824" y="5306341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824" y="5306341"/>
                  <a:ext cx="485646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6250" r="-375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6882" y="5306341"/>
                  <a:ext cx="5018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6882" y="5306341"/>
                  <a:ext cx="479234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7692" r="-3846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5438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5438" y="5306341"/>
                  <a:ext cx="608372" cy="36933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5000" r="-2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7363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7363" y="5306341"/>
                  <a:ext cx="608372" cy="36933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5000" r="-3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Rounded Rectangle 97"/>
          <p:cNvSpPr/>
          <p:nvPr/>
        </p:nvSpPr>
        <p:spPr>
          <a:xfrm>
            <a:off x="3136257" y="2852930"/>
            <a:ext cx="1458350" cy="1382568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64191" y="2980859"/>
            <a:ext cx="2472066" cy="461665"/>
            <a:chOff x="719540" y="2980858"/>
            <a:chExt cx="2678071" cy="461665"/>
          </a:xfrm>
        </p:grpSpPr>
        <p:cxnSp>
          <p:nvCxnSpPr>
            <p:cNvPr id="100" name="Straight Connector 99"/>
            <p:cNvCxnSpPr>
              <a:stCxn id="101" idx="3"/>
            </p:cNvCxnSpPr>
            <p:nvPr/>
          </p:nvCxnSpPr>
          <p:spPr>
            <a:xfrm>
              <a:off x="2352872" y="3211691"/>
              <a:ext cx="1044739" cy="17322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719540" y="2980858"/>
                  <a:ext cx="1633332" cy="461665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40" y="2980858"/>
                  <a:ext cx="1633332" cy="461665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4779" t="-6250" r="-2574" b="-26250"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Rounded Rectangle 102"/>
          <p:cNvSpPr/>
          <p:nvPr/>
        </p:nvSpPr>
        <p:spPr>
          <a:xfrm>
            <a:off x="4704335" y="3632926"/>
            <a:ext cx="1439922" cy="1382567"/>
          </a:xfrm>
          <a:prstGeom prst="roundRect">
            <a:avLst>
              <a:gd name="adj" fmla="val 8596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" name="Group 120"/>
          <p:cNvGrpSpPr/>
          <p:nvPr/>
        </p:nvGrpSpPr>
        <p:grpSpPr>
          <a:xfrm>
            <a:off x="6143520" y="3773834"/>
            <a:ext cx="2148192" cy="461665"/>
            <a:chOff x="6783060" y="2047451"/>
            <a:chExt cx="2327208" cy="461665"/>
          </a:xfrm>
        </p:grpSpPr>
        <p:cxnSp>
          <p:nvCxnSpPr>
            <p:cNvPr id="105" name="Straight Connector 104"/>
            <p:cNvCxnSpPr>
              <a:endCxn id="106" idx="1"/>
            </p:cNvCxnSpPr>
            <p:nvPr/>
          </p:nvCxnSpPr>
          <p:spPr>
            <a:xfrm flipV="1">
              <a:off x="6783060" y="2278284"/>
              <a:ext cx="704648" cy="115618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7487708" y="2047451"/>
                  <a:ext cx="1622560" cy="461665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𝑤𝑦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7708" y="2047451"/>
                  <a:ext cx="1622560" cy="461665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l="-4797" t="-6250" b="-26250"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/>
          <p:cNvGrpSpPr/>
          <p:nvPr/>
        </p:nvGrpSpPr>
        <p:grpSpPr>
          <a:xfrm>
            <a:off x="3755524" y="4869178"/>
            <a:ext cx="1608710" cy="1324959"/>
            <a:chOff x="2289007" y="4812378"/>
            <a:chExt cx="1742769" cy="1324959"/>
          </a:xfrm>
        </p:grpSpPr>
        <p:cxnSp>
          <p:nvCxnSpPr>
            <p:cNvPr id="115" name="Straight Connector 114"/>
            <p:cNvCxnSpPr/>
            <p:nvPr/>
          </p:nvCxnSpPr>
          <p:spPr>
            <a:xfrm flipH="1" flipV="1">
              <a:off x="2309963" y="4812378"/>
              <a:ext cx="832718" cy="863294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2289007" y="5675672"/>
                  <a:ext cx="1742769" cy="461665"/>
                </a:xfrm>
                <a:prstGeom prst="rect">
                  <a:avLst/>
                </a:prstGeom>
                <a:noFill/>
                <a:ln w="25400">
                  <a:solidFill>
                    <a:srgbClr val="000099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9007" y="5675672"/>
                  <a:ext cx="1720599" cy="461665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l="-4530" t="-6250" b="-26250"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2967001" y="1931362"/>
            <a:ext cx="3359797" cy="3225849"/>
            <a:chOff x="3214251" y="2161789"/>
            <a:chExt cx="3639780" cy="3225849"/>
          </a:xfrm>
        </p:grpSpPr>
        <p:grpSp>
          <p:nvGrpSpPr>
            <p:cNvPr id="6" name="Group 5"/>
            <p:cNvGrpSpPr/>
            <p:nvPr/>
          </p:nvGrpSpPr>
          <p:grpSpPr>
            <a:xfrm>
              <a:off x="3214251" y="2161789"/>
              <a:ext cx="3639780" cy="748748"/>
              <a:chOff x="3214251" y="2161789"/>
              <a:chExt cx="3639780" cy="748748"/>
            </a:xfrm>
          </p:grpSpPr>
          <p:sp>
            <p:nvSpPr>
              <p:cNvPr id="5" name="Freeform 4"/>
              <p:cNvSpPr/>
              <p:nvPr/>
            </p:nvSpPr>
            <p:spPr>
              <a:xfrm>
                <a:off x="3214251" y="2161789"/>
                <a:ext cx="874644" cy="748748"/>
              </a:xfrm>
              <a:custGeom>
                <a:avLst/>
                <a:gdLst>
                  <a:gd name="connsiteX0" fmla="*/ 0 w 874644"/>
                  <a:gd name="connsiteY0" fmla="*/ 748748 h 748748"/>
                  <a:gd name="connsiteX1" fmla="*/ 874644 w 874644"/>
                  <a:gd name="connsiteY1" fmla="*/ 748748 h 748748"/>
                  <a:gd name="connsiteX2" fmla="*/ 874644 w 874644"/>
                  <a:gd name="connsiteY2" fmla="*/ 0 h 748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4644" h="748748">
                    <a:moveTo>
                      <a:pt x="0" y="748748"/>
                    </a:moveTo>
                    <a:lnTo>
                      <a:pt x="874644" y="748748"/>
                    </a:lnTo>
                    <a:lnTo>
                      <a:pt x="874644" y="0"/>
                    </a:lnTo>
                  </a:path>
                </a:pathLst>
              </a:custGeom>
              <a:noFill/>
              <a:ln>
                <a:solidFill>
                  <a:srgbClr val="0000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reeform 98"/>
              <p:cNvSpPr/>
              <p:nvPr/>
            </p:nvSpPr>
            <p:spPr>
              <a:xfrm flipH="1">
                <a:off x="5979387" y="2161789"/>
                <a:ext cx="874644" cy="748748"/>
              </a:xfrm>
              <a:custGeom>
                <a:avLst/>
                <a:gdLst>
                  <a:gd name="connsiteX0" fmla="*/ 0 w 874644"/>
                  <a:gd name="connsiteY0" fmla="*/ 748748 h 748748"/>
                  <a:gd name="connsiteX1" fmla="*/ 874644 w 874644"/>
                  <a:gd name="connsiteY1" fmla="*/ 748748 h 748748"/>
                  <a:gd name="connsiteX2" fmla="*/ 874644 w 874644"/>
                  <a:gd name="connsiteY2" fmla="*/ 0 h 748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4644" h="748748">
                    <a:moveTo>
                      <a:pt x="0" y="748748"/>
                    </a:moveTo>
                    <a:lnTo>
                      <a:pt x="874644" y="748748"/>
                    </a:lnTo>
                    <a:lnTo>
                      <a:pt x="874644" y="0"/>
                    </a:lnTo>
                  </a:path>
                </a:pathLst>
              </a:custGeom>
              <a:noFill/>
              <a:ln>
                <a:solidFill>
                  <a:srgbClr val="0000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 flipV="1">
              <a:off x="3214251" y="4638890"/>
              <a:ext cx="3639780" cy="748748"/>
              <a:chOff x="3214251" y="2161789"/>
              <a:chExt cx="3639780" cy="748748"/>
            </a:xfrm>
          </p:grpSpPr>
          <p:sp>
            <p:nvSpPr>
              <p:cNvPr id="104" name="Freeform 103"/>
              <p:cNvSpPr/>
              <p:nvPr/>
            </p:nvSpPr>
            <p:spPr>
              <a:xfrm>
                <a:off x="3214251" y="2161789"/>
                <a:ext cx="874644" cy="748748"/>
              </a:xfrm>
              <a:custGeom>
                <a:avLst/>
                <a:gdLst>
                  <a:gd name="connsiteX0" fmla="*/ 0 w 874644"/>
                  <a:gd name="connsiteY0" fmla="*/ 748748 h 748748"/>
                  <a:gd name="connsiteX1" fmla="*/ 874644 w 874644"/>
                  <a:gd name="connsiteY1" fmla="*/ 748748 h 748748"/>
                  <a:gd name="connsiteX2" fmla="*/ 874644 w 874644"/>
                  <a:gd name="connsiteY2" fmla="*/ 0 h 748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4644" h="748748">
                    <a:moveTo>
                      <a:pt x="0" y="748748"/>
                    </a:moveTo>
                    <a:lnTo>
                      <a:pt x="874644" y="748748"/>
                    </a:lnTo>
                    <a:lnTo>
                      <a:pt x="874644" y="0"/>
                    </a:lnTo>
                  </a:path>
                </a:pathLst>
              </a:custGeom>
              <a:noFill/>
              <a:ln>
                <a:solidFill>
                  <a:srgbClr val="0000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 106"/>
              <p:cNvSpPr/>
              <p:nvPr/>
            </p:nvSpPr>
            <p:spPr>
              <a:xfrm flipH="1">
                <a:off x="5979387" y="2161789"/>
                <a:ext cx="874644" cy="748748"/>
              </a:xfrm>
              <a:custGeom>
                <a:avLst/>
                <a:gdLst>
                  <a:gd name="connsiteX0" fmla="*/ 0 w 874644"/>
                  <a:gd name="connsiteY0" fmla="*/ 748748 h 748748"/>
                  <a:gd name="connsiteX1" fmla="*/ 874644 w 874644"/>
                  <a:gd name="connsiteY1" fmla="*/ 748748 h 748748"/>
                  <a:gd name="connsiteX2" fmla="*/ 874644 w 874644"/>
                  <a:gd name="connsiteY2" fmla="*/ 0 h 748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74644" h="748748">
                    <a:moveTo>
                      <a:pt x="0" y="748748"/>
                    </a:moveTo>
                    <a:lnTo>
                      <a:pt x="874644" y="748748"/>
                    </a:lnTo>
                    <a:lnTo>
                      <a:pt x="874644" y="0"/>
                    </a:lnTo>
                  </a:path>
                </a:pathLst>
              </a:custGeom>
              <a:noFill/>
              <a:ln>
                <a:solidFill>
                  <a:srgbClr val="0000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42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Two Squares</a:t>
            </a:r>
            <a:endParaRPr lang="en-US" dirty="0"/>
          </a:p>
        </p:txBody>
      </p:sp>
      <p:grpSp>
        <p:nvGrpSpPr>
          <p:cNvPr id="51" name="Group 50"/>
          <p:cNvGrpSpPr/>
          <p:nvPr/>
        </p:nvGrpSpPr>
        <p:grpSpPr>
          <a:xfrm>
            <a:off x="2205077" y="1239934"/>
            <a:ext cx="4436716" cy="4378132"/>
            <a:chOff x="2418291" y="2046432"/>
            <a:chExt cx="4806442" cy="4378132"/>
          </a:xfrm>
        </p:grpSpPr>
        <p:sp>
          <p:nvSpPr>
            <p:cNvPr id="52" name="Rectangle 51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586568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3397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5282608" y="2391608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6131243" y="2391608"/>
              <a:ext cx="336994" cy="370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 flipH="1">
              <a:off x="5052616" y="2391608"/>
              <a:ext cx="0" cy="3507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4203980" y="2816117"/>
              <a:ext cx="1683742" cy="3435625"/>
              <a:chOff x="4203980" y="2816118"/>
              <a:chExt cx="1683742" cy="1880236"/>
            </a:xfrm>
          </p:grpSpPr>
          <p:sp>
            <p:nvSpPr>
              <p:cNvPr id="96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8779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8802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2936755" y="2981836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0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</a:rPr>
                          <m:t>𝑤</m:t>
                        </m:r>
                        <m:r>
                          <a:rPr lang="en-US" alt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l="-16456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30303" r="-7576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175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9165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9165" y="2981836"/>
                  <a:ext cx="485646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3223" y="2981836"/>
                  <a:ext cx="50104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3223" y="2981836"/>
                  <a:ext cx="478529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7692" r="-3846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41779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41779" y="2981836"/>
                  <a:ext cx="485646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3704" y="2981836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3704" y="2981836"/>
                  <a:ext cx="485646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6250" r="-3750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4841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4841" y="3774733"/>
                  <a:ext cx="48564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7595" r="-3797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8899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8899" y="3774733"/>
                  <a:ext cx="485646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6250" r="-375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7455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7455" y="3774733"/>
                  <a:ext cx="485646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6250" r="-375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9380" y="3774733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9380" y="3774733"/>
                  <a:ext cx="485646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6250" r="-3750" b="-1475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Line 41"/>
            <p:cNvSpPr>
              <a:spLocks noChangeShapeType="1"/>
            </p:cNvSpPr>
            <p:nvPr/>
          </p:nvSpPr>
          <p:spPr bwMode="auto">
            <a:xfrm flipV="1">
              <a:off x="2849386" y="4350712"/>
              <a:ext cx="388943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3351656" y="3576604"/>
              <a:ext cx="3790410" cy="1548216"/>
              <a:chOff x="3351656" y="3979853"/>
              <a:chExt cx="3389620" cy="1548216"/>
            </a:xfrm>
          </p:grpSpPr>
          <p:sp>
            <p:nvSpPr>
              <p:cNvPr id="94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38101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3896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30000" r="-500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ectangle 21"/>
            <p:cNvSpPr>
              <a:spLocks noChangeArrowheads="1"/>
            </p:cNvSpPr>
            <p:nvPr/>
          </p:nvSpPr>
          <p:spPr bwMode="auto">
            <a:xfrm>
              <a:off x="2936755" y="3750952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2936755" y="4557450"/>
              <a:ext cx="3368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2936755" y="5330031"/>
              <a:ext cx="343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400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7148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7148" y="4513444"/>
                  <a:ext cx="608372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5000" r="-3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91206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1206" y="4513444"/>
                  <a:ext cx="608372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6061" r="-303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9762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9762" y="4513444"/>
                  <a:ext cx="608372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l="-6000" r="-2000" b="-180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21"/>
                <p:cNvSpPr>
                  <a:spLocks noChangeArrowheads="1"/>
                </p:cNvSpPr>
                <p:nvPr/>
              </p:nvSpPr>
              <p:spPr bwMode="auto">
                <a:xfrm>
                  <a:off x="6081687" y="4513444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81687" y="4513444"/>
                  <a:ext cx="608372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6000" r="-2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21"/>
                <p:cNvSpPr>
                  <a:spLocks noChangeArrowheads="1"/>
                </p:cNvSpPr>
                <p:nvPr/>
              </p:nvSpPr>
              <p:spPr bwMode="auto">
                <a:xfrm>
                  <a:off x="3512824" y="5306341"/>
                  <a:ext cx="50875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824" y="5306341"/>
                  <a:ext cx="485646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6250" r="-375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21"/>
                <p:cNvSpPr>
                  <a:spLocks noChangeArrowheads="1"/>
                </p:cNvSpPr>
                <p:nvPr/>
              </p:nvSpPr>
              <p:spPr bwMode="auto">
                <a:xfrm>
                  <a:off x="4386882" y="5306341"/>
                  <a:ext cx="5018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6882" y="5306341"/>
                  <a:ext cx="479234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7692" r="-3846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5235438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5438" y="5306341"/>
                  <a:ext cx="608372" cy="36933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5000" r="-2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21"/>
                <p:cNvSpPr>
                  <a:spLocks noChangeArrowheads="1"/>
                </p:cNvSpPr>
                <p:nvPr/>
              </p:nvSpPr>
              <p:spPr bwMode="auto">
                <a:xfrm>
                  <a:off x="6077363" y="5306341"/>
                  <a:ext cx="64170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77363" y="5306341"/>
                  <a:ext cx="608372" cy="36933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5000" r="-3000" b="-1639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Rounded Rectangle 97"/>
          <p:cNvSpPr/>
          <p:nvPr/>
        </p:nvSpPr>
        <p:spPr>
          <a:xfrm>
            <a:off x="3136257" y="2852931"/>
            <a:ext cx="1458350" cy="589593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64191" y="2980859"/>
            <a:ext cx="2472066" cy="461665"/>
            <a:chOff x="719540" y="2980858"/>
            <a:chExt cx="2678071" cy="461665"/>
          </a:xfrm>
        </p:grpSpPr>
        <p:cxnSp>
          <p:nvCxnSpPr>
            <p:cNvPr id="100" name="Straight Connector 99"/>
            <p:cNvCxnSpPr>
              <a:stCxn id="101" idx="3"/>
              <a:endCxn id="98" idx="1"/>
            </p:cNvCxnSpPr>
            <p:nvPr/>
          </p:nvCxnSpPr>
          <p:spPr>
            <a:xfrm flipV="1">
              <a:off x="2735369" y="3147727"/>
              <a:ext cx="662242" cy="6396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719540" y="2980858"/>
                  <a:ext cx="2015829" cy="461665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𝑥𝑦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40" y="2980858"/>
                  <a:ext cx="1972656" cy="461665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3963" t="-6250" r="-1829" b="-26250"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3" name="Rounded Rectangle 102"/>
          <p:cNvSpPr/>
          <p:nvPr/>
        </p:nvSpPr>
        <p:spPr>
          <a:xfrm>
            <a:off x="4704336" y="2104041"/>
            <a:ext cx="639433" cy="1382567"/>
          </a:xfrm>
          <a:prstGeom prst="roundRect">
            <a:avLst>
              <a:gd name="adj" fmla="val 8596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" name="Group 120"/>
          <p:cNvGrpSpPr/>
          <p:nvPr/>
        </p:nvGrpSpPr>
        <p:grpSpPr>
          <a:xfrm>
            <a:off x="5317859" y="1117407"/>
            <a:ext cx="2376610" cy="986633"/>
            <a:chOff x="6347549" y="2047451"/>
            <a:chExt cx="2574660" cy="986633"/>
          </a:xfrm>
        </p:grpSpPr>
        <p:cxnSp>
          <p:nvCxnSpPr>
            <p:cNvPr id="105" name="Straight Connector 104"/>
            <p:cNvCxnSpPr/>
            <p:nvPr/>
          </p:nvCxnSpPr>
          <p:spPr>
            <a:xfrm flipV="1">
              <a:off x="6347549" y="2509116"/>
              <a:ext cx="689769" cy="524968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7037318" y="2047451"/>
                  <a:ext cx="1884891" cy="461665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  <m:r>
                        <a:rPr lang="en-US" sz="2400" b="0" i="1" smtClean="0">
                          <a:latin typeface="Cambria Math"/>
                        </a:rPr>
                        <m:t>′</m:t>
                      </m:r>
                      <m:r>
                        <a:rPr lang="en-US" sz="2400" b="0" i="1" smtClean="0">
                          <a:latin typeface="Cambria Math"/>
                        </a:rPr>
                        <m:t>𝑦𝑧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7318" y="2047451"/>
                  <a:ext cx="1851789" cy="461665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l="-4221" t="-6250" r="-1623" b="-26250"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oup 123"/>
          <p:cNvGrpSpPr/>
          <p:nvPr/>
        </p:nvGrpSpPr>
        <p:grpSpPr>
          <a:xfrm>
            <a:off x="3508486" y="4999736"/>
            <a:ext cx="1776705" cy="1309615"/>
            <a:chOff x="2021384" y="4942936"/>
            <a:chExt cx="1924763" cy="1309615"/>
          </a:xfrm>
        </p:grpSpPr>
        <p:cxnSp>
          <p:nvCxnSpPr>
            <p:cNvPr id="115" name="Straight Connector 114"/>
            <p:cNvCxnSpPr>
              <a:stCxn id="116" idx="0"/>
              <a:endCxn id="108" idx="2"/>
            </p:cNvCxnSpPr>
            <p:nvPr/>
          </p:nvCxnSpPr>
          <p:spPr>
            <a:xfrm flipH="1" flipV="1">
              <a:off x="2822789" y="4942936"/>
              <a:ext cx="160977" cy="847950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/>
                <p:cNvSpPr txBox="1"/>
                <p:nvPr/>
              </p:nvSpPr>
              <p:spPr>
                <a:xfrm>
                  <a:off x="2021384" y="5790886"/>
                  <a:ext cx="1924763" cy="461665"/>
                </a:xfrm>
                <a:prstGeom prst="rect">
                  <a:avLst/>
                </a:prstGeom>
                <a:noFill/>
                <a:ln w="25400">
                  <a:solidFill>
                    <a:srgbClr val="000099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𝑧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6" name="TextBox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84" y="5790886"/>
                  <a:ext cx="1888594" cy="461665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l="-4473" t="-6250" b="-26250"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8" name="Rounded Rectangle 107"/>
          <p:cNvSpPr/>
          <p:nvPr/>
        </p:nvSpPr>
        <p:spPr>
          <a:xfrm>
            <a:off x="3928528" y="3617169"/>
            <a:ext cx="639433" cy="1382567"/>
          </a:xfrm>
          <a:prstGeom prst="roundRect">
            <a:avLst>
              <a:gd name="adj" fmla="val 8596"/>
            </a:avLst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976730" y="4399722"/>
            <a:ext cx="3280336" cy="616226"/>
            <a:chOff x="3224790" y="4399722"/>
            <a:chExt cx="3553697" cy="616226"/>
          </a:xfrm>
        </p:grpSpPr>
        <p:sp>
          <p:nvSpPr>
            <p:cNvPr id="14" name="Freeform 13"/>
            <p:cNvSpPr/>
            <p:nvPr/>
          </p:nvSpPr>
          <p:spPr>
            <a:xfrm>
              <a:off x="5983357" y="4399722"/>
              <a:ext cx="795130" cy="616226"/>
            </a:xfrm>
            <a:custGeom>
              <a:avLst/>
              <a:gdLst>
                <a:gd name="connsiteX0" fmla="*/ 795130 w 795130"/>
                <a:gd name="connsiteY0" fmla="*/ 0 h 616226"/>
                <a:gd name="connsiteX1" fmla="*/ 0 w 795130"/>
                <a:gd name="connsiteY1" fmla="*/ 0 h 616226"/>
                <a:gd name="connsiteX2" fmla="*/ 0 w 795130"/>
                <a:gd name="connsiteY2" fmla="*/ 616226 h 616226"/>
                <a:gd name="connsiteX3" fmla="*/ 795130 w 795130"/>
                <a:gd name="connsiteY3" fmla="*/ 616226 h 616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130" h="616226">
                  <a:moveTo>
                    <a:pt x="795130" y="0"/>
                  </a:moveTo>
                  <a:lnTo>
                    <a:pt x="0" y="0"/>
                  </a:lnTo>
                  <a:lnTo>
                    <a:pt x="0" y="616226"/>
                  </a:lnTo>
                  <a:lnTo>
                    <a:pt x="795130" y="616226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 flipH="1">
              <a:off x="3224790" y="4399722"/>
              <a:ext cx="795130" cy="616226"/>
            </a:xfrm>
            <a:custGeom>
              <a:avLst/>
              <a:gdLst>
                <a:gd name="connsiteX0" fmla="*/ 795130 w 795130"/>
                <a:gd name="connsiteY0" fmla="*/ 0 h 616226"/>
                <a:gd name="connsiteX1" fmla="*/ 0 w 795130"/>
                <a:gd name="connsiteY1" fmla="*/ 0 h 616226"/>
                <a:gd name="connsiteX2" fmla="*/ 0 w 795130"/>
                <a:gd name="connsiteY2" fmla="*/ 616226 h 616226"/>
                <a:gd name="connsiteX3" fmla="*/ 795130 w 795130"/>
                <a:gd name="connsiteY3" fmla="*/ 616226 h 616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130" h="616226">
                  <a:moveTo>
                    <a:pt x="795130" y="0"/>
                  </a:moveTo>
                  <a:lnTo>
                    <a:pt x="0" y="0"/>
                  </a:lnTo>
                  <a:lnTo>
                    <a:pt x="0" y="616226"/>
                  </a:lnTo>
                  <a:lnTo>
                    <a:pt x="795130" y="616226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1062405" y="5015948"/>
            <a:ext cx="2145295" cy="932414"/>
            <a:chOff x="2021384" y="5320137"/>
            <a:chExt cx="2324070" cy="932414"/>
          </a:xfrm>
        </p:grpSpPr>
        <p:cxnSp>
          <p:nvCxnSpPr>
            <p:cNvPr id="111" name="Straight Connector 110"/>
            <p:cNvCxnSpPr/>
            <p:nvPr/>
          </p:nvCxnSpPr>
          <p:spPr>
            <a:xfrm flipV="1">
              <a:off x="3909978" y="5320137"/>
              <a:ext cx="435476" cy="470749"/>
            </a:xfrm>
            <a:prstGeom prst="line">
              <a:avLst/>
            </a:prstGeom>
            <a:ln w="254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2021384" y="5790886"/>
                  <a:ext cx="1999159" cy="461665"/>
                </a:xfrm>
                <a:prstGeom prst="rect">
                  <a:avLst/>
                </a:prstGeom>
                <a:noFill/>
                <a:ln w="25400">
                  <a:solidFill>
                    <a:srgbClr val="FF00FF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Term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/>
                        </a:rPr>
                        <m:t>𝑧</m:t>
                      </m:r>
                      <m:r>
                        <a:rPr lang="en-US" sz="2400" b="0" i="1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384" y="5790886"/>
                  <a:ext cx="1957267" cy="461665"/>
                </a:xfrm>
                <a:prstGeom prst="rect">
                  <a:avLst/>
                </a:prstGeom>
                <a:blipFill rotWithShape="1">
                  <a:blip r:embed="rId33"/>
                  <a:stretch>
                    <a:fillRect l="-4308" t="-6250" b="-26250"/>
                  </a:stretch>
                </a:blipFill>
                <a:ln w="25400"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2203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3" grpId="0" animBg="1"/>
      <p:bldP spid="10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z="4000" dirty="0" smtClean="0"/>
              <a:t>Simplifying a 4-Variable Function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4" y="951900"/>
                <a:ext cx="5423921" cy="302436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Given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𝑤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(0, 2, 4, 5, 6, 7, 8, 12)</m:t>
                        </m:r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Draw the K-map for function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</m:oMath>
                </a14:m>
                <a:endParaRPr lang="en-US" sz="2400" dirty="0"/>
              </a:p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Minimize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 smtClean="0"/>
                  <a:t> as sum-of-products</a:t>
                </a:r>
              </a:p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Solution:</a:t>
                </a:r>
              </a:p>
              <a:p>
                <a:pPr marL="0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𝑤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𝑤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4" y="951900"/>
                <a:ext cx="5423921" cy="3024367"/>
              </a:xfrm>
              <a:blipFill rotWithShape="1">
                <a:blip r:embed="rId2"/>
                <a:stretch>
                  <a:fillRect l="-1348" t="-18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282988" y="2104039"/>
            <a:ext cx="4436716" cy="4349587"/>
            <a:chOff x="2418291" y="2046432"/>
            <a:chExt cx="4806442" cy="4349587"/>
          </a:xfrm>
        </p:grpSpPr>
        <p:sp>
          <p:nvSpPr>
            <p:cNvPr id="5" name="Rectangle 4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586568" y="2391608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433973" y="2391608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5282608" y="2391608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6131243" y="2391608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>
              <a:off x="5052616" y="2391608"/>
              <a:ext cx="0" cy="35073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03980" y="2816117"/>
              <a:ext cx="1683742" cy="3435625"/>
              <a:chOff x="4203980" y="2816118"/>
              <a:chExt cx="1683742" cy="1880236"/>
            </a:xfrm>
          </p:grpSpPr>
          <p:sp>
            <p:nvSpPr>
              <p:cNvPr id="49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87796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50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8802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2936755" y="2981836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6" y="2481882"/>
                  <a:ext cx="481353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0" i="1" dirty="0" smtClean="0">
                            <a:latin typeface="Cambria Math"/>
                          </a:rPr>
                          <m:t>𝑤</m:t>
                        </m:r>
                        <m:r>
                          <a:rPr lang="en-US" alt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0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6" y="2453337"/>
                  <a:ext cx="481353" cy="45720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5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5" y="2046432"/>
                  <a:ext cx="492940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en-US" altLang="en-US" sz="20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5" y="2046432"/>
                  <a:ext cx="492940" cy="45720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2346" b="-13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90470" y="2078633"/>
                  <a:ext cx="255488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90470" y="2050088"/>
                  <a:ext cx="255488" cy="45720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5238" r="-14286" b="-14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083447" y="2074977"/>
                  <a:ext cx="255488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3447" y="2046432"/>
                  <a:ext cx="255488" cy="45720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76190" r="-45238" b="-22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36958" y="5995909"/>
                  <a:ext cx="255488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36958" y="5967364"/>
                  <a:ext cx="255488" cy="45720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61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98825" y="5992253"/>
                  <a:ext cx="255488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8825" y="5963708"/>
                  <a:ext cx="255488" cy="45720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59524" r="-26190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9273" y="5988597"/>
                  <a:ext cx="255488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𝒛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9273" y="5960052"/>
                  <a:ext cx="255488" cy="45720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63415" r="-26829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3342331"/>
                  <a:ext cx="403250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3313786"/>
                  <a:ext cx="403250" cy="45720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28788" r="-9091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418291" y="4897720"/>
                  <a:ext cx="345642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18291" y="4869175"/>
                  <a:ext cx="345642" cy="45720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1754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691986" y="2981836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4536214" y="2981836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5384769" y="2981836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6226695" y="2981836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3687663" y="3774733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4531890" y="3774733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5380446" y="3774733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6222371" y="3774733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41"/>
            <p:cNvSpPr>
              <a:spLocks noChangeShapeType="1"/>
            </p:cNvSpPr>
            <p:nvPr/>
          </p:nvSpPr>
          <p:spPr bwMode="auto">
            <a:xfrm flipV="1">
              <a:off x="2849386" y="4350712"/>
              <a:ext cx="388943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351656" y="3576604"/>
              <a:ext cx="3790410" cy="1548216"/>
              <a:chOff x="3351656" y="3979853"/>
              <a:chExt cx="3389620" cy="1548216"/>
            </a:xfrm>
          </p:grpSpPr>
          <p:sp>
            <p:nvSpPr>
              <p:cNvPr id="47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381012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48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3896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2" y="2939082"/>
                  <a:ext cx="37070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2910537"/>
                  <a:ext cx="370702" cy="457200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9508" r="-3279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2" y="4152485"/>
                  <a:ext cx="37070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4123940"/>
                  <a:ext cx="370702" cy="457200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655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854032" y="5300969"/>
                  <a:ext cx="370701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altLang="en-US" sz="2000" b="1" dirty="0">
                    <a:solidFill>
                      <a:srgbClr val="FF000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54031" y="5272424"/>
                  <a:ext cx="370702" cy="457200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29508" r="-3279" b="-1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2936755" y="3750952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2936755" y="4557450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2936755" y="5330031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3689970" y="4513444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4534197" y="4513444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5382753" y="4513444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6224678" y="4513444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21"/>
            <p:cNvSpPr>
              <a:spLocks noChangeArrowheads="1"/>
            </p:cNvSpPr>
            <p:nvPr/>
          </p:nvSpPr>
          <p:spPr bwMode="auto">
            <a:xfrm>
              <a:off x="3685646" y="5306341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4529873" y="5306341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21"/>
            <p:cNvSpPr>
              <a:spLocks noChangeArrowheads="1"/>
            </p:cNvSpPr>
            <p:nvPr/>
          </p:nvSpPr>
          <p:spPr bwMode="auto">
            <a:xfrm>
              <a:off x="5378429" y="5306341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6220354" y="5306341"/>
              <a:ext cx="1406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5215137" y="2935479"/>
            <a:ext cx="633079" cy="2970622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2" name="Rounded Rectangle 51"/>
          <p:cNvSpPr/>
          <p:nvPr/>
        </p:nvSpPr>
        <p:spPr>
          <a:xfrm>
            <a:off x="5285610" y="3717034"/>
            <a:ext cx="2902337" cy="633677"/>
          </a:xfrm>
          <a:prstGeom prst="roundRect">
            <a:avLst>
              <a:gd name="adj" fmla="val 804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65" name="Group 64"/>
          <p:cNvGrpSpPr/>
          <p:nvPr/>
        </p:nvGrpSpPr>
        <p:grpSpPr>
          <a:xfrm>
            <a:off x="5038032" y="3036273"/>
            <a:ext cx="3362618" cy="1202394"/>
            <a:chOff x="5400261" y="2978666"/>
            <a:chExt cx="3642836" cy="1202394"/>
          </a:xfrm>
        </p:grpSpPr>
        <p:sp>
          <p:nvSpPr>
            <p:cNvPr id="53" name="Freeform 52"/>
            <p:cNvSpPr/>
            <p:nvPr/>
          </p:nvSpPr>
          <p:spPr>
            <a:xfrm>
              <a:off x="5400261" y="2981835"/>
              <a:ext cx="768626" cy="1199225"/>
            </a:xfrm>
            <a:custGeom>
              <a:avLst/>
              <a:gdLst>
                <a:gd name="connsiteX0" fmla="*/ 0 w 768626"/>
                <a:gd name="connsiteY0" fmla="*/ 0 h 1245704"/>
                <a:gd name="connsiteX1" fmla="*/ 768626 w 768626"/>
                <a:gd name="connsiteY1" fmla="*/ 0 h 1245704"/>
                <a:gd name="connsiteX2" fmla="*/ 768626 w 768626"/>
                <a:gd name="connsiteY2" fmla="*/ 1245704 h 1245704"/>
                <a:gd name="connsiteX3" fmla="*/ 26504 w 768626"/>
                <a:gd name="connsiteY3" fmla="*/ 1245704 h 124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626" h="1245704">
                  <a:moveTo>
                    <a:pt x="0" y="0"/>
                  </a:moveTo>
                  <a:lnTo>
                    <a:pt x="768626" y="0"/>
                  </a:lnTo>
                  <a:lnTo>
                    <a:pt x="768626" y="1245704"/>
                  </a:lnTo>
                  <a:lnTo>
                    <a:pt x="26504" y="1245704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54" name="Freeform 53"/>
            <p:cNvSpPr/>
            <p:nvPr/>
          </p:nvSpPr>
          <p:spPr>
            <a:xfrm flipH="1">
              <a:off x="8274471" y="2978666"/>
              <a:ext cx="768626" cy="1199225"/>
            </a:xfrm>
            <a:custGeom>
              <a:avLst/>
              <a:gdLst>
                <a:gd name="connsiteX0" fmla="*/ 0 w 768626"/>
                <a:gd name="connsiteY0" fmla="*/ 0 h 1245704"/>
                <a:gd name="connsiteX1" fmla="*/ 768626 w 768626"/>
                <a:gd name="connsiteY1" fmla="*/ 0 h 1245704"/>
                <a:gd name="connsiteX2" fmla="*/ 768626 w 768626"/>
                <a:gd name="connsiteY2" fmla="*/ 1245704 h 1245704"/>
                <a:gd name="connsiteX3" fmla="*/ 26504 w 768626"/>
                <a:gd name="connsiteY3" fmla="*/ 1245704 h 124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626" h="1245704">
                  <a:moveTo>
                    <a:pt x="0" y="0"/>
                  </a:moveTo>
                  <a:lnTo>
                    <a:pt x="768626" y="0"/>
                  </a:lnTo>
                  <a:lnTo>
                    <a:pt x="768626" y="1245704"/>
                  </a:lnTo>
                  <a:lnTo>
                    <a:pt x="26504" y="1245704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446257" y="5272426"/>
            <a:ext cx="2768881" cy="456907"/>
            <a:chOff x="979508" y="3499322"/>
            <a:chExt cx="2999621" cy="456907"/>
          </a:xfrm>
        </p:grpSpPr>
        <p:cxnSp>
          <p:nvCxnSpPr>
            <p:cNvPr id="56" name="Straight Connector 55"/>
            <p:cNvCxnSpPr>
              <a:stCxn id="57" idx="3"/>
            </p:cNvCxnSpPr>
            <p:nvPr/>
          </p:nvCxnSpPr>
          <p:spPr>
            <a:xfrm flipV="1">
              <a:off x="2472000" y="3499322"/>
              <a:ext cx="1507129" cy="256852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979508" y="3556119"/>
                  <a:ext cx="1492492" cy="400110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Term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08" y="3556119"/>
                  <a:ext cx="1726819" cy="46166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4878" t="-6250" b="-26250"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2444972" y="4033873"/>
            <a:ext cx="2840638" cy="716141"/>
            <a:chOff x="979508" y="3125683"/>
            <a:chExt cx="3077358" cy="716141"/>
          </a:xfrm>
        </p:grpSpPr>
        <p:cxnSp>
          <p:nvCxnSpPr>
            <p:cNvPr id="62" name="Straight Connector 61"/>
            <p:cNvCxnSpPr>
              <a:stCxn id="63" idx="3"/>
              <a:endCxn id="52" idx="1"/>
            </p:cNvCxnSpPr>
            <p:nvPr/>
          </p:nvCxnSpPr>
          <p:spPr>
            <a:xfrm flipV="1">
              <a:off x="2475127" y="3125683"/>
              <a:ext cx="1581739" cy="516086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979508" y="3441714"/>
                  <a:ext cx="1495619" cy="400110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Term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𝑥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08" y="3441714"/>
                  <a:ext cx="1730282" cy="461665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4878" t="-6329" b="-27848"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/>
          <p:cNvGrpSpPr/>
          <p:nvPr/>
        </p:nvGrpSpPr>
        <p:grpSpPr>
          <a:xfrm>
            <a:off x="7057119" y="1527970"/>
            <a:ext cx="1425711" cy="1511473"/>
            <a:chOff x="1357871" y="2808037"/>
            <a:chExt cx="1544520" cy="1511473"/>
          </a:xfrm>
        </p:grpSpPr>
        <p:cxnSp>
          <p:nvCxnSpPr>
            <p:cNvPr id="67" name="Straight Connector 66"/>
            <p:cNvCxnSpPr/>
            <p:nvPr/>
          </p:nvCxnSpPr>
          <p:spPr>
            <a:xfrm flipH="1">
              <a:off x="2466965" y="3269702"/>
              <a:ext cx="206124" cy="1049808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1357871" y="2808037"/>
                  <a:ext cx="1544520" cy="400110"/>
                </a:xfrm>
                <a:prstGeom prst="rect">
                  <a:avLst/>
                </a:prstGeom>
                <a:noFill/>
                <a:ln w="25400">
                  <a:solidFill>
                    <a:srgbClr val="000099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Term =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871" y="2808037"/>
                  <a:ext cx="1801134" cy="461665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4333" t="-6329" b="-27848"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067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The </a:t>
            </a:r>
            <a:r>
              <a:rPr lang="en-US" altLang="en-US" kern="0" dirty="0" err="1" smtClean="0"/>
              <a:t>Karnaugh</a:t>
            </a:r>
            <a:r>
              <a:rPr lang="en-US" altLang="en-US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>
                <a:solidFill>
                  <a:srgbClr val="FF0000"/>
                </a:solidFill>
              </a:rPr>
              <a:t>Prime and Essential Prime </a:t>
            </a:r>
            <a:r>
              <a:rPr lang="en-US" altLang="en-US" kern="0" dirty="0" smtClean="0">
                <a:solidFill>
                  <a:srgbClr val="FF0000"/>
                </a:solidFill>
              </a:rPr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73865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Prime Implicants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899"/>
            <a:ext cx="8561287" cy="5530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Prime </a:t>
            </a:r>
            <a:r>
              <a:rPr lang="en-US" sz="2400" b="1" dirty="0" err="1" smtClean="0">
                <a:solidFill>
                  <a:srgbClr val="FF0000"/>
                </a:solidFill>
              </a:rPr>
              <a:t>Implicant</a:t>
            </a:r>
            <a:r>
              <a:rPr lang="en-US" sz="2400" b="1" dirty="0" smtClean="0">
                <a:solidFill>
                  <a:srgbClr val="FF0000"/>
                </a:solidFill>
              </a:rPr>
              <a:t>:</a:t>
            </a:r>
            <a:r>
              <a:rPr lang="en-US" sz="2400" dirty="0" smtClean="0"/>
              <a:t> a product term obtained by combining the </a:t>
            </a:r>
            <a:r>
              <a:rPr lang="en-US" sz="2400" b="1" dirty="0" smtClean="0">
                <a:solidFill>
                  <a:srgbClr val="FF0000"/>
                </a:solidFill>
              </a:rPr>
              <a:t>maximum number of adjacent squares </a:t>
            </a:r>
            <a:r>
              <a:rPr lang="en-US" sz="2400" dirty="0" smtClean="0"/>
              <a:t>in the K-map</a:t>
            </a:r>
          </a:p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en-US" sz="2400" dirty="0" smtClean="0"/>
              <a:t>The number of combined squares must be a </a:t>
            </a:r>
            <a:r>
              <a:rPr lang="en-US" sz="2400" b="1" dirty="0" smtClean="0">
                <a:solidFill>
                  <a:srgbClr val="FF0000"/>
                </a:solidFill>
              </a:rPr>
              <a:t>power of 2</a:t>
            </a:r>
            <a:endParaRPr lang="en-US" sz="2400" dirty="0" smtClean="0"/>
          </a:p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Essential Prime </a:t>
            </a:r>
            <a:r>
              <a:rPr lang="en-US" sz="2400" b="1" dirty="0" err="1" smtClean="0">
                <a:solidFill>
                  <a:srgbClr val="FF0000"/>
                </a:solidFill>
              </a:rPr>
              <a:t>Implicant</a:t>
            </a:r>
            <a:r>
              <a:rPr lang="en-US" sz="2400" b="1" dirty="0" smtClean="0">
                <a:solidFill>
                  <a:srgbClr val="FF0000"/>
                </a:solidFill>
              </a:rPr>
              <a:t>:</a:t>
            </a:r>
            <a:r>
              <a:rPr lang="en-US" sz="2400" dirty="0" smtClean="0"/>
              <a:t> is a prime </a:t>
            </a:r>
            <a:r>
              <a:rPr lang="en-US" sz="2400" dirty="0" err="1" smtClean="0"/>
              <a:t>implicant</a:t>
            </a:r>
            <a:r>
              <a:rPr lang="en-US" sz="2400" dirty="0" smtClean="0"/>
              <a:t> that covers at least one </a:t>
            </a:r>
            <a:r>
              <a:rPr lang="en-US" sz="2400" dirty="0" err="1" smtClean="0"/>
              <a:t>minterm</a:t>
            </a:r>
            <a:r>
              <a:rPr lang="en-US" sz="2400" dirty="0" smtClean="0"/>
              <a:t> not covered by the other prime </a:t>
            </a:r>
            <a:r>
              <a:rPr lang="en-US" sz="2400" dirty="0" err="1" smtClean="0"/>
              <a:t>implicants</a:t>
            </a:r>
            <a:endParaRPr lang="en-US" sz="2400" dirty="0" smtClean="0"/>
          </a:p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en-US" sz="2400" dirty="0" smtClean="0"/>
              <a:t>The prime </a:t>
            </a:r>
            <a:r>
              <a:rPr lang="en-US" sz="2400" dirty="0" err="1" smtClean="0"/>
              <a:t>implicants</a:t>
            </a:r>
            <a:r>
              <a:rPr lang="en-US" sz="2400" dirty="0" smtClean="0"/>
              <a:t> and essential prime </a:t>
            </a:r>
            <a:r>
              <a:rPr lang="en-US" sz="2400" dirty="0" err="1" smtClean="0"/>
              <a:t>implicants</a:t>
            </a:r>
            <a:r>
              <a:rPr lang="en-US" sz="2400" dirty="0" smtClean="0"/>
              <a:t> can be determined by inspecting the K-map</a:t>
            </a:r>
          </a:p>
        </p:txBody>
      </p:sp>
    </p:spTree>
    <p:extLst>
      <p:ext uri="{BB962C8B-B14F-4D97-AF65-F5344CB8AC3E}">
        <p14:creationId xmlns:p14="http://schemas.microsoft.com/office/powerpoint/2010/main" val="301803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 of Prime Implicants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96" y="951901"/>
                <a:ext cx="8401759" cy="115213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Find all the prime </a:t>
                </a:r>
                <a:r>
                  <a:rPr lang="en-US" sz="2400" dirty="0" err="1" smtClean="0"/>
                  <a:t>implicants</a:t>
                </a:r>
                <a:r>
                  <a:rPr lang="en-US" sz="2400" dirty="0" smtClean="0"/>
                  <a:t> and essential prime </a:t>
                </a:r>
                <a:r>
                  <a:rPr lang="en-US" sz="2400" dirty="0" err="1" smtClean="0"/>
                  <a:t>implicants</a:t>
                </a:r>
                <a:r>
                  <a:rPr lang="en-US" sz="2400" dirty="0" smtClean="0"/>
                  <a:t> for:</a:t>
                </a:r>
              </a:p>
              <a:p>
                <a:pPr marL="0" indent="0">
                  <a:spcBef>
                    <a:spcPts val="20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𝑏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(0, 2, 3, 5, 7, 8, 9, 10, 11, 13, 15)</m:t>
                        </m:r>
                      </m:e>
                    </m:nary>
                  </m:oMath>
                </a14:m>
                <a:r>
                  <a:rPr lang="en-US" sz="2400" dirty="0" smtClean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296" y="951901"/>
                <a:ext cx="8401759" cy="1152139"/>
              </a:xfrm>
              <a:blipFill rotWithShape="1">
                <a:blip r:embed="rId2"/>
                <a:stretch>
                  <a:fillRect l="-1161" t="-4233" b="-72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ounded Rectangle 129"/>
          <p:cNvSpPr/>
          <p:nvPr/>
        </p:nvSpPr>
        <p:spPr>
          <a:xfrm>
            <a:off x="2427091" y="3827393"/>
            <a:ext cx="838578" cy="918923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ounded Rectangle 130"/>
          <p:cNvSpPr/>
          <p:nvPr/>
        </p:nvSpPr>
        <p:spPr>
          <a:xfrm>
            <a:off x="1929829" y="4948492"/>
            <a:ext cx="1879830" cy="379302"/>
          </a:xfrm>
          <a:prstGeom prst="roundRect">
            <a:avLst>
              <a:gd name="adj" fmla="val 8040"/>
            </a:avLst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ounded Rectangle 131"/>
          <p:cNvSpPr/>
          <p:nvPr/>
        </p:nvSpPr>
        <p:spPr>
          <a:xfrm>
            <a:off x="2921439" y="3217815"/>
            <a:ext cx="397406" cy="2109979"/>
          </a:xfrm>
          <a:prstGeom prst="roundRect">
            <a:avLst>
              <a:gd name="adj" fmla="val 8040"/>
            </a:avLst>
          </a:prstGeom>
          <a:noFill/>
          <a:ln>
            <a:solidFill>
              <a:srgbClr val="9966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ounded Rectangle 132"/>
          <p:cNvSpPr/>
          <p:nvPr/>
        </p:nvSpPr>
        <p:spPr>
          <a:xfrm>
            <a:off x="2490970" y="4380329"/>
            <a:ext cx="720732" cy="901083"/>
          </a:xfrm>
          <a:prstGeom prst="roundRect">
            <a:avLst>
              <a:gd name="adj" fmla="val 804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735807" y="3102601"/>
            <a:ext cx="2233379" cy="2342408"/>
            <a:chOff x="1880457" y="2872173"/>
            <a:chExt cx="2419494" cy="2342408"/>
          </a:xfrm>
        </p:grpSpPr>
        <p:sp>
          <p:nvSpPr>
            <p:cNvPr id="134" name="Freeform 133"/>
            <p:cNvSpPr/>
            <p:nvPr/>
          </p:nvSpPr>
          <p:spPr>
            <a:xfrm>
              <a:off x="1880457" y="2872173"/>
              <a:ext cx="596348" cy="556591"/>
            </a:xfrm>
            <a:custGeom>
              <a:avLst/>
              <a:gdLst>
                <a:gd name="connsiteX0" fmla="*/ 0 w 596348"/>
                <a:gd name="connsiteY0" fmla="*/ 556591 h 556591"/>
                <a:gd name="connsiteX1" fmla="*/ 596348 w 596348"/>
                <a:gd name="connsiteY1" fmla="*/ 556591 h 556591"/>
                <a:gd name="connsiteX2" fmla="*/ 596348 w 596348"/>
                <a:gd name="connsiteY2" fmla="*/ 0 h 55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348" h="556591">
                  <a:moveTo>
                    <a:pt x="0" y="556591"/>
                  </a:moveTo>
                  <a:lnTo>
                    <a:pt x="596348" y="556591"/>
                  </a:lnTo>
                  <a:lnTo>
                    <a:pt x="596348" y="0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reeform 134"/>
            <p:cNvSpPr/>
            <p:nvPr/>
          </p:nvSpPr>
          <p:spPr>
            <a:xfrm flipV="1">
              <a:off x="1880457" y="4657990"/>
              <a:ext cx="596348" cy="556591"/>
            </a:xfrm>
            <a:custGeom>
              <a:avLst/>
              <a:gdLst>
                <a:gd name="connsiteX0" fmla="*/ 0 w 596348"/>
                <a:gd name="connsiteY0" fmla="*/ 556591 h 556591"/>
                <a:gd name="connsiteX1" fmla="*/ 596348 w 596348"/>
                <a:gd name="connsiteY1" fmla="*/ 556591 h 556591"/>
                <a:gd name="connsiteX2" fmla="*/ 596348 w 596348"/>
                <a:gd name="connsiteY2" fmla="*/ 0 h 55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348" h="556591">
                  <a:moveTo>
                    <a:pt x="0" y="556591"/>
                  </a:moveTo>
                  <a:lnTo>
                    <a:pt x="596348" y="556591"/>
                  </a:lnTo>
                  <a:lnTo>
                    <a:pt x="596348" y="0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 135"/>
            <p:cNvSpPr/>
            <p:nvPr/>
          </p:nvSpPr>
          <p:spPr>
            <a:xfrm flipH="1">
              <a:off x="3703603" y="2872173"/>
              <a:ext cx="596348" cy="556591"/>
            </a:xfrm>
            <a:custGeom>
              <a:avLst/>
              <a:gdLst>
                <a:gd name="connsiteX0" fmla="*/ 0 w 596348"/>
                <a:gd name="connsiteY0" fmla="*/ 556591 h 556591"/>
                <a:gd name="connsiteX1" fmla="*/ 596348 w 596348"/>
                <a:gd name="connsiteY1" fmla="*/ 556591 h 556591"/>
                <a:gd name="connsiteX2" fmla="*/ 596348 w 596348"/>
                <a:gd name="connsiteY2" fmla="*/ 0 h 55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348" h="556591">
                  <a:moveTo>
                    <a:pt x="0" y="556591"/>
                  </a:moveTo>
                  <a:lnTo>
                    <a:pt x="596348" y="556591"/>
                  </a:lnTo>
                  <a:lnTo>
                    <a:pt x="596348" y="0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reeform 136"/>
            <p:cNvSpPr/>
            <p:nvPr/>
          </p:nvSpPr>
          <p:spPr>
            <a:xfrm flipH="1" flipV="1">
              <a:off x="3703603" y="4657990"/>
              <a:ext cx="596348" cy="556591"/>
            </a:xfrm>
            <a:custGeom>
              <a:avLst/>
              <a:gdLst>
                <a:gd name="connsiteX0" fmla="*/ 0 w 596348"/>
                <a:gd name="connsiteY0" fmla="*/ 556591 h 556591"/>
                <a:gd name="connsiteX1" fmla="*/ 596348 w 596348"/>
                <a:gd name="connsiteY1" fmla="*/ 556591 h 556591"/>
                <a:gd name="connsiteX2" fmla="*/ 596348 w 596348"/>
                <a:gd name="connsiteY2" fmla="*/ 0 h 556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348" h="556591">
                  <a:moveTo>
                    <a:pt x="0" y="556591"/>
                  </a:moveTo>
                  <a:lnTo>
                    <a:pt x="596348" y="556591"/>
                  </a:lnTo>
                  <a:lnTo>
                    <a:pt x="596348" y="0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982023" y="3102602"/>
            <a:ext cx="749995" cy="2359773"/>
            <a:chOff x="3230524" y="2872173"/>
            <a:chExt cx="812495" cy="2359773"/>
          </a:xfrm>
        </p:grpSpPr>
        <p:sp>
          <p:nvSpPr>
            <p:cNvPr id="138" name="Freeform 137"/>
            <p:cNvSpPr/>
            <p:nvPr/>
          </p:nvSpPr>
          <p:spPr>
            <a:xfrm>
              <a:off x="3230524" y="4774746"/>
              <a:ext cx="808382" cy="457200"/>
            </a:xfrm>
            <a:custGeom>
              <a:avLst/>
              <a:gdLst>
                <a:gd name="connsiteX0" fmla="*/ 0 w 808382"/>
                <a:gd name="connsiteY0" fmla="*/ 457200 h 457200"/>
                <a:gd name="connsiteX1" fmla="*/ 0 w 808382"/>
                <a:gd name="connsiteY1" fmla="*/ 0 h 457200"/>
                <a:gd name="connsiteX2" fmla="*/ 808382 w 808382"/>
                <a:gd name="connsiteY2" fmla="*/ 0 h 457200"/>
                <a:gd name="connsiteX3" fmla="*/ 808382 w 808382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382" h="457200">
                  <a:moveTo>
                    <a:pt x="0" y="457200"/>
                  </a:moveTo>
                  <a:lnTo>
                    <a:pt x="0" y="0"/>
                  </a:lnTo>
                  <a:lnTo>
                    <a:pt x="808382" y="0"/>
                  </a:lnTo>
                  <a:lnTo>
                    <a:pt x="808382" y="457200"/>
                  </a:lnTo>
                </a:path>
              </a:pathLst>
            </a:cu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 138"/>
            <p:cNvSpPr/>
            <p:nvPr/>
          </p:nvSpPr>
          <p:spPr>
            <a:xfrm flipV="1">
              <a:off x="3234637" y="2872173"/>
              <a:ext cx="808382" cy="518463"/>
            </a:xfrm>
            <a:custGeom>
              <a:avLst/>
              <a:gdLst>
                <a:gd name="connsiteX0" fmla="*/ 0 w 808382"/>
                <a:gd name="connsiteY0" fmla="*/ 457200 h 457200"/>
                <a:gd name="connsiteX1" fmla="*/ 0 w 808382"/>
                <a:gd name="connsiteY1" fmla="*/ 0 h 457200"/>
                <a:gd name="connsiteX2" fmla="*/ 808382 w 808382"/>
                <a:gd name="connsiteY2" fmla="*/ 0 h 457200"/>
                <a:gd name="connsiteX3" fmla="*/ 808382 w 808382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382" h="457200">
                  <a:moveTo>
                    <a:pt x="0" y="457200"/>
                  </a:moveTo>
                  <a:lnTo>
                    <a:pt x="0" y="0"/>
                  </a:lnTo>
                  <a:lnTo>
                    <a:pt x="808382" y="0"/>
                  </a:lnTo>
                  <a:lnTo>
                    <a:pt x="808382" y="457200"/>
                  </a:lnTo>
                </a:path>
              </a:pathLst>
            </a:cu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831820" y="3947039"/>
            <a:ext cx="1595271" cy="461665"/>
            <a:chOff x="-1038128" y="1866657"/>
            <a:chExt cx="1728210" cy="461665"/>
          </a:xfrm>
        </p:grpSpPr>
        <p:cxnSp>
          <p:nvCxnSpPr>
            <p:cNvPr id="141" name="Straight Connector 140"/>
            <p:cNvCxnSpPr>
              <a:stCxn id="142" idx="3"/>
            </p:cNvCxnSpPr>
            <p:nvPr/>
          </p:nvCxnSpPr>
          <p:spPr>
            <a:xfrm flipV="1">
              <a:off x="-479239" y="2019826"/>
              <a:ext cx="1169321" cy="7766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/>
                <p:cNvSpPr txBox="1"/>
                <p:nvPr/>
              </p:nvSpPr>
              <p:spPr>
                <a:xfrm>
                  <a:off x="-1038128" y="1866657"/>
                  <a:ext cx="558889" cy="461665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𝑏𝑑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2" name="TextBox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38128" y="1866657"/>
                  <a:ext cx="558889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Group 146"/>
          <p:cNvGrpSpPr/>
          <p:nvPr/>
        </p:nvGrpSpPr>
        <p:grpSpPr>
          <a:xfrm>
            <a:off x="636999" y="3274613"/>
            <a:ext cx="1098808" cy="461665"/>
            <a:chOff x="-1016565" y="1984343"/>
            <a:chExt cx="1190375" cy="461665"/>
          </a:xfrm>
        </p:grpSpPr>
        <p:cxnSp>
          <p:nvCxnSpPr>
            <p:cNvPr id="148" name="Straight Connector 147"/>
            <p:cNvCxnSpPr>
              <a:stCxn id="149" idx="3"/>
              <a:endCxn id="134" idx="0"/>
            </p:cNvCxnSpPr>
            <p:nvPr/>
          </p:nvCxnSpPr>
          <p:spPr>
            <a:xfrm>
              <a:off x="-344653" y="2215176"/>
              <a:ext cx="518463" cy="153746"/>
            </a:xfrm>
            <a:prstGeom prst="line">
              <a:avLst/>
            </a:prstGeom>
            <a:ln w="254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/>
                <p:cNvSpPr txBox="1"/>
                <p:nvPr/>
              </p:nvSpPr>
              <p:spPr>
                <a:xfrm>
                  <a:off x="-1016565" y="1984343"/>
                  <a:ext cx="671912" cy="461665"/>
                </a:xfrm>
                <a:prstGeom prst="rect">
                  <a:avLst/>
                </a:prstGeom>
                <a:noFill/>
                <a:ln w="25400">
                  <a:solidFill>
                    <a:srgbClr val="FF00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𝑏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4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9" name="TextBox 1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16565" y="1984343"/>
                  <a:ext cx="671912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4386"/>
                  </a:stretch>
                </a:blipFill>
                <a:ln w="25400"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Group 153"/>
          <p:cNvGrpSpPr/>
          <p:nvPr/>
        </p:nvGrpSpPr>
        <p:grpSpPr>
          <a:xfrm>
            <a:off x="884996" y="5317823"/>
            <a:ext cx="1044834" cy="466960"/>
            <a:chOff x="-1095735" y="1861362"/>
            <a:chExt cx="1131903" cy="466960"/>
          </a:xfrm>
        </p:grpSpPr>
        <p:cxnSp>
          <p:nvCxnSpPr>
            <p:cNvPr id="155" name="Straight Connector 154"/>
            <p:cNvCxnSpPr>
              <a:stCxn id="156" idx="3"/>
            </p:cNvCxnSpPr>
            <p:nvPr/>
          </p:nvCxnSpPr>
          <p:spPr>
            <a:xfrm flipV="1">
              <a:off x="-479239" y="1861362"/>
              <a:ext cx="515407" cy="236128"/>
            </a:xfrm>
            <a:prstGeom prst="line">
              <a:avLst/>
            </a:prstGeom>
            <a:ln w="25400"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noFill/>
                <a:ln w="25400">
                  <a:solidFill>
                    <a:srgbClr val="FF99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𝑎𝑏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r="-1905"/>
                  </a:stretch>
                </a:blipFill>
                <a:ln w="25400">
                  <a:solidFill>
                    <a:srgbClr val="FF99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0" name="Group 159"/>
          <p:cNvGrpSpPr/>
          <p:nvPr/>
        </p:nvGrpSpPr>
        <p:grpSpPr>
          <a:xfrm>
            <a:off x="2354074" y="5281411"/>
            <a:ext cx="569073" cy="970332"/>
            <a:chOff x="-1095735" y="1357990"/>
            <a:chExt cx="616496" cy="970332"/>
          </a:xfrm>
        </p:grpSpPr>
        <p:cxnSp>
          <p:nvCxnSpPr>
            <p:cNvPr id="161" name="Straight Connector 160"/>
            <p:cNvCxnSpPr/>
            <p:nvPr/>
          </p:nvCxnSpPr>
          <p:spPr>
            <a:xfrm flipV="1">
              <a:off x="-825135" y="1357990"/>
              <a:ext cx="122298" cy="508668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𝑎𝑑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Group 164"/>
          <p:cNvGrpSpPr/>
          <p:nvPr/>
        </p:nvGrpSpPr>
        <p:grpSpPr>
          <a:xfrm>
            <a:off x="3318845" y="3869375"/>
            <a:ext cx="1296345" cy="461665"/>
            <a:chOff x="-1883613" y="1866657"/>
            <a:chExt cx="1404374" cy="461665"/>
          </a:xfrm>
        </p:grpSpPr>
        <p:cxnSp>
          <p:nvCxnSpPr>
            <p:cNvPr id="166" name="Straight Connector 165"/>
            <p:cNvCxnSpPr/>
            <p:nvPr/>
          </p:nvCxnSpPr>
          <p:spPr>
            <a:xfrm>
              <a:off x="-1883613" y="2029828"/>
              <a:ext cx="794599" cy="68950"/>
            </a:xfrm>
            <a:prstGeom prst="line">
              <a:avLst/>
            </a:prstGeom>
            <a:ln w="25400">
              <a:solidFill>
                <a:srgbClr val="9966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/>
                <p:cNvSpPr txBox="1"/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noFill/>
                <a:ln w="25400">
                  <a:solidFill>
                    <a:srgbClr val="996633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𝑐𝑑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7" name="TextBox 1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95735" y="1866657"/>
                  <a:ext cx="616496" cy="46166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  <a:ln w="25400">
                  <a:solidFill>
                    <a:srgbClr val="99663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Group 169"/>
          <p:cNvGrpSpPr/>
          <p:nvPr/>
        </p:nvGrpSpPr>
        <p:grpSpPr>
          <a:xfrm>
            <a:off x="3732018" y="3140157"/>
            <a:ext cx="875276" cy="461665"/>
            <a:chOff x="-1179846" y="1086034"/>
            <a:chExt cx="948216" cy="461665"/>
          </a:xfrm>
        </p:grpSpPr>
        <p:cxnSp>
          <p:nvCxnSpPr>
            <p:cNvPr id="171" name="Straight Connector 170"/>
            <p:cNvCxnSpPr>
              <a:stCxn id="172" idx="1"/>
            </p:cNvCxnSpPr>
            <p:nvPr/>
          </p:nvCxnSpPr>
          <p:spPr>
            <a:xfrm flipH="1">
              <a:off x="-1179846" y="1316867"/>
              <a:ext cx="331720" cy="19910"/>
            </a:xfrm>
            <a:prstGeom prst="line">
              <a:avLst/>
            </a:prstGeom>
            <a:ln w="254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/>
                <p:cNvSpPr txBox="1"/>
                <p:nvPr/>
              </p:nvSpPr>
              <p:spPr>
                <a:xfrm>
                  <a:off x="-848126" y="1086034"/>
                  <a:ext cx="616496" cy="461665"/>
                </a:xfrm>
                <a:prstGeom prst="rect">
                  <a:avLst/>
                </a:prstGeom>
                <a:noFill/>
                <a:ln w="254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2" name="TextBox 1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8126" y="1086034"/>
                  <a:ext cx="616496" cy="46166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 w="2540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1913216" y="3198573"/>
            <a:ext cx="609398" cy="684656"/>
            <a:chOff x="2072650" y="2968145"/>
            <a:chExt cx="660181" cy="684656"/>
          </a:xfrm>
        </p:grpSpPr>
        <p:sp>
          <p:nvSpPr>
            <p:cNvPr id="5" name="Oval 4"/>
            <p:cNvSpPr/>
            <p:nvPr/>
          </p:nvSpPr>
          <p:spPr>
            <a:xfrm>
              <a:off x="2072650" y="2968145"/>
              <a:ext cx="115214" cy="115213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2617617" y="3537588"/>
              <a:ext cx="115214" cy="115213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210108" y="2677361"/>
                <a:ext cx="3190542" cy="135518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000" dirty="0" smtClean="0"/>
                  <a:t>Six Prime Implicants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/>
                      </a:rPr>
                      <m:t>𝑎𝑏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𝑎𝑑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996633"/>
                        </a:solidFill>
                        <a:latin typeface="Cambria Math"/>
                      </a:rPr>
                      <m:t>𝑐𝑑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108" y="2677361"/>
                <a:ext cx="3190542" cy="135518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5210108" y="4439810"/>
                <a:ext cx="3190542" cy="175432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 smtClean="0"/>
                  <a:t>Only Two Prime Implicants are essential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284" y="4439810"/>
                <a:ext cx="3456420" cy="1754326"/>
              </a:xfrm>
              <a:prstGeom prst="rect">
                <a:avLst/>
              </a:prstGeom>
              <a:blipFill rotWithShape="1">
                <a:blip r:embed="rId10"/>
                <a:stretch>
                  <a:fillRect l="-1401" r="-1226" b="-274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1338641" y="2276860"/>
            <a:ext cx="2524193" cy="3102102"/>
            <a:chOff x="1450195" y="2276860"/>
            <a:chExt cx="2734542" cy="3102102"/>
          </a:xfrm>
        </p:grpSpPr>
        <p:grpSp>
          <p:nvGrpSpPr>
            <p:cNvPr id="51" name="Group 50"/>
            <p:cNvGrpSpPr/>
            <p:nvPr/>
          </p:nvGrpSpPr>
          <p:grpSpPr>
            <a:xfrm>
              <a:off x="1450195" y="2529876"/>
              <a:ext cx="2734542" cy="2849086"/>
              <a:chOff x="2497971" y="1946161"/>
              <a:chExt cx="4240847" cy="3952767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3586567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4433975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5282608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" name="Group 57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96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2826156" y="2981837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108"/>
              <p:cNvSpPr>
                <a:spLocks noChangeShapeType="1"/>
              </p:cNvSpPr>
              <p:nvPr/>
            </p:nvSpPr>
            <p:spPr bwMode="auto">
              <a:xfrm>
                <a:off x="2624531" y="2271988"/>
                <a:ext cx="730815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7971" y="2361686"/>
                    <a:ext cx="481353" cy="6405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97971" y="2401546"/>
                    <a:ext cx="481353" cy="560783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52941" r="-25490" b="-606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5" y="1946161"/>
                    <a:ext cx="492941" cy="6405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5" y="1946161"/>
                    <a:ext cx="492940" cy="560783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21"/>
              <p:cNvSpPr>
                <a:spLocks noChangeArrowheads="1"/>
              </p:cNvSpPr>
              <p:nvPr/>
            </p:nvSpPr>
            <p:spPr bwMode="auto">
              <a:xfrm>
                <a:off x="3592910" y="2981837"/>
                <a:ext cx="27059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5384770" y="2981837"/>
                <a:ext cx="251851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6176681" y="2981837"/>
                <a:ext cx="29021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1"/>
              <p:cNvSpPr>
                <a:spLocks noChangeArrowheads="1"/>
              </p:cNvSpPr>
              <p:nvPr/>
            </p:nvSpPr>
            <p:spPr bwMode="auto">
              <a:xfrm>
                <a:off x="4445894" y="3774733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21"/>
              <p:cNvSpPr>
                <a:spLocks noChangeArrowheads="1"/>
              </p:cNvSpPr>
              <p:nvPr/>
            </p:nvSpPr>
            <p:spPr bwMode="auto">
              <a:xfrm>
                <a:off x="5380446" y="3774733"/>
                <a:ext cx="371737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9" name="Group 78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9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Rectangle 21"/>
              <p:cNvSpPr>
                <a:spLocks noChangeArrowheads="1"/>
              </p:cNvSpPr>
              <p:nvPr/>
            </p:nvSpPr>
            <p:spPr bwMode="auto">
              <a:xfrm>
                <a:off x="2826156" y="3750952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21"/>
              <p:cNvSpPr>
                <a:spLocks noChangeArrowheads="1"/>
              </p:cNvSpPr>
              <p:nvPr/>
            </p:nvSpPr>
            <p:spPr bwMode="auto">
              <a:xfrm>
                <a:off x="2826155" y="4557450"/>
                <a:ext cx="49053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21"/>
              <p:cNvSpPr>
                <a:spLocks noChangeArrowheads="1"/>
              </p:cNvSpPr>
              <p:nvPr/>
            </p:nvSpPr>
            <p:spPr bwMode="auto">
              <a:xfrm>
                <a:off x="4445894" y="4513444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21"/>
              <p:cNvSpPr>
                <a:spLocks noChangeArrowheads="1"/>
              </p:cNvSpPr>
              <p:nvPr/>
            </p:nvSpPr>
            <p:spPr bwMode="auto">
              <a:xfrm>
                <a:off x="5382753" y="4513444"/>
                <a:ext cx="251851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21"/>
              <p:cNvSpPr>
                <a:spLocks noChangeArrowheads="1"/>
              </p:cNvSpPr>
              <p:nvPr/>
            </p:nvSpPr>
            <p:spPr bwMode="auto">
              <a:xfrm>
                <a:off x="3586569" y="5306342"/>
                <a:ext cx="27059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21"/>
              <p:cNvSpPr>
                <a:spLocks noChangeArrowheads="1"/>
              </p:cNvSpPr>
              <p:nvPr/>
            </p:nvSpPr>
            <p:spPr bwMode="auto">
              <a:xfrm>
                <a:off x="4445894" y="5306342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21"/>
              <p:cNvSpPr>
                <a:spLocks noChangeArrowheads="1"/>
              </p:cNvSpPr>
              <p:nvPr/>
            </p:nvSpPr>
            <p:spPr bwMode="auto">
              <a:xfrm>
                <a:off x="5378429" y="5306342"/>
                <a:ext cx="371737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21"/>
              <p:cNvSpPr>
                <a:spLocks noChangeArrowheads="1"/>
              </p:cNvSpPr>
              <p:nvPr/>
            </p:nvSpPr>
            <p:spPr bwMode="auto">
              <a:xfrm>
                <a:off x="6170339" y="5306342"/>
                <a:ext cx="29021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533506" y="2276860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K-Map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4400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 animBg="1"/>
      <p:bldP spid="133" grpId="0" animBg="1"/>
      <p:bldP spid="6" grpId="0" animBg="1"/>
      <p:bldP spid="14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Simplification Procedure Using the K-Map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899"/>
            <a:ext cx="8561287" cy="5530272"/>
          </a:xfrm>
        </p:spPr>
        <p:txBody>
          <a:bodyPr>
            <a:normAutofit/>
          </a:bodyPr>
          <a:lstStyle/>
          <a:p>
            <a:pPr marL="357188" indent="-357188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en-US" sz="2000" dirty="0" smtClean="0"/>
              <a:t>Find all the essential prime </a:t>
            </a:r>
            <a:r>
              <a:rPr lang="en-US" sz="2000" dirty="0" err="1" smtClean="0"/>
              <a:t>implicants</a:t>
            </a:r>
            <a:endParaRPr lang="en-US" sz="2000" dirty="0" smtClean="0"/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/>
              <a:t>Covering maximum number (power of 2) of </a:t>
            </a:r>
            <a:r>
              <a:rPr lang="en-US" sz="1800" dirty="0" smtClean="0"/>
              <a:t>1's in the K-map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Mark the </a:t>
            </a:r>
            <a:r>
              <a:rPr lang="en-US" sz="1800" dirty="0" err="1" smtClean="0"/>
              <a:t>minterm</a:t>
            </a:r>
            <a:r>
              <a:rPr lang="en-US" sz="1800" dirty="0" smtClean="0"/>
              <a:t>(s) that make the prime </a:t>
            </a:r>
            <a:r>
              <a:rPr lang="en-US" sz="1800" dirty="0" err="1" smtClean="0"/>
              <a:t>implicants</a:t>
            </a:r>
            <a:r>
              <a:rPr lang="en-US" sz="1800" dirty="0" smtClean="0"/>
              <a:t> essential</a:t>
            </a:r>
          </a:p>
          <a:p>
            <a:pPr marL="357188" indent="-357188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en-US" sz="2000" dirty="0" smtClean="0"/>
              <a:t>Add prime </a:t>
            </a:r>
            <a:r>
              <a:rPr lang="en-US" sz="2000" dirty="0" err="1" smtClean="0"/>
              <a:t>implicants</a:t>
            </a:r>
            <a:r>
              <a:rPr lang="en-US" sz="2000" dirty="0" smtClean="0"/>
              <a:t> to cover the function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/>
              <a:t>Choose </a:t>
            </a:r>
            <a:r>
              <a:rPr lang="en-US" sz="1800" dirty="0" smtClean="0"/>
              <a:t>a minimal subset of prime </a:t>
            </a:r>
            <a:r>
              <a:rPr lang="en-US" sz="1800" dirty="0" err="1"/>
              <a:t>implicants</a:t>
            </a:r>
            <a:r>
              <a:rPr lang="en-US" sz="1800" dirty="0"/>
              <a:t> that cover all </a:t>
            </a:r>
            <a:r>
              <a:rPr lang="en-US" sz="1800" dirty="0" smtClean="0"/>
              <a:t>remaining </a:t>
            </a:r>
            <a:r>
              <a:rPr lang="en-US" sz="1800" dirty="0"/>
              <a:t>1's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/>
              <a:t>Make sure to cover all 1's not covered by the essential prime </a:t>
            </a:r>
            <a:r>
              <a:rPr lang="en-US" sz="1800" dirty="0" err="1" smtClean="0"/>
              <a:t>implicants</a:t>
            </a:r>
            <a:endParaRPr lang="en-US" sz="1800" dirty="0" smtClean="0"/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Minimize the overlap among the additional prime </a:t>
            </a:r>
            <a:r>
              <a:rPr lang="en-US" sz="1800" dirty="0" err="1" smtClean="0"/>
              <a:t>implicants</a:t>
            </a:r>
            <a:endParaRPr lang="en-US" sz="1800" dirty="0" smtClean="0"/>
          </a:p>
          <a:p>
            <a:pPr marL="357188" indent="-357188">
              <a:lnSpc>
                <a:spcPct val="110000"/>
              </a:lnSpc>
              <a:spcBef>
                <a:spcPts val="2000"/>
              </a:spcBef>
            </a:pPr>
            <a:r>
              <a:rPr lang="en-US" sz="2000" dirty="0" smtClean="0"/>
              <a:t>Sometimes, a function has multiple simplified expressions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You may be asked to list all the simplified sum-of-product expressions</a:t>
            </a:r>
          </a:p>
        </p:txBody>
      </p:sp>
    </p:spTree>
    <p:extLst>
      <p:ext uri="{BB962C8B-B14F-4D97-AF65-F5344CB8AC3E}">
        <p14:creationId xmlns:p14="http://schemas.microsoft.com/office/powerpoint/2010/main" val="315255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Obtaining All Minimal SOP Expressions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96" y="951901"/>
                <a:ext cx="8401759" cy="1152139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dirty="0" smtClean="0"/>
                  <a:t>Consider again: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err="1" smtClean="0">
                        <a:latin typeface="Cambria Math"/>
                      </a:rPr>
                      <m:t>𝑎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𝑏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𝑐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𝑑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/>
                          </a:rPr>
                          <m:t>(0, 2, 3, 5, 7, 8, 9, 10, 11, 13, 15)</m:t>
                        </m:r>
                      </m:e>
                    </m:nary>
                  </m:oMath>
                </a14:m>
                <a:r>
                  <a:rPr lang="en-US" dirty="0" smtClean="0"/>
                  <a:t> </a:t>
                </a:r>
              </a:p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dirty="0" smtClean="0"/>
                  <a:t>Obtain all minimal sum-of-products (SOP) expressions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654" y="951900"/>
                <a:ext cx="9101906" cy="1152139"/>
              </a:xfrm>
              <a:blipFill rotWithShape="1">
                <a:blip r:embed="rId2"/>
                <a:stretch>
                  <a:fillRect l="-1005" t="-51323" b="-19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884996" y="4948493"/>
            <a:ext cx="2924663" cy="836291"/>
            <a:chOff x="958745" y="4948492"/>
            <a:chExt cx="3168385" cy="836291"/>
          </a:xfrm>
        </p:grpSpPr>
        <p:sp>
          <p:nvSpPr>
            <p:cNvPr id="131" name="Rounded Rectangle 130"/>
            <p:cNvSpPr/>
            <p:nvPr/>
          </p:nvSpPr>
          <p:spPr>
            <a:xfrm>
              <a:off x="2090648" y="4948492"/>
              <a:ext cx="2036482" cy="379302"/>
            </a:xfrm>
            <a:prstGeom prst="roundRect">
              <a:avLst>
                <a:gd name="adj" fmla="val 8040"/>
              </a:avLst>
            </a:prstGeom>
            <a:noFill/>
            <a:ln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958745" y="5317823"/>
              <a:ext cx="1131903" cy="466960"/>
              <a:chOff x="-1095735" y="1861362"/>
              <a:chExt cx="1131903" cy="466960"/>
            </a:xfrm>
          </p:grpSpPr>
          <p:cxnSp>
            <p:nvCxnSpPr>
              <p:cNvPr id="155" name="Straight Connector 154"/>
              <p:cNvCxnSpPr>
                <a:stCxn id="156" idx="3"/>
              </p:cNvCxnSpPr>
              <p:nvPr/>
            </p:nvCxnSpPr>
            <p:spPr>
              <a:xfrm flipV="1">
                <a:off x="-479239" y="1861362"/>
                <a:ext cx="515407" cy="236128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TextBox 155"/>
                  <p:cNvSpPr txBox="1"/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noFill/>
                  <a:ln w="25400">
                    <a:solidFill>
                      <a:srgbClr val="FF99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</a:rPr>
                            <m:t>𝑎𝑏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56" name="TextBox 1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r="-1905"/>
                    </a:stretch>
                  </a:blipFill>
                  <a:ln w="25400">
                    <a:solidFill>
                      <a:srgbClr val="FF99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" name="Group 13"/>
          <p:cNvGrpSpPr/>
          <p:nvPr/>
        </p:nvGrpSpPr>
        <p:grpSpPr>
          <a:xfrm>
            <a:off x="2354074" y="4380329"/>
            <a:ext cx="857627" cy="1871415"/>
            <a:chOff x="2550247" y="4380328"/>
            <a:chExt cx="929096" cy="1871415"/>
          </a:xfrm>
        </p:grpSpPr>
        <p:sp>
          <p:nvSpPr>
            <p:cNvPr id="133" name="Rounded Rectangle 132"/>
            <p:cNvSpPr/>
            <p:nvPr/>
          </p:nvSpPr>
          <p:spPr>
            <a:xfrm>
              <a:off x="2698550" y="4380328"/>
              <a:ext cx="780793" cy="901083"/>
            </a:xfrm>
            <a:prstGeom prst="roundRect">
              <a:avLst>
                <a:gd name="adj" fmla="val 8040"/>
              </a:avLst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0" name="Group 159"/>
            <p:cNvGrpSpPr/>
            <p:nvPr/>
          </p:nvGrpSpPr>
          <p:grpSpPr>
            <a:xfrm>
              <a:off x="2550247" y="5281411"/>
              <a:ext cx="616496" cy="970332"/>
              <a:chOff x="-1095735" y="1357990"/>
              <a:chExt cx="616496" cy="970332"/>
            </a:xfrm>
          </p:grpSpPr>
          <p:cxnSp>
            <p:nvCxnSpPr>
              <p:cNvPr id="161" name="Straight Connector 160"/>
              <p:cNvCxnSpPr/>
              <p:nvPr/>
            </p:nvCxnSpPr>
            <p:spPr>
              <a:xfrm flipV="1">
                <a:off x="-825135" y="1357990"/>
                <a:ext cx="122298" cy="508668"/>
              </a:xfrm>
              <a:prstGeom prst="line">
                <a:avLst/>
              </a:prstGeom>
              <a:ln w="254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TextBox 161"/>
                  <p:cNvSpPr txBox="1"/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noFill/>
                  <a:ln w="25400">
                    <a:solidFill>
                      <a:srgbClr val="008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</a:rPr>
                            <m:t>𝑎𝑑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  <a:ln w="25400">
                    <a:solidFill>
                      <a:srgbClr val="008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Group 15"/>
          <p:cNvGrpSpPr/>
          <p:nvPr/>
        </p:nvGrpSpPr>
        <p:grpSpPr>
          <a:xfrm>
            <a:off x="2921439" y="3217815"/>
            <a:ext cx="1693751" cy="2109979"/>
            <a:chOff x="3164892" y="3217814"/>
            <a:chExt cx="1834897" cy="2109979"/>
          </a:xfrm>
        </p:grpSpPr>
        <p:sp>
          <p:nvSpPr>
            <p:cNvPr id="132" name="Rounded Rectangle 131"/>
            <p:cNvSpPr/>
            <p:nvPr/>
          </p:nvSpPr>
          <p:spPr>
            <a:xfrm>
              <a:off x="3164892" y="3217814"/>
              <a:ext cx="430523" cy="2109979"/>
            </a:xfrm>
            <a:prstGeom prst="roundRect">
              <a:avLst>
                <a:gd name="adj" fmla="val 8040"/>
              </a:avLst>
            </a:prstGeom>
            <a:noFill/>
            <a:ln>
              <a:solidFill>
                <a:srgbClr val="9966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3595415" y="3869374"/>
              <a:ext cx="1404374" cy="461665"/>
              <a:chOff x="-1883613" y="1866657"/>
              <a:chExt cx="1404374" cy="461665"/>
            </a:xfrm>
          </p:grpSpPr>
          <p:cxnSp>
            <p:nvCxnSpPr>
              <p:cNvPr id="166" name="Straight Connector 165"/>
              <p:cNvCxnSpPr/>
              <p:nvPr/>
            </p:nvCxnSpPr>
            <p:spPr>
              <a:xfrm>
                <a:off x="-1883613" y="2029828"/>
                <a:ext cx="794599" cy="68950"/>
              </a:xfrm>
              <a:prstGeom prst="line">
                <a:avLst/>
              </a:prstGeom>
              <a:ln w="25400">
                <a:solidFill>
                  <a:srgbClr val="9966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TextBox 166"/>
                  <p:cNvSpPr txBox="1"/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noFill/>
                  <a:ln w="25400">
                    <a:solidFill>
                      <a:srgbClr val="996633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</a:rPr>
                            <m:t>𝑐𝑑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7" name="TextBox 1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95735" y="1866657"/>
                    <a:ext cx="616496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  <a:ln w="25400">
                    <a:solidFill>
                      <a:srgbClr val="996633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" name="Group 14"/>
          <p:cNvGrpSpPr/>
          <p:nvPr/>
        </p:nvGrpSpPr>
        <p:grpSpPr>
          <a:xfrm>
            <a:off x="2982022" y="3102602"/>
            <a:ext cx="1625272" cy="2359773"/>
            <a:chOff x="3230524" y="3102601"/>
            <a:chExt cx="1760711" cy="2359773"/>
          </a:xfrm>
        </p:grpSpPr>
        <p:grpSp>
          <p:nvGrpSpPr>
            <p:cNvPr id="9" name="Group 8"/>
            <p:cNvGrpSpPr/>
            <p:nvPr/>
          </p:nvGrpSpPr>
          <p:grpSpPr>
            <a:xfrm>
              <a:off x="3230524" y="3102601"/>
              <a:ext cx="812495" cy="2359773"/>
              <a:chOff x="3230524" y="2872173"/>
              <a:chExt cx="812495" cy="2359773"/>
            </a:xfrm>
          </p:grpSpPr>
          <p:sp>
            <p:nvSpPr>
              <p:cNvPr id="138" name="Freeform 137"/>
              <p:cNvSpPr/>
              <p:nvPr/>
            </p:nvSpPr>
            <p:spPr>
              <a:xfrm>
                <a:off x="3230524" y="4774746"/>
                <a:ext cx="808382" cy="457200"/>
              </a:xfrm>
              <a:custGeom>
                <a:avLst/>
                <a:gdLst>
                  <a:gd name="connsiteX0" fmla="*/ 0 w 808382"/>
                  <a:gd name="connsiteY0" fmla="*/ 457200 h 457200"/>
                  <a:gd name="connsiteX1" fmla="*/ 0 w 808382"/>
                  <a:gd name="connsiteY1" fmla="*/ 0 h 457200"/>
                  <a:gd name="connsiteX2" fmla="*/ 808382 w 808382"/>
                  <a:gd name="connsiteY2" fmla="*/ 0 h 457200"/>
                  <a:gd name="connsiteX3" fmla="*/ 808382 w 808382"/>
                  <a:gd name="connsiteY3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8382" h="457200">
                    <a:moveTo>
                      <a:pt x="0" y="457200"/>
                    </a:moveTo>
                    <a:lnTo>
                      <a:pt x="0" y="0"/>
                    </a:lnTo>
                    <a:lnTo>
                      <a:pt x="808382" y="0"/>
                    </a:lnTo>
                    <a:lnTo>
                      <a:pt x="808382" y="457200"/>
                    </a:lnTo>
                  </a:path>
                </a:pathLst>
              </a:cu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Freeform 138"/>
              <p:cNvSpPr/>
              <p:nvPr/>
            </p:nvSpPr>
            <p:spPr>
              <a:xfrm flipV="1">
                <a:off x="3234637" y="2872173"/>
                <a:ext cx="808382" cy="518463"/>
              </a:xfrm>
              <a:custGeom>
                <a:avLst/>
                <a:gdLst>
                  <a:gd name="connsiteX0" fmla="*/ 0 w 808382"/>
                  <a:gd name="connsiteY0" fmla="*/ 457200 h 457200"/>
                  <a:gd name="connsiteX1" fmla="*/ 0 w 808382"/>
                  <a:gd name="connsiteY1" fmla="*/ 0 h 457200"/>
                  <a:gd name="connsiteX2" fmla="*/ 808382 w 808382"/>
                  <a:gd name="connsiteY2" fmla="*/ 0 h 457200"/>
                  <a:gd name="connsiteX3" fmla="*/ 808382 w 808382"/>
                  <a:gd name="connsiteY3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8382" h="457200">
                    <a:moveTo>
                      <a:pt x="0" y="457200"/>
                    </a:moveTo>
                    <a:lnTo>
                      <a:pt x="0" y="0"/>
                    </a:lnTo>
                    <a:lnTo>
                      <a:pt x="808382" y="0"/>
                    </a:lnTo>
                    <a:lnTo>
                      <a:pt x="808382" y="457200"/>
                    </a:lnTo>
                  </a:path>
                </a:pathLst>
              </a:cu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/>
            <p:cNvGrpSpPr/>
            <p:nvPr/>
          </p:nvGrpSpPr>
          <p:grpSpPr>
            <a:xfrm>
              <a:off x="4043019" y="3140156"/>
              <a:ext cx="948216" cy="461665"/>
              <a:chOff x="-1179846" y="1086034"/>
              <a:chExt cx="948216" cy="461665"/>
            </a:xfrm>
          </p:grpSpPr>
          <p:cxnSp>
            <p:nvCxnSpPr>
              <p:cNvPr id="171" name="Straight Connector 170"/>
              <p:cNvCxnSpPr>
                <a:stCxn id="172" idx="1"/>
              </p:cNvCxnSpPr>
              <p:nvPr/>
            </p:nvCxnSpPr>
            <p:spPr>
              <a:xfrm flipH="1">
                <a:off x="-1179846" y="1316867"/>
                <a:ext cx="331720" cy="19910"/>
              </a:xfrm>
              <a:prstGeom prst="line">
                <a:avLst/>
              </a:prstGeom>
              <a:ln w="254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TextBox 171"/>
                  <p:cNvSpPr txBox="1"/>
                  <p:nvPr/>
                </p:nvSpPr>
                <p:spPr>
                  <a:xfrm>
                    <a:off x="-848126" y="1086034"/>
                    <a:ext cx="616496" cy="461665"/>
                  </a:xfrm>
                  <a:prstGeom prst="rect">
                    <a:avLst/>
                  </a:prstGeom>
                  <a:noFill/>
                  <a:ln w="25400"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72" name="TextBox 1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48126" y="1086034"/>
                    <a:ext cx="616496" cy="46166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  <a:ln w="25400"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" name="Group 7"/>
          <p:cNvGrpSpPr/>
          <p:nvPr/>
        </p:nvGrpSpPr>
        <p:grpSpPr>
          <a:xfrm>
            <a:off x="636999" y="3102601"/>
            <a:ext cx="3332187" cy="2342408"/>
            <a:chOff x="690082" y="3102601"/>
            <a:chExt cx="3609869" cy="2342408"/>
          </a:xfrm>
        </p:grpSpPr>
        <p:sp>
          <p:nvSpPr>
            <p:cNvPr id="130" name="Rounded Rectangle 129"/>
            <p:cNvSpPr/>
            <p:nvPr/>
          </p:nvSpPr>
          <p:spPr>
            <a:xfrm>
              <a:off x="2629348" y="3827392"/>
              <a:ext cx="908460" cy="918923"/>
            </a:xfrm>
            <a:prstGeom prst="roundRect">
              <a:avLst>
                <a:gd name="adj" fmla="val 804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880457" y="3102601"/>
              <a:ext cx="2419494" cy="2342408"/>
              <a:chOff x="1880457" y="2872173"/>
              <a:chExt cx="2419494" cy="2342408"/>
            </a:xfrm>
          </p:grpSpPr>
          <p:sp>
            <p:nvSpPr>
              <p:cNvPr id="134" name="Freeform 133"/>
              <p:cNvSpPr/>
              <p:nvPr/>
            </p:nvSpPr>
            <p:spPr>
              <a:xfrm>
                <a:off x="1880457" y="2872173"/>
                <a:ext cx="596348" cy="556591"/>
              </a:xfrm>
              <a:custGeom>
                <a:avLst/>
                <a:gdLst>
                  <a:gd name="connsiteX0" fmla="*/ 0 w 596348"/>
                  <a:gd name="connsiteY0" fmla="*/ 556591 h 556591"/>
                  <a:gd name="connsiteX1" fmla="*/ 596348 w 596348"/>
                  <a:gd name="connsiteY1" fmla="*/ 556591 h 556591"/>
                  <a:gd name="connsiteX2" fmla="*/ 596348 w 596348"/>
                  <a:gd name="connsiteY2" fmla="*/ 0 h 55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6348" h="556591">
                    <a:moveTo>
                      <a:pt x="0" y="556591"/>
                    </a:moveTo>
                    <a:lnTo>
                      <a:pt x="596348" y="556591"/>
                    </a:lnTo>
                    <a:lnTo>
                      <a:pt x="596348" y="0"/>
                    </a:lnTo>
                  </a:path>
                </a:pathLst>
              </a:custGeom>
              <a:noFill/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Freeform 134"/>
              <p:cNvSpPr/>
              <p:nvPr/>
            </p:nvSpPr>
            <p:spPr>
              <a:xfrm flipV="1">
                <a:off x="1880457" y="4657990"/>
                <a:ext cx="596348" cy="556591"/>
              </a:xfrm>
              <a:custGeom>
                <a:avLst/>
                <a:gdLst>
                  <a:gd name="connsiteX0" fmla="*/ 0 w 596348"/>
                  <a:gd name="connsiteY0" fmla="*/ 556591 h 556591"/>
                  <a:gd name="connsiteX1" fmla="*/ 596348 w 596348"/>
                  <a:gd name="connsiteY1" fmla="*/ 556591 h 556591"/>
                  <a:gd name="connsiteX2" fmla="*/ 596348 w 596348"/>
                  <a:gd name="connsiteY2" fmla="*/ 0 h 55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6348" h="556591">
                    <a:moveTo>
                      <a:pt x="0" y="556591"/>
                    </a:moveTo>
                    <a:lnTo>
                      <a:pt x="596348" y="556591"/>
                    </a:lnTo>
                    <a:lnTo>
                      <a:pt x="596348" y="0"/>
                    </a:lnTo>
                  </a:path>
                </a:pathLst>
              </a:custGeom>
              <a:noFill/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Freeform 135"/>
              <p:cNvSpPr/>
              <p:nvPr/>
            </p:nvSpPr>
            <p:spPr>
              <a:xfrm flipH="1">
                <a:off x="3703603" y="2872173"/>
                <a:ext cx="596348" cy="556591"/>
              </a:xfrm>
              <a:custGeom>
                <a:avLst/>
                <a:gdLst>
                  <a:gd name="connsiteX0" fmla="*/ 0 w 596348"/>
                  <a:gd name="connsiteY0" fmla="*/ 556591 h 556591"/>
                  <a:gd name="connsiteX1" fmla="*/ 596348 w 596348"/>
                  <a:gd name="connsiteY1" fmla="*/ 556591 h 556591"/>
                  <a:gd name="connsiteX2" fmla="*/ 596348 w 596348"/>
                  <a:gd name="connsiteY2" fmla="*/ 0 h 55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6348" h="556591">
                    <a:moveTo>
                      <a:pt x="0" y="556591"/>
                    </a:moveTo>
                    <a:lnTo>
                      <a:pt x="596348" y="556591"/>
                    </a:lnTo>
                    <a:lnTo>
                      <a:pt x="596348" y="0"/>
                    </a:lnTo>
                  </a:path>
                </a:pathLst>
              </a:custGeom>
              <a:noFill/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Freeform 136"/>
              <p:cNvSpPr/>
              <p:nvPr/>
            </p:nvSpPr>
            <p:spPr>
              <a:xfrm flipH="1" flipV="1">
                <a:off x="3703603" y="4657990"/>
                <a:ext cx="596348" cy="556591"/>
              </a:xfrm>
              <a:custGeom>
                <a:avLst/>
                <a:gdLst>
                  <a:gd name="connsiteX0" fmla="*/ 0 w 596348"/>
                  <a:gd name="connsiteY0" fmla="*/ 556591 h 556591"/>
                  <a:gd name="connsiteX1" fmla="*/ 596348 w 596348"/>
                  <a:gd name="connsiteY1" fmla="*/ 556591 h 556591"/>
                  <a:gd name="connsiteX2" fmla="*/ 596348 w 596348"/>
                  <a:gd name="connsiteY2" fmla="*/ 0 h 55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6348" h="556591">
                    <a:moveTo>
                      <a:pt x="0" y="556591"/>
                    </a:moveTo>
                    <a:lnTo>
                      <a:pt x="596348" y="556591"/>
                    </a:lnTo>
                    <a:lnTo>
                      <a:pt x="596348" y="0"/>
                    </a:lnTo>
                  </a:path>
                </a:pathLst>
              </a:custGeom>
              <a:noFill/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901138" y="3947038"/>
              <a:ext cx="1728210" cy="461665"/>
              <a:chOff x="-1038128" y="1866657"/>
              <a:chExt cx="1728210" cy="461665"/>
            </a:xfrm>
          </p:grpSpPr>
          <p:cxnSp>
            <p:nvCxnSpPr>
              <p:cNvPr id="141" name="Straight Connector 140"/>
              <p:cNvCxnSpPr>
                <a:stCxn id="142" idx="3"/>
              </p:cNvCxnSpPr>
              <p:nvPr/>
            </p:nvCxnSpPr>
            <p:spPr>
              <a:xfrm flipV="1">
                <a:off x="-479239" y="2019826"/>
                <a:ext cx="1169321" cy="7766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TextBox 141"/>
                  <p:cNvSpPr txBox="1"/>
                  <p:nvPr/>
                </p:nvSpPr>
                <p:spPr>
                  <a:xfrm>
                    <a:off x="-1038128" y="1866657"/>
                    <a:ext cx="558889" cy="461665"/>
                  </a:xfrm>
                  <a:prstGeom prst="rect">
                    <a:avLst/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/>
                            </a:rPr>
                            <m:t>𝑏𝑑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2" name="TextBox 1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38128" y="1866657"/>
                    <a:ext cx="558889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  <a:ln w="25400"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7" name="Group 146"/>
            <p:cNvGrpSpPr/>
            <p:nvPr/>
          </p:nvGrpSpPr>
          <p:grpSpPr>
            <a:xfrm>
              <a:off x="690082" y="3274613"/>
              <a:ext cx="1190375" cy="461665"/>
              <a:chOff x="-1016565" y="1984343"/>
              <a:chExt cx="1190375" cy="461665"/>
            </a:xfrm>
          </p:grpSpPr>
          <p:cxnSp>
            <p:nvCxnSpPr>
              <p:cNvPr id="148" name="Straight Connector 147"/>
              <p:cNvCxnSpPr>
                <a:stCxn id="149" idx="3"/>
                <a:endCxn id="134" idx="0"/>
              </p:cNvCxnSpPr>
              <p:nvPr/>
            </p:nvCxnSpPr>
            <p:spPr>
              <a:xfrm>
                <a:off x="-344653" y="2215176"/>
                <a:ext cx="518463" cy="153746"/>
              </a:xfrm>
              <a:prstGeom prst="line">
                <a:avLst/>
              </a:prstGeom>
              <a:ln w="25400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/>
                  <p:cNvSpPr txBox="1"/>
                  <p:nvPr/>
                </p:nvSpPr>
                <p:spPr>
                  <a:xfrm>
                    <a:off x="-1016565" y="1984343"/>
                    <a:ext cx="671912" cy="461665"/>
                  </a:xfrm>
                  <a:prstGeom prst="rect">
                    <a:avLst/>
                  </a:prstGeom>
                  <a:noFill/>
                  <a:ln w="25400">
                    <a:solidFill>
                      <a:srgbClr val="FF00FF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dirty="0" smtClean="0">
                              <a:latin typeface="Cambria Math"/>
                            </a:rPr>
                            <m:t>𝑏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  <m:r>
                            <a:rPr lang="en-US" sz="240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9" name="TextBox 1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16565" y="1984343"/>
                    <a:ext cx="671912" cy="46166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r="-4386"/>
                    </a:stretch>
                  </a:blipFill>
                  <a:ln w="25400">
                    <a:solidFill>
                      <a:srgbClr val="FF00F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2072650" y="3198573"/>
              <a:ext cx="660181" cy="684656"/>
              <a:chOff x="2072650" y="2968145"/>
              <a:chExt cx="660181" cy="684656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2072650" y="2968145"/>
                <a:ext cx="115214" cy="115213"/>
              </a:xfrm>
              <a:prstGeom prst="ellipse">
                <a:avLst/>
              </a:prstGeom>
              <a:solidFill>
                <a:srgbClr val="FF00FF"/>
              </a:solidFill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2617617" y="3537588"/>
                <a:ext cx="115214" cy="11521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5161581" y="2308352"/>
                <a:ext cx="3504947" cy="120032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 smtClean="0"/>
                  <a:t>Two essential Prime Implicants: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40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2400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713" y="2308351"/>
                <a:ext cx="3797026" cy="1200329"/>
              </a:xfrm>
              <a:prstGeom prst="rect">
                <a:avLst/>
              </a:prstGeom>
              <a:blipFill rotWithShape="1">
                <a:blip r:embed="rId9"/>
                <a:stretch>
                  <a:fillRect b="-4478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1338641" y="2276860"/>
            <a:ext cx="2524193" cy="3102102"/>
            <a:chOff x="1450195" y="2276860"/>
            <a:chExt cx="2734542" cy="3102102"/>
          </a:xfrm>
        </p:grpSpPr>
        <p:grpSp>
          <p:nvGrpSpPr>
            <p:cNvPr id="51" name="Group 50"/>
            <p:cNvGrpSpPr/>
            <p:nvPr/>
          </p:nvGrpSpPr>
          <p:grpSpPr>
            <a:xfrm>
              <a:off x="1450195" y="2529876"/>
              <a:ext cx="2734542" cy="2849086"/>
              <a:chOff x="2497971" y="1946161"/>
              <a:chExt cx="4240847" cy="3952767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3586567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4433975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5282608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436293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" name="Group 57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96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2826156" y="2981837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108"/>
              <p:cNvSpPr>
                <a:spLocks noChangeShapeType="1"/>
              </p:cNvSpPr>
              <p:nvPr/>
            </p:nvSpPr>
            <p:spPr bwMode="auto">
              <a:xfrm>
                <a:off x="2624531" y="2271988"/>
                <a:ext cx="730815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7971" y="2361686"/>
                    <a:ext cx="481353" cy="6405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97971" y="2401546"/>
                    <a:ext cx="481353" cy="560783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52941" r="-25490" b="-606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5" y="1946161"/>
                    <a:ext cx="492941" cy="64050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5" y="1946161"/>
                    <a:ext cx="492940" cy="560783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21"/>
              <p:cNvSpPr>
                <a:spLocks noChangeArrowheads="1"/>
              </p:cNvSpPr>
              <p:nvPr/>
            </p:nvSpPr>
            <p:spPr bwMode="auto">
              <a:xfrm>
                <a:off x="3592910" y="2981837"/>
                <a:ext cx="27059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5384770" y="2981837"/>
                <a:ext cx="251851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6176681" y="2981837"/>
                <a:ext cx="29021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1"/>
              <p:cNvSpPr>
                <a:spLocks noChangeArrowheads="1"/>
              </p:cNvSpPr>
              <p:nvPr/>
            </p:nvSpPr>
            <p:spPr bwMode="auto">
              <a:xfrm>
                <a:off x="4445894" y="3774733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21"/>
              <p:cNvSpPr>
                <a:spLocks noChangeArrowheads="1"/>
              </p:cNvSpPr>
              <p:nvPr/>
            </p:nvSpPr>
            <p:spPr bwMode="auto">
              <a:xfrm>
                <a:off x="5380446" y="3774733"/>
                <a:ext cx="371737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9" name="Group 78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9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Rectangle 21"/>
              <p:cNvSpPr>
                <a:spLocks noChangeArrowheads="1"/>
              </p:cNvSpPr>
              <p:nvPr/>
            </p:nvSpPr>
            <p:spPr bwMode="auto">
              <a:xfrm>
                <a:off x="2826156" y="3750952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21"/>
              <p:cNvSpPr>
                <a:spLocks noChangeArrowheads="1"/>
              </p:cNvSpPr>
              <p:nvPr/>
            </p:nvSpPr>
            <p:spPr bwMode="auto">
              <a:xfrm>
                <a:off x="2826155" y="4557450"/>
                <a:ext cx="49053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1" cy="427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21"/>
              <p:cNvSpPr>
                <a:spLocks noChangeArrowheads="1"/>
              </p:cNvSpPr>
              <p:nvPr/>
            </p:nvSpPr>
            <p:spPr bwMode="auto">
              <a:xfrm>
                <a:off x="4445894" y="4513444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21"/>
              <p:cNvSpPr>
                <a:spLocks noChangeArrowheads="1"/>
              </p:cNvSpPr>
              <p:nvPr/>
            </p:nvSpPr>
            <p:spPr bwMode="auto">
              <a:xfrm>
                <a:off x="5382753" y="4513444"/>
                <a:ext cx="251851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21"/>
              <p:cNvSpPr>
                <a:spLocks noChangeArrowheads="1"/>
              </p:cNvSpPr>
              <p:nvPr/>
            </p:nvSpPr>
            <p:spPr bwMode="auto">
              <a:xfrm>
                <a:off x="3586569" y="5306342"/>
                <a:ext cx="27059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21"/>
              <p:cNvSpPr>
                <a:spLocks noChangeArrowheads="1"/>
              </p:cNvSpPr>
              <p:nvPr/>
            </p:nvSpPr>
            <p:spPr bwMode="auto">
              <a:xfrm>
                <a:off x="4445894" y="5306342"/>
                <a:ext cx="299288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Rectangle 21"/>
              <p:cNvSpPr>
                <a:spLocks noChangeArrowheads="1"/>
              </p:cNvSpPr>
              <p:nvPr/>
            </p:nvSpPr>
            <p:spPr bwMode="auto">
              <a:xfrm>
                <a:off x="5378429" y="5306342"/>
                <a:ext cx="371737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21"/>
              <p:cNvSpPr>
                <a:spLocks noChangeArrowheads="1"/>
              </p:cNvSpPr>
              <p:nvPr/>
            </p:nvSpPr>
            <p:spPr bwMode="auto">
              <a:xfrm>
                <a:off x="6170339" y="5306342"/>
                <a:ext cx="290219" cy="512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533506" y="2276860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K-Map</a:t>
              </a:r>
              <a:endParaRPr lang="en-US" sz="2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61580" y="3774642"/>
                <a:ext cx="3504947" cy="2534708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marL="85725">
                  <a:lnSpc>
                    <a:spcPct val="130000"/>
                  </a:lnSpc>
                </a:pPr>
                <a:r>
                  <a:rPr lang="en-US" sz="2000" dirty="0" smtClean="0"/>
                  <a:t>Four possible solutions:</a:t>
                </a:r>
              </a:p>
              <a:p>
                <a:pPr marL="85725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solidFill>
                          <a:srgbClr val="996633"/>
                        </a:solidFill>
                        <a:latin typeface="Cambria Math"/>
                      </a:rPr>
                      <m:t>𝑐𝑑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𝑎𝑑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85725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solidFill>
                          <a:srgbClr val="996633"/>
                        </a:solidFill>
                        <a:latin typeface="Cambria Math"/>
                      </a:rPr>
                      <m:t>𝑐𝑑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/>
                      </a:rPr>
                      <m:t>𝑎𝑏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85725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𝑓</m:t>
                      </m:r>
                      <m:r>
                        <a:rPr lang="en-US" sz="2000" i="1" dirty="0" smtClean="0">
                          <a:latin typeface="Cambria Math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𝑏𝑑</m:t>
                      </m:r>
                      <m:r>
                        <a:rPr lang="en-US" sz="2000" i="1" dirty="0" smtClean="0">
                          <a:latin typeface="Cambria Math"/>
                        </a:rPr>
                        <m:t>+</m:t>
                      </m:r>
                      <m:r>
                        <a:rPr lang="en-US" sz="2000" i="1" dirty="0" smtClean="0">
                          <a:solidFill>
                            <a:srgbClr val="FF00FF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rgbClr val="FF00FF"/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000" i="1" dirty="0" smtClean="0">
                          <a:solidFill>
                            <a:srgbClr val="FF00FF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000" i="1" dirty="0" smtClean="0">
                          <a:solidFill>
                            <a:srgbClr val="FF00FF"/>
                          </a:solidFill>
                          <a:latin typeface="Cambria Math"/>
                        </a:rPr>
                        <m:t>′+</m:t>
                      </m:r>
                      <m:r>
                        <a:rPr lang="en-US" sz="20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′</m:t>
                      </m:r>
                      <m:r>
                        <a:rPr lang="en-US" sz="20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2000" i="1" dirty="0" err="1" smtClean="0">
                          <a:latin typeface="Cambria Math"/>
                        </a:rPr>
                        <m:t>+</m:t>
                      </m:r>
                      <m:r>
                        <a:rPr lang="en-US" sz="2000" i="1" dirty="0" smtClean="0">
                          <a:solidFill>
                            <a:srgbClr val="FFAE5D"/>
                          </a:solidFill>
                          <a:latin typeface="Cambria Math"/>
                        </a:rPr>
                        <m:t>𝑎𝑏</m:t>
                      </m:r>
                      <m:r>
                        <a:rPr lang="en-US" sz="2000" i="1" dirty="0" smtClean="0">
                          <a:solidFill>
                            <a:srgbClr val="FFAE5D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sz="2000" dirty="0" smtClean="0"/>
              </a:p>
              <a:p>
                <a:pPr marL="85725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𝑓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𝑑</m:t>
                    </m:r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′+</m:t>
                    </m:r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/>
                      </a:rPr>
                      <m:t>𝑐</m:t>
                    </m:r>
                    <m:r>
                      <a:rPr lang="en-US" sz="2000" i="1" dirty="0" err="1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𝑎𝑑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580" y="3774642"/>
                <a:ext cx="3504947" cy="253470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Product-of-Sums (POS) Simplification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5" y="894293"/>
                <a:ext cx="8508111" cy="155538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1800" dirty="0" smtClean="0"/>
                  <a:t>All previous examples were expressed in Sum-of-Products form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1800" dirty="0" smtClean="0"/>
                  <a:t>With a minor modification, the Product-of-Sums can be obtained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1800" dirty="0" smtClean="0"/>
                  <a:t>Example: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  <m:r>
                      <a:rPr lang="en-US" sz="1800" i="1" dirty="0" smtClean="0">
                        <a:latin typeface="Cambria Math"/>
                      </a:rPr>
                      <m:t>(</m:t>
                    </m:r>
                    <m:r>
                      <a:rPr lang="en-US" sz="1800" i="1" dirty="0" err="1" smtClean="0">
                        <a:latin typeface="Cambria Math"/>
                      </a:rPr>
                      <m:t>𝑎</m:t>
                    </m:r>
                    <m:r>
                      <a:rPr lang="en-US" sz="1800" i="1" dirty="0" err="1" smtClean="0">
                        <a:latin typeface="Cambria Math"/>
                      </a:rPr>
                      <m:t>,</m:t>
                    </m:r>
                    <m:r>
                      <a:rPr lang="en-US" sz="1800" i="1" dirty="0" err="1" smtClean="0">
                        <a:latin typeface="Cambria Math"/>
                      </a:rPr>
                      <m:t>𝑏</m:t>
                    </m:r>
                    <m:r>
                      <a:rPr lang="en-US" sz="1800" i="1" dirty="0" err="1" smtClean="0">
                        <a:latin typeface="Cambria Math"/>
                      </a:rPr>
                      <m:t>,</m:t>
                    </m:r>
                    <m:r>
                      <a:rPr lang="en-US" sz="1800" i="1" dirty="0" err="1" smtClean="0">
                        <a:latin typeface="Cambria Math"/>
                      </a:rPr>
                      <m:t>𝑐</m:t>
                    </m:r>
                    <m:r>
                      <a:rPr lang="en-US" sz="1800" i="1" dirty="0" err="1" smtClean="0">
                        <a:latin typeface="Cambria Math"/>
                      </a:rPr>
                      <m:t>,</m:t>
                    </m:r>
                    <m:r>
                      <a:rPr lang="en-US" sz="1800" i="1" dirty="0" err="1" smtClean="0">
                        <a:latin typeface="Cambria Math"/>
                      </a:rPr>
                      <m:t>𝑑</m:t>
                    </m:r>
                    <m:r>
                      <a:rPr lang="en-US" sz="18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8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(1, 2, 3, 9, 10, 11, 13, 14, 15)</m:t>
                        </m:r>
                      </m:e>
                    </m:nary>
                  </m:oMath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5" y="894293"/>
                <a:ext cx="8508111" cy="1555389"/>
              </a:xfrm>
              <a:blipFill rotWithShape="1">
                <a:blip r:embed="rId2"/>
                <a:stretch>
                  <a:fillRect l="-430" t="-1961" b="-22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849701" y="2507288"/>
            <a:ext cx="2524193" cy="3110778"/>
            <a:chOff x="1450195" y="2268184"/>
            <a:chExt cx="2734542" cy="3110778"/>
          </a:xfrm>
        </p:grpSpPr>
        <p:grpSp>
          <p:nvGrpSpPr>
            <p:cNvPr id="5" name="Group 4"/>
            <p:cNvGrpSpPr/>
            <p:nvPr/>
          </p:nvGrpSpPr>
          <p:grpSpPr>
            <a:xfrm>
              <a:off x="1450195" y="2529876"/>
              <a:ext cx="2734542" cy="2849086"/>
              <a:chOff x="2497971" y="1946161"/>
              <a:chExt cx="4240847" cy="3952767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3586567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4433975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5282608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36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37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</p:grpSp>
          <p:sp>
            <p:nvSpPr>
              <p:cNvPr id="14" name="Rectangle 21"/>
              <p:cNvSpPr>
                <a:spLocks noChangeArrowheads="1"/>
              </p:cNvSpPr>
              <p:nvPr/>
            </p:nvSpPr>
            <p:spPr bwMode="auto">
              <a:xfrm>
                <a:off x="2826156" y="2981837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Line 108"/>
              <p:cNvSpPr>
                <a:spLocks noChangeShapeType="1"/>
              </p:cNvSpPr>
              <p:nvPr/>
            </p:nvSpPr>
            <p:spPr bwMode="auto">
              <a:xfrm>
                <a:off x="2624531" y="2271988"/>
                <a:ext cx="730815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7971" y="2425736"/>
                    <a:ext cx="481353" cy="512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97971" y="2401546"/>
                    <a:ext cx="481353" cy="560783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52941" r="-25490" b="-606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5" y="1946161"/>
                    <a:ext cx="492941" cy="512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5" y="1946161"/>
                    <a:ext cx="492940" cy="560783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Rectangle 21"/>
              <p:cNvSpPr>
                <a:spLocks noChangeArrowheads="1"/>
              </p:cNvSpPr>
              <p:nvPr/>
            </p:nvSpPr>
            <p:spPr bwMode="auto">
              <a:xfrm>
                <a:off x="4460239" y="2981837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5356833" y="2981837"/>
                <a:ext cx="251851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6160887" y="2981837"/>
                <a:ext cx="29021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3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3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</p:grp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2826156" y="3750952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2826155" y="4557450"/>
                <a:ext cx="49053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4445895" y="4507373"/>
                <a:ext cx="299288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1"/>
              <p:cNvSpPr>
                <a:spLocks noChangeArrowheads="1"/>
              </p:cNvSpPr>
              <p:nvPr/>
            </p:nvSpPr>
            <p:spPr bwMode="auto">
              <a:xfrm>
                <a:off x="5356833" y="4507373"/>
                <a:ext cx="251851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21"/>
              <p:cNvSpPr>
                <a:spLocks noChangeArrowheads="1"/>
              </p:cNvSpPr>
              <p:nvPr/>
            </p:nvSpPr>
            <p:spPr bwMode="auto">
              <a:xfrm>
                <a:off x="4445895" y="5306342"/>
                <a:ext cx="299288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21"/>
              <p:cNvSpPr>
                <a:spLocks noChangeArrowheads="1"/>
              </p:cNvSpPr>
              <p:nvPr/>
            </p:nvSpPr>
            <p:spPr bwMode="auto">
              <a:xfrm>
                <a:off x="6160887" y="5306342"/>
                <a:ext cx="29021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21"/>
              <p:cNvSpPr>
                <a:spLocks noChangeArrowheads="1"/>
              </p:cNvSpPr>
              <p:nvPr/>
            </p:nvSpPr>
            <p:spPr bwMode="auto">
              <a:xfrm>
                <a:off x="6180072" y="4507373"/>
                <a:ext cx="251851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21"/>
              <p:cNvSpPr>
                <a:spLocks noChangeArrowheads="1"/>
              </p:cNvSpPr>
              <p:nvPr/>
            </p:nvSpPr>
            <p:spPr bwMode="auto">
              <a:xfrm>
                <a:off x="5356833" y="5306601"/>
                <a:ext cx="251851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226088" y="2268184"/>
                  <a:ext cx="1358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 smtClean="0"/>
                    <a:t>K-Map of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𝒇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6088" y="2268184"/>
                  <a:ext cx="1758815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5190" t="-9211" r="-2076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Rounded Rectangle 39"/>
          <p:cNvSpPr/>
          <p:nvPr/>
        </p:nvSpPr>
        <p:spPr>
          <a:xfrm>
            <a:off x="1899997" y="4581141"/>
            <a:ext cx="922436" cy="979319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Rounded Rectangle 40"/>
          <p:cNvSpPr/>
          <p:nvPr/>
        </p:nvSpPr>
        <p:spPr>
          <a:xfrm>
            <a:off x="2415276" y="4668041"/>
            <a:ext cx="922436" cy="835947"/>
          </a:xfrm>
          <a:prstGeom prst="roundRect">
            <a:avLst>
              <a:gd name="adj" fmla="val 804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43" name="Group 42"/>
          <p:cNvGrpSpPr/>
          <p:nvPr/>
        </p:nvGrpSpPr>
        <p:grpSpPr>
          <a:xfrm>
            <a:off x="5344700" y="2507288"/>
            <a:ext cx="2524193" cy="3110778"/>
            <a:chOff x="1450195" y="2268184"/>
            <a:chExt cx="2734542" cy="3110778"/>
          </a:xfrm>
        </p:grpSpPr>
        <p:grpSp>
          <p:nvGrpSpPr>
            <p:cNvPr id="44" name="Group 43"/>
            <p:cNvGrpSpPr/>
            <p:nvPr/>
          </p:nvGrpSpPr>
          <p:grpSpPr>
            <a:xfrm>
              <a:off x="1450195" y="2529876"/>
              <a:ext cx="2734542" cy="2849086"/>
              <a:chOff x="2497971" y="1946161"/>
              <a:chExt cx="4240847" cy="3952767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>
                <a:off x="3586567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9"/>
              <p:cNvSpPr>
                <a:spLocks noChangeArrowheads="1"/>
              </p:cNvSpPr>
              <p:nvPr/>
            </p:nvSpPr>
            <p:spPr bwMode="auto">
              <a:xfrm>
                <a:off x="4433975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11"/>
              <p:cNvSpPr>
                <a:spLocks noChangeArrowheads="1"/>
              </p:cNvSpPr>
              <p:nvPr/>
            </p:nvSpPr>
            <p:spPr bwMode="auto">
              <a:xfrm>
                <a:off x="5282608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13"/>
              <p:cNvSpPr>
                <a:spLocks noChangeArrowheads="1"/>
              </p:cNvSpPr>
              <p:nvPr/>
            </p:nvSpPr>
            <p:spPr bwMode="auto">
              <a:xfrm>
                <a:off x="6131244" y="2391607"/>
                <a:ext cx="350112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Line 18"/>
              <p:cNvSpPr>
                <a:spLocks noChangeShapeType="1"/>
              </p:cNvSpPr>
              <p:nvPr/>
            </p:nvSpPr>
            <p:spPr bwMode="auto">
              <a:xfrm flipH="1">
                <a:off x="5052617" y="2820264"/>
                <a:ext cx="0" cy="30786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grpSp>
            <p:nvGrpSpPr>
              <p:cNvPr id="52" name="Group 51"/>
              <p:cNvGrpSpPr/>
              <p:nvPr/>
            </p:nvGrpSpPr>
            <p:grpSpPr>
              <a:xfrm>
                <a:off x="4203980" y="2816120"/>
                <a:ext cx="1683742" cy="3082808"/>
                <a:chOff x="4203980" y="2816120"/>
                <a:chExt cx="1683742" cy="1687148"/>
              </a:xfrm>
            </p:grpSpPr>
            <p:sp>
              <p:nvSpPr>
                <p:cNvPr id="73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74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</p:grpSp>
          <p:sp>
            <p:nvSpPr>
              <p:cNvPr id="53" name="Rectangle 21"/>
              <p:cNvSpPr>
                <a:spLocks noChangeArrowheads="1"/>
              </p:cNvSpPr>
              <p:nvPr/>
            </p:nvSpPr>
            <p:spPr bwMode="auto">
              <a:xfrm>
                <a:off x="2826156" y="2981837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Line 108"/>
              <p:cNvSpPr>
                <a:spLocks noChangeShapeType="1"/>
              </p:cNvSpPr>
              <p:nvPr/>
            </p:nvSpPr>
            <p:spPr bwMode="auto">
              <a:xfrm>
                <a:off x="2624531" y="2271988"/>
                <a:ext cx="730815" cy="54639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 sz="1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7971" y="2425736"/>
                    <a:ext cx="481353" cy="512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97971" y="2401546"/>
                    <a:ext cx="481353" cy="560783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l="-52941" r="-25490" b="-606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5" y="1946161"/>
                    <a:ext cx="492941" cy="51240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5" y="1946161"/>
                    <a:ext cx="492940" cy="560783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Rectangle 21"/>
              <p:cNvSpPr>
                <a:spLocks noChangeArrowheads="1"/>
              </p:cNvSpPr>
              <p:nvPr/>
            </p:nvSpPr>
            <p:spPr bwMode="auto">
              <a:xfrm>
                <a:off x="3611937" y="2981837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41"/>
              <p:cNvSpPr>
                <a:spLocks noChangeShapeType="1"/>
              </p:cNvSpPr>
              <p:nvPr/>
            </p:nvSpPr>
            <p:spPr bwMode="auto">
              <a:xfrm flipV="1">
                <a:off x="3351656" y="4350712"/>
                <a:ext cx="338716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3351657" y="3576604"/>
                <a:ext cx="3387161" cy="1548216"/>
                <a:chOff x="3351657" y="3979853"/>
                <a:chExt cx="3029010" cy="1548216"/>
              </a:xfrm>
            </p:grpSpPr>
            <p:sp>
              <p:nvSpPr>
                <p:cNvPr id="71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  <p:sp>
              <p:nvSpPr>
                <p:cNvPr id="7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400"/>
                </a:p>
              </p:txBody>
            </p:sp>
          </p:grpSp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2826156" y="3750952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 21"/>
              <p:cNvSpPr>
                <a:spLocks noChangeArrowheads="1"/>
              </p:cNvSpPr>
              <p:nvPr/>
            </p:nvSpPr>
            <p:spPr bwMode="auto">
              <a:xfrm>
                <a:off x="2826155" y="4557450"/>
                <a:ext cx="49053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tangle 21"/>
              <p:cNvSpPr>
                <a:spLocks noChangeArrowheads="1"/>
              </p:cNvSpPr>
              <p:nvPr/>
            </p:nvSpPr>
            <p:spPr bwMode="auto">
              <a:xfrm>
                <a:off x="2826156" y="5330030"/>
                <a:ext cx="525501" cy="3416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6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16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1"/>
              <p:cNvSpPr>
                <a:spLocks noChangeArrowheads="1"/>
              </p:cNvSpPr>
              <p:nvPr/>
            </p:nvSpPr>
            <p:spPr bwMode="auto">
              <a:xfrm>
                <a:off x="3611937" y="3708144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21"/>
              <p:cNvSpPr>
                <a:spLocks noChangeArrowheads="1"/>
              </p:cNvSpPr>
              <p:nvPr/>
            </p:nvSpPr>
            <p:spPr bwMode="auto">
              <a:xfrm>
                <a:off x="3611937" y="4507373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21"/>
              <p:cNvSpPr>
                <a:spLocks noChangeArrowheads="1"/>
              </p:cNvSpPr>
              <p:nvPr/>
            </p:nvSpPr>
            <p:spPr bwMode="auto">
              <a:xfrm>
                <a:off x="3611937" y="5306601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21"/>
              <p:cNvSpPr>
                <a:spLocks noChangeArrowheads="1"/>
              </p:cNvSpPr>
              <p:nvPr/>
            </p:nvSpPr>
            <p:spPr bwMode="auto">
              <a:xfrm>
                <a:off x="4451372" y="3708144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21"/>
              <p:cNvSpPr>
                <a:spLocks noChangeArrowheads="1"/>
              </p:cNvSpPr>
              <p:nvPr/>
            </p:nvSpPr>
            <p:spPr bwMode="auto">
              <a:xfrm>
                <a:off x="5306807" y="3708144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21"/>
              <p:cNvSpPr>
                <a:spLocks noChangeArrowheads="1"/>
              </p:cNvSpPr>
              <p:nvPr/>
            </p:nvSpPr>
            <p:spPr bwMode="auto">
              <a:xfrm>
                <a:off x="6189926" y="3708144"/>
                <a:ext cx="270599" cy="384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sz="1400" b="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2226088" y="2268184"/>
                  <a:ext cx="14226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 smtClean="0"/>
                    <a:t>K-Map of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𝒇</m:t>
                      </m:r>
                      <m:r>
                        <a:rPr lang="en-US" b="1" i="1" dirty="0" smtClean="0">
                          <a:latin typeface="Cambria Math"/>
                        </a:rPr>
                        <m:t>′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6088" y="2268184"/>
                  <a:ext cx="1838965" cy="461665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4967" t="-9211" r="-2649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1993442" y="3313786"/>
            <a:ext cx="770585" cy="2379508"/>
            <a:chOff x="2332383" y="3429000"/>
            <a:chExt cx="834800" cy="2379508"/>
          </a:xfrm>
        </p:grpSpPr>
        <p:sp>
          <p:nvSpPr>
            <p:cNvPr id="42" name="Freeform 41"/>
            <p:cNvSpPr/>
            <p:nvPr/>
          </p:nvSpPr>
          <p:spPr>
            <a:xfrm>
              <a:off x="2332383" y="5318177"/>
              <a:ext cx="828260" cy="490331"/>
            </a:xfrm>
            <a:custGeom>
              <a:avLst/>
              <a:gdLst>
                <a:gd name="connsiteX0" fmla="*/ 0 w 828260"/>
                <a:gd name="connsiteY0" fmla="*/ 470452 h 490331"/>
                <a:gd name="connsiteX1" fmla="*/ 0 w 828260"/>
                <a:gd name="connsiteY1" fmla="*/ 0 h 490331"/>
                <a:gd name="connsiteX2" fmla="*/ 828260 w 828260"/>
                <a:gd name="connsiteY2" fmla="*/ 0 h 490331"/>
                <a:gd name="connsiteX3" fmla="*/ 828260 w 82826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260" h="490331">
                  <a:moveTo>
                    <a:pt x="0" y="470452"/>
                  </a:moveTo>
                  <a:lnTo>
                    <a:pt x="0" y="0"/>
                  </a:lnTo>
                  <a:lnTo>
                    <a:pt x="828260" y="0"/>
                  </a:lnTo>
                  <a:lnTo>
                    <a:pt x="828260" y="490331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1" name="Freeform 80"/>
            <p:cNvSpPr/>
            <p:nvPr/>
          </p:nvSpPr>
          <p:spPr>
            <a:xfrm flipV="1">
              <a:off x="2338923" y="3429000"/>
              <a:ext cx="828260" cy="539364"/>
            </a:xfrm>
            <a:custGeom>
              <a:avLst/>
              <a:gdLst>
                <a:gd name="connsiteX0" fmla="*/ 0 w 828260"/>
                <a:gd name="connsiteY0" fmla="*/ 470452 h 490331"/>
                <a:gd name="connsiteX1" fmla="*/ 0 w 828260"/>
                <a:gd name="connsiteY1" fmla="*/ 0 h 490331"/>
                <a:gd name="connsiteX2" fmla="*/ 828260 w 828260"/>
                <a:gd name="connsiteY2" fmla="*/ 0 h 490331"/>
                <a:gd name="connsiteX3" fmla="*/ 828260 w 82826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260" h="490331">
                  <a:moveTo>
                    <a:pt x="0" y="470452"/>
                  </a:moveTo>
                  <a:lnTo>
                    <a:pt x="0" y="0"/>
                  </a:lnTo>
                  <a:lnTo>
                    <a:pt x="828260" y="0"/>
                  </a:lnTo>
                  <a:lnTo>
                    <a:pt x="828260" y="490331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500654" y="3313786"/>
            <a:ext cx="764548" cy="2419494"/>
            <a:chOff x="2857386" y="3429000"/>
            <a:chExt cx="828260" cy="2419494"/>
          </a:xfrm>
        </p:grpSpPr>
        <p:sp>
          <p:nvSpPr>
            <p:cNvPr id="82" name="Freeform 81"/>
            <p:cNvSpPr/>
            <p:nvPr/>
          </p:nvSpPr>
          <p:spPr>
            <a:xfrm flipV="1">
              <a:off x="2857386" y="3429000"/>
              <a:ext cx="828260" cy="593300"/>
            </a:xfrm>
            <a:custGeom>
              <a:avLst/>
              <a:gdLst>
                <a:gd name="connsiteX0" fmla="*/ 0 w 828260"/>
                <a:gd name="connsiteY0" fmla="*/ 470452 h 490331"/>
                <a:gd name="connsiteX1" fmla="*/ 0 w 828260"/>
                <a:gd name="connsiteY1" fmla="*/ 0 h 490331"/>
                <a:gd name="connsiteX2" fmla="*/ 828260 w 828260"/>
                <a:gd name="connsiteY2" fmla="*/ 0 h 490331"/>
                <a:gd name="connsiteX3" fmla="*/ 828260 w 82826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260" h="490331">
                  <a:moveTo>
                    <a:pt x="0" y="470452"/>
                  </a:moveTo>
                  <a:lnTo>
                    <a:pt x="0" y="0"/>
                  </a:lnTo>
                  <a:lnTo>
                    <a:pt x="828260" y="0"/>
                  </a:lnTo>
                  <a:lnTo>
                    <a:pt x="828260" y="490331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2857386" y="5255194"/>
              <a:ext cx="828260" cy="593300"/>
            </a:xfrm>
            <a:custGeom>
              <a:avLst/>
              <a:gdLst>
                <a:gd name="connsiteX0" fmla="*/ 0 w 828260"/>
                <a:gd name="connsiteY0" fmla="*/ 470452 h 490331"/>
                <a:gd name="connsiteX1" fmla="*/ 0 w 828260"/>
                <a:gd name="connsiteY1" fmla="*/ 0 h 490331"/>
                <a:gd name="connsiteX2" fmla="*/ 828260 w 828260"/>
                <a:gd name="connsiteY2" fmla="*/ 0 h 490331"/>
                <a:gd name="connsiteX3" fmla="*/ 828260 w 828260"/>
                <a:gd name="connsiteY3" fmla="*/ 490331 h 49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260" h="490331">
                  <a:moveTo>
                    <a:pt x="0" y="470452"/>
                  </a:moveTo>
                  <a:lnTo>
                    <a:pt x="0" y="0"/>
                  </a:lnTo>
                  <a:lnTo>
                    <a:pt x="828260" y="0"/>
                  </a:lnTo>
                  <a:lnTo>
                    <a:pt x="828260" y="490331"/>
                  </a:lnTo>
                </a:path>
              </a:pathLst>
            </a:custGeom>
            <a:noFill/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53735" y="5676264"/>
                <a:ext cx="3211007" cy="720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𝑎𝑑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solidFill>
                          <a:srgbClr val="008000"/>
                        </a:solidFill>
                        <a:latin typeface="Cambria Math"/>
                      </a:rPr>
                      <m:t>𝑎𝑐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solidFill>
                          <a:srgbClr val="000099"/>
                        </a:solidFill>
                        <a:latin typeface="Cambria Math"/>
                      </a:rPr>
                      <m:t>𝑏</m:t>
                    </m:r>
                    <m:r>
                      <a:rPr lang="en-US" i="1" dirty="0" err="1" smtClean="0">
                        <a:solidFill>
                          <a:srgbClr val="000099"/>
                        </a:solidFill>
                        <a:latin typeface="Cambria Math"/>
                      </a:rPr>
                      <m:t>′</m:t>
                    </m:r>
                    <m:r>
                      <a:rPr lang="en-US" i="1" dirty="0" err="1" smtClean="0">
                        <a:solidFill>
                          <a:srgbClr val="000099"/>
                        </a:solidFill>
                        <a:latin typeface="Cambria Math"/>
                      </a:rPr>
                      <m:t>𝑑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i="1" dirty="0" err="1" smtClean="0">
                        <a:solidFill>
                          <a:srgbClr val="FF00FF"/>
                        </a:solidFill>
                        <a:latin typeface="Cambria Math"/>
                      </a:rPr>
                      <m:t>′</m:t>
                    </m:r>
                    <m:r>
                      <a:rPr lang="en-US" i="1" dirty="0" err="1" smtClean="0">
                        <a:solidFill>
                          <a:srgbClr val="FF00FF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sz="1600" dirty="0" smtClean="0"/>
                  <a:t>Minimal Sum-of-Products = 8 literals</a:t>
                </a: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35" y="5676264"/>
                <a:ext cx="3211007" cy="720197"/>
              </a:xfrm>
              <a:prstGeom prst="rect">
                <a:avLst/>
              </a:prstGeom>
              <a:blipFill rotWithShape="1">
                <a:blip r:embed="rId14"/>
                <a:stretch>
                  <a:fillRect l="-760" r="-760"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ounded Rectangle 86"/>
          <p:cNvSpPr/>
          <p:nvPr/>
        </p:nvSpPr>
        <p:spPr>
          <a:xfrm>
            <a:off x="5898915" y="3429001"/>
            <a:ext cx="427883" cy="2131459"/>
          </a:xfrm>
          <a:prstGeom prst="roundRect">
            <a:avLst>
              <a:gd name="adj" fmla="val 80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8" name="Rounded Rectangle 87"/>
          <p:cNvSpPr/>
          <p:nvPr/>
        </p:nvSpPr>
        <p:spPr>
          <a:xfrm>
            <a:off x="5943775" y="4000972"/>
            <a:ext cx="1871942" cy="427226"/>
          </a:xfrm>
          <a:prstGeom prst="roundRect">
            <a:avLst>
              <a:gd name="adj" fmla="val 8040"/>
            </a:avLst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487953" y="5618067"/>
                <a:ext cx="275317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 dirty="0" err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 err="1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US" b="0" i="1" dirty="0" smtClean="0">
                  <a:solidFill>
                    <a:srgbClr val="008000"/>
                  </a:solidFill>
                  <a:latin typeface="Cambria Math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𝑓</m:t>
                      </m:r>
                      <m:r>
                        <a:rPr lang="en-US" i="1" dirty="0">
                          <a:latin typeface="Cambria Math"/>
                        </a:rPr>
                        <m:t>=(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i="1" dirty="0">
                          <a:latin typeface="Cambria Math"/>
                        </a:rPr>
                        <m:t>)(</m:t>
                      </m:r>
                      <m:r>
                        <a:rPr lang="en-US" i="1" dirty="0">
                          <a:solidFill>
                            <a:srgbClr val="008000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i="1" dirty="0">
                          <a:solidFill>
                            <a:srgbClr val="008000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i="1" dirty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 smtClean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953" y="5618067"/>
                <a:ext cx="2753170" cy="757130"/>
              </a:xfrm>
              <a:prstGeom prst="rect">
                <a:avLst/>
              </a:prstGeom>
              <a:blipFill rotWithShape="1">
                <a:blip r:embed="rId1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3774365" y="3784947"/>
            <a:ext cx="1570336" cy="9787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 smtClean="0"/>
              <a:t>All prime </a:t>
            </a:r>
            <a:r>
              <a:rPr lang="en-US" sz="1600" dirty="0" err="1"/>
              <a:t>i</a:t>
            </a:r>
            <a:r>
              <a:rPr lang="en-US" sz="1600" dirty="0" err="1" smtClean="0"/>
              <a:t>mplicants</a:t>
            </a:r>
            <a:r>
              <a:rPr lang="en-US" sz="1600" dirty="0" smtClean="0"/>
              <a:t> are essential</a:t>
            </a:r>
            <a:endParaRPr lang="en-US" sz="16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8134024" y="2194777"/>
            <a:ext cx="619678" cy="4320525"/>
            <a:chOff x="8755062" y="2161646"/>
            <a:chExt cx="671318" cy="4320525"/>
          </a:xfrm>
        </p:grpSpPr>
        <p:sp>
          <p:nvSpPr>
            <p:cNvPr id="91" name="TextBox 90"/>
            <p:cNvSpPr txBox="1"/>
            <p:nvPr/>
          </p:nvSpPr>
          <p:spPr>
            <a:xfrm rot="16200000">
              <a:off x="7056060" y="4111851"/>
              <a:ext cx="4320525" cy="42011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dirty="0" smtClean="0"/>
                <a:t>Minimal Product-of-Sums = 4 literals</a:t>
              </a:r>
              <a:endParaRPr lang="en-US" sz="1600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8755062" y="6309350"/>
              <a:ext cx="230428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45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86" grpId="0"/>
      <p:bldP spid="87" grpId="0" animBg="1"/>
      <p:bldP spid="88" grpId="0" animBg="1"/>
      <p:bldP spid="9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Product-of-Sums Simplification Procedure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4" y="1124721"/>
                <a:ext cx="8667639" cy="5242237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spcBef>
                    <a:spcPts val="25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Draw the K-map for the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sz="2400" dirty="0" smtClean="0"/>
              </a:p>
              <a:p>
                <a:pPr marL="908050" lvl="1" indent="-457200">
                  <a:spcBef>
                    <a:spcPts val="2500"/>
                  </a:spcBef>
                </a:pPr>
                <a:r>
                  <a:rPr lang="en-US" sz="1600" dirty="0" smtClean="0"/>
                  <a:t>Obtain a minimal Sum-of-Products (SOP) expression for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sz="1600" dirty="0" smtClean="0"/>
              </a:p>
              <a:p>
                <a:pPr marL="457200" indent="-457200">
                  <a:spcBef>
                    <a:spcPts val="25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Draw the K-map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, replacing the 0's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 smtClean="0"/>
                  <a:t> with 1's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spcBef>
                    <a:spcPts val="25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Obtain a minimal Sum-of-Products (SOP) expression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spcBef>
                    <a:spcPts val="25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Use </a:t>
                </a:r>
                <a:r>
                  <a:rPr lang="en-US" sz="2400" dirty="0" err="1" smtClean="0"/>
                  <a:t>DeMorgan's</a:t>
                </a:r>
                <a:r>
                  <a:rPr lang="en-US" sz="2400" dirty="0" smtClean="0"/>
                  <a:t> theorem to obtain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=(</m:t>
                    </m:r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′)′</m:t>
                    </m:r>
                  </m:oMath>
                </a14:m>
                <a:endParaRPr lang="en-US" sz="2400" dirty="0" smtClean="0"/>
              </a:p>
              <a:p>
                <a:pPr marL="908050" lvl="1" indent="-457200">
                  <a:spcBef>
                    <a:spcPts val="2500"/>
                  </a:spcBef>
                </a:pPr>
                <a:r>
                  <a:rPr lang="en-US" sz="1600" dirty="0" smtClean="0"/>
                  <a:t>The result is a minimal Product-of-Sums (POS) expression for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sz="1600" dirty="0" smtClean="0"/>
              </a:p>
              <a:p>
                <a:pPr marL="457200" indent="-457200">
                  <a:spcBef>
                    <a:spcPts val="25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Compare the cost of the minimal SOP and POS expressions</a:t>
                </a:r>
              </a:p>
              <a:p>
                <a:pPr marL="908050" lvl="1" indent="-457200">
                  <a:spcBef>
                    <a:spcPts val="2500"/>
                  </a:spcBef>
                </a:pPr>
                <a:r>
                  <a:rPr lang="en-US" sz="1600" dirty="0" smtClean="0"/>
                  <a:t>Count the number of literals to find which expression is minimal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4" y="1124721"/>
                <a:ext cx="8667639" cy="5242237"/>
              </a:xfrm>
              <a:blipFill rotWithShape="1">
                <a:blip r:embed="rId2"/>
                <a:stretch>
                  <a:fillRect l="-1055" t="-1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475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The </a:t>
            </a:r>
            <a:r>
              <a:rPr lang="en-US" altLang="en-US" kern="0" dirty="0" err="1" smtClean="0"/>
              <a:t>Karnaugh</a:t>
            </a:r>
            <a:r>
              <a:rPr lang="en-US" altLang="en-US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/>
              <a:t>Prime and Essential Prime </a:t>
            </a:r>
            <a:r>
              <a:rPr lang="en-US" altLang="en-US" kern="0" dirty="0" smtClean="0"/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349758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Don't Cares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900"/>
            <a:ext cx="8561286" cy="547266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dirty="0" smtClean="0"/>
              <a:t>Sometimes, a function table may contain entries for which:</a:t>
            </a:r>
          </a:p>
          <a:p>
            <a:pPr lvl="1">
              <a:lnSpc>
                <a:spcPct val="130000"/>
              </a:lnSpc>
              <a:spcBef>
                <a:spcPts val="1500"/>
              </a:spcBef>
            </a:pPr>
            <a:r>
              <a:rPr lang="en-US" sz="2000" dirty="0" smtClean="0"/>
              <a:t>The input values of the variables will never occur, or</a:t>
            </a:r>
          </a:p>
          <a:p>
            <a:pPr lvl="1">
              <a:lnSpc>
                <a:spcPct val="130000"/>
              </a:lnSpc>
              <a:spcBef>
                <a:spcPts val="1500"/>
              </a:spcBef>
            </a:pPr>
            <a:r>
              <a:rPr lang="en-US" sz="2000" dirty="0" smtClean="0"/>
              <a:t>The output value of the function is never used</a:t>
            </a:r>
          </a:p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dirty="0" smtClean="0"/>
              <a:t>In this case, the output value of the function is not defined</a:t>
            </a:r>
          </a:p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dirty="0" smtClean="0"/>
              <a:t>The output value of the function is called a </a:t>
            </a:r>
            <a:r>
              <a:rPr lang="en-US" sz="2400" b="1" dirty="0" smtClean="0">
                <a:solidFill>
                  <a:srgbClr val="FF0000"/>
                </a:solidFill>
              </a:rPr>
              <a:t>don't care</a:t>
            </a:r>
          </a:p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dirty="0" smtClean="0"/>
              <a:t>A don't care is an </a:t>
            </a:r>
            <a:r>
              <a:rPr lang="en-US" sz="2400" b="1" dirty="0" smtClean="0">
                <a:solidFill>
                  <a:srgbClr val="FF0000"/>
                </a:solidFill>
              </a:rPr>
              <a:t>X</a:t>
            </a:r>
            <a:r>
              <a:rPr lang="en-US" sz="2400" dirty="0" smtClean="0"/>
              <a:t> value that appears in the function table</a:t>
            </a:r>
          </a:p>
          <a:p>
            <a:pPr>
              <a:lnSpc>
                <a:spcPct val="130000"/>
              </a:lnSpc>
              <a:spcBef>
                <a:spcPts val="1500"/>
              </a:spcBef>
            </a:pPr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X</a:t>
            </a:r>
            <a:r>
              <a:rPr lang="en-US" sz="2400" dirty="0" smtClean="0"/>
              <a:t> value can be later chosen to be </a:t>
            </a:r>
            <a:r>
              <a:rPr lang="en-US" sz="2400" b="1" dirty="0" smtClean="0">
                <a:solidFill>
                  <a:srgbClr val="FF0000"/>
                </a:solidFill>
              </a:rPr>
              <a:t>0 or 1</a:t>
            </a:r>
          </a:p>
          <a:p>
            <a:pPr lvl="1">
              <a:lnSpc>
                <a:spcPct val="130000"/>
              </a:lnSpc>
              <a:spcBef>
                <a:spcPts val="1500"/>
              </a:spcBef>
            </a:pPr>
            <a:r>
              <a:rPr lang="en-US" sz="2000" dirty="0" smtClean="0"/>
              <a:t>To minimize the function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297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 of a Function with Don't Cares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5" y="1009507"/>
                <a:ext cx="6646962" cy="496860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Consider a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defined over BCD inputs</a:t>
                </a:r>
              </a:p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The function input is a BCD digit from 0 to 9</a:t>
                </a:r>
              </a:p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The function output is 0 if the BCD input is 0 to 4</a:t>
                </a:r>
              </a:p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The function output is 1 if the BCD input is 5 to 9</a:t>
                </a:r>
              </a:p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The function output is X (don't care) if the input is 10 to 15 (not BCD)</a:t>
                </a:r>
              </a:p>
              <a:p>
                <a:pPr>
                  <a:lnSpc>
                    <a:spcPct val="150000"/>
                  </a:lnSpc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dirty="0" smtClean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5, 6, 7, 8, 9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b="0" i="1" dirty="0" smtClean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(10, 11, 12, 13, 14, 15)</m:t>
                            </m:r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5" y="1009507"/>
                <a:ext cx="6646962" cy="4968603"/>
              </a:xfrm>
              <a:blipFill rotWithShape="1">
                <a:blip r:embed="rId2"/>
                <a:stretch>
                  <a:fillRect l="-733" r="-550" b="-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05550"/>
              </p:ext>
            </p:extLst>
          </p:nvPr>
        </p:nvGraphicFramePr>
        <p:xfrm>
          <a:off x="7071257" y="1239931"/>
          <a:ext cx="1754798" cy="5242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690"/>
                <a:gridCol w="638108"/>
              </a:tblGrid>
              <a:tr h="403249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 b c d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1 1 1 0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3024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0393" y="836685"/>
            <a:ext cx="1302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Truth Table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275107" y="5906101"/>
            <a:ext cx="5104866" cy="634486"/>
            <a:chOff x="1381366" y="5906101"/>
            <a:chExt cx="5530272" cy="634486"/>
          </a:xfrm>
        </p:grpSpPr>
        <p:sp>
          <p:nvSpPr>
            <p:cNvPr id="6" name="Left Brace 5"/>
            <p:cNvSpPr/>
            <p:nvPr/>
          </p:nvSpPr>
          <p:spPr>
            <a:xfrm rot="16200000">
              <a:off x="2259873" y="5027594"/>
              <a:ext cx="144017" cy="1901031"/>
            </a:xfrm>
            <a:prstGeom prst="leftBrace">
              <a:avLst>
                <a:gd name="adj1" fmla="val 51068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Left Brace 6"/>
            <p:cNvSpPr/>
            <p:nvPr/>
          </p:nvSpPr>
          <p:spPr>
            <a:xfrm rot="16200000">
              <a:off x="5255437" y="4393917"/>
              <a:ext cx="144017" cy="3168385"/>
            </a:xfrm>
            <a:prstGeom prst="leftBrace">
              <a:avLst>
                <a:gd name="adj1" fmla="val 51068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11794" y="6078922"/>
              <a:ext cx="15200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Minterms</a:t>
              </a:r>
              <a:endParaRPr lang="en-US" sz="2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79778" y="6078922"/>
              <a:ext cx="18020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Don't Cares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4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Minimizing Functions with Don't Cares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97" y="1004022"/>
                <a:ext cx="8454935" cy="311077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Consider: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5, 6, 7, 8, 9</m:t>
                            </m:r>
                          </m:e>
                        </m:d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(10, 11, 12, 13, 14, 15)</m:t>
                            </m:r>
                          </m:e>
                        </m:nary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If the don't cares were treated as 0's we get:</a:t>
                </a:r>
              </a:p>
              <a:p>
                <a:pPr marL="0" indent="0">
                  <a:buNone/>
                  <a:tabLst>
                    <a:tab pos="3762375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𝑏𝑐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𝑐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	(9 literals)</a:t>
                </a:r>
              </a:p>
              <a:p>
                <a:pPr marL="0" indent="0">
                  <a:buNone/>
                  <a:tabLst>
                    <a:tab pos="3762375" algn="l"/>
                  </a:tabLst>
                </a:pPr>
                <a:r>
                  <a:rPr lang="en-US" sz="2400" dirty="0" smtClean="0"/>
                  <a:t>If the don't cares were treated as 1's we get:</a:t>
                </a:r>
              </a:p>
              <a:p>
                <a:pPr marL="0" indent="0">
                  <a:buNone/>
                  <a:tabLst>
                    <a:tab pos="3762375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𝑏𝑐</m:t>
                    </m:r>
                  </m:oMath>
                </a14:m>
                <a:r>
                  <a:rPr lang="en-US" sz="2400" dirty="0" smtClean="0"/>
                  <a:t>	(5 literals)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297" y="1004022"/>
                <a:ext cx="8454935" cy="3110778"/>
              </a:xfrm>
              <a:blipFill rotWithShape="1">
                <a:blip r:embed="rId2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6114095" y="3256179"/>
            <a:ext cx="2524193" cy="3110778"/>
            <a:chOff x="6711804" y="3256179"/>
            <a:chExt cx="2734542" cy="3110778"/>
          </a:xfrm>
        </p:grpSpPr>
        <p:sp>
          <p:nvSpPr>
            <p:cNvPr id="7" name="Rectangle 6"/>
            <p:cNvSpPr/>
            <p:nvPr/>
          </p:nvSpPr>
          <p:spPr>
            <a:xfrm>
              <a:off x="7262269" y="4144920"/>
              <a:ext cx="2184076" cy="22220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7413743" y="3838941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00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960159" y="3838941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01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8507367" y="3838941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11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9054576" y="3838941"/>
              <a:ext cx="2813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10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2" name="Line 18"/>
            <p:cNvSpPr>
              <a:spLocks noChangeShapeType="1"/>
            </p:cNvSpPr>
            <p:nvPr/>
          </p:nvSpPr>
          <p:spPr bwMode="auto">
            <a:xfrm flipH="1">
              <a:off x="8359066" y="4147909"/>
              <a:ext cx="0" cy="22190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811856" y="4144922"/>
              <a:ext cx="1085694" cy="2222035"/>
              <a:chOff x="4203980" y="2816120"/>
              <a:chExt cx="1683742" cy="1687148"/>
            </a:xfrm>
          </p:grpSpPr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4203980" y="2818389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19"/>
              <p:cNvSpPr>
                <a:spLocks noChangeShapeType="1"/>
              </p:cNvSpPr>
              <p:nvPr/>
            </p:nvSpPr>
            <p:spPr bwMode="auto">
              <a:xfrm>
                <a:off x="5887722" y="2816120"/>
                <a:ext cx="0" cy="1687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6923421" y="4264368"/>
              <a:ext cx="3388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00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5" name="Line 108"/>
            <p:cNvSpPr>
              <a:spLocks noChangeShapeType="1"/>
            </p:cNvSpPr>
            <p:nvPr/>
          </p:nvSpPr>
          <p:spPr bwMode="auto">
            <a:xfrm>
              <a:off x="6793411" y="3752721"/>
              <a:ext cx="471237" cy="3938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711804" y="3817374"/>
                  <a:ext cx="310381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</a:rPr>
                          <m:t>𝑎𝑏</m:t>
                        </m:r>
                      </m:oMath>
                    </m:oMathPara>
                  </a14:m>
                  <a:endParaRPr lang="en-US" alt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11804" y="3846105"/>
                  <a:ext cx="310381" cy="40420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4000" r="-28000" b="-606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7042949" y="3517871"/>
                  <a:ext cx="317853" cy="461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𝑐𝑑</m:t>
                        </m:r>
                      </m:oMath>
                    </m:oMathPara>
                  </a14:m>
                  <a:endParaRPr lang="en-US" altLang="en-US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42949" y="3517871"/>
                  <a:ext cx="317853" cy="404203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8077" r="-21154" b="-1212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7262269" y="5251030"/>
              <a:ext cx="218407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7262270" y="4693066"/>
              <a:ext cx="2184076" cy="1115927"/>
              <a:chOff x="3351657" y="3979853"/>
              <a:chExt cx="3029010" cy="1548216"/>
            </a:xfrm>
          </p:grpSpPr>
          <p:sp>
            <p:nvSpPr>
              <p:cNvPr id="32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19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41"/>
              <p:cNvSpPr>
                <a:spLocks noChangeShapeType="1"/>
              </p:cNvSpPr>
              <p:nvPr/>
            </p:nvSpPr>
            <p:spPr bwMode="auto">
              <a:xfrm flipV="1">
                <a:off x="3351657" y="5528069"/>
                <a:ext cx="302901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6923421" y="4818733"/>
              <a:ext cx="3388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01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6923420" y="5400043"/>
              <a:ext cx="3162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11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6923421" y="5956905"/>
              <a:ext cx="33884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2000" dirty="0" smtClean="0">
                  <a:solidFill>
                    <a:srgbClr val="000000"/>
                  </a:solidFill>
                </a:rPr>
                <a:t>10</a:t>
              </a:r>
              <a:endParaRPr lang="en-US" altLang="en-US" sz="2000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7487697" y="3256179"/>
                  <a:ext cx="175881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 smtClean="0"/>
                    <a:t>K-Map of </a:t>
                  </a:r>
                  <a14:m>
                    <m:oMath xmlns:m="http://schemas.openxmlformats.org/officeDocument/2006/math">
                      <m:r>
                        <a:rPr lang="en-US" sz="2400" b="1" i="1" dirty="0" smtClean="0">
                          <a:latin typeface="Cambria Math"/>
                        </a:rPr>
                        <m:t>𝒇</m:t>
                      </m:r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7697" y="3256179"/>
                  <a:ext cx="1758815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556" t="-9211" r="-2083" b="-30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/>
          <p:cNvGrpSpPr/>
          <p:nvPr/>
        </p:nvGrpSpPr>
        <p:grpSpPr>
          <a:xfrm>
            <a:off x="6794061" y="4264369"/>
            <a:ext cx="1678840" cy="2011065"/>
            <a:chOff x="7448433" y="4264368"/>
            <a:chExt cx="1818743" cy="2011065"/>
          </a:xfrm>
        </p:grpSpPr>
        <p:grpSp>
          <p:nvGrpSpPr>
            <p:cNvPr id="37" name="Group 36"/>
            <p:cNvGrpSpPr/>
            <p:nvPr/>
          </p:nvGrpSpPr>
          <p:grpSpPr>
            <a:xfrm>
              <a:off x="7448433" y="4264368"/>
              <a:ext cx="1818743" cy="369332"/>
              <a:chOff x="7442084" y="4264368"/>
              <a:chExt cx="1818743" cy="369332"/>
            </a:xfrm>
          </p:grpSpPr>
          <p:sp>
            <p:nvSpPr>
              <p:cNvPr id="18" name="Rectangle 21"/>
              <p:cNvSpPr>
                <a:spLocks noChangeArrowheads="1"/>
              </p:cNvSpPr>
              <p:nvPr/>
            </p:nvSpPr>
            <p:spPr bwMode="auto">
              <a:xfrm>
                <a:off x="8004507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8537644" y="4264368"/>
                <a:ext cx="16239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9073691" y="4264368"/>
                <a:ext cx="1871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7442084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>
                    <a:solidFill>
                      <a:srgbClr val="000000"/>
                    </a:solidFill>
                  </a:rPr>
                  <a:t>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7448433" y="4787878"/>
              <a:ext cx="1818743" cy="369332"/>
              <a:chOff x="7442084" y="4264368"/>
              <a:chExt cx="1818743" cy="369332"/>
            </a:xfrm>
          </p:grpSpPr>
          <p:sp>
            <p:nvSpPr>
              <p:cNvPr id="39" name="Rectangle 21"/>
              <p:cNvSpPr>
                <a:spLocks noChangeArrowheads="1"/>
              </p:cNvSpPr>
              <p:nvPr/>
            </p:nvSpPr>
            <p:spPr bwMode="auto">
              <a:xfrm>
                <a:off x="8004507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21"/>
              <p:cNvSpPr>
                <a:spLocks noChangeArrowheads="1"/>
              </p:cNvSpPr>
              <p:nvPr/>
            </p:nvSpPr>
            <p:spPr bwMode="auto">
              <a:xfrm>
                <a:off x="8537644" y="4264368"/>
                <a:ext cx="16239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21"/>
              <p:cNvSpPr>
                <a:spLocks noChangeArrowheads="1"/>
              </p:cNvSpPr>
              <p:nvPr/>
            </p:nvSpPr>
            <p:spPr bwMode="auto">
              <a:xfrm>
                <a:off x="9073691" y="4264368"/>
                <a:ext cx="1871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21"/>
              <p:cNvSpPr>
                <a:spLocks noChangeArrowheads="1"/>
              </p:cNvSpPr>
              <p:nvPr/>
            </p:nvSpPr>
            <p:spPr bwMode="auto">
              <a:xfrm>
                <a:off x="7442084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>
                    <a:solidFill>
                      <a:srgbClr val="000000"/>
                    </a:solidFill>
                  </a:rPr>
                  <a:t>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7448433" y="5363948"/>
              <a:ext cx="1818743" cy="369332"/>
              <a:chOff x="7442084" y="4264368"/>
              <a:chExt cx="1818743" cy="369332"/>
            </a:xfrm>
          </p:grpSpPr>
          <p:sp>
            <p:nvSpPr>
              <p:cNvPr id="44" name="Rectangle 21"/>
              <p:cNvSpPr>
                <a:spLocks noChangeArrowheads="1"/>
              </p:cNvSpPr>
              <p:nvPr/>
            </p:nvSpPr>
            <p:spPr bwMode="auto">
              <a:xfrm>
                <a:off x="8004507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21"/>
              <p:cNvSpPr>
                <a:spLocks noChangeArrowheads="1"/>
              </p:cNvSpPr>
              <p:nvPr/>
            </p:nvSpPr>
            <p:spPr bwMode="auto">
              <a:xfrm>
                <a:off x="8537644" y="4264368"/>
                <a:ext cx="16239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21"/>
              <p:cNvSpPr>
                <a:spLocks noChangeArrowheads="1"/>
              </p:cNvSpPr>
              <p:nvPr/>
            </p:nvSpPr>
            <p:spPr bwMode="auto">
              <a:xfrm>
                <a:off x="9073691" y="4264368"/>
                <a:ext cx="1871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21"/>
              <p:cNvSpPr>
                <a:spLocks noChangeArrowheads="1"/>
              </p:cNvSpPr>
              <p:nvPr/>
            </p:nvSpPr>
            <p:spPr bwMode="auto">
              <a:xfrm>
                <a:off x="7442084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448433" y="5906101"/>
              <a:ext cx="1818743" cy="369332"/>
              <a:chOff x="7442084" y="4264368"/>
              <a:chExt cx="1818743" cy="369332"/>
            </a:xfrm>
          </p:grpSpPr>
          <p:sp>
            <p:nvSpPr>
              <p:cNvPr id="49" name="Rectangle 21"/>
              <p:cNvSpPr>
                <a:spLocks noChangeArrowheads="1"/>
              </p:cNvSpPr>
              <p:nvPr/>
            </p:nvSpPr>
            <p:spPr bwMode="auto">
              <a:xfrm>
                <a:off x="8004507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Rectangle 21"/>
              <p:cNvSpPr>
                <a:spLocks noChangeArrowheads="1"/>
              </p:cNvSpPr>
              <p:nvPr/>
            </p:nvSpPr>
            <p:spPr bwMode="auto">
              <a:xfrm>
                <a:off x="8537644" y="4264368"/>
                <a:ext cx="16239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21"/>
              <p:cNvSpPr>
                <a:spLocks noChangeArrowheads="1"/>
              </p:cNvSpPr>
              <p:nvPr/>
            </p:nvSpPr>
            <p:spPr bwMode="auto">
              <a:xfrm>
                <a:off x="9073691" y="4264368"/>
                <a:ext cx="18713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X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21"/>
              <p:cNvSpPr>
                <a:spLocks noChangeArrowheads="1"/>
              </p:cNvSpPr>
              <p:nvPr/>
            </p:nvSpPr>
            <p:spPr bwMode="auto">
              <a:xfrm>
                <a:off x="7442084" y="4264368"/>
                <a:ext cx="17448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buClrTx/>
                </a:pP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6723963" y="4787877"/>
            <a:ext cx="1807974" cy="1480412"/>
            <a:chOff x="7372494" y="4787877"/>
            <a:chExt cx="1958638" cy="1480412"/>
          </a:xfrm>
        </p:grpSpPr>
        <p:sp>
          <p:nvSpPr>
            <p:cNvPr id="55" name="Rounded Rectangle 54"/>
            <p:cNvSpPr/>
            <p:nvPr/>
          </p:nvSpPr>
          <p:spPr>
            <a:xfrm>
              <a:off x="7948564" y="4787878"/>
              <a:ext cx="852510" cy="36933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478622" y="4787877"/>
              <a:ext cx="852510" cy="36933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7372494" y="5906101"/>
              <a:ext cx="852510" cy="362188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670788" y="4744770"/>
            <a:ext cx="1940799" cy="1564580"/>
            <a:chOff x="7314888" y="4744770"/>
            <a:chExt cx="2102532" cy="1564580"/>
          </a:xfrm>
        </p:grpSpPr>
        <p:sp>
          <p:nvSpPr>
            <p:cNvPr id="58" name="Rounded Rectangle 57"/>
            <p:cNvSpPr/>
            <p:nvPr/>
          </p:nvSpPr>
          <p:spPr>
            <a:xfrm>
              <a:off x="7314888" y="5363947"/>
              <a:ext cx="2016244" cy="945403"/>
            </a:xfrm>
            <a:prstGeom prst="roundRect">
              <a:avLst>
                <a:gd name="adj" fmla="val 7558"/>
              </a:avLst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99"/>
                </a:solidFill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7890957" y="4744770"/>
              <a:ext cx="964739" cy="98850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8409420" y="4744770"/>
              <a:ext cx="1008000" cy="988509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796526" y="4264369"/>
            <a:ext cx="4732637" cy="182282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 smtClean="0"/>
              <a:t>The don't care values can be selected to be either 0 or 1, to produce a minimal expression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474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Simplification Procedure with Don't Cares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951899"/>
            <a:ext cx="8561287" cy="5530272"/>
          </a:xfrm>
        </p:spPr>
        <p:txBody>
          <a:bodyPr>
            <a:normAutofit/>
          </a:bodyPr>
          <a:lstStyle/>
          <a:p>
            <a:pPr marL="357188" indent="-357188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en-US" sz="2000" dirty="0" smtClean="0"/>
              <a:t>Find all the essential prime </a:t>
            </a:r>
            <a:r>
              <a:rPr lang="en-US" sz="2000" dirty="0" err="1" smtClean="0"/>
              <a:t>implicants</a:t>
            </a:r>
            <a:endParaRPr lang="en-US" sz="2000" dirty="0" smtClean="0"/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Covering maximum number (power of 2) of 1's and X's (don't cares)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Mark the 1's that make the prime </a:t>
            </a:r>
            <a:r>
              <a:rPr lang="en-US" sz="1800" dirty="0" err="1" smtClean="0"/>
              <a:t>implicants</a:t>
            </a:r>
            <a:r>
              <a:rPr lang="en-US" sz="1800" dirty="0" smtClean="0"/>
              <a:t> essential</a:t>
            </a:r>
          </a:p>
          <a:p>
            <a:pPr marL="357188" indent="-357188">
              <a:lnSpc>
                <a:spcPct val="110000"/>
              </a:lnSpc>
              <a:spcBef>
                <a:spcPts val="2000"/>
              </a:spcBef>
              <a:buFont typeface="+mj-lt"/>
              <a:buAutoNum type="arabicPeriod"/>
            </a:pPr>
            <a:r>
              <a:rPr lang="en-US" sz="2000" dirty="0" smtClean="0"/>
              <a:t>Add prime </a:t>
            </a:r>
            <a:r>
              <a:rPr lang="en-US" sz="2000" dirty="0" err="1" smtClean="0"/>
              <a:t>implicants</a:t>
            </a:r>
            <a:r>
              <a:rPr lang="en-US" sz="2000" dirty="0" smtClean="0"/>
              <a:t> to cover the function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Choose </a:t>
            </a:r>
            <a:r>
              <a:rPr lang="en-US" sz="1800" dirty="0"/>
              <a:t>a minimal </a:t>
            </a:r>
            <a:r>
              <a:rPr lang="en-US" sz="1800" dirty="0" smtClean="0"/>
              <a:t>subset </a:t>
            </a:r>
            <a:r>
              <a:rPr lang="en-US" sz="1800" dirty="0"/>
              <a:t>of prime </a:t>
            </a:r>
            <a:r>
              <a:rPr lang="en-US" sz="1800" dirty="0" err="1" smtClean="0"/>
              <a:t>implicants</a:t>
            </a:r>
            <a:r>
              <a:rPr lang="en-US" sz="1800" dirty="0" smtClean="0"/>
              <a:t> that cover all remaining 1's</a:t>
            </a:r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Make sure to cover all 1's not covered by the essential prime </a:t>
            </a:r>
            <a:r>
              <a:rPr lang="en-US" sz="1800" dirty="0" err="1" smtClean="0"/>
              <a:t>implicants</a:t>
            </a:r>
            <a:endParaRPr lang="en-US" sz="1800" dirty="0" smtClean="0"/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 smtClean="0"/>
              <a:t>Minimize the overlap among the additional prime </a:t>
            </a:r>
            <a:r>
              <a:rPr lang="en-US" sz="1800" dirty="0" err="1" smtClean="0"/>
              <a:t>implicants</a:t>
            </a:r>
            <a:endParaRPr lang="en-US" sz="1800" dirty="0" smtClean="0"/>
          </a:p>
          <a:p>
            <a:pPr marL="808038" lvl="1" indent="-357188">
              <a:lnSpc>
                <a:spcPct val="110000"/>
              </a:lnSpc>
              <a:spcBef>
                <a:spcPts val="2000"/>
              </a:spcBef>
            </a:pPr>
            <a:r>
              <a:rPr lang="en-US" sz="1800" dirty="0"/>
              <a:t>You need not cover all the don't cares (some can remain uncovered</a:t>
            </a:r>
            <a:r>
              <a:rPr lang="en-US" sz="1800" dirty="0" smtClean="0"/>
              <a:t>)</a:t>
            </a:r>
          </a:p>
          <a:p>
            <a:pPr marL="357188" indent="-357188">
              <a:lnSpc>
                <a:spcPct val="110000"/>
              </a:lnSpc>
              <a:spcBef>
                <a:spcPts val="2000"/>
              </a:spcBef>
            </a:pPr>
            <a:r>
              <a:rPr lang="en-US" sz="2000" dirty="0" smtClean="0"/>
              <a:t>Sometimes, a function has multiple simplified expressions</a:t>
            </a:r>
          </a:p>
        </p:txBody>
      </p:sp>
    </p:spTree>
    <p:extLst>
      <p:ext uri="{BB962C8B-B14F-4D97-AF65-F5344CB8AC3E}">
        <p14:creationId xmlns:p14="http://schemas.microsoft.com/office/powerpoint/2010/main" val="18791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Minimizing Functions with Don't Cares (2)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0" y="894293"/>
                <a:ext cx="8229600" cy="213145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500"/>
                  </a:spcBef>
                  <a:buNone/>
                </a:pPr>
                <a:r>
                  <a:rPr lang="en-US" sz="2400" dirty="0" smtClean="0"/>
                  <a:t>Simplify: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𝑔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1, 3, 7, 11, 15</m:t>
                            </m:r>
                          </m:e>
                        </m:d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0, 2, 5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spcBef>
                    <a:spcPts val="2500"/>
                  </a:spcBef>
                  <a:buNone/>
                  <a:tabLst>
                    <a:tab pos="4302125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 1: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𝑔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𝑐𝑑</m:t>
                    </m:r>
                    <m:r>
                      <a:rPr lang="en-US" sz="2400" i="1" dirty="0" err="1">
                        <a:latin typeface="Cambria Math"/>
                      </a:rPr>
                      <m:t>+</m:t>
                    </m:r>
                    <m:r>
                      <a:rPr lang="en-US" sz="2400" i="1" dirty="0">
                        <a:solidFill>
                          <a:srgbClr val="008000"/>
                        </a:solidFill>
                        <a:latin typeface="Cambria Math"/>
                      </a:rPr>
                      <m:t>𝑎</m:t>
                    </m:r>
                    <m:r>
                      <a:rPr lang="en-US" sz="2400" i="1" dirty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>
                        <a:solidFill>
                          <a:srgbClr val="008000"/>
                        </a:solidFill>
                        <a:latin typeface="Cambria Math"/>
                      </a:rPr>
                      <m:t>𝑏</m:t>
                    </m:r>
                    <m:r>
                      <a:rPr lang="en-US" sz="24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(4 </a:t>
                </a:r>
                <a:r>
                  <a:rPr lang="en-US" sz="2400" dirty="0"/>
                  <a:t>literals)</a:t>
                </a:r>
              </a:p>
              <a:p>
                <a:pPr marL="0" indent="0">
                  <a:spcBef>
                    <a:spcPts val="2500"/>
                  </a:spcBef>
                  <a:buNone/>
                  <a:tabLst>
                    <a:tab pos="4302125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 2: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𝑔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/>
                      </a:rPr>
                      <m:t>𝑐𝑑</m:t>
                    </m:r>
                    <m:r>
                      <a:rPr lang="en-US" sz="2400" i="1" dirty="0" err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lang="en-US" sz="2400" dirty="0"/>
                  <a:t>	(4 literals</a:t>
                </a:r>
                <a:r>
                  <a:rPr lang="en-US" sz="2400" dirty="0" smtClean="0"/>
                  <a:t>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0" y="894293"/>
                <a:ext cx="8229600" cy="2131459"/>
              </a:xfrm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530647" y="3313786"/>
            <a:ext cx="2524193" cy="3110778"/>
            <a:chOff x="6623603" y="3256179"/>
            <a:chExt cx="2734542" cy="3110778"/>
          </a:xfrm>
        </p:grpSpPr>
        <p:grpSp>
          <p:nvGrpSpPr>
            <p:cNvPr id="54" name="Group 53"/>
            <p:cNvGrpSpPr/>
            <p:nvPr/>
          </p:nvGrpSpPr>
          <p:grpSpPr>
            <a:xfrm>
              <a:off x="6623603" y="3256179"/>
              <a:ext cx="2734542" cy="3110778"/>
              <a:chOff x="6711804" y="3256179"/>
              <a:chExt cx="2734542" cy="311077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7262269" y="4144920"/>
                <a:ext cx="2184076" cy="22220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13743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960159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8507367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9054576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Line 18"/>
              <p:cNvSpPr>
                <a:spLocks noChangeShapeType="1"/>
              </p:cNvSpPr>
              <p:nvPr/>
            </p:nvSpPr>
            <p:spPr bwMode="auto">
              <a:xfrm flipH="1">
                <a:off x="8359066" y="4147909"/>
                <a:ext cx="0" cy="221904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7811856" y="4144922"/>
                <a:ext cx="1085694" cy="2222035"/>
                <a:chOff x="4203980" y="2816120"/>
                <a:chExt cx="1683742" cy="1687148"/>
              </a:xfrm>
            </p:grpSpPr>
            <p:sp>
              <p:nvSpPr>
                <p:cNvPr id="34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" name="Rectangle 21"/>
              <p:cNvSpPr>
                <a:spLocks noChangeArrowheads="1"/>
              </p:cNvSpPr>
              <p:nvPr/>
            </p:nvSpPr>
            <p:spPr bwMode="auto">
              <a:xfrm>
                <a:off x="6923421" y="4264368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Line 108"/>
              <p:cNvSpPr>
                <a:spLocks noChangeShapeType="1"/>
              </p:cNvSpPr>
              <p:nvPr/>
            </p:nvSpPr>
            <p:spPr bwMode="auto">
              <a:xfrm>
                <a:off x="6793411" y="3752721"/>
                <a:ext cx="471237" cy="3938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1804" y="3817374"/>
                    <a:ext cx="31038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6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11804" y="3846105"/>
                    <a:ext cx="310381" cy="404203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52941" r="-25490" b="-447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42949" y="3517871"/>
                    <a:ext cx="317853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42949" y="3517871"/>
                    <a:ext cx="317853" cy="404203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Line 41"/>
              <p:cNvSpPr>
                <a:spLocks noChangeShapeType="1"/>
              </p:cNvSpPr>
              <p:nvPr/>
            </p:nvSpPr>
            <p:spPr bwMode="auto">
              <a:xfrm flipV="1">
                <a:off x="7262269" y="5251030"/>
                <a:ext cx="218407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7262270" y="4693066"/>
                <a:ext cx="2184076" cy="1115927"/>
                <a:chOff x="3351657" y="3979853"/>
                <a:chExt cx="3029010" cy="1548216"/>
              </a:xfrm>
            </p:grpSpPr>
            <p:sp>
              <p:nvSpPr>
                <p:cNvPr id="3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6923421" y="4818733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6923420" y="5400043"/>
                <a:ext cx="31629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6923421" y="5956905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7487697" y="3256179"/>
                    <a:ext cx="179408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 smtClean="0"/>
                      <a:t>K-Map of </a:t>
                    </a:r>
                    <a14:m>
                      <m:oMath xmlns:m="http://schemas.openxmlformats.org/officeDocument/2006/math">
                        <m:r>
                          <a:rPr lang="en-US" sz="2400" b="1" i="1" dirty="0" smtClean="0">
                            <a:latin typeface="Cambria Math"/>
                          </a:rPr>
                          <m:t>𝒈</m:t>
                        </m:r>
                      </m:oMath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7697" y="3256179"/>
                    <a:ext cx="1794081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5442" t="-9333" r="-34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" name="Group 52"/>
            <p:cNvGrpSpPr/>
            <p:nvPr/>
          </p:nvGrpSpPr>
          <p:grpSpPr>
            <a:xfrm>
              <a:off x="7360232" y="4264368"/>
              <a:ext cx="1818743" cy="2011065"/>
              <a:chOff x="7448433" y="4264368"/>
              <a:chExt cx="1818743" cy="2011065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7448433" y="426436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18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7448433" y="478787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39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7448433" y="536394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44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7448433" y="5906101"/>
                <a:ext cx="1818743" cy="369332"/>
                <a:chOff x="7442084" y="4264368"/>
                <a:chExt cx="1818743" cy="369332"/>
              </a:xfrm>
            </p:grpSpPr>
            <p:sp>
              <p:nvSpPr>
                <p:cNvPr id="49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6" name="Group 25"/>
          <p:cNvGrpSpPr/>
          <p:nvPr/>
        </p:nvGrpSpPr>
        <p:grpSpPr>
          <a:xfrm>
            <a:off x="1091793" y="4307915"/>
            <a:ext cx="1920184" cy="2025125"/>
            <a:chOff x="1847046" y="4307914"/>
            <a:chExt cx="2080199" cy="2025125"/>
          </a:xfrm>
        </p:grpSpPr>
        <p:sp>
          <p:nvSpPr>
            <p:cNvPr id="55" name="Rounded Rectangle 54"/>
            <p:cNvSpPr/>
            <p:nvPr/>
          </p:nvSpPr>
          <p:spPr>
            <a:xfrm>
              <a:off x="3005957" y="4307914"/>
              <a:ext cx="322452" cy="202512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847046" y="4307914"/>
              <a:ext cx="2080199" cy="36933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455310" y="3313786"/>
            <a:ext cx="2524193" cy="3110778"/>
            <a:chOff x="6623603" y="3256179"/>
            <a:chExt cx="2734542" cy="3110778"/>
          </a:xfrm>
        </p:grpSpPr>
        <p:grpSp>
          <p:nvGrpSpPr>
            <p:cNvPr id="65" name="Group 64"/>
            <p:cNvGrpSpPr/>
            <p:nvPr/>
          </p:nvGrpSpPr>
          <p:grpSpPr>
            <a:xfrm>
              <a:off x="6623603" y="3256179"/>
              <a:ext cx="2734542" cy="3110778"/>
              <a:chOff x="6711804" y="3256179"/>
              <a:chExt cx="2734542" cy="3110778"/>
            </a:xfrm>
          </p:grpSpPr>
          <p:sp>
            <p:nvSpPr>
              <p:cNvPr id="87" name="Rectangle 86"/>
              <p:cNvSpPr/>
              <p:nvPr/>
            </p:nvSpPr>
            <p:spPr>
              <a:xfrm>
                <a:off x="7262269" y="4144920"/>
                <a:ext cx="2184076" cy="22220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/>
              <p:cNvSpPr>
                <a:spLocks noChangeArrowheads="1"/>
              </p:cNvSpPr>
              <p:nvPr/>
            </p:nvSpPr>
            <p:spPr bwMode="auto">
              <a:xfrm>
                <a:off x="7413743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9"/>
              <p:cNvSpPr>
                <a:spLocks noChangeArrowheads="1"/>
              </p:cNvSpPr>
              <p:nvPr/>
            </p:nvSpPr>
            <p:spPr bwMode="auto">
              <a:xfrm>
                <a:off x="7960159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11"/>
              <p:cNvSpPr>
                <a:spLocks noChangeArrowheads="1"/>
              </p:cNvSpPr>
              <p:nvPr/>
            </p:nvSpPr>
            <p:spPr bwMode="auto">
              <a:xfrm>
                <a:off x="8507367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Rectangle 13"/>
              <p:cNvSpPr>
                <a:spLocks noChangeArrowheads="1"/>
              </p:cNvSpPr>
              <p:nvPr/>
            </p:nvSpPr>
            <p:spPr bwMode="auto">
              <a:xfrm>
                <a:off x="9054576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Line 18"/>
              <p:cNvSpPr>
                <a:spLocks noChangeShapeType="1"/>
              </p:cNvSpPr>
              <p:nvPr/>
            </p:nvSpPr>
            <p:spPr bwMode="auto">
              <a:xfrm flipH="1">
                <a:off x="8359066" y="4147909"/>
                <a:ext cx="0" cy="221904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3" name="Group 92"/>
              <p:cNvGrpSpPr/>
              <p:nvPr/>
            </p:nvGrpSpPr>
            <p:grpSpPr>
              <a:xfrm>
                <a:off x="7811856" y="4144922"/>
                <a:ext cx="1085694" cy="2222035"/>
                <a:chOff x="4203980" y="2816120"/>
                <a:chExt cx="1683742" cy="1687148"/>
              </a:xfrm>
            </p:grpSpPr>
            <p:sp>
              <p:nvSpPr>
                <p:cNvPr id="106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4" name="Rectangle 21"/>
              <p:cNvSpPr>
                <a:spLocks noChangeArrowheads="1"/>
              </p:cNvSpPr>
              <p:nvPr/>
            </p:nvSpPr>
            <p:spPr bwMode="auto">
              <a:xfrm>
                <a:off x="6923421" y="4264368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Line 108"/>
              <p:cNvSpPr>
                <a:spLocks noChangeShapeType="1"/>
              </p:cNvSpPr>
              <p:nvPr/>
            </p:nvSpPr>
            <p:spPr bwMode="auto">
              <a:xfrm>
                <a:off x="6793411" y="3752721"/>
                <a:ext cx="471237" cy="3938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1804" y="3817374"/>
                    <a:ext cx="31038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96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11804" y="3846105"/>
                    <a:ext cx="310381" cy="404203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52941" r="-25490" b="-4478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42949" y="3517871"/>
                    <a:ext cx="317853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7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42949" y="3517871"/>
                    <a:ext cx="317853" cy="404203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47170" r="-18868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8" name="Line 41"/>
              <p:cNvSpPr>
                <a:spLocks noChangeShapeType="1"/>
              </p:cNvSpPr>
              <p:nvPr/>
            </p:nvSpPr>
            <p:spPr bwMode="auto">
              <a:xfrm flipV="1">
                <a:off x="7262269" y="5251030"/>
                <a:ext cx="218407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9" name="Group 98"/>
              <p:cNvGrpSpPr/>
              <p:nvPr/>
            </p:nvGrpSpPr>
            <p:grpSpPr>
              <a:xfrm>
                <a:off x="7262270" y="4693066"/>
                <a:ext cx="2184076" cy="1115927"/>
                <a:chOff x="3351657" y="3979853"/>
                <a:chExt cx="3029010" cy="1548216"/>
              </a:xfrm>
            </p:grpSpPr>
            <p:sp>
              <p:nvSpPr>
                <p:cNvPr id="104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" name="Rectangle 21"/>
              <p:cNvSpPr>
                <a:spLocks noChangeArrowheads="1"/>
              </p:cNvSpPr>
              <p:nvPr/>
            </p:nvSpPr>
            <p:spPr bwMode="auto">
              <a:xfrm>
                <a:off x="6923421" y="4818733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21"/>
              <p:cNvSpPr>
                <a:spLocks noChangeArrowheads="1"/>
              </p:cNvSpPr>
              <p:nvPr/>
            </p:nvSpPr>
            <p:spPr bwMode="auto">
              <a:xfrm>
                <a:off x="6923420" y="5400043"/>
                <a:ext cx="31629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Rectangle 21"/>
              <p:cNvSpPr>
                <a:spLocks noChangeArrowheads="1"/>
              </p:cNvSpPr>
              <p:nvPr/>
            </p:nvSpPr>
            <p:spPr bwMode="auto">
              <a:xfrm>
                <a:off x="6923421" y="5956905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7487697" y="3256179"/>
                    <a:ext cx="179408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 smtClean="0"/>
                      <a:t>K-Map of </a:t>
                    </a:r>
                    <a14:m>
                      <m:oMath xmlns:m="http://schemas.openxmlformats.org/officeDocument/2006/math">
                        <m:r>
                          <a:rPr lang="en-US" sz="2400" b="1" i="1" dirty="0" smtClean="0">
                            <a:latin typeface="Cambria Math"/>
                          </a:rPr>
                          <m:t>𝒈</m:t>
                        </m:r>
                      </m:oMath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103" name="TextBox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7697" y="3256179"/>
                    <a:ext cx="1794081" cy="461665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5085" t="-9333" r="-339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/>
            <p:cNvGrpSpPr/>
            <p:nvPr/>
          </p:nvGrpSpPr>
          <p:grpSpPr>
            <a:xfrm>
              <a:off x="7360232" y="4264368"/>
              <a:ext cx="1818743" cy="2011065"/>
              <a:chOff x="7448433" y="4264368"/>
              <a:chExt cx="1818743" cy="2011065"/>
            </a:xfrm>
          </p:grpSpPr>
          <p:grpSp>
            <p:nvGrpSpPr>
              <p:cNvPr id="67" name="Group 66"/>
              <p:cNvGrpSpPr/>
              <p:nvPr/>
            </p:nvGrpSpPr>
            <p:grpSpPr>
              <a:xfrm>
                <a:off x="7448433" y="426436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83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8" name="Group 67"/>
              <p:cNvGrpSpPr/>
              <p:nvPr/>
            </p:nvGrpSpPr>
            <p:grpSpPr>
              <a:xfrm>
                <a:off x="7448433" y="478787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79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9" name="Group 68"/>
              <p:cNvGrpSpPr/>
              <p:nvPr/>
            </p:nvGrpSpPr>
            <p:grpSpPr>
              <a:xfrm>
                <a:off x="7448433" y="536394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0" name="Group 69"/>
              <p:cNvGrpSpPr/>
              <p:nvPr/>
            </p:nvGrpSpPr>
            <p:grpSpPr>
              <a:xfrm>
                <a:off x="7448433" y="5906101"/>
                <a:ext cx="1818743" cy="369332"/>
                <a:chOff x="7442084" y="4264368"/>
                <a:chExt cx="1818743" cy="369332"/>
              </a:xfrm>
            </p:grpSpPr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7" name="Group 26"/>
          <p:cNvGrpSpPr/>
          <p:nvPr/>
        </p:nvGrpSpPr>
        <p:grpSpPr>
          <a:xfrm>
            <a:off x="4508949" y="4254619"/>
            <a:ext cx="924119" cy="2078421"/>
            <a:chOff x="5633585" y="4254618"/>
            <a:chExt cx="1001129" cy="2078421"/>
          </a:xfrm>
        </p:grpSpPr>
        <p:sp>
          <p:nvSpPr>
            <p:cNvPr id="108" name="Rounded Rectangle 107"/>
            <p:cNvSpPr/>
            <p:nvPr/>
          </p:nvSpPr>
          <p:spPr>
            <a:xfrm>
              <a:off x="6258962" y="4307914"/>
              <a:ext cx="322452" cy="202512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5633585" y="4254618"/>
              <a:ext cx="1001129" cy="99759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6539499" y="4552404"/>
            <a:ext cx="2180203" cy="1641733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Not all don't cares </a:t>
            </a:r>
            <a:r>
              <a:rPr lang="en-US" sz="2400" dirty="0" smtClean="0"/>
              <a:t>need be </a:t>
            </a:r>
            <a:r>
              <a:rPr lang="en-US" sz="2400" dirty="0"/>
              <a:t>covered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/>
              <p:cNvSpPr/>
              <p:nvPr/>
            </p:nvSpPr>
            <p:spPr>
              <a:xfrm>
                <a:off x="6539500" y="1758398"/>
                <a:ext cx="2180203" cy="1440175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square" anchor="ctr" anchorCtr="0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2400" dirty="0" smtClean="0"/>
                  <a:t>Prime </a:t>
                </a:r>
                <a:r>
                  <a:rPr lang="en-US" sz="2400" dirty="0" err="1" smtClean="0"/>
                  <a:t>Implicant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𝑐𝑑</m:t>
                    </m:r>
                  </m:oMath>
                </a14:m>
                <a:r>
                  <a:rPr lang="en-US" sz="2400" dirty="0" smtClean="0"/>
                  <a:t> is essential</a:t>
                </a:r>
                <a:endParaRPr lang="en-US" sz="2400" dirty="0"/>
              </a:p>
            </p:txBody>
          </p:sp>
        </mc:Choice>
        <mc:Fallback xmlns="">
          <p:sp>
            <p:nvSpPr>
              <p:cNvPr id="110" name="Rectangle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500" y="1758398"/>
                <a:ext cx="2180203" cy="1440175"/>
              </a:xfrm>
              <a:prstGeom prst="rect">
                <a:avLst/>
              </a:prstGeom>
              <a:blipFill rotWithShape="1">
                <a:blip r:embed="rId9"/>
                <a:stretch>
                  <a:fillRect l="-2770" r="-277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26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Minimal Product-of-Sums with Don't Cares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0" y="894293"/>
                <a:ext cx="8229600" cy="4620965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2000"/>
                  </a:spcBef>
                  <a:buNone/>
                </a:pPr>
                <a:r>
                  <a:rPr lang="en-US" sz="2400" dirty="0" smtClean="0"/>
                  <a:t>Simplify: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𝑔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1, 3, 7, 11, 15</m:t>
                            </m:r>
                          </m:e>
                        </m:d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0, 2, 5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sz="2400" dirty="0" smtClean="0"/>
              </a:p>
              <a:p>
                <a:pPr marL="0" indent="0">
                  <a:spcBef>
                    <a:spcPts val="2000"/>
                  </a:spcBef>
                  <a:buNone/>
                  <a:tabLst>
                    <a:tab pos="4302125" algn="l"/>
                  </a:tabLst>
                </a:pPr>
                <a:r>
                  <a:rPr lang="en-US" sz="2400" dirty="0" smtClean="0"/>
                  <a:t>Obtain a product-of-sums minimal expression</a:t>
                </a:r>
              </a:p>
              <a:p>
                <a:pPr marL="0" indent="0">
                  <a:spcBef>
                    <a:spcPts val="2000"/>
                  </a:spcBef>
                  <a:buNone/>
                  <a:tabLst>
                    <a:tab pos="4302125" algn="l"/>
                  </a:tabLst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Solution: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𝑔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4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6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8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9, 10, 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1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13, </m:t>
                            </m:r>
                            <m:r>
                              <a:rPr lang="en-US" sz="2400" i="1" dirty="0">
                                <a:latin typeface="Cambria Math"/>
                              </a:rPr>
                              <m:t>1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4</m:t>
                            </m:r>
                          </m:e>
                        </m:d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 dirty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 dirty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(0, 2, 5)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400" dirty="0" smtClean="0"/>
                  <a:t> </a:t>
                </a:r>
              </a:p>
              <a:p>
                <a:pPr marL="0" indent="0">
                  <a:spcBef>
                    <a:spcPts val="2000"/>
                  </a:spcBef>
                  <a:buNone/>
                  <a:tabLst>
                    <a:tab pos="3768725" algn="l"/>
                  </a:tabLst>
                </a:pPr>
                <a:r>
                  <a:rPr lang="en-US" sz="2400" b="0" dirty="0" smtClean="0"/>
                  <a:t>Minimal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𝑔</m:t>
                    </m:r>
                    <m:r>
                      <a:rPr lang="en-US" sz="2400" b="0" i="1" dirty="0" smtClean="0">
                        <a:latin typeface="Cambria Math"/>
                      </a:rPr>
                      <m:t>′=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′+</m:t>
                    </m:r>
                    <m:r>
                      <a:rPr lang="en-US" sz="2400" i="1" dirty="0">
                        <a:solidFill>
                          <a:srgbClr val="008000"/>
                        </a:solidFill>
                        <a:latin typeface="Cambria Math"/>
                      </a:rPr>
                      <m:t>𝑎</m:t>
                    </m:r>
                    <m:r>
                      <a:rPr lang="en-US" sz="24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𝑐</m:t>
                    </m:r>
                    <m:r>
                      <a:rPr lang="en-US" sz="24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(3 </a:t>
                </a:r>
                <a:r>
                  <a:rPr lang="en-US" sz="2400" dirty="0"/>
                  <a:t>literals)</a:t>
                </a:r>
              </a:p>
              <a:p>
                <a:pPr marL="0" indent="0">
                  <a:spcBef>
                    <a:spcPts val="2000"/>
                  </a:spcBef>
                  <a:buNone/>
                  <a:tabLst>
                    <a:tab pos="3768725" algn="l"/>
                  </a:tabLst>
                </a:pPr>
                <a:r>
                  <a:rPr lang="en-US" sz="2400" dirty="0" smtClean="0"/>
                  <a:t>Minimal product-of-sums:</a:t>
                </a:r>
              </a:p>
              <a:p>
                <a:pPr marL="0" indent="0">
                  <a:spcBef>
                    <a:spcPts val="2000"/>
                  </a:spcBef>
                  <a:buNone/>
                  <a:tabLst>
                    <a:tab pos="3768725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𝑔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𝑐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(3 </a:t>
                </a:r>
                <a:r>
                  <a:rPr lang="en-US" sz="2400" dirty="0"/>
                  <a:t>literals</a:t>
                </a:r>
                <a:r>
                  <a:rPr lang="en-US" sz="2400" dirty="0" smtClean="0"/>
                  <a:t>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0" y="894293"/>
                <a:ext cx="8229600" cy="4620965"/>
              </a:xfrm>
              <a:blipFill rotWithShape="1">
                <a:blip r:embed="rId2"/>
                <a:stretch>
                  <a:fillRect l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142336" y="3371393"/>
            <a:ext cx="2524193" cy="3110778"/>
            <a:chOff x="6623603" y="3256179"/>
            <a:chExt cx="2734542" cy="3110778"/>
          </a:xfrm>
        </p:grpSpPr>
        <p:grpSp>
          <p:nvGrpSpPr>
            <p:cNvPr id="54" name="Group 53"/>
            <p:cNvGrpSpPr/>
            <p:nvPr/>
          </p:nvGrpSpPr>
          <p:grpSpPr>
            <a:xfrm>
              <a:off x="6623603" y="3256179"/>
              <a:ext cx="2734542" cy="3110778"/>
              <a:chOff x="6711804" y="3256179"/>
              <a:chExt cx="2734542" cy="311077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7262269" y="4144920"/>
                <a:ext cx="2184076" cy="22220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413743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960159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8507367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9054576" y="3838941"/>
                <a:ext cx="281326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Line 18"/>
              <p:cNvSpPr>
                <a:spLocks noChangeShapeType="1"/>
              </p:cNvSpPr>
              <p:nvPr/>
            </p:nvSpPr>
            <p:spPr bwMode="auto">
              <a:xfrm flipH="1">
                <a:off x="8359066" y="4147909"/>
                <a:ext cx="0" cy="221904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7811856" y="4144922"/>
                <a:ext cx="1085694" cy="2222035"/>
                <a:chOff x="4203980" y="2816120"/>
                <a:chExt cx="1683742" cy="1687148"/>
              </a:xfrm>
            </p:grpSpPr>
            <p:sp>
              <p:nvSpPr>
                <p:cNvPr id="34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9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20"/>
                  <a:ext cx="0" cy="16871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" name="Rectangle 21"/>
              <p:cNvSpPr>
                <a:spLocks noChangeArrowheads="1"/>
              </p:cNvSpPr>
              <p:nvPr/>
            </p:nvSpPr>
            <p:spPr bwMode="auto">
              <a:xfrm>
                <a:off x="6923421" y="4264368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Line 108"/>
              <p:cNvSpPr>
                <a:spLocks noChangeShapeType="1"/>
              </p:cNvSpPr>
              <p:nvPr/>
            </p:nvSpPr>
            <p:spPr bwMode="auto">
              <a:xfrm>
                <a:off x="6793411" y="3752721"/>
                <a:ext cx="471237" cy="3938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711804" y="3817374"/>
                    <a:ext cx="31038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</a:rPr>
                            <m:t>𝑎𝑏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6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711804" y="3846105"/>
                    <a:ext cx="310381" cy="404203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54000" r="-28000" b="-454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042949" y="3517871"/>
                    <a:ext cx="317853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b="0" i="1" dirty="0" smtClean="0">
                              <a:latin typeface="Cambria Math"/>
                              <a:cs typeface="Times New Roman" panose="02020603050405020304" pitchFamily="18" charset="0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42949" y="3517871"/>
                    <a:ext cx="317853" cy="404203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48077" r="-21154" b="-1212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Line 41"/>
              <p:cNvSpPr>
                <a:spLocks noChangeShapeType="1"/>
              </p:cNvSpPr>
              <p:nvPr/>
            </p:nvSpPr>
            <p:spPr bwMode="auto">
              <a:xfrm flipV="1">
                <a:off x="7262269" y="5251030"/>
                <a:ext cx="218407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7262270" y="4693066"/>
                <a:ext cx="2184076" cy="1115927"/>
                <a:chOff x="3351657" y="3979853"/>
                <a:chExt cx="3029010" cy="1548216"/>
              </a:xfrm>
            </p:grpSpPr>
            <p:sp>
              <p:nvSpPr>
                <p:cNvPr id="3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7" y="5528069"/>
                  <a:ext cx="302901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6923421" y="4818733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>
                <a:off x="6923420" y="5400043"/>
                <a:ext cx="31629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6923421" y="5956905"/>
                <a:ext cx="338848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2000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sz="2000" b="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7487697" y="3256179"/>
                    <a:ext cx="1874231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 smtClean="0"/>
                      <a:t>K-Map of </a:t>
                    </a:r>
                    <a14:m>
                      <m:oMath xmlns:m="http://schemas.openxmlformats.org/officeDocument/2006/math">
                        <m:r>
                          <a:rPr lang="en-US" sz="2400" b="1" i="1" dirty="0" smtClean="0">
                            <a:latin typeface="Cambria Math"/>
                          </a:rPr>
                          <m:t>𝒈</m:t>
                        </m:r>
                        <m:r>
                          <a:rPr lang="en-US" sz="2400" b="1" i="1" dirty="0" smtClean="0">
                            <a:latin typeface="Cambria Math"/>
                          </a:rPr>
                          <m:t>′</m:t>
                        </m:r>
                      </m:oMath>
                    </a14:m>
                    <a:endParaRPr lang="en-US" sz="2400" b="1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7697" y="3256179"/>
                    <a:ext cx="1874231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5212" t="-9211" r="-2606" b="-302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" name="Group 52"/>
            <p:cNvGrpSpPr/>
            <p:nvPr/>
          </p:nvGrpSpPr>
          <p:grpSpPr>
            <a:xfrm>
              <a:off x="7360232" y="4264368"/>
              <a:ext cx="1818743" cy="2011065"/>
              <a:chOff x="7448433" y="4264368"/>
              <a:chExt cx="1818743" cy="2011065"/>
            </a:xfrm>
          </p:grpSpPr>
          <p:grpSp>
            <p:nvGrpSpPr>
              <p:cNvPr id="37" name="Group 36"/>
              <p:cNvGrpSpPr/>
              <p:nvPr/>
            </p:nvGrpSpPr>
            <p:grpSpPr>
              <a:xfrm>
                <a:off x="7448433" y="426436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18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7448433" y="478787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39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X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7448433" y="5363948"/>
                <a:ext cx="1818743" cy="369332"/>
                <a:chOff x="7442084" y="4264368"/>
                <a:chExt cx="1818743" cy="369332"/>
              </a:xfrm>
            </p:grpSpPr>
            <p:sp>
              <p:nvSpPr>
                <p:cNvPr id="44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7448433" y="5906101"/>
                <a:ext cx="1818743" cy="369332"/>
                <a:chOff x="7442084" y="4264368"/>
                <a:chExt cx="1818743" cy="369332"/>
              </a:xfrm>
            </p:grpSpPr>
            <p:sp>
              <p:nvSpPr>
                <p:cNvPr id="49" name="Rectangle 21"/>
                <p:cNvSpPr>
                  <a:spLocks noChangeArrowheads="1"/>
                </p:cNvSpPr>
                <p:nvPr/>
              </p:nvSpPr>
              <p:spPr bwMode="auto">
                <a:xfrm>
                  <a:off x="8004507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21"/>
                <p:cNvSpPr>
                  <a:spLocks noChangeArrowheads="1"/>
                </p:cNvSpPr>
                <p:nvPr/>
              </p:nvSpPr>
              <p:spPr bwMode="auto">
                <a:xfrm>
                  <a:off x="8537644" y="4264368"/>
                  <a:ext cx="16239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0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73691" y="4264368"/>
                  <a:ext cx="18713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21"/>
                <p:cNvSpPr>
                  <a:spLocks noChangeArrowheads="1"/>
                </p:cNvSpPr>
                <p:nvPr/>
              </p:nvSpPr>
              <p:spPr bwMode="auto">
                <a:xfrm>
                  <a:off x="7442084" y="4264368"/>
                  <a:ext cx="174485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buClrTx/>
                  </a:pPr>
                  <a:r>
                    <a:rPr lang="en-US" altLang="en-US" sz="2400" dirty="0" smtClean="0">
                      <a:solidFill>
                        <a:srgbClr val="000000"/>
                      </a:solidFill>
                    </a:rPr>
                    <a:t>1</a:t>
                  </a:r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0" name="Group 29"/>
          <p:cNvGrpSpPr/>
          <p:nvPr/>
        </p:nvGrpSpPr>
        <p:grpSpPr>
          <a:xfrm>
            <a:off x="6554322" y="4325420"/>
            <a:ext cx="2237276" cy="2110206"/>
            <a:chOff x="7100515" y="4325420"/>
            <a:chExt cx="2423716" cy="2110206"/>
          </a:xfrm>
        </p:grpSpPr>
        <p:sp>
          <p:nvSpPr>
            <p:cNvPr id="55" name="Rounded Rectangle 54"/>
            <p:cNvSpPr/>
            <p:nvPr/>
          </p:nvSpPr>
          <p:spPr>
            <a:xfrm>
              <a:off x="7268863" y="5423063"/>
              <a:ext cx="967735" cy="1012563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7100515" y="4325420"/>
              <a:ext cx="2423716" cy="2075291"/>
              <a:chOff x="7100515" y="4325420"/>
              <a:chExt cx="2423716" cy="2075291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7100515" y="4325420"/>
                <a:ext cx="596348" cy="2075291"/>
              </a:xfrm>
              <a:custGeom>
                <a:avLst/>
                <a:gdLst>
                  <a:gd name="connsiteX0" fmla="*/ 0 w 596348"/>
                  <a:gd name="connsiteY0" fmla="*/ 0 h 2075291"/>
                  <a:gd name="connsiteX1" fmla="*/ 596348 w 596348"/>
                  <a:gd name="connsiteY1" fmla="*/ 0 h 2075291"/>
                  <a:gd name="connsiteX2" fmla="*/ 596348 w 596348"/>
                  <a:gd name="connsiteY2" fmla="*/ 2075291 h 2075291"/>
                  <a:gd name="connsiteX3" fmla="*/ 15902 w 596348"/>
                  <a:gd name="connsiteY3" fmla="*/ 2075291 h 207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8" h="2075291">
                    <a:moveTo>
                      <a:pt x="0" y="0"/>
                    </a:moveTo>
                    <a:lnTo>
                      <a:pt x="596348" y="0"/>
                    </a:lnTo>
                    <a:lnTo>
                      <a:pt x="596348" y="2075291"/>
                    </a:lnTo>
                    <a:lnTo>
                      <a:pt x="15902" y="2075291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reeform 110"/>
              <p:cNvSpPr/>
              <p:nvPr/>
            </p:nvSpPr>
            <p:spPr>
              <a:xfrm flipH="1">
                <a:off x="8927883" y="4325420"/>
                <a:ext cx="596348" cy="2075291"/>
              </a:xfrm>
              <a:custGeom>
                <a:avLst/>
                <a:gdLst>
                  <a:gd name="connsiteX0" fmla="*/ 0 w 596348"/>
                  <a:gd name="connsiteY0" fmla="*/ 0 h 2075291"/>
                  <a:gd name="connsiteX1" fmla="*/ 596348 w 596348"/>
                  <a:gd name="connsiteY1" fmla="*/ 0 h 2075291"/>
                  <a:gd name="connsiteX2" fmla="*/ 596348 w 596348"/>
                  <a:gd name="connsiteY2" fmla="*/ 2075291 h 2075291"/>
                  <a:gd name="connsiteX3" fmla="*/ 15902 w 596348"/>
                  <a:gd name="connsiteY3" fmla="*/ 2075291 h 207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8" h="2075291">
                    <a:moveTo>
                      <a:pt x="0" y="0"/>
                    </a:moveTo>
                    <a:lnTo>
                      <a:pt x="596348" y="0"/>
                    </a:lnTo>
                    <a:lnTo>
                      <a:pt x="596348" y="2075291"/>
                    </a:lnTo>
                    <a:lnTo>
                      <a:pt x="15902" y="2075291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30648" y="5214817"/>
                <a:ext cx="4732637" cy="115214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800" dirty="0" smtClean="0"/>
                  <a:t>The minimal sum-of-products expression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sz="2800" dirty="0" smtClean="0"/>
                  <a:t> had 4 literals</a:t>
                </a:r>
                <a:endParaRPr 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68" y="5214817"/>
                <a:ext cx="5127023" cy="1152140"/>
              </a:xfrm>
              <a:prstGeom prst="rect">
                <a:avLst/>
              </a:prstGeom>
              <a:blipFill rotWithShape="1">
                <a:blip r:embed="rId6"/>
                <a:stretch>
                  <a:fillRect r="-1183" b="-7772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61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The </a:t>
            </a:r>
            <a:r>
              <a:rPr lang="en-US" altLang="en-US" kern="0" dirty="0" err="1" smtClean="0"/>
              <a:t>Karnaugh</a:t>
            </a:r>
            <a:r>
              <a:rPr lang="en-US" altLang="en-US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/>
              <a:t>Prime and Essential Prime </a:t>
            </a:r>
            <a:r>
              <a:rPr lang="en-US" altLang="en-US" kern="0" dirty="0" smtClean="0"/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53309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Five-Variable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4769" y="836686"/>
                <a:ext cx="8720814" cy="258923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Consists of 2</a:t>
                </a:r>
                <a:r>
                  <a:rPr lang="en-US" sz="2000" baseline="30000" dirty="0" smtClean="0"/>
                  <a:t>5</a:t>
                </a:r>
                <a:r>
                  <a:rPr lang="en-US" sz="2000" dirty="0" smtClean="0"/>
                  <a:t> = 32 squares, numbered 0 to 31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sz="1800" dirty="0" smtClean="0"/>
                  <a:t>Remember the numbering of squares in the K-map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Can be visualized as two layers of 16 squares each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Top layer contains the squares of the first 16 minterms 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𝑎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Bottom layer contains the squares of the last 16 minterms 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𝑎</m:t>
                    </m:r>
                    <m:r>
                      <a:rPr lang="en-US" sz="200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769" y="836686"/>
                <a:ext cx="8720814" cy="2589235"/>
              </a:xfrm>
              <a:blipFill rotWithShape="1">
                <a:blip r:embed="rId2"/>
                <a:stretch>
                  <a:fillRect l="-559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36999" y="3371393"/>
            <a:ext cx="2419307" cy="2941036"/>
            <a:chOff x="2533507" y="1765925"/>
            <a:chExt cx="4205311" cy="4133003"/>
          </a:xfrm>
        </p:grpSpPr>
        <p:sp>
          <p:nvSpPr>
            <p:cNvPr id="5" name="Rectangle 4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586568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433973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6131243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40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2806661" y="2981837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latin typeface="Cambria Math"/>
                          </a:rPr>
                          <m:t>𝑏𝑐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6531" r="-612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𝑑𝑒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8000" r="-10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433973" y="1765925"/>
                  <a:ext cx="1318708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33973" y="1765925"/>
                  <a:ext cx="1318708" cy="51901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21"/>
                <p:cNvSpPr>
                  <a:spLocks noChangeArrowheads="1"/>
                </p:cNvSpPr>
                <p:nvPr/>
              </p:nvSpPr>
              <p:spPr bwMode="auto">
                <a:xfrm>
                  <a:off x="3411181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1181" y="2981836"/>
                  <a:ext cx="694400" cy="44791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21"/>
                <p:cNvSpPr>
                  <a:spLocks noChangeArrowheads="1"/>
                </p:cNvSpPr>
                <p:nvPr/>
              </p:nvSpPr>
              <p:spPr bwMode="auto">
                <a:xfrm>
                  <a:off x="4230725" y="2981837"/>
                  <a:ext cx="606428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30725" y="2981836"/>
                  <a:ext cx="684288" cy="44791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21"/>
                <p:cNvSpPr>
                  <a:spLocks noChangeArrowheads="1"/>
                </p:cNvSpPr>
                <p:nvPr/>
              </p:nvSpPr>
              <p:spPr bwMode="auto">
                <a:xfrm>
                  <a:off x="5062609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2609" y="2981836"/>
                  <a:ext cx="694399" cy="44791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7644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7644" y="2981836"/>
                  <a:ext cx="694400" cy="447913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6856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6856" y="3774733"/>
                  <a:ext cx="694400" cy="447913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6398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6399" y="3774733"/>
                  <a:ext cx="694399" cy="447913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1"/>
                <p:cNvSpPr>
                  <a:spLocks noChangeArrowheads="1"/>
                </p:cNvSpPr>
                <p:nvPr/>
              </p:nvSpPr>
              <p:spPr bwMode="auto">
                <a:xfrm>
                  <a:off x="5058282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58283" y="3774733"/>
                  <a:ext cx="694399" cy="447913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3321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3321" y="3774733"/>
                  <a:ext cx="694400" cy="447913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2806661" y="375095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2806661" y="4557448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2806661" y="5330031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9165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9164" y="4513444"/>
                  <a:ext cx="870101" cy="447913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8707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8706" y="4513444"/>
                  <a:ext cx="870101" cy="447913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21"/>
                <p:cNvSpPr>
                  <a:spLocks noChangeArrowheads="1"/>
                </p:cNvSpPr>
                <p:nvPr/>
              </p:nvSpPr>
              <p:spPr bwMode="auto">
                <a:xfrm>
                  <a:off x="5060591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0590" y="4513444"/>
                  <a:ext cx="870101" cy="447913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5628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5627" y="4513444"/>
                  <a:ext cx="870101" cy="447913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4840" y="5306340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4839" y="5306340"/>
                  <a:ext cx="694400" cy="447913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4384" y="5306340"/>
                  <a:ext cx="607322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4384" y="5306340"/>
                  <a:ext cx="685262" cy="447913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5056267" y="5306340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56268" y="5306340"/>
                  <a:ext cx="870101" cy="447913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1303" y="5306340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1302" y="5306340"/>
                  <a:ext cx="870101" cy="447913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3348960" y="3371393"/>
            <a:ext cx="2423281" cy="2941036"/>
            <a:chOff x="2533507" y="1765925"/>
            <a:chExt cx="4212221" cy="4133003"/>
          </a:xfrm>
        </p:grpSpPr>
        <p:sp>
          <p:nvSpPr>
            <p:cNvPr id="43" name="Rectangle 42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358656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4433973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6131242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8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78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" name="Rectangle 21"/>
            <p:cNvSpPr>
              <a:spLocks noChangeArrowheads="1"/>
            </p:cNvSpPr>
            <p:nvPr/>
          </p:nvSpPr>
          <p:spPr bwMode="auto">
            <a:xfrm>
              <a:off x="2806661" y="2981837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1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latin typeface="Cambria Math"/>
                          </a:rPr>
                          <m:t>𝑏𝑐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2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28571" r="-408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𝑑𝑒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25490" r="-980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433973" y="1765925"/>
                  <a:ext cx="1318708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33973" y="1765925"/>
                  <a:ext cx="1318708" cy="519018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8" y="2981837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2981837"/>
                  <a:ext cx="734681" cy="389263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3947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21"/>
                <p:cNvSpPr>
                  <a:spLocks noChangeArrowheads="1"/>
                </p:cNvSpPr>
                <p:nvPr/>
              </p:nvSpPr>
              <p:spPr bwMode="auto">
                <a:xfrm>
                  <a:off x="4300634" y="2981837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0634" y="2981837"/>
                  <a:ext cx="734679" cy="389263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4000" r="-5333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21"/>
                <p:cNvSpPr>
                  <a:spLocks noChangeArrowheads="1"/>
                </p:cNvSpPr>
                <p:nvPr/>
              </p:nvSpPr>
              <p:spPr bwMode="auto">
                <a:xfrm>
                  <a:off x="5130211" y="2981837"/>
                  <a:ext cx="76804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0211" y="2981837"/>
                  <a:ext cx="726965" cy="389263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4054" r="-5405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2095" y="2981837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2095" y="2981837"/>
                  <a:ext cx="734681" cy="389263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4000" r="-5333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8" y="3774732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3774732"/>
                  <a:ext cx="743220" cy="389263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6307" y="3774732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6308" y="3774732"/>
                  <a:ext cx="743220" cy="389263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5885" y="3774732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885" y="3774732"/>
                  <a:ext cx="743220" cy="389263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7774" y="3774732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7773" y="3774732"/>
                  <a:ext cx="743220" cy="389263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76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2806661" y="375095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2806661" y="4557448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2806661" y="5330031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4513445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4513445"/>
                  <a:ext cx="743220" cy="389263"/>
                </a:xfrm>
                <a:prstGeom prst="rect">
                  <a:avLst/>
                </a:prstGeom>
                <a:blipFill rotWithShape="1">
                  <a:blip r:embed="rId33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8616" y="4513445"/>
                  <a:ext cx="777292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616" y="4513445"/>
                  <a:ext cx="735504" cy="389263"/>
                </a:xfrm>
                <a:prstGeom prst="rect">
                  <a:avLst/>
                </a:prstGeom>
                <a:blipFill rotWithShape="1">
                  <a:blip r:embed="rId34"/>
                  <a:stretch>
                    <a:fillRect l="-5333" r="-4000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8193" y="4513445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8193" y="4513445"/>
                  <a:ext cx="743220" cy="389263"/>
                </a:xfrm>
                <a:prstGeom prst="rect">
                  <a:avLst/>
                </a:prstGeom>
                <a:blipFill rotWithShape="1">
                  <a:blip r:embed="rId35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0077" y="4513445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0077" y="4513445"/>
                  <a:ext cx="743220" cy="389263"/>
                </a:xfrm>
                <a:prstGeom prst="rect">
                  <a:avLst/>
                </a:prstGeom>
                <a:blipFill rotWithShape="1">
                  <a:blip r:embed="rId36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5306340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5306340"/>
                  <a:ext cx="743220" cy="389263"/>
                </a:xfrm>
                <a:prstGeom prst="rect">
                  <a:avLst/>
                </a:prstGeom>
                <a:blipFill rotWithShape="1">
                  <a:blip r:embed="rId37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4293" y="5306340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4293" y="5306340"/>
                  <a:ext cx="743220" cy="389263"/>
                </a:xfrm>
                <a:prstGeom prst="rect">
                  <a:avLst/>
                </a:prstGeom>
                <a:blipFill rotWithShape="1">
                  <a:blip r:embed="rId38"/>
                  <a:stretch>
                    <a:fillRect l="-6579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3870" y="5306340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3870" y="5306340"/>
                  <a:ext cx="743220" cy="389263"/>
                </a:xfrm>
                <a:prstGeom prst="rect">
                  <a:avLst/>
                </a:prstGeom>
                <a:blipFill rotWithShape="1">
                  <a:blip r:embed="rId39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5753" y="5306340"/>
                  <a:ext cx="78565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5753" y="5306340"/>
                  <a:ext cx="743220" cy="389263"/>
                </a:xfrm>
                <a:prstGeom prst="rect">
                  <a:avLst/>
                </a:prstGeom>
                <a:blipFill rotWithShape="1">
                  <a:blip r:embed="rId40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6114096" y="3962352"/>
                <a:ext cx="2711960" cy="2209259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 smtClean="0"/>
                  <a:t>Each square is adjacent to </a:t>
                </a:r>
                <a:r>
                  <a:rPr lang="en-US" b="1" dirty="0" smtClean="0"/>
                  <a:t>5</a:t>
                </a:r>
                <a:r>
                  <a:rPr lang="en-US" dirty="0" smtClean="0"/>
                  <a:t> other squares: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1" dirty="0" smtClean="0"/>
                  <a:t>4</a:t>
                </a:r>
                <a:r>
                  <a:rPr lang="en-US" dirty="0" smtClean="0"/>
                  <a:t> in the same layer and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1" dirty="0" smtClean="0"/>
                  <a:t>1</a:t>
                </a:r>
                <a:r>
                  <a:rPr lang="en-US" dirty="0" smtClean="0"/>
                  <a:t> in the other layer: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i="1" baseline="-25000" dirty="0">
                        <a:latin typeface="Cambria Math"/>
                      </a:rPr>
                      <m:t>0</m:t>
                    </m:r>
                  </m:oMath>
                </a14:m>
                <a:r>
                  <a:rPr lang="en-US" dirty="0"/>
                  <a:t> is adjacent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i="1" baseline="-25000" dirty="0">
                        <a:latin typeface="Cambria Math"/>
                      </a:rPr>
                      <m:t>16</m:t>
                    </m:r>
                  </m:oMath>
                </a14:m>
                <a:endParaRPr lang="en-US" baseline="-25000" dirty="0" smtClean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is adjacent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i="1" baseline="-25000" dirty="0">
                        <a:latin typeface="Cambria Math"/>
                      </a:rPr>
                      <m:t>17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b="0" i="1" baseline="-25000" dirty="0" smtClean="0">
                        <a:latin typeface="Cambria Math"/>
                      </a:rPr>
                      <m:t>4</m:t>
                    </m:r>
                  </m:oMath>
                </a14:m>
                <a:r>
                  <a:rPr lang="en-US" dirty="0"/>
                  <a:t> is adjacent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  <m:r>
                      <a:rPr lang="en-US" b="0" i="1" baseline="-25000" dirty="0" smtClean="0">
                        <a:latin typeface="Cambria Math"/>
                      </a:rPr>
                      <m:t>20</m:t>
                    </m:r>
                  </m:oMath>
                </a14:m>
                <a:r>
                  <a:rPr lang="en-US" dirty="0" smtClean="0"/>
                  <a:t> …</a:t>
                </a:r>
                <a:endParaRPr lang="en-US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096" y="3962352"/>
                <a:ext cx="2711960" cy="2209259"/>
              </a:xfrm>
              <a:prstGeom prst="rect">
                <a:avLst/>
              </a:prstGeom>
              <a:blipFill rotWithShape="1">
                <a:blip r:embed="rId41"/>
                <a:stretch>
                  <a:fillRect l="-1559" t="-273" b="-3005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02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 of a Five-Variable K-Map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2573"/>
                <a:ext cx="8229600" cy="222839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400" dirty="0" smtClean="0"/>
                  <a:t>Given: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𝑏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latin typeface="Cambria Math"/>
                      </a:rPr>
                      <m:t>𝑒</m:t>
                    </m:r>
                    <m:r>
                      <a:rPr lang="en-US" sz="24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(0, 1, 8, 9, 16, 17, 22, 23, 24, 25)</m:t>
                        </m:r>
                      </m:e>
                    </m:nary>
                  </m:oMath>
                </a14:m>
                <a:r>
                  <a:rPr lang="en-US" sz="2400" dirty="0" smtClean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400" dirty="0" smtClean="0"/>
                  <a:t>Draw the 5-Variable K-Map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400" dirty="0" smtClean="0"/>
                  <a:t>Obtain a minimal Sum-of-Products expression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sz="24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 =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′+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𝑐𝑑</m:t>
                    </m:r>
                  </m:oMath>
                </a14:m>
                <a:r>
                  <a:rPr lang="en-US" sz="2400" dirty="0" smtClean="0"/>
                  <a:t>  (6 literals)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2573"/>
                <a:ext cx="8229600" cy="2228393"/>
              </a:xfrm>
              <a:blipFill rotWithShape="1">
                <a:blip r:embed="rId2"/>
                <a:stretch>
                  <a:fillRect l="-1111" t="-27123" b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Group 89"/>
          <p:cNvGrpSpPr/>
          <p:nvPr/>
        </p:nvGrpSpPr>
        <p:grpSpPr>
          <a:xfrm>
            <a:off x="1799537" y="3140156"/>
            <a:ext cx="5218545" cy="3284408"/>
            <a:chOff x="1949498" y="3140156"/>
            <a:chExt cx="5653424" cy="3284408"/>
          </a:xfrm>
        </p:grpSpPr>
        <p:sp>
          <p:nvSpPr>
            <p:cNvPr id="5" name="Rectangle 4"/>
            <p:cNvSpPr/>
            <p:nvPr/>
          </p:nvSpPr>
          <p:spPr>
            <a:xfrm>
              <a:off x="2459401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605807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133943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3662847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4191749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>
              <a:off x="3519506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990603" y="4230842"/>
              <a:ext cx="1049374" cy="2193721"/>
              <a:chOff x="4203980" y="2816118"/>
              <a:chExt cx="1683742" cy="1687149"/>
            </a:xfrm>
          </p:grpSpPr>
          <p:sp>
            <p:nvSpPr>
              <p:cNvPr id="49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2119738" y="434876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08"/>
            <p:cNvSpPr>
              <a:spLocks noChangeShapeType="1"/>
            </p:cNvSpPr>
            <p:nvPr/>
          </p:nvSpPr>
          <p:spPr bwMode="auto">
            <a:xfrm>
              <a:off x="2146366" y="3963272"/>
              <a:ext cx="315334" cy="2691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1949498" y="3950694"/>
                  <a:ext cx="299998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latin typeface="Cambria Math"/>
                          </a:rPr>
                          <m:t>𝑏𝑐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49498" y="3950694"/>
                  <a:ext cx="29999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8571" r="-408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2247417" y="3622431"/>
                  <a:ext cx="307220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𝑑𝑒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7417" y="3622431"/>
                  <a:ext cx="30722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8000" r="-10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133943" y="3483528"/>
                  <a:ext cx="821871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33943" y="3483528"/>
                  <a:ext cx="821871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41"/>
            <p:cNvSpPr>
              <a:spLocks noChangeShapeType="1"/>
            </p:cNvSpPr>
            <p:nvPr/>
          </p:nvSpPr>
          <p:spPr bwMode="auto">
            <a:xfrm flipV="1">
              <a:off x="2461973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459401" y="4772003"/>
              <a:ext cx="2111013" cy="1101707"/>
              <a:chOff x="3351656" y="3979853"/>
              <a:chExt cx="3029011" cy="1548216"/>
            </a:xfrm>
          </p:grpSpPr>
          <p:sp>
            <p:nvSpPr>
              <p:cNvPr id="47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2119738" y="4896069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2119738" y="5469970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2119738" y="601973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491910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5638316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6166452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6695355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13"/>
            <p:cNvSpPr>
              <a:spLocks noChangeArrowheads="1"/>
            </p:cNvSpPr>
            <p:nvPr/>
          </p:nvSpPr>
          <p:spPr bwMode="auto">
            <a:xfrm>
              <a:off x="7224257" y="388757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18"/>
            <p:cNvSpPr>
              <a:spLocks noChangeShapeType="1"/>
            </p:cNvSpPr>
            <p:nvPr/>
          </p:nvSpPr>
          <p:spPr bwMode="auto">
            <a:xfrm flipH="1">
              <a:off x="6552015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6023111" y="4230842"/>
              <a:ext cx="1049374" cy="2193721"/>
              <a:chOff x="4203980" y="2816118"/>
              <a:chExt cx="1683742" cy="1687149"/>
            </a:xfrm>
          </p:grpSpPr>
          <p:sp>
            <p:nvSpPr>
              <p:cNvPr id="87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5152247" y="434876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60" name="Line 108"/>
            <p:cNvSpPr>
              <a:spLocks noChangeShapeType="1"/>
            </p:cNvSpPr>
            <p:nvPr/>
          </p:nvSpPr>
          <p:spPr bwMode="auto">
            <a:xfrm>
              <a:off x="5178875" y="3963272"/>
              <a:ext cx="315334" cy="2691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982007" y="3950694"/>
                  <a:ext cx="299998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latin typeface="Cambria Math"/>
                          </a:rPr>
                          <m:t>𝑏𝑐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1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82007" y="3950694"/>
                  <a:ext cx="29999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6531" r="-612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5279926" y="3622431"/>
                  <a:ext cx="307220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𝑑𝑒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9926" y="3622431"/>
                  <a:ext cx="30722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7451" r="-784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6166452" y="3483528"/>
                  <a:ext cx="821871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6452" y="3483528"/>
                  <a:ext cx="821871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Line 41"/>
            <p:cNvSpPr>
              <a:spLocks noChangeShapeType="1"/>
            </p:cNvSpPr>
            <p:nvPr/>
          </p:nvSpPr>
          <p:spPr bwMode="auto">
            <a:xfrm flipV="1">
              <a:off x="5494482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5491910" y="4772003"/>
              <a:ext cx="2111012" cy="1101707"/>
              <a:chOff x="3351656" y="3979853"/>
              <a:chExt cx="3029011" cy="1548216"/>
            </a:xfrm>
          </p:grpSpPr>
          <p:sp>
            <p:nvSpPr>
              <p:cNvPr id="85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" name="Rectangle 21"/>
            <p:cNvSpPr>
              <a:spLocks noChangeArrowheads="1"/>
            </p:cNvSpPr>
            <p:nvPr/>
          </p:nvSpPr>
          <p:spPr bwMode="auto">
            <a:xfrm>
              <a:off x="5152247" y="4896069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21"/>
            <p:cNvSpPr>
              <a:spLocks noChangeArrowheads="1"/>
            </p:cNvSpPr>
            <p:nvPr/>
          </p:nvSpPr>
          <p:spPr bwMode="auto">
            <a:xfrm>
              <a:off x="5152247" y="5469970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21"/>
            <p:cNvSpPr>
              <a:spLocks noChangeArrowheads="1"/>
            </p:cNvSpPr>
            <p:nvPr/>
          </p:nvSpPr>
          <p:spPr bwMode="auto">
            <a:xfrm>
              <a:off x="5152247" y="6019738"/>
              <a:ext cx="2535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70415" y="3140156"/>
              <a:ext cx="2665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5-Variable K-Map</a:t>
              </a:r>
              <a:endParaRPr lang="en-US" sz="2400" b="1" dirty="0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2469438" y="4350712"/>
            <a:ext cx="4384663" cy="1958638"/>
            <a:chOff x="2675224" y="4350712"/>
            <a:chExt cx="4750052" cy="1958638"/>
          </a:xfrm>
        </p:grpSpPr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2675224" y="4350712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3193687" y="4350712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Rectangle 21"/>
            <p:cNvSpPr>
              <a:spLocks noChangeArrowheads="1"/>
            </p:cNvSpPr>
            <p:nvPr/>
          </p:nvSpPr>
          <p:spPr bwMode="auto">
            <a:xfrm>
              <a:off x="5690327" y="4350712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Rectangle 21"/>
            <p:cNvSpPr>
              <a:spLocks noChangeArrowheads="1"/>
            </p:cNvSpPr>
            <p:nvPr/>
          </p:nvSpPr>
          <p:spPr bwMode="auto">
            <a:xfrm>
              <a:off x="6226980" y="4350712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Rectangle 21"/>
            <p:cNvSpPr>
              <a:spLocks noChangeArrowheads="1"/>
            </p:cNvSpPr>
            <p:nvPr/>
          </p:nvSpPr>
          <p:spPr bwMode="auto">
            <a:xfrm>
              <a:off x="2675224" y="603235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Rectangle 21"/>
            <p:cNvSpPr>
              <a:spLocks noChangeArrowheads="1"/>
            </p:cNvSpPr>
            <p:nvPr/>
          </p:nvSpPr>
          <p:spPr bwMode="auto">
            <a:xfrm>
              <a:off x="3193687" y="603235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Rectangle 21"/>
            <p:cNvSpPr>
              <a:spLocks noChangeArrowheads="1"/>
            </p:cNvSpPr>
            <p:nvPr/>
          </p:nvSpPr>
          <p:spPr bwMode="auto">
            <a:xfrm>
              <a:off x="5690327" y="603235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Rectangle 21"/>
            <p:cNvSpPr>
              <a:spLocks noChangeArrowheads="1"/>
            </p:cNvSpPr>
            <p:nvPr/>
          </p:nvSpPr>
          <p:spPr bwMode="auto">
            <a:xfrm>
              <a:off x="6226980" y="603235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8" name="Rectangle 21"/>
            <p:cNvSpPr>
              <a:spLocks noChangeArrowheads="1"/>
            </p:cNvSpPr>
            <p:nvPr/>
          </p:nvSpPr>
          <p:spPr bwMode="auto">
            <a:xfrm>
              <a:off x="6760383" y="488021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9" name="Rectangle 21"/>
            <p:cNvSpPr>
              <a:spLocks noChangeArrowheads="1"/>
            </p:cNvSpPr>
            <p:nvPr/>
          </p:nvSpPr>
          <p:spPr bwMode="auto">
            <a:xfrm>
              <a:off x="7297036" y="488021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1009229" y="4627711"/>
            <a:ext cx="1357813" cy="400110"/>
            <a:chOff x="1093331" y="4627711"/>
            <a:chExt cx="1470964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1093331" y="4627711"/>
                  <a:ext cx="694982" cy="400110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𝑐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000" i="1" dirty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31" y="4627711"/>
                  <a:ext cx="654345" cy="4001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/>
            <p:cNvCxnSpPr>
              <a:stCxn id="106" idx="3"/>
              <a:endCxn id="101" idx="1"/>
            </p:cNvCxnSpPr>
            <p:nvPr/>
          </p:nvCxnSpPr>
          <p:spPr>
            <a:xfrm flipV="1">
              <a:off x="1788313" y="4667502"/>
              <a:ext cx="775982" cy="16026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Rounded Rectangle 109"/>
          <p:cNvSpPr/>
          <p:nvPr/>
        </p:nvSpPr>
        <p:spPr>
          <a:xfrm>
            <a:off x="6104873" y="4827767"/>
            <a:ext cx="844062" cy="387037"/>
          </a:xfrm>
          <a:prstGeom prst="round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/>
          <p:cNvGrpSpPr/>
          <p:nvPr/>
        </p:nvGrpSpPr>
        <p:grpSpPr>
          <a:xfrm>
            <a:off x="6937179" y="4827766"/>
            <a:ext cx="1397450" cy="400110"/>
            <a:chOff x="544830" y="4627711"/>
            <a:chExt cx="1513904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/>
                <p:cNvSpPr txBox="1"/>
                <p:nvPr/>
              </p:nvSpPr>
              <p:spPr>
                <a:xfrm>
                  <a:off x="1093331" y="4627711"/>
                  <a:ext cx="965403" cy="400110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𝑎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𝑐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2" name="TextBox 1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31" y="4627711"/>
                  <a:ext cx="903965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Connector 112"/>
            <p:cNvCxnSpPr>
              <a:endCxn id="112" idx="1"/>
            </p:cNvCxnSpPr>
            <p:nvPr/>
          </p:nvCxnSpPr>
          <p:spPr>
            <a:xfrm flipV="1">
              <a:off x="544830" y="4827766"/>
              <a:ext cx="548501" cy="2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367042" y="4153449"/>
            <a:ext cx="3587816" cy="2323205"/>
            <a:chOff x="2564295" y="4153448"/>
            <a:chExt cx="3886801" cy="2323205"/>
          </a:xfrm>
        </p:grpSpPr>
        <p:grpSp>
          <p:nvGrpSpPr>
            <p:cNvPr id="105" name="Group 104"/>
            <p:cNvGrpSpPr/>
            <p:nvPr/>
          </p:nvGrpSpPr>
          <p:grpSpPr>
            <a:xfrm>
              <a:off x="2564295" y="4153448"/>
              <a:ext cx="3886801" cy="2323205"/>
              <a:chOff x="2564295" y="4153448"/>
              <a:chExt cx="3886801" cy="2323205"/>
            </a:xfrm>
          </p:grpSpPr>
          <p:sp>
            <p:nvSpPr>
              <p:cNvPr id="101" name="Freeform 100"/>
              <p:cNvSpPr/>
              <p:nvPr/>
            </p:nvSpPr>
            <p:spPr>
              <a:xfrm>
                <a:off x="2564295" y="4154556"/>
                <a:ext cx="860151" cy="512945"/>
              </a:xfrm>
              <a:custGeom>
                <a:avLst/>
                <a:gdLst>
                  <a:gd name="connsiteX0" fmla="*/ 0 w 795130"/>
                  <a:gd name="connsiteY0" fmla="*/ 0 h 470452"/>
                  <a:gd name="connsiteX1" fmla="*/ 0 w 795130"/>
                  <a:gd name="connsiteY1" fmla="*/ 470452 h 470452"/>
                  <a:gd name="connsiteX2" fmla="*/ 795130 w 795130"/>
                  <a:gd name="connsiteY2" fmla="*/ 470452 h 470452"/>
                  <a:gd name="connsiteX3" fmla="*/ 795130 w 795130"/>
                  <a:gd name="connsiteY3" fmla="*/ 6626 h 470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130" h="470452">
                    <a:moveTo>
                      <a:pt x="0" y="0"/>
                    </a:moveTo>
                    <a:lnTo>
                      <a:pt x="0" y="470452"/>
                    </a:lnTo>
                    <a:lnTo>
                      <a:pt x="795130" y="470452"/>
                    </a:lnTo>
                    <a:lnTo>
                      <a:pt x="795130" y="6626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Freeform 101"/>
              <p:cNvSpPr/>
              <p:nvPr/>
            </p:nvSpPr>
            <p:spPr>
              <a:xfrm flipV="1">
                <a:off x="2568563" y="5963708"/>
                <a:ext cx="860151" cy="512945"/>
              </a:xfrm>
              <a:custGeom>
                <a:avLst/>
                <a:gdLst>
                  <a:gd name="connsiteX0" fmla="*/ 0 w 795130"/>
                  <a:gd name="connsiteY0" fmla="*/ 0 h 470452"/>
                  <a:gd name="connsiteX1" fmla="*/ 0 w 795130"/>
                  <a:gd name="connsiteY1" fmla="*/ 470452 h 470452"/>
                  <a:gd name="connsiteX2" fmla="*/ 795130 w 795130"/>
                  <a:gd name="connsiteY2" fmla="*/ 470452 h 470452"/>
                  <a:gd name="connsiteX3" fmla="*/ 795130 w 795130"/>
                  <a:gd name="connsiteY3" fmla="*/ 6626 h 470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130" h="470452">
                    <a:moveTo>
                      <a:pt x="0" y="0"/>
                    </a:moveTo>
                    <a:lnTo>
                      <a:pt x="0" y="470452"/>
                    </a:lnTo>
                    <a:lnTo>
                      <a:pt x="795130" y="470452"/>
                    </a:lnTo>
                    <a:lnTo>
                      <a:pt x="795130" y="6626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reeform 102"/>
              <p:cNvSpPr/>
              <p:nvPr/>
            </p:nvSpPr>
            <p:spPr>
              <a:xfrm>
                <a:off x="5586677" y="4153448"/>
                <a:ext cx="860151" cy="512945"/>
              </a:xfrm>
              <a:custGeom>
                <a:avLst/>
                <a:gdLst>
                  <a:gd name="connsiteX0" fmla="*/ 0 w 795130"/>
                  <a:gd name="connsiteY0" fmla="*/ 0 h 470452"/>
                  <a:gd name="connsiteX1" fmla="*/ 0 w 795130"/>
                  <a:gd name="connsiteY1" fmla="*/ 470452 h 470452"/>
                  <a:gd name="connsiteX2" fmla="*/ 795130 w 795130"/>
                  <a:gd name="connsiteY2" fmla="*/ 470452 h 470452"/>
                  <a:gd name="connsiteX3" fmla="*/ 795130 w 795130"/>
                  <a:gd name="connsiteY3" fmla="*/ 6626 h 470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130" h="470452">
                    <a:moveTo>
                      <a:pt x="0" y="0"/>
                    </a:moveTo>
                    <a:lnTo>
                      <a:pt x="0" y="470452"/>
                    </a:lnTo>
                    <a:lnTo>
                      <a:pt x="795130" y="470452"/>
                    </a:lnTo>
                    <a:lnTo>
                      <a:pt x="795130" y="6626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Freeform 103"/>
              <p:cNvSpPr/>
              <p:nvPr/>
            </p:nvSpPr>
            <p:spPr>
              <a:xfrm flipV="1">
                <a:off x="5590945" y="5962600"/>
                <a:ext cx="860151" cy="512945"/>
              </a:xfrm>
              <a:custGeom>
                <a:avLst/>
                <a:gdLst>
                  <a:gd name="connsiteX0" fmla="*/ 0 w 795130"/>
                  <a:gd name="connsiteY0" fmla="*/ 0 h 470452"/>
                  <a:gd name="connsiteX1" fmla="*/ 0 w 795130"/>
                  <a:gd name="connsiteY1" fmla="*/ 470452 h 470452"/>
                  <a:gd name="connsiteX2" fmla="*/ 795130 w 795130"/>
                  <a:gd name="connsiteY2" fmla="*/ 470452 h 470452"/>
                  <a:gd name="connsiteX3" fmla="*/ 795130 w 795130"/>
                  <a:gd name="connsiteY3" fmla="*/ 6626 h 470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130" h="470452">
                    <a:moveTo>
                      <a:pt x="0" y="0"/>
                    </a:moveTo>
                    <a:lnTo>
                      <a:pt x="0" y="470452"/>
                    </a:lnTo>
                    <a:lnTo>
                      <a:pt x="795130" y="470452"/>
                    </a:lnTo>
                    <a:lnTo>
                      <a:pt x="795130" y="6626"/>
                    </a:ln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Connector 18"/>
            <p:cNvCxnSpPr>
              <a:stCxn id="101" idx="2"/>
              <a:endCxn id="103" idx="1"/>
            </p:cNvCxnSpPr>
            <p:nvPr/>
          </p:nvCxnSpPr>
          <p:spPr>
            <a:xfrm flipV="1">
              <a:off x="3424446" y="4666393"/>
              <a:ext cx="2162231" cy="110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102" idx="2"/>
              <a:endCxn id="104" idx="1"/>
            </p:cNvCxnSpPr>
            <p:nvPr/>
          </p:nvCxnSpPr>
          <p:spPr>
            <a:xfrm flipV="1">
              <a:off x="3428714" y="5962600"/>
              <a:ext cx="2162231" cy="110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7378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Five-Variable K-Map with Don't Cares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1594" y="836686"/>
                <a:ext cx="8880341" cy="2228393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𝑔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𝑎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𝑏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𝑐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𝑑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𝑒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dirty="0" smtClean="0">
                            <a:latin typeface="Cambria Math"/>
                          </a:rPr>
                          <m:t>𝑚</m:t>
                        </m:r>
                      </m:sub>
                      <m:sup/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(3, 6, 7, 11, 24, 25, 27, 28, 29)+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000" b="0" i="1" dirty="0" smtClean="0">
                                <a:latin typeface="Cambria Math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(2, 8, 9, 12, 13, 26)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Draw the 5-Variable K-Map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Obtain a minimal Sum-of-Products expression for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Solution: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𝑔</m:t>
                    </m:r>
                    <m:r>
                      <a:rPr lang="en-US" sz="2000" i="1" dirty="0" smtClean="0">
                        <a:latin typeface="Cambria Math"/>
                      </a:rPr>
                      <m:t> =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00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0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𝑏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en-US" sz="2000" dirty="0" smtClean="0"/>
                  <a:t>  (8 literals)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594" y="836686"/>
                <a:ext cx="8880341" cy="2228393"/>
              </a:xfrm>
              <a:blipFill rotWithShape="1">
                <a:blip r:embed="rId2"/>
                <a:stretch>
                  <a:fillRect l="-755" t="-20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/>
          <p:cNvGrpSpPr/>
          <p:nvPr/>
        </p:nvGrpSpPr>
        <p:grpSpPr>
          <a:xfrm>
            <a:off x="583823" y="5099603"/>
            <a:ext cx="1348898" cy="400110"/>
            <a:chOff x="1093331" y="4454890"/>
            <a:chExt cx="146130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1093331" y="4454890"/>
                  <a:ext cx="644621" cy="400110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000" i="1" dirty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31" y="4454890"/>
                  <a:ext cx="607859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/>
            <p:cNvCxnSpPr>
              <a:stCxn id="106" idx="3"/>
            </p:cNvCxnSpPr>
            <p:nvPr/>
          </p:nvCxnSpPr>
          <p:spPr>
            <a:xfrm>
              <a:off x="1737952" y="4654945"/>
              <a:ext cx="816685" cy="200055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374131" y="3140156"/>
            <a:ext cx="5218545" cy="3284408"/>
            <a:chOff x="1949498" y="3140156"/>
            <a:chExt cx="5653424" cy="3284408"/>
          </a:xfrm>
        </p:grpSpPr>
        <p:grpSp>
          <p:nvGrpSpPr>
            <p:cNvPr id="90" name="Group 89"/>
            <p:cNvGrpSpPr/>
            <p:nvPr/>
          </p:nvGrpSpPr>
          <p:grpSpPr>
            <a:xfrm>
              <a:off x="1949498" y="3140156"/>
              <a:ext cx="5653424" cy="3284408"/>
              <a:chOff x="1949498" y="3140156"/>
              <a:chExt cx="5653424" cy="3284408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459401" y="4230842"/>
                <a:ext cx="2111012" cy="21937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2605807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3133943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11"/>
              <p:cNvSpPr>
                <a:spLocks noChangeArrowheads="1"/>
              </p:cNvSpPr>
              <p:nvPr/>
            </p:nvSpPr>
            <p:spPr bwMode="auto">
              <a:xfrm>
                <a:off x="3662847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13"/>
              <p:cNvSpPr>
                <a:spLocks noChangeArrowheads="1"/>
              </p:cNvSpPr>
              <p:nvPr/>
            </p:nvSpPr>
            <p:spPr bwMode="auto">
              <a:xfrm>
                <a:off x="4191749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Line 18"/>
              <p:cNvSpPr>
                <a:spLocks noChangeShapeType="1"/>
              </p:cNvSpPr>
              <p:nvPr/>
            </p:nvSpPr>
            <p:spPr bwMode="auto">
              <a:xfrm flipH="1">
                <a:off x="3519506" y="4233794"/>
                <a:ext cx="0" cy="219076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2990603" y="4230842"/>
                <a:ext cx="1049374" cy="2193721"/>
                <a:chOff x="4203980" y="2816118"/>
                <a:chExt cx="1683742" cy="1687149"/>
              </a:xfrm>
            </p:grpSpPr>
            <p:sp>
              <p:nvSpPr>
                <p:cNvPr id="49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" name="Rectangle 21"/>
              <p:cNvSpPr>
                <a:spLocks noChangeArrowheads="1"/>
              </p:cNvSpPr>
              <p:nvPr/>
            </p:nvSpPr>
            <p:spPr bwMode="auto">
              <a:xfrm>
                <a:off x="2119738" y="434876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Line 108"/>
              <p:cNvSpPr>
                <a:spLocks noChangeShapeType="1"/>
              </p:cNvSpPr>
              <p:nvPr/>
            </p:nvSpPr>
            <p:spPr bwMode="auto">
              <a:xfrm>
                <a:off x="2146366" y="3963272"/>
                <a:ext cx="315334" cy="2691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49498" y="3950694"/>
                    <a:ext cx="29999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</a:rPr>
                            <m:t>𝑏𝑐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4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49498" y="3950694"/>
                    <a:ext cx="299998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28571" r="-408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47417" y="3622431"/>
                    <a:ext cx="30722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𝑑𝑒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47417" y="3622431"/>
                    <a:ext cx="307220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28000" r="-10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33943" y="3483528"/>
                    <a:ext cx="82187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=0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33943" y="3483528"/>
                    <a:ext cx="82187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Line 41"/>
              <p:cNvSpPr>
                <a:spLocks noChangeShapeType="1"/>
              </p:cNvSpPr>
              <p:nvPr/>
            </p:nvSpPr>
            <p:spPr bwMode="auto">
              <a:xfrm flipV="1">
                <a:off x="2461973" y="5322857"/>
                <a:ext cx="2108439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2459401" y="4772003"/>
                <a:ext cx="2111013" cy="1101707"/>
                <a:chOff x="3351656" y="3979853"/>
                <a:chExt cx="3029011" cy="1548216"/>
              </a:xfrm>
            </p:grpSpPr>
            <p:sp>
              <p:nvSpPr>
                <p:cNvPr id="47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2119738" y="4896069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2119738" y="5469970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21"/>
              <p:cNvSpPr>
                <a:spLocks noChangeArrowheads="1"/>
              </p:cNvSpPr>
              <p:nvPr/>
            </p:nvSpPr>
            <p:spPr bwMode="auto">
              <a:xfrm>
                <a:off x="2119738" y="601973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5491910" y="4230842"/>
                <a:ext cx="2111012" cy="21937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7"/>
              <p:cNvSpPr>
                <a:spLocks noChangeArrowheads="1"/>
              </p:cNvSpPr>
              <p:nvPr/>
            </p:nvSpPr>
            <p:spPr bwMode="auto">
              <a:xfrm>
                <a:off x="5638316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9"/>
              <p:cNvSpPr>
                <a:spLocks noChangeArrowheads="1"/>
              </p:cNvSpPr>
              <p:nvPr/>
            </p:nvSpPr>
            <p:spPr bwMode="auto">
              <a:xfrm>
                <a:off x="6166452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6695355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7224257" y="388757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Line 18"/>
              <p:cNvSpPr>
                <a:spLocks noChangeShapeType="1"/>
              </p:cNvSpPr>
              <p:nvPr/>
            </p:nvSpPr>
            <p:spPr bwMode="auto">
              <a:xfrm flipH="1">
                <a:off x="6552015" y="4233794"/>
                <a:ext cx="0" cy="219076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" name="Group 57"/>
              <p:cNvGrpSpPr/>
              <p:nvPr/>
            </p:nvGrpSpPr>
            <p:grpSpPr>
              <a:xfrm>
                <a:off x="6023111" y="4230842"/>
                <a:ext cx="1049374" cy="2193721"/>
                <a:chOff x="4203980" y="2816118"/>
                <a:chExt cx="1683742" cy="1687149"/>
              </a:xfrm>
            </p:grpSpPr>
            <p:sp>
              <p:nvSpPr>
                <p:cNvPr id="87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5152247" y="434876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108"/>
              <p:cNvSpPr>
                <a:spLocks noChangeShapeType="1"/>
              </p:cNvSpPr>
              <p:nvPr/>
            </p:nvSpPr>
            <p:spPr bwMode="auto">
              <a:xfrm>
                <a:off x="5178875" y="3963272"/>
                <a:ext cx="315334" cy="2691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82007" y="3950694"/>
                    <a:ext cx="299998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</a:rPr>
                            <m:t>𝑏𝑐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82007" y="3950694"/>
                    <a:ext cx="29999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26531" r="-612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79926" y="3622431"/>
                    <a:ext cx="30722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𝑑𝑒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279926" y="3622431"/>
                    <a:ext cx="307220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27451" r="-7843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66452" y="3483528"/>
                    <a:ext cx="82187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63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166452" y="3483528"/>
                    <a:ext cx="821871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Line 41"/>
              <p:cNvSpPr>
                <a:spLocks noChangeShapeType="1"/>
              </p:cNvSpPr>
              <p:nvPr/>
            </p:nvSpPr>
            <p:spPr bwMode="auto">
              <a:xfrm flipV="1">
                <a:off x="5494482" y="5322857"/>
                <a:ext cx="2108439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" name="Group 72"/>
              <p:cNvGrpSpPr/>
              <p:nvPr/>
            </p:nvGrpSpPr>
            <p:grpSpPr>
              <a:xfrm>
                <a:off x="5491910" y="4772003"/>
                <a:ext cx="2111012" cy="1101707"/>
                <a:chOff x="3351656" y="3979853"/>
                <a:chExt cx="3029011" cy="1548216"/>
              </a:xfrm>
            </p:grpSpPr>
            <p:sp>
              <p:nvSpPr>
                <p:cNvPr id="8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4" name="Rectangle 21"/>
              <p:cNvSpPr>
                <a:spLocks noChangeArrowheads="1"/>
              </p:cNvSpPr>
              <p:nvPr/>
            </p:nvSpPr>
            <p:spPr bwMode="auto">
              <a:xfrm>
                <a:off x="5152247" y="4896069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21"/>
              <p:cNvSpPr>
                <a:spLocks noChangeArrowheads="1"/>
              </p:cNvSpPr>
              <p:nvPr/>
            </p:nvSpPr>
            <p:spPr bwMode="auto">
              <a:xfrm>
                <a:off x="5152247" y="5469970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21"/>
              <p:cNvSpPr>
                <a:spLocks noChangeArrowheads="1"/>
              </p:cNvSpPr>
              <p:nvPr/>
            </p:nvSpPr>
            <p:spPr bwMode="auto">
              <a:xfrm>
                <a:off x="5152247" y="6019738"/>
                <a:ext cx="25354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3670415" y="3140156"/>
                <a:ext cx="2665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5-Variable K-Map</a:t>
                </a:r>
                <a:endParaRPr lang="en-US" sz="2400" b="1" dirty="0"/>
              </a:p>
            </p:txBody>
          </p:sp>
        </p:grp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3705524" y="4350712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Rectangle 21"/>
            <p:cNvSpPr>
              <a:spLocks noChangeArrowheads="1"/>
            </p:cNvSpPr>
            <p:nvPr/>
          </p:nvSpPr>
          <p:spPr bwMode="auto">
            <a:xfrm>
              <a:off x="2648720" y="6010279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Rectangle 21"/>
            <p:cNvSpPr>
              <a:spLocks noChangeArrowheads="1"/>
            </p:cNvSpPr>
            <p:nvPr/>
          </p:nvSpPr>
          <p:spPr bwMode="auto">
            <a:xfrm>
              <a:off x="3173809" y="6010279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Rectangle 21"/>
            <p:cNvSpPr>
              <a:spLocks noChangeArrowheads="1"/>
            </p:cNvSpPr>
            <p:nvPr/>
          </p:nvSpPr>
          <p:spPr bwMode="auto">
            <a:xfrm>
              <a:off x="5689596" y="601027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Rectangle 21"/>
            <p:cNvSpPr>
              <a:spLocks noChangeArrowheads="1"/>
            </p:cNvSpPr>
            <p:nvPr/>
          </p:nvSpPr>
          <p:spPr bwMode="auto">
            <a:xfrm>
              <a:off x="6223780" y="601027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2648720" y="5456281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3173809" y="5456281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Rectangle 21"/>
            <p:cNvSpPr>
              <a:spLocks noChangeArrowheads="1"/>
            </p:cNvSpPr>
            <p:nvPr/>
          </p:nvSpPr>
          <p:spPr bwMode="auto">
            <a:xfrm>
              <a:off x="5689596" y="545628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Rectangle 21"/>
            <p:cNvSpPr>
              <a:spLocks noChangeArrowheads="1"/>
            </p:cNvSpPr>
            <p:nvPr/>
          </p:nvSpPr>
          <p:spPr bwMode="auto">
            <a:xfrm>
              <a:off x="6223780" y="545628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Rectangle 21"/>
            <p:cNvSpPr>
              <a:spLocks noChangeArrowheads="1"/>
            </p:cNvSpPr>
            <p:nvPr/>
          </p:nvSpPr>
          <p:spPr bwMode="auto">
            <a:xfrm>
              <a:off x="3705524" y="601027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Rectangle 21"/>
            <p:cNvSpPr>
              <a:spLocks noChangeArrowheads="1"/>
            </p:cNvSpPr>
            <p:nvPr/>
          </p:nvSpPr>
          <p:spPr bwMode="auto">
            <a:xfrm>
              <a:off x="6751641" y="601027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Rectangle 21"/>
            <p:cNvSpPr>
              <a:spLocks noChangeArrowheads="1"/>
            </p:cNvSpPr>
            <p:nvPr/>
          </p:nvSpPr>
          <p:spPr bwMode="auto">
            <a:xfrm>
              <a:off x="7250654" y="6010279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Rectangle 21"/>
            <p:cNvSpPr>
              <a:spLocks noChangeArrowheads="1"/>
            </p:cNvSpPr>
            <p:nvPr/>
          </p:nvSpPr>
          <p:spPr bwMode="auto">
            <a:xfrm>
              <a:off x="4223042" y="4350712"/>
              <a:ext cx="130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X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3705524" y="488021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7" name="Rectangle 21"/>
            <p:cNvSpPr>
              <a:spLocks noChangeArrowheads="1"/>
            </p:cNvSpPr>
            <p:nvPr/>
          </p:nvSpPr>
          <p:spPr bwMode="auto">
            <a:xfrm>
              <a:off x="4235866" y="488021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b="0" i="0" dirty="0" smtClean="0">
                  <a:solidFill>
                    <a:srgbClr val="000000"/>
                  </a:solidFill>
                  <a:latin typeface="+mn-lt"/>
                </a:rPr>
                <a:t>1</a:t>
              </a:r>
              <a:endParaRPr lang="en-US" altLang="en-US" b="0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16" name="Rounded Rectangle 115"/>
          <p:cNvSpPr/>
          <p:nvPr/>
        </p:nvSpPr>
        <p:spPr>
          <a:xfrm>
            <a:off x="2896237" y="4296586"/>
            <a:ext cx="815134" cy="950834"/>
          </a:xfrm>
          <a:prstGeom prst="roundRect">
            <a:avLst/>
          </a:prstGeom>
          <a:noFill/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/>
          <p:cNvGrpSpPr/>
          <p:nvPr/>
        </p:nvGrpSpPr>
        <p:grpSpPr>
          <a:xfrm>
            <a:off x="583823" y="4523533"/>
            <a:ext cx="2312414" cy="400110"/>
            <a:chOff x="1093331" y="4454890"/>
            <a:chExt cx="2505115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1093331" y="4454890"/>
                  <a:ext cx="879199" cy="400110"/>
                </a:xfrm>
                <a:prstGeom prst="rect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31" y="4454890"/>
                  <a:ext cx="824392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Connector 120"/>
            <p:cNvCxnSpPr>
              <a:stCxn id="120" idx="3"/>
            </p:cNvCxnSpPr>
            <p:nvPr/>
          </p:nvCxnSpPr>
          <p:spPr>
            <a:xfrm flipV="1">
              <a:off x="1972530" y="4598859"/>
              <a:ext cx="1625916" cy="56086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932721" y="5387638"/>
            <a:ext cx="3613940" cy="950834"/>
            <a:chOff x="2554637" y="5387638"/>
            <a:chExt cx="3915102" cy="950834"/>
          </a:xfrm>
        </p:grpSpPr>
        <p:sp>
          <p:nvSpPr>
            <p:cNvPr id="4" name="Rounded Rectangle 3"/>
            <p:cNvSpPr/>
            <p:nvPr/>
          </p:nvSpPr>
          <p:spPr>
            <a:xfrm>
              <a:off x="2554637" y="5387638"/>
              <a:ext cx="883062" cy="95083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5586677" y="5387638"/>
              <a:ext cx="883062" cy="95083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3282397" y="5387638"/>
              <a:ext cx="250779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2391797" y="5963707"/>
            <a:ext cx="3633446" cy="374324"/>
            <a:chOff x="3051969" y="5963707"/>
            <a:chExt cx="3936233" cy="374324"/>
          </a:xfrm>
        </p:grpSpPr>
        <p:sp>
          <p:nvSpPr>
            <p:cNvPr id="117" name="Rounded Rectangle 116"/>
            <p:cNvSpPr/>
            <p:nvPr/>
          </p:nvSpPr>
          <p:spPr>
            <a:xfrm>
              <a:off x="3051969" y="5963707"/>
              <a:ext cx="883062" cy="374323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6105140" y="5963708"/>
              <a:ext cx="883062" cy="374323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3858467" y="5963708"/>
              <a:ext cx="2365313" cy="0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6025355" y="5385155"/>
            <a:ext cx="1666801" cy="625125"/>
            <a:chOff x="75483" y="4454890"/>
            <a:chExt cx="1805702" cy="6251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1093331" y="4454890"/>
                  <a:ext cx="787854" cy="400110"/>
                </a:xfrm>
                <a:prstGeom prst="rect">
                  <a:avLst/>
                </a:prstGeom>
                <a:noFill/>
                <a:ln w="25400">
                  <a:solidFill>
                    <a:srgbClr val="000099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𝑐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31" y="4454890"/>
                  <a:ext cx="734625" cy="40011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Straight Connector 123"/>
            <p:cNvCxnSpPr>
              <a:endCxn id="123" idx="1"/>
            </p:cNvCxnSpPr>
            <p:nvPr/>
          </p:nvCxnSpPr>
          <p:spPr>
            <a:xfrm flipV="1">
              <a:off x="75483" y="4654945"/>
              <a:ext cx="1017849" cy="425070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6964906" y="3668847"/>
            <a:ext cx="1807974" cy="10156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All prime </a:t>
            </a:r>
            <a:r>
              <a:rPr lang="en-US" sz="2000" dirty="0" err="1" smtClean="0"/>
              <a:t>implicants</a:t>
            </a:r>
            <a:r>
              <a:rPr lang="en-US" sz="2000" dirty="0" smtClean="0"/>
              <a:t> are essential</a:t>
            </a:r>
            <a:endParaRPr lang="en-US" sz="20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6495131" y="5963708"/>
            <a:ext cx="1697252" cy="369332"/>
            <a:chOff x="7036391" y="5963708"/>
            <a:chExt cx="1838689" cy="369332"/>
          </a:xfrm>
        </p:grpSpPr>
        <p:sp>
          <p:nvSpPr>
            <p:cNvPr id="18" name="TextBox 17"/>
            <p:cNvSpPr txBox="1"/>
            <p:nvPr/>
          </p:nvSpPr>
          <p:spPr>
            <a:xfrm>
              <a:off x="7430101" y="5963708"/>
              <a:ext cx="1444979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Not covered</a:t>
              </a:r>
              <a:endParaRPr lang="en-US" dirty="0"/>
            </a:p>
          </p:txBody>
        </p:sp>
        <p:cxnSp>
          <p:nvCxnSpPr>
            <p:cNvPr id="23" name="Straight Connector 22"/>
            <p:cNvCxnSpPr/>
            <p:nvPr/>
          </p:nvCxnSpPr>
          <p:spPr>
            <a:xfrm>
              <a:off x="7036391" y="6148778"/>
              <a:ext cx="393710" cy="209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999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4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Six-Variable </a:t>
            </a:r>
            <a:r>
              <a:rPr lang="en-US" dirty="0" err="1" smtClean="0"/>
              <a:t>Karnaugh</a:t>
            </a:r>
            <a:r>
              <a:rPr lang="en-US" dirty="0" smtClean="0"/>
              <a:t> 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4769" y="897373"/>
                <a:ext cx="8720814" cy="258923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Consists of 2</a:t>
                </a:r>
                <a:r>
                  <a:rPr lang="en-US" sz="1800" baseline="30000" dirty="0" smtClean="0"/>
                  <a:t>6</a:t>
                </a:r>
                <a:r>
                  <a:rPr lang="en-US" sz="1800" dirty="0" smtClean="0"/>
                  <a:t> = 64 squares, numbered 0 to 63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Can be visualized as four layers of 16 squares each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sz="1600" dirty="0" smtClean="0"/>
                  <a:t>Four layers: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𝑎𝑏</m:t>
                    </m:r>
                    <m:r>
                      <a:rPr lang="en-US" sz="1600" i="1" dirty="0" smtClean="0">
                        <a:latin typeface="Cambria Math"/>
                      </a:rPr>
                      <m:t>=00, 01, 11, 10</m:t>
                    </m:r>
                  </m:oMath>
                </a14:m>
                <a:r>
                  <a:rPr lang="en-US" sz="1600" dirty="0" smtClean="0"/>
                  <a:t>	(Notice that layer 11 comes before 10)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1800" dirty="0" smtClean="0"/>
                  <a:t>Each square is adjacent to 6 other squares:</a:t>
                </a:r>
              </a:p>
              <a:p>
                <a:pPr lvl="1">
                  <a:spcBef>
                    <a:spcPts val="1500"/>
                  </a:spcBef>
                </a:pPr>
                <a:r>
                  <a:rPr lang="en-US" sz="1600" dirty="0" smtClean="0"/>
                  <a:t>4 squares in the same layer and 2 squares in the above and below layers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769" y="897373"/>
                <a:ext cx="8720814" cy="2589235"/>
              </a:xfrm>
              <a:blipFill rotWithShape="1">
                <a:blip r:embed="rId2"/>
                <a:stretch>
                  <a:fillRect l="-419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83642" y="3541135"/>
            <a:ext cx="2419307" cy="2941036"/>
            <a:chOff x="2533507" y="1765925"/>
            <a:chExt cx="4205311" cy="4133003"/>
          </a:xfrm>
        </p:grpSpPr>
        <p:sp>
          <p:nvSpPr>
            <p:cNvPr id="5" name="Rectangle 4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586568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433973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6131243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40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Rectangle 21"/>
            <p:cNvSpPr>
              <a:spLocks noChangeArrowheads="1"/>
            </p:cNvSpPr>
            <p:nvPr/>
          </p:nvSpPr>
          <p:spPr bwMode="auto">
            <a:xfrm>
              <a:off x="2806661" y="2981837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108"/>
            <p:cNvSpPr>
              <a:spLocks noChangeShapeType="1"/>
            </p:cNvSpPr>
            <p:nvPr/>
          </p:nvSpPr>
          <p:spPr bwMode="auto">
            <a:xfrm>
              <a:off x="2849386" y="244010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latin typeface="Cambria Math"/>
                          </a:rPr>
                          <m:t>𝑐𝑑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3507" y="2422428"/>
                  <a:ext cx="481353" cy="519018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28000" r="-6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8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𝑒𝑓</m:t>
                        </m:r>
                      </m:oMath>
                    </m:oMathPara>
                  </a14:m>
                  <a:endParaRPr lang="en-US" altLang="en-US" sz="18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1524" y="1961124"/>
                  <a:ext cx="492941" cy="51901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3333" r="-15686" b="-15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279265" y="1765925"/>
                  <a:ext cx="1473416" cy="5190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𝑎𝑏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=00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9265" y="1765925"/>
                  <a:ext cx="1473416" cy="51901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662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21"/>
                <p:cNvSpPr>
                  <a:spLocks noChangeArrowheads="1"/>
                </p:cNvSpPr>
                <p:nvPr/>
              </p:nvSpPr>
              <p:spPr bwMode="auto">
                <a:xfrm>
                  <a:off x="3411181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11181" y="2981836"/>
                  <a:ext cx="694400" cy="44791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21"/>
                <p:cNvSpPr>
                  <a:spLocks noChangeArrowheads="1"/>
                </p:cNvSpPr>
                <p:nvPr/>
              </p:nvSpPr>
              <p:spPr bwMode="auto">
                <a:xfrm>
                  <a:off x="4230725" y="2981837"/>
                  <a:ext cx="606428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30725" y="2981836"/>
                  <a:ext cx="684288" cy="44791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21"/>
                <p:cNvSpPr>
                  <a:spLocks noChangeArrowheads="1"/>
                </p:cNvSpPr>
                <p:nvPr/>
              </p:nvSpPr>
              <p:spPr bwMode="auto">
                <a:xfrm>
                  <a:off x="5062609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2609" y="2981836"/>
                  <a:ext cx="694399" cy="447913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7644" y="2981837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7644" y="2981836"/>
                  <a:ext cx="694400" cy="447913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6856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6856" y="3774733"/>
                  <a:ext cx="694400" cy="447913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6398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6399" y="3774733"/>
                  <a:ext cx="694399" cy="447913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1"/>
                <p:cNvSpPr>
                  <a:spLocks noChangeArrowheads="1"/>
                </p:cNvSpPr>
                <p:nvPr/>
              </p:nvSpPr>
              <p:spPr bwMode="auto">
                <a:xfrm>
                  <a:off x="5058282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58283" y="3774733"/>
                  <a:ext cx="694399" cy="447913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3321" y="3774732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3321" y="3774733"/>
                  <a:ext cx="694400" cy="447913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38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2806661" y="375095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2806661" y="4557448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2806661" y="5330031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9165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9164" y="4513444"/>
                  <a:ext cx="870101" cy="447913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8707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8706" y="4513444"/>
                  <a:ext cx="870101" cy="447913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21"/>
                <p:cNvSpPr>
                  <a:spLocks noChangeArrowheads="1"/>
                </p:cNvSpPr>
                <p:nvPr/>
              </p:nvSpPr>
              <p:spPr bwMode="auto">
                <a:xfrm>
                  <a:off x="5060591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60590" y="4513444"/>
                  <a:ext cx="870101" cy="447913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5628" y="4513445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5627" y="4513444"/>
                  <a:ext cx="870101" cy="447913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b="-1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21"/>
                <p:cNvSpPr>
                  <a:spLocks noChangeArrowheads="1"/>
                </p:cNvSpPr>
                <p:nvPr/>
              </p:nvSpPr>
              <p:spPr bwMode="auto">
                <a:xfrm>
                  <a:off x="3404840" y="5306340"/>
                  <a:ext cx="61568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04839" y="5306340"/>
                  <a:ext cx="694400" cy="447913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21"/>
                <p:cNvSpPr>
                  <a:spLocks noChangeArrowheads="1"/>
                </p:cNvSpPr>
                <p:nvPr/>
              </p:nvSpPr>
              <p:spPr bwMode="auto">
                <a:xfrm>
                  <a:off x="4224384" y="5306340"/>
                  <a:ext cx="607322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4384" y="5306340"/>
                  <a:ext cx="685262" cy="447913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5056267" y="5306340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56268" y="5306340"/>
                  <a:ext cx="870101" cy="447913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5921303" y="5306340"/>
                  <a:ext cx="776399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21302" y="5306340"/>
                  <a:ext cx="870101" cy="447913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oup 41"/>
          <p:cNvGrpSpPr/>
          <p:nvPr/>
        </p:nvGrpSpPr>
        <p:grpSpPr>
          <a:xfrm>
            <a:off x="2782900" y="3405810"/>
            <a:ext cx="1952602" cy="3076361"/>
            <a:chOff x="3351656" y="1575754"/>
            <a:chExt cx="3394071" cy="4323174"/>
          </a:xfrm>
        </p:grpSpPr>
        <p:sp>
          <p:nvSpPr>
            <p:cNvPr id="43" name="Rectangle 42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3586567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4433974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6131242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48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78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382140" y="1575754"/>
                  <a:ext cx="1318708" cy="899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𝑎𝑏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=01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4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2139" y="1765925"/>
                  <a:ext cx="1318709" cy="519018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13333" r="-518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2981838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2981837"/>
                  <a:ext cx="734681" cy="389263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l="-3947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21"/>
                <p:cNvSpPr>
                  <a:spLocks noChangeArrowheads="1"/>
                </p:cNvSpPr>
                <p:nvPr/>
              </p:nvSpPr>
              <p:spPr bwMode="auto">
                <a:xfrm>
                  <a:off x="4300634" y="2981838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0634" y="2981837"/>
                  <a:ext cx="734679" cy="389263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l="-4000" r="-5333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21"/>
                <p:cNvSpPr>
                  <a:spLocks noChangeArrowheads="1"/>
                </p:cNvSpPr>
                <p:nvPr/>
              </p:nvSpPr>
              <p:spPr bwMode="auto">
                <a:xfrm>
                  <a:off x="5130211" y="2981838"/>
                  <a:ext cx="76804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0211" y="2981837"/>
                  <a:ext cx="726965" cy="389263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l="-4054" r="-5405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2095" y="2981838"/>
                  <a:ext cx="77640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2095" y="2981837"/>
                  <a:ext cx="734681" cy="389263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l="-4000" r="-5333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3774732"/>
                  <a:ext cx="743220" cy="389263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6308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6308" y="3774732"/>
                  <a:ext cx="743220" cy="389263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5885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885" y="3774732"/>
                  <a:ext cx="743220" cy="389263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7772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7773" y="3774732"/>
                  <a:ext cx="743220" cy="389263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76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4513445"/>
                  <a:ext cx="743220" cy="389263"/>
                </a:xfrm>
                <a:prstGeom prst="rect">
                  <a:avLst/>
                </a:prstGeom>
                <a:blipFill rotWithShape="1">
                  <a:blip r:embed="rId33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8616" y="4513444"/>
                  <a:ext cx="77729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616" y="4513445"/>
                  <a:ext cx="735504" cy="389263"/>
                </a:xfrm>
                <a:prstGeom prst="rect">
                  <a:avLst/>
                </a:prstGeom>
                <a:blipFill rotWithShape="1">
                  <a:blip r:embed="rId34"/>
                  <a:stretch>
                    <a:fillRect l="-5333" r="-4000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8193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8193" y="4513445"/>
                  <a:ext cx="743220" cy="389263"/>
                </a:xfrm>
                <a:prstGeom prst="rect">
                  <a:avLst/>
                </a:prstGeom>
                <a:blipFill rotWithShape="1">
                  <a:blip r:embed="rId35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0077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0077" y="4513445"/>
                  <a:ext cx="743220" cy="389263"/>
                </a:xfrm>
                <a:prstGeom prst="rect">
                  <a:avLst/>
                </a:prstGeom>
                <a:blipFill rotWithShape="1">
                  <a:blip r:embed="rId36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5306340"/>
                  <a:ext cx="743220" cy="389263"/>
                </a:xfrm>
                <a:prstGeom prst="rect">
                  <a:avLst/>
                </a:prstGeom>
                <a:blipFill rotWithShape="1">
                  <a:blip r:embed="rId37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4293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4293" y="5306340"/>
                  <a:ext cx="743220" cy="389263"/>
                </a:xfrm>
                <a:prstGeom prst="rect">
                  <a:avLst/>
                </a:prstGeom>
                <a:blipFill rotWithShape="1">
                  <a:blip r:embed="rId38"/>
                  <a:stretch>
                    <a:fillRect l="-6579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3870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3870" y="5306340"/>
                  <a:ext cx="743220" cy="389263"/>
                </a:xfrm>
                <a:prstGeom prst="rect">
                  <a:avLst/>
                </a:prstGeom>
                <a:blipFill rotWithShape="1">
                  <a:blip r:embed="rId39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5754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5753" y="5306340"/>
                  <a:ext cx="743220" cy="389263"/>
                </a:xfrm>
                <a:prstGeom prst="rect">
                  <a:avLst/>
                </a:prstGeom>
                <a:blipFill rotWithShape="1">
                  <a:blip r:embed="rId40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/>
          <p:cNvGrpSpPr/>
          <p:nvPr/>
        </p:nvGrpSpPr>
        <p:grpSpPr>
          <a:xfrm>
            <a:off x="4803577" y="3405810"/>
            <a:ext cx="1953764" cy="3076361"/>
            <a:chOff x="3351656" y="1575754"/>
            <a:chExt cx="3396091" cy="4323174"/>
          </a:xfrm>
        </p:grpSpPr>
        <p:sp>
          <p:nvSpPr>
            <p:cNvPr id="82" name="Rectangle 81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3586567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9"/>
            <p:cNvSpPr>
              <a:spLocks noChangeArrowheads="1"/>
            </p:cNvSpPr>
            <p:nvPr/>
          </p:nvSpPr>
          <p:spPr bwMode="auto">
            <a:xfrm>
              <a:off x="4433974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13"/>
            <p:cNvSpPr>
              <a:spLocks noChangeArrowheads="1"/>
            </p:cNvSpPr>
            <p:nvPr/>
          </p:nvSpPr>
          <p:spPr bwMode="auto">
            <a:xfrm>
              <a:off x="6131242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87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114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382140" y="1575754"/>
                  <a:ext cx="1318708" cy="899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𝑎𝑏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=11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9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2139" y="1765925"/>
                  <a:ext cx="1318709" cy="519018"/>
                </a:xfrm>
                <a:prstGeom prst="rect">
                  <a:avLst/>
                </a:prstGeom>
                <a:blipFill rotWithShape="1">
                  <a:blip r:embed="rId41"/>
                  <a:stretch>
                    <a:fillRect l="-13333" r="-518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2981837"/>
                  <a:ext cx="743220" cy="389263"/>
                </a:xfrm>
                <a:prstGeom prst="rect">
                  <a:avLst/>
                </a:prstGeom>
                <a:blipFill rotWithShape="1">
                  <a:blip r:embed="rId42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4300636" y="2981838"/>
                  <a:ext cx="77729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0635" y="2981837"/>
                  <a:ext cx="735504" cy="389263"/>
                </a:xfrm>
                <a:prstGeom prst="rect">
                  <a:avLst/>
                </a:prstGeom>
                <a:blipFill rotWithShape="1">
                  <a:blip r:embed="rId43"/>
                  <a:stretch>
                    <a:fillRect l="-6667" r="-266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21"/>
                <p:cNvSpPr>
                  <a:spLocks noChangeArrowheads="1"/>
                </p:cNvSpPr>
                <p:nvPr/>
              </p:nvSpPr>
              <p:spPr bwMode="auto">
                <a:xfrm>
                  <a:off x="5130211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0212" y="2981837"/>
                  <a:ext cx="743220" cy="389263"/>
                </a:xfrm>
                <a:prstGeom prst="rect">
                  <a:avLst/>
                </a:prstGeom>
                <a:blipFill rotWithShape="1">
                  <a:blip r:embed="rId44"/>
                  <a:stretch>
                    <a:fillRect l="-5263" r="-5263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2097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2096" y="2981837"/>
                  <a:ext cx="743220" cy="389263"/>
                </a:xfrm>
                <a:prstGeom prst="rect">
                  <a:avLst/>
                </a:prstGeom>
                <a:blipFill rotWithShape="1">
                  <a:blip r:embed="rId45"/>
                  <a:stretch>
                    <a:fillRect l="-6579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3774732"/>
                  <a:ext cx="743220" cy="389263"/>
                </a:xfrm>
                <a:prstGeom prst="rect">
                  <a:avLst/>
                </a:prstGeom>
                <a:blipFill rotWithShape="1">
                  <a:blip r:embed="rId46"/>
                  <a:stretch>
                    <a:fillRect l="-6579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6307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6307" y="3774732"/>
                  <a:ext cx="743220" cy="389263"/>
                </a:xfrm>
                <a:prstGeom prst="rect">
                  <a:avLst/>
                </a:prstGeom>
                <a:blipFill rotWithShape="1">
                  <a:blip r:embed="rId47"/>
                  <a:stretch>
                    <a:fillRect l="-5263" r="-5263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5886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886" y="3774732"/>
                  <a:ext cx="743220" cy="389263"/>
                </a:xfrm>
                <a:prstGeom prst="rect">
                  <a:avLst/>
                </a:prstGeom>
                <a:blipFill rotWithShape="1">
                  <a:blip r:embed="rId48"/>
                  <a:stretch>
                    <a:fillRect l="-5263" r="-5263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7774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7773" y="3774732"/>
                  <a:ext cx="743220" cy="389263"/>
                </a:xfrm>
                <a:prstGeom prst="rect">
                  <a:avLst/>
                </a:prstGeom>
                <a:blipFill rotWithShape="1">
                  <a:blip r:embed="rId49"/>
                  <a:stretch>
                    <a:fillRect l="-5263" r="-5263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112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4513445"/>
                  <a:ext cx="743220" cy="389263"/>
                </a:xfrm>
                <a:prstGeom prst="rect">
                  <a:avLst/>
                </a:prstGeom>
                <a:blipFill rotWithShape="1">
                  <a:blip r:embed="rId50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8616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616" y="4513445"/>
                  <a:ext cx="743220" cy="389263"/>
                </a:xfrm>
                <a:prstGeom prst="rect">
                  <a:avLst/>
                </a:prstGeom>
                <a:blipFill rotWithShape="1">
                  <a:blip r:embed="rId51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8193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8193" y="4513445"/>
                  <a:ext cx="743220" cy="389263"/>
                </a:xfrm>
                <a:prstGeom prst="rect">
                  <a:avLst/>
                </a:prstGeom>
                <a:blipFill rotWithShape="1">
                  <a:blip r:embed="rId52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0077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62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0077" y="4513445"/>
                  <a:ext cx="743220" cy="389263"/>
                </a:xfrm>
                <a:prstGeom prst="rect">
                  <a:avLst/>
                </a:prstGeom>
                <a:blipFill rotWithShape="1">
                  <a:blip r:embed="rId53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5306340"/>
                  <a:ext cx="743220" cy="389263"/>
                </a:xfrm>
                <a:prstGeom prst="rect">
                  <a:avLst/>
                </a:prstGeom>
                <a:blipFill rotWithShape="1">
                  <a:blip r:embed="rId54"/>
                  <a:stretch>
                    <a:fillRect l="-6579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4295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4294" y="5306340"/>
                  <a:ext cx="743220" cy="389263"/>
                </a:xfrm>
                <a:prstGeom prst="rect">
                  <a:avLst/>
                </a:prstGeom>
                <a:blipFill rotWithShape="1">
                  <a:blip r:embed="rId55"/>
                  <a:stretch>
                    <a:fillRect l="-5263" r="-5263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3872" y="5306340"/>
                  <a:ext cx="77729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3871" y="5306340"/>
                  <a:ext cx="735504" cy="389263"/>
                </a:xfrm>
                <a:prstGeom prst="rect">
                  <a:avLst/>
                </a:prstGeom>
                <a:blipFill rotWithShape="1">
                  <a:blip r:embed="rId56"/>
                  <a:stretch>
                    <a:fillRect l="-6667" r="-4000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5754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58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5753" y="5306340"/>
                  <a:ext cx="743220" cy="389263"/>
                </a:xfrm>
                <a:prstGeom prst="rect">
                  <a:avLst/>
                </a:prstGeom>
                <a:blipFill rotWithShape="1">
                  <a:blip r:embed="rId57"/>
                  <a:stretch>
                    <a:fillRect l="-6579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/>
          <p:cNvGrpSpPr/>
          <p:nvPr/>
        </p:nvGrpSpPr>
        <p:grpSpPr>
          <a:xfrm>
            <a:off x="6824253" y="3405810"/>
            <a:ext cx="1953764" cy="3076361"/>
            <a:chOff x="3351656" y="1575754"/>
            <a:chExt cx="3396091" cy="4323174"/>
          </a:xfrm>
        </p:grpSpPr>
        <p:sp>
          <p:nvSpPr>
            <p:cNvPr id="117" name="Rectangle 116"/>
            <p:cNvSpPr/>
            <p:nvPr/>
          </p:nvSpPr>
          <p:spPr>
            <a:xfrm>
              <a:off x="3351656" y="2816117"/>
              <a:ext cx="3387161" cy="30828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7"/>
            <p:cNvSpPr>
              <a:spLocks noChangeArrowheads="1"/>
            </p:cNvSpPr>
            <p:nvPr/>
          </p:nvSpPr>
          <p:spPr bwMode="auto">
            <a:xfrm>
              <a:off x="3586567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9"/>
            <p:cNvSpPr>
              <a:spLocks noChangeArrowheads="1"/>
            </p:cNvSpPr>
            <p:nvPr/>
          </p:nvSpPr>
          <p:spPr bwMode="auto">
            <a:xfrm>
              <a:off x="4433974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01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"/>
            <p:cNvSpPr>
              <a:spLocks noChangeArrowheads="1"/>
            </p:cNvSpPr>
            <p:nvPr/>
          </p:nvSpPr>
          <p:spPr bwMode="auto">
            <a:xfrm>
              <a:off x="5282609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11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3"/>
            <p:cNvSpPr>
              <a:spLocks noChangeArrowheads="1"/>
            </p:cNvSpPr>
            <p:nvPr/>
          </p:nvSpPr>
          <p:spPr bwMode="auto">
            <a:xfrm>
              <a:off x="6131242" y="2333732"/>
              <a:ext cx="406812" cy="38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dirty="0" smtClean="0">
                  <a:solidFill>
                    <a:srgbClr val="000000"/>
                  </a:solidFill>
                </a:rPr>
                <a:t>10</a:t>
              </a:r>
              <a:endParaRPr lang="en-US" altLang="en-US" b="0" dirty="0">
                <a:solidFill>
                  <a:schemeClr val="tx1"/>
                </a:solidFill>
              </a:endParaRPr>
            </a:p>
          </p:txBody>
        </p:sp>
        <p:sp>
          <p:nvSpPr>
            <p:cNvPr id="122" name="Line 18"/>
            <p:cNvSpPr>
              <a:spLocks noChangeShapeType="1"/>
            </p:cNvSpPr>
            <p:nvPr/>
          </p:nvSpPr>
          <p:spPr bwMode="auto">
            <a:xfrm flipH="1">
              <a:off x="5052616" y="2820265"/>
              <a:ext cx="0" cy="3078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4203980" y="2816116"/>
              <a:ext cx="1683742" cy="3082810"/>
              <a:chOff x="4203980" y="2816118"/>
              <a:chExt cx="1683742" cy="1687149"/>
            </a:xfrm>
          </p:grpSpPr>
          <p:sp>
            <p:nvSpPr>
              <p:cNvPr id="149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382140" y="1575754"/>
                  <a:ext cx="1318708" cy="8993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𝑎𝑏</m:t>
                        </m:r>
                        <m:r>
                          <a:rPr lang="en-US" altLang="en-US" sz="1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=10</m:t>
                        </m:r>
                      </m:oMath>
                    </m:oMathPara>
                  </a14:m>
                  <a:endParaRPr lang="en-US" altLang="en-US" sz="1800" dirty="0">
                    <a:solidFill>
                      <a:schemeClr val="tx1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82139" y="1765925"/>
                  <a:ext cx="1318709" cy="519018"/>
                </a:xfrm>
                <a:prstGeom prst="rect">
                  <a:avLst/>
                </a:prstGeom>
                <a:blipFill rotWithShape="1">
                  <a:blip r:embed="rId58"/>
                  <a:stretch>
                    <a:fillRect l="-13333" r="-518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2981837"/>
                  <a:ext cx="743220" cy="389263"/>
                </a:xfrm>
                <a:prstGeom prst="rect">
                  <a:avLst/>
                </a:prstGeom>
                <a:blipFill rotWithShape="1">
                  <a:blip r:embed="rId59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00636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00635" y="2981837"/>
                  <a:ext cx="743220" cy="389263"/>
                </a:xfrm>
                <a:prstGeom prst="rect">
                  <a:avLst/>
                </a:prstGeom>
                <a:blipFill rotWithShape="1">
                  <a:blip r:embed="rId60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21"/>
                <p:cNvSpPr>
                  <a:spLocks noChangeArrowheads="1"/>
                </p:cNvSpPr>
                <p:nvPr/>
              </p:nvSpPr>
              <p:spPr bwMode="auto">
                <a:xfrm>
                  <a:off x="5130211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0212" y="2981837"/>
                  <a:ext cx="743220" cy="389263"/>
                </a:xfrm>
                <a:prstGeom prst="rect">
                  <a:avLst/>
                </a:prstGeom>
                <a:blipFill rotWithShape="1">
                  <a:blip r:embed="rId61"/>
                  <a:stretch>
                    <a:fillRect l="-6579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2097" y="2981838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2096" y="2981837"/>
                  <a:ext cx="743220" cy="389263"/>
                </a:xfrm>
                <a:prstGeom prst="rect">
                  <a:avLst/>
                </a:prstGeom>
                <a:blipFill rotWithShape="1">
                  <a:blip r:embed="rId62"/>
                  <a:stretch>
                    <a:fillRect l="-6579" r="-2632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3774732"/>
                  <a:ext cx="743220" cy="389263"/>
                </a:xfrm>
                <a:prstGeom prst="rect">
                  <a:avLst/>
                </a:prstGeom>
                <a:blipFill rotWithShape="1">
                  <a:blip r:embed="rId63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6307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6307" y="3774732"/>
                  <a:ext cx="743220" cy="389263"/>
                </a:xfrm>
                <a:prstGeom prst="rect">
                  <a:avLst/>
                </a:prstGeom>
                <a:blipFill rotWithShape="1">
                  <a:blip r:embed="rId64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5886" y="3774732"/>
                  <a:ext cx="777291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39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886" y="3774732"/>
                  <a:ext cx="735504" cy="389263"/>
                </a:xfrm>
                <a:prstGeom prst="rect">
                  <a:avLst/>
                </a:prstGeom>
                <a:blipFill rotWithShape="1">
                  <a:blip r:embed="rId65"/>
                  <a:stretch>
                    <a:fillRect l="-5333" r="-4000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7774" y="3774732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38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7773" y="3774732"/>
                  <a:ext cx="743220" cy="389263"/>
                </a:xfrm>
                <a:prstGeom prst="rect">
                  <a:avLst/>
                </a:prstGeom>
                <a:blipFill rotWithShape="1">
                  <a:blip r:embed="rId66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Line 41"/>
            <p:cNvSpPr>
              <a:spLocks noChangeShapeType="1"/>
            </p:cNvSpPr>
            <p:nvPr/>
          </p:nvSpPr>
          <p:spPr bwMode="auto">
            <a:xfrm flipV="1">
              <a:off x="3355783" y="4350712"/>
              <a:ext cx="33830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5" name="Group 134"/>
            <p:cNvGrpSpPr/>
            <p:nvPr/>
          </p:nvGrpSpPr>
          <p:grpSpPr>
            <a:xfrm>
              <a:off x="3351656" y="3576604"/>
              <a:ext cx="3387162" cy="1548216"/>
              <a:chOff x="3351656" y="3979853"/>
              <a:chExt cx="3029011" cy="1548216"/>
            </a:xfrm>
          </p:grpSpPr>
          <p:sp>
            <p:nvSpPr>
              <p:cNvPr id="147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44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4513445"/>
                  <a:ext cx="743220" cy="389263"/>
                </a:xfrm>
                <a:prstGeom prst="rect">
                  <a:avLst/>
                </a:prstGeom>
                <a:blipFill rotWithShape="1">
                  <a:blip r:embed="rId67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8616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45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616" y="4513445"/>
                  <a:ext cx="743220" cy="389263"/>
                </a:xfrm>
                <a:prstGeom prst="rect">
                  <a:avLst/>
                </a:prstGeom>
                <a:blipFill rotWithShape="1">
                  <a:blip r:embed="rId68"/>
                  <a:stretch>
                    <a:fillRect l="-6579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8193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47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8193" y="4513445"/>
                  <a:ext cx="743220" cy="389263"/>
                </a:xfrm>
                <a:prstGeom prst="rect">
                  <a:avLst/>
                </a:prstGeom>
                <a:blipFill rotWithShape="1">
                  <a:blip r:embed="rId69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0077" y="4513444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46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60077" y="4513445"/>
                  <a:ext cx="743220" cy="389263"/>
                </a:xfrm>
                <a:prstGeom prst="rect">
                  <a:avLst/>
                </a:prstGeom>
                <a:blipFill rotWithShape="1">
                  <a:blip r:embed="rId70"/>
                  <a:stretch>
                    <a:fillRect l="-5263" r="-3947" b="-1777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21"/>
                <p:cNvSpPr>
                  <a:spLocks noChangeArrowheads="1"/>
                </p:cNvSpPr>
                <p:nvPr/>
              </p:nvSpPr>
              <p:spPr bwMode="auto">
                <a:xfrm>
                  <a:off x="3432529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40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32529" y="5306340"/>
                  <a:ext cx="743220" cy="389263"/>
                </a:xfrm>
                <a:prstGeom prst="rect">
                  <a:avLst/>
                </a:prstGeom>
                <a:blipFill rotWithShape="1">
                  <a:blip r:embed="rId71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Rectangle 21"/>
                <p:cNvSpPr>
                  <a:spLocks noChangeArrowheads="1"/>
                </p:cNvSpPr>
                <p:nvPr/>
              </p:nvSpPr>
              <p:spPr bwMode="auto">
                <a:xfrm>
                  <a:off x="4294295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41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4294" y="5306340"/>
                  <a:ext cx="743220" cy="389263"/>
                </a:xfrm>
                <a:prstGeom prst="rect">
                  <a:avLst/>
                </a:prstGeom>
                <a:blipFill rotWithShape="1">
                  <a:blip r:embed="rId72"/>
                  <a:stretch>
                    <a:fillRect l="-5263" r="-3947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Rectangle 21"/>
                <p:cNvSpPr>
                  <a:spLocks noChangeArrowheads="1"/>
                </p:cNvSpPr>
                <p:nvPr/>
              </p:nvSpPr>
              <p:spPr bwMode="auto">
                <a:xfrm>
                  <a:off x="5123872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43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3871" y="5306340"/>
                  <a:ext cx="743220" cy="389263"/>
                </a:xfrm>
                <a:prstGeom prst="rect">
                  <a:avLst/>
                </a:prstGeom>
                <a:blipFill rotWithShape="1">
                  <a:blip r:embed="rId73"/>
                  <a:stretch>
                    <a:fillRect l="-6579" r="-2632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Rectangle 21"/>
                <p:cNvSpPr>
                  <a:spLocks noChangeArrowheads="1"/>
                </p:cNvSpPr>
                <p:nvPr/>
              </p:nvSpPr>
              <p:spPr bwMode="auto">
                <a:xfrm>
                  <a:off x="5955754" y="5306340"/>
                  <a:ext cx="785650" cy="3892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en-US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42</m:t>
                            </m:r>
                          </m:sub>
                        </m:sSub>
                      </m:oMath>
                    </m:oMathPara>
                  </a14:m>
                  <a:endParaRPr lang="en-US" altLang="en-US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55753" y="5306340"/>
                  <a:ext cx="743220" cy="389263"/>
                </a:xfrm>
                <a:prstGeom prst="rect">
                  <a:avLst/>
                </a:prstGeom>
                <a:blipFill rotWithShape="1">
                  <a:blip r:embed="rId74"/>
                  <a:stretch>
                    <a:fillRect l="-6579" r="-2632" b="-173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6255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 of a Six-Variable K-Map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4769" y="951900"/>
                <a:ext cx="8827165" cy="224667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𝑎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𝑏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𝑐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𝑑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𝑒</m:t>
                    </m:r>
                    <m:r>
                      <a:rPr lang="en-US" sz="2000" b="0" i="1" dirty="0" smtClean="0">
                        <a:latin typeface="Cambria Math"/>
                      </a:rPr>
                      <m:t>,</m:t>
                    </m:r>
                    <m:r>
                      <a:rPr lang="en-US" sz="2000" b="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(2, 10, 11, 18, 21, 23, 29, 31, 34, 41, 50, 53, 55, 61, 63)</m:t>
                        </m:r>
                      </m:e>
                    </m:nary>
                  </m:oMath>
                </a14:m>
                <a:r>
                  <a:rPr lang="en-US" sz="2000" dirty="0" smtClean="0"/>
                  <a:t> 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Draw the 6-Variable K-Map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Obtain a minimal Sum-of-Products expression for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h</m:t>
                    </m:r>
                  </m:oMath>
                </a14:m>
                <a:endParaRPr lang="en-US" sz="2000" b="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Solution: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sSup>
                      <m:sSup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  <m:r>
                      <a:rPr lang="en-US" sz="20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𝑓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0099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𝑒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𝑎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′ 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𝑐</m:t>
                    </m:r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FF00FF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 (18 literals)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4769" y="951900"/>
                <a:ext cx="8827165" cy="2246673"/>
              </a:xfrm>
              <a:blipFill rotWithShape="1">
                <a:blip r:embed="rId2"/>
                <a:stretch>
                  <a:fillRect l="-691" t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3" name="Group 182"/>
          <p:cNvGrpSpPr/>
          <p:nvPr/>
        </p:nvGrpSpPr>
        <p:grpSpPr>
          <a:xfrm>
            <a:off x="283642" y="3405810"/>
            <a:ext cx="8489238" cy="3076361"/>
            <a:chOff x="307279" y="3405810"/>
            <a:chExt cx="9196674" cy="3076361"/>
          </a:xfrm>
        </p:grpSpPr>
        <p:grpSp>
          <p:nvGrpSpPr>
            <p:cNvPr id="5" name="Group 4"/>
            <p:cNvGrpSpPr/>
            <p:nvPr/>
          </p:nvGrpSpPr>
          <p:grpSpPr>
            <a:xfrm>
              <a:off x="307279" y="3541135"/>
              <a:ext cx="2620915" cy="2941036"/>
              <a:chOff x="2533507" y="1765925"/>
              <a:chExt cx="4205311" cy="4133003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3586569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4433973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11"/>
              <p:cNvSpPr>
                <a:spLocks noChangeArrowheads="1"/>
              </p:cNvSpPr>
              <p:nvPr/>
            </p:nvSpPr>
            <p:spPr bwMode="auto">
              <a:xfrm>
                <a:off x="5282609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13"/>
              <p:cNvSpPr>
                <a:spLocks noChangeArrowheads="1"/>
              </p:cNvSpPr>
              <p:nvPr/>
            </p:nvSpPr>
            <p:spPr bwMode="auto">
              <a:xfrm>
                <a:off x="6131242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41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Rectangle 21"/>
              <p:cNvSpPr>
                <a:spLocks noChangeArrowheads="1"/>
              </p:cNvSpPr>
              <p:nvPr/>
            </p:nvSpPr>
            <p:spPr bwMode="auto">
              <a:xfrm>
                <a:off x="2806661" y="2981837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Line 108"/>
              <p:cNvSpPr>
                <a:spLocks noChangeShapeType="1"/>
              </p:cNvSpPr>
              <p:nvPr/>
            </p:nvSpPr>
            <p:spPr bwMode="auto">
              <a:xfrm>
                <a:off x="2849386" y="2440103"/>
                <a:ext cx="505960" cy="37828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rIns="0" anchorCtr="1">
                <a:sp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33507" y="2422428"/>
                    <a:ext cx="481353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latin typeface="Cambria Math"/>
                            </a:rPr>
                            <m:t>𝑐𝑑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5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33507" y="2422428"/>
                    <a:ext cx="481353" cy="519018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28000" r="-6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1524" y="1961124"/>
                    <a:ext cx="492941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rIns="0" anchorCtr="1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18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  <m:t>𝑒𝑓</m:t>
                          </m:r>
                        </m:oMath>
                      </m:oMathPara>
                    </a14:m>
                    <a:endParaRPr lang="en-US" altLang="en-US" sz="1800" dirty="0">
                      <a:latin typeface="+mn-lt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 Box 1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11524" y="1961124"/>
                    <a:ext cx="492941" cy="519018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l="-33333" r="-15686" b="-15000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9265" y="1765925"/>
                    <a:ext cx="1473416" cy="5190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𝑎𝑏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=00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7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79265" y="1765925"/>
                    <a:ext cx="1473416" cy="519018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6623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39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2806661" y="375095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1"/>
              <p:cNvSpPr>
                <a:spLocks noChangeArrowheads="1"/>
              </p:cNvSpPr>
              <p:nvPr/>
            </p:nvSpPr>
            <p:spPr bwMode="auto">
              <a:xfrm>
                <a:off x="2806661" y="4557448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1"/>
              <p:cNvSpPr>
                <a:spLocks noChangeArrowheads="1"/>
              </p:cNvSpPr>
              <p:nvPr/>
            </p:nvSpPr>
            <p:spPr bwMode="auto">
              <a:xfrm>
                <a:off x="2806661" y="5330031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3014808" y="3405810"/>
              <a:ext cx="2111013" cy="3076361"/>
              <a:chOff x="3351656" y="1575754"/>
              <a:chExt cx="3387162" cy="4323174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7"/>
              <p:cNvSpPr>
                <a:spLocks noChangeArrowheads="1"/>
              </p:cNvSpPr>
              <p:nvPr/>
            </p:nvSpPr>
            <p:spPr bwMode="auto">
              <a:xfrm>
                <a:off x="3586567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9"/>
              <p:cNvSpPr>
                <a:spLocks noChangeArrowheads="1"/>
              </p:cNvSpPr>
              <p:nvPr/>
            </p:nvSpPr>
            <p:spPr bwMode="auto">
              <a:xfrm>
                <a:off x="4433974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5282609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13"/>
              <p:cNvSpPr>
                <a:spLocks noChangeArrowheads="1"/>
              </p:cNvSpPr>
              <p:nvPr/>
            </p:nvSpPr>
            <p:spPr bwMode="auto">
              <a:xfrm>
                <a:off x="6131242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72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2140" y="1575754"/>
                    <a:ext cx="1318708" cy="8993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𝑎𝑏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=01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51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82139" y="1765925"/>
                    <a:ext cx="1318709" cy="519018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l="-13333" r="-518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" name="Group 60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70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4" name="Group 73"/>
            <p:cNvGrpSpPr/>
            <p:nvPr/>
          </p:nvGrpSpPr>
          <p:grpSpPr>
            <a:xfrm>
              <a:off x="5203874" y="3405810"/>
              <a:ext cx="2111013" cy="3076361"/>
              <a:chOff x="3351656" y="1575754"/>
              <a:chExt cx="3387162" cy="4323174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"/>
              <p:cNvSpPr>
                <a:spLocks noChangeArrowheads="1"/>
              </p:cNvSpPr>
              <p:nvPr/>
            </p:nvSpPr>
            <p:spPr bwMode="auto">
              <a:xfrm>
                <a:off x="3586567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9"/>
              <p:cNvSpPr>
                <a:spLocks noChangeArrowheads="1"/>
              </p:cNvSpPr>
              <p:nvPr/>
            </p:nvSpPr>
            <p:spPr bwMode="auto">
              <a:xfrm>
                <a:off x="4433974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11"/>
              <p:cNvSpPr>
                <a:spLocks noChangeArrowheads="1"/>
              </p:cNvSpPr>
              <p:nvPr/>
            </p:nvSpPr>
            <p:spPr bwMode="auto">
              <a:xfrm>
                <a:off x="5282609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13"/>
              <p:cNvSpPr>
                <a:spLocks noChangeArrowheads="1"/>
              </p:cNvSpPr>
              <p:nvPr/>
            </p:nvSpPr>
            <p:spPr bwMode="auto">
              <a:xfrm>
                <a:off x="6131242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1" name="Group 80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103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2140" y="1575754"/>
                    <a:ext cx="1318708" cy="8993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𝑎𝑏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=11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82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82139" y="1765925"/>
                    <a:ext cx="1318709" cy="519018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l="-13333" r="-518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101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5" name="Group 104"/>
            <p:cNvGrpSpPr/>
            <p:nvPr/>
          </p:nvGrpSpPr>
          <p:grpSpPr>
            <a:xfrm>
              <a:off x="7392940" y="3405810"/>
              <a:ext cx="2111013" cy="3076361"/>
              <a:chOff x="3351656" y="1575754"/>
              <a:chExt cx="3387162" cy="4323174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3351656" y="2816117"/>
                <a:ext cx="3387161" cy="30828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7"/>
              <p:cNvSpPr>
                <a:spLocks noChangeArrowheads="1"/>
              </p:cNvSpPr>
              <p:nvPr/>
            </p:nvSpPr>
            <p:spPr bwMode="auto">
              <a:xfrm>
                <a:off x="3586567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4433974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01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1"/>
              <p:cNvSpPr>
                <a:spLocks noChangeArrowheads="1"/>
              </p:cNvSpPr>
              <p:nvPr/>
            </p:nvSpPr>
            <p:spPr bwMode="auto">
              <a:xfrm>
                <a:off x="5282609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11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3"/>
              <p:cNvSpPr>
                <a:spLocks noChangeArrowheads="1"/>
              </p:cNvSpPr>
              <p:nvPr/>
            </p:nvSpPr>
            <p:spPr bwMode="auto">
              <a:xfrm>
                <a:off x="6131242" y="2333732"/>
                <a:ext cx="406812" cy="389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dirty="0" smtClean="0">
                    <a:solidFill>
                      <a:srgbClr val="000000"/>
                    </a:solidFill>
                  </a:rPr>
                  <a:t>10</a:t>
                </a:r>
                <a:endParaRPr lang="en-US" alt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Line 18"/>
              <p:cNvSpPr>
                <a:spLocks noChangeShapeType="1"/>
              </p:cNvSpPr>
              <p:nvPr/>
            </p:nvSpPr>
            <p:spPr bwMode="auto">
              <a:xfrm flipH="1">
                <a:off x="5052616" y="2820265"/>
                <a:ext cx="0" cy="30786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oup 111"/>
              <p:cNvGrpSpPr/>
              <p:nvPr/>
            </p:nvGrpSpPr>
            <p:grpSpPr>
              <a:xfrm>
                <a:off x="4203980" y="2816116"/>
                <a:ext cx="1683742" cy="3082810"/>
                <a:chOff x="4203980" y="2816118"/>
                <a:chExt cx="1683742" cy="1687149"/>
              </a:xfrm>
            </p:grpSpPr>
            <p:sp>
              <p:nvSpPr>
                <p:cNvPr id="134" name="Line 17"/>
                <p:cNvSpPr>
                  <a:spLocks noChangeShapeType="1"/>
                </p:cNvSpPr>
                <p:nvPr/>
              </p:nvSpPr>
              <p:spPr bwMode="auto">
                <a:xfrm>
                  <a:off x="4203980" y="2818388"/>
                  <a:ext cx="0" cy="168487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Line 19"/>
                <p:cNvSpPr>
                  <a:spLocks noChangeShapeType="1"/>
                </p:cNvSpPr>
                <p:nvPr/>
              </p:nvSpPr>
              <p:spPr bwMode="auto">
                <a:xfrm>
                  <a:off x="5887722" y="2816118"/>
                  <a:ext cx="0" cy="1687149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 Box 10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82140" y="1575754"/>
                    <a:ext cx="1318708" cy="89936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 lIns="0" rIns="0" anchor="ctr" anchorCtr="0">
                    <a:spAutoFit/>
                  </a:bodyPr>
                  <a:lstStyle>
                    <a:lvl1pPr marL="285750" indent="-285750"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1pPr>
                    <a:lvl2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2pPr>
                    <a:lvl3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3pPr>
                    <a:lvl4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>
                      <a:spcBef>
                        <a:spcPct val="0"/>
                      </a:spcBef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marL="0" indent="0" algn="ctr"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𝑎𝑏</m:t>
                          </m:r>
                          <m:r>
                            <a:rPr lang="en-US" altLang="en-US" sz="18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=10</m:t>
                          </m:r>
                        </m:oMath>
                      </m:oMathPara>
                    </a14:m>
                    <a:endParaRPr lang="en-US" altLang="en-US" sz="1800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113" name="Text Box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82139" y="1765925"/>
                    <a:ext cx="1318709" cy="519018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l="-13333" r="-5185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9050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Line 41"/>
              <p:cNvSpPr>
                <a:spLocks noChangeShapeType="1"/>
              </p:cNvSpPr>
              <p:nvPr/>
            </p:nvSpPr>
            <p:spPr bwMode="auto">
              <a:xfrm flipV="1">
                <a:off x="3355783" y="4350712"/>
                <a:ext cx="3383033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3" name="Group 122"/>
              <p:cNvGrpSpPr/>
              <p:nvPr/>
            </p:nvGrpSpPr>
            <p:grpSpPr>
              <a:xfrm>
                <a:off x="3351656" y="3576604"/>
                <a:ext cx="3387162" cy="1548216"/>
                <a:chOff x="3351656" y="3979853"/>
                <a:chExt cx="3029011" cy="1548216"/>
              </a:xfrm>
            </p:grpSpPr>
            <p:sp>
              <p:nvSpPr>
                <p:cNvPr id="132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5346" y="3979853"/>
                  <a:ext cx="3025320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3351656" y="5528069"/>
                  <a:ext cx="302901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57" name="Rounded Rectangle 156"/>
          <p:cNvSpPr/>
          <p:nvPr/>
        </p:nvSpPr>
        <p:spPr>
          <a:xfrm>
            <a:off x="1811688" y="6021315"/>
            <a:ext cx="792812" cy="376328"/>
          </a:xfrm>
          <a:prstGeom prst="roundRect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ounded Rectangle 158"/>
          <p:cNvSpPr/>
          <p:nvPr/>
        </p:nvSpPr>
        <p:spPr>
          <a:xfrm>
            <a:off x="7420530" y="6021315"/>
            <a:ext cx="288836" cy="376328"/>
          </a:xfrm>
          <a:prstGeom prst="round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9" name="Group 168"/>
          <p:cNvGrpSpPr/>
          <p:nvPr/>
        </p:nvGrpSpPr>
        <p:grpSpPr>
          <a:xfrm>
            <a:off x="1806865" y="4370591"/>
            <a:ext cx="6872514" cy="2020057"/>
            <a:chOff x="1957436" y="4370590"/>
            <a:chExt cx="7445224" cy="2020057"/>
          </a:xfrm>
        </p:grpSpPr>
        <p:sp>
          <p:nvSpPr>
            <p:cNvPr id="136" name="TextBox 135"/>
            <p:cNvSpPr txBox="1"/>
            <p:nvPr/>
          </p:nvSpPr>
          <p:spPr>
            <a:xfrm>
              <a:off x="2508635" y="4384629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4697701" y="4384629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886766" y="4384629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660775" y="490309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179238" y="547916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4179238" y="492678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660775" y="547916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849841" y="490309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6368304" y="547916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368304" y="492678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849841" y="5479162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8038907" y="6021315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2508635" y="6021315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1957436" y="6021315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9075833" y="4370590"/>
              <a:ext cx="326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2315663" y="4370590"/>
            <a:ext cx="6350865" cy="376328"/>
            <a:chOff x="2508635" y="4370590"/>
            <a:chExt cx="6880104" cy="376328"/>
          </a:xfrm>
        </p:grpSpPr>
        <p:sp>
          <p:nvSpPr>
            <p:cNvPr id="154" name="Rounded Rectangle 153"/>
            <p:cNvSpPr/>
            <p:nvPr/>
          </p:nvSpPr>
          <p:spPr>
            <a:xfrm>
              <a:off x="9075833" y="4370590"/>
              <a:ext cx="312906" cy="37632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ounded Rectangle 150"/>
            <p:cNvSpPr/>
            <p:nvPr/>
          </p:nvSpPr>
          <p:spPr>
            <a:xfrm>
              <a:off x="2508635" y="4370590"/>
              <a:ext cx="312906" cy="37632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4697701" y="4370590"/>
              <a:ext cx="312906" cy="37632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6886767" y="4370590"/>
              <a:ext cx="312906" cy="37632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1" name="Straight Connector 160"/>
            <p:cNvCxnSpPr>
              <a:stCxn id="151" idx="0"/>
              <a:endCxn id="154" idx="0"/>
            </p:cNvCxnSpPr>
            <p:nvPr/>
          </p:nvCxnSpPr>
          <p:spPr>
            <a:xfrm>
              <a:off x="2665088" y="4370590"/>
              <a:ext cx="656719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Group 167"/>
          <p:cNvGrpSpPr/>
          <p:nvPr/>
        </p:nvGrpSpPr>
        <p:grpSpPr>
          <a:xfrm>
            <a:off x="3375734" y="4903092"/>
            <a:ext cx="2791537" cy="945402"/>
            <a:chOff x="3657045" y="4903092"/>
            <a:chExt cx="3024165" cy="945402"/>
          </a:xfrm>
        </p:grpSpPr>
        <p:sp>
          <p:nvSpPr>
            <p:cNvPr id="155" name="Rounded Rectangle 154"/>
            <p:cNvSpPr/>
            <p:nvPr/>
          </p:nvSpPr>
          <p:spPr>
            <a:xfrm>
              <a:off x="3657045" y="4906361"/>
              <a:ext cx="821871" cy="93995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ounded Rectangle 155"/>
            <p:cNvSpPr/>
            <p:nvPr/>
          </p:nvSpPr>
          <p:spPr>
            <a:xfrm>
              <a:off x="5859339" y="4908544"/>
              <a:ext cx="821871" cy="93995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7" name="Straight Connector 166"/>
            <p:cNvCxnSpPr>
              <a:stCxn id="155" idx="0"/>
            </p:cNvCxnSpPr>
            <p:nvPr/>
          </p:nvCxnSpPr>
          <p:spPr>
            <a:xfrm flipV="1">
              <a:off x="4067981" y="4903092"/>
              <a:ext cx="2202293" cy="3269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/>
          <p:cNvGrpSpPr/>
          <p:nvPr/>
        </p:nvGrpSpPr>
        <p:grpSpPr>
          <a:xfrm>
            <a:off x="1164266" y="4358699"/>
            <a:ext cx="1151397" cy="400110"/>
            <a:chOff x="1261288" y="4358699"/>
            <a:chExt cx="1247347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1261288" y="4358699"/>
                  <a:ext cx="1056192" cy="40011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𝑐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′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𝑒𝑓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1288" y="4358699"/>
                  <a:ext cx="987771" cy="4001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4286"/>
                  </a:stretch>
                </a:blipFill>
                <a:ln w="254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/>
            <p:cNvCxnSpPr>
              <a:stCxn id="170" idx="3"/>
              <a:endCxn id="151" idx="1"/>
            </p:cNvCxnSpPr>
            <p:nvPr/>
          </p:nvCxnSpPr>
          <p:spPr>
            <a:xfrm>
              <a:off x="2317480" y="4558754"/>
              <a:ext cx="191155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/>
        </p:nvGrpSpPr>
        <p:grpSpPr>
          <a:xfrm>
            <a:off x="2543190" y="4910043"/>
            <a:ext cx="840596" cy="400110"/>
            <a:chOff x="1524451" y="4338821"/>
            <a:chExt cx="91064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/>
                <p:cNvSpPr txBox="1"/>
                <p:nvPr/>
              </p:nvSpPr>
              <p:spPr>
                <a:xfrm>
                  <a:off x="1524451" y="4338821"/>
                  <a:ext cx="644281" cy="40011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rgbClr val="008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  <m:r>
                          <a:rPr lang="en-US" sz="20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75" name="TextBox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451" y="4338821"/>
                  <a:ext cx="644281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2857"/>
                  </a:stretch>
                </a:blipFill>
                <a:ln w="25400">
                  <a:solidFill>
                    <a:srgbClr val="008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6" name="Straight Connector 175"/>
            <p:cNvCxnSpPr>
              <a:stCxn id="175" idx="3"/>
            </p:cNvCxnSpPr>
            <p:nvPr/>
          </p:nvCxnSpPr>
          <p:spPr>
            <a:xfrm>
              <a:off x="2168732" y="4538876"/>
              <a:ext cx="266365" cy="0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2612270" y="6011202"/>
            <a:ext cx="1389906" cy="400110"/>
            <a:chOff x="1187227" y="4338821"/>
            <a:chExt cx="1505732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/>
                <p:cNvSpPr txBox="1"/>
                <p:nvPr/>
              </p:nvSpPr>
              <p:spPr>
                <a:xfrm>
                  <a:off x="1524451" y="4338821"/>
                  <a:ext cx="1168508" cy="40011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rgbClr val="000099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𝑐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" name="TextBox 1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4451" y="4338821"/>
                  <a:ext cx="1168508" cy="40011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  <a:ln w="25400">
                  <a:solidFill>
                    <a:srgbClr val="000099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2" name="Straight Connector 181"/>
            <p:cNvCxnSpPr>
              <a:endCxn id="181" idx="1"/>
            </p:cNvCxnSpPr>
            <p:nvPr/>
          </p:nvCxnSpPr>
          <p:spPr>
            <a:xfrm>
              <a:off x="1187227" y="4538876"/>
              <a:ext cx="337224" cy="0"/>
            </a:xfrm>
            <a:prstGeom prst="line">
              <a:avLst/>
            </a:prstGeom>
            <a:ln w="25400">
              <a:solidFill>
                <a:srgbClr val="00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Group 185"/>
          <p:cNvGrpSpPr/>
          <p:nvPr/>
        </p:nvGrpSpPr>
        <p:grpSpPr>
          <a:xfrm>
            <a:off x="5878435" y="6011202"/>
            <a:ext cx="1533102" cy="400110"/>
            <a:chOff x="1377740" y="4338821"/>
            <a:chExt cx="1660861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/>
                <p:cNvSpPr txBox="1"/>
                <p:nvPr/>
              </p:nvSpPr>
              <p:spPr>
                <a:xfrm>
                  <a:off x="1377740" y="4338821"/>
                  <a:ext cx="1349832" cy="40011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rgbClr val="FF00FF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 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𝑐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7" name="TextBox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7740" y="4338821"/>
                  <a:ext cx="1349832" cy="400110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r="-5778" b="-12857"/>
                  </a:stretch>
                </a:blipFill>
                <a:ln w="25400">
                  <a:solidFill>
                    <a:srgbClr val="FF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8" name="Straight Connector 187"/>
            <p:cNvCxnSpPr>
              <a:stCxn id="187" idx="3"/>
            </p:cNvCxnSpPr>
            <p:nvPr/>
          </p:nvCxnSpPr>
          <p:spPr>
            <a:xfrm>
              <a:off x="2727572" y="4538876"/>
              <a:ext cx="311029" cy="0"/>
            </a:xfrm>
            <a:prstGeom prst="line">
              <a:avLst/>
            </a:prstGeom>
            <a:ln w="254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119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36999" y="894292"/>
            <a:ext cx="7976354" cy="5645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Boolean Function Minimization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The </a:t>
            </a:r>
            <a:r>
              <a:rPr lang="en-US" altLang="en-US" kern="0" dirty="0" err="1" smtClean="0"/>
              <a:t>Karnaugh</a:t>
            </a:r>
            <a:r>
              <a:rPr lang="en-US" altLang="en-US" kern="0" dirty="0" smtClean="0"/>
              <a:t> Map (K-Map)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Two, Three, and Four-Variable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/>
              <a:t>Prime and Essential Prime </a:t>
            </a:r>
            <a:r>
              <a:rPr lang="en-US" altLang="en-US" kern="0" dirty="0" smtClean="0"/>
              <a:t>Implicants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Minimal Sum-of-Products and Product-of-Sums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Don't Cares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/>
              <a:t>Five and Six-Variable K-Maps</a:t>
            </a:r>
          </a:p>
          <a:p>
            <a:pPr marL="450850" indent="-450850">
              <a:spcBef>
                <a:spcPts val="23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Multiple Outputs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392472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Multiple Outputs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94293"/>
                <a:ext cx="8229600" cy="282274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Suppose we have two functions: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𝑎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𝑏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𝑐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𝑔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𝑎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𝑏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latin typeface="Cambria Math"/>
                      </a:rPr>
                      <m:t>𝑐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Same inputs: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𝑎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𝑏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2000" dirty="0" smtClean="0"/>
                  <a:t>, but two outputs: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We can minimize each function separately, or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Minimize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sz="2000" dirty="0" smtClean="0"/>
                  <a:t> as one circuit with two outputs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idea is to share terms (gates) among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94293"/>
                <a:ext cx="8229600" cy="2822742"/>
              </a:xfrm>
              <a:blipFill rotWithShape="1">
                <a:blip r:embed="rId2"/>
                <a:stretch>
                  <a:fillRect l="-593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112786" y="3717035"/>
            <a:ext cx="2494198" cy="1095342"/>
            <a:chOff x="1205518" y="4005070"/>
            <a:chExt cx="2702048" cy="1095342"/>
          </a:xfrm>
        </p:grpSpPr>
        <p:sp>
          <p:nvSpPr>
            <p:cNvPr id="5" name="Rectangle 4"/>
            <p:cNvSpPr/>
            <p:nvPr/>
          </p:nvSpPr>
          <p:spPr>
            <a:xfrm>
              <a:off x="2072650" y="4120284"/>
              <a:ext cx="921712" cy="921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611794" y="4293105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611794" y="458114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1611794" y="4869175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2994362" y="458114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205518" y="4005070"/>
                  <a:ext cx="4686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518" y="4005070"/>
                  <a:ext cx="448648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208545" y="4349903"/>
                  <a:ext cx="4626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4349903"/>
                  <a:ext cx="443070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1211572" y="4638747"/>
                  <a:ext cx="4381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1572" y="4638747"/>
                  <a:ext cx="420436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438966" y="4350712"/>
                  <a:ext cx="4686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8966" y="4350712"/>
                  <a:ext cx="448584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351" b="-19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1115580" y="4925973"/>
            <a:ext cx="2508048" cy="1095342"/>
            <a:chOff x="1205518" y="4005070"/>
            <a:chExt cx="2717052" cy="1095342"/>
          </a:xfrm>
        </p:grpSpPr>
        <p:sp>
          <p:nvSpPr>
            <p:cNvPr id="22" name="Rectangle 21"/>
            <p:cNvSpPr/>
            <p:nvPr/>
          </p:nvSpPr>
          <p:spPr>
            <a:xfrm>
              <a:off x="2072650" y="4120284"/>
              <a:ext cx="921712" cy="921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1611794" y="4293105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1611794" y="458114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611794" y="4869175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2994362" y="458114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1205518" y="4005070"/>
                  <a:ext cx="4686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518" y="4005070"/>
                  <a:ext cx="448648" cy="46166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208545" y="4349903"/>
                  <a:ext cx="4626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5" y="4349903"/>
                  <a:ext cx="443070" cy="46166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211572" y="4638747"/>
                  <a:ext cx="43810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1572" y="4638747"/>
                  <a:ext cx="420436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438966" y="4350712"/>
                  <a:ext cx="4836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8966" y="4350712"/>
                  <a:ext cx="462434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/>
          <p:cNvGrpSpPr/>
          <p:nvPr/>
        </p:nvGrpSpPr>
        <p:grpSpPr>
          <a:xfrm>
            <a:off x="4848631" y="4293105"/>
            <a:ext cx="2508048" cy="1095342"/>
            <a:chOff x="5252682" y="4293105"/>
            <a:chExt cx="2717052" cy="1095342"/>
          </a:xfrm>
        </p:grpSpPr>
        <p:sp>
          <p:nvSpPr>
            <p:cNvPr id="32" name="Rectangle 31"/>
            <p:cNvSpPr/>
            <p:nvPr/>
          </p:nvSpPr>
          <p:spPr>
            <a:xfrm>
              <a:off x="6119814" y="4408319"/>
              <a:ext cx="921712" cy="9217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5658958" y="458114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5658958" y="4869175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5658958" y="5157210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7041526" y="5156401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252682" y="4293105"/>
                  <a:ext cx="46867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682" y="4293105"/>
                  <a:ext cx="448648" cy="46166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5255709" y="4637938"/>
                  <a:ext cx="46262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709" y="4637938"/>
                  <a:ext cx="443070" cy="461665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5258736" y="4926782"/>
                  <a:ext cx="43810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8736" y="4926782"/>
                  <a:ext cx="420436" cy="461665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7486130" y="4925973"/>
                  <a:ext cx="48360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130" y="4925973"/>
                  <a:ext cx="462434" cy="461665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/>
            <p:cNvCxnSpPr/>
            <p:nvPr/>
          </p:nvCxnSpPr>
          <p:spPr>
            <a:xfrm>
              <a:off x="7041526" y="4638747"/>
              <a:ext cx="4608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7486130" y="4408319"/>
                  <a:ext cx="46860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6130" y="4408319"/>
                  <a:ext cx="462434" cy="461665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Box 42"/>
          <p:cNvSpPr txBox="1"/>
          <p:nvPr/>
        </p:nvSpPr>
        <p:spPr>
          <a:xfrm>
            <a:off x="4997406" y="5502853"/>
            <a:ext cx="2176927" cy="978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 smtClean="0"/>
              <a:t>One circuit with</a:t>
            </a:r>
          </a:p>
          <a:p>
            <a:pPr algn="ctr">
              <a:lnSpc>
                <a:spcPct val="120000"/>
              </a:lnSpc>
            </a:pPr>
            <a:r>
              <a:rPr lang="en-US" sz="2400" dirty="0" smtClean="0"/>
              <a:t>Two Outputs</a:t>
            </a:r>
            <a:endParaRPr lang="en-US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908936" y="6045028"/>
            <a:ext cx="280961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 smtClean="0"/>
              <a:t>Two separate circuits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034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Multiple Outputs: Example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94293"/>
                <a:ext cx="8229600" cy="167060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Given: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𝑎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𝑏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(0, 2, 6, 7)</m:t>
                        </m:r>
                      </m:e>
                    </m:nary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𝑎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𝑏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(1, 3, 6, 7)</m:t>
                        </m:r>
                      </m:e>
                    </m:nary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Minimize each function separately</a:t>
                </a:r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2000" dirty="0" smtClean="0"/>
                  <a:t>Minimize both functions as one circuit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94293"/>
                <a:ext cx="8229600" cy="1670603"/>
              </a:xfrm>
              <a:blipFill rotWithShape="1">
                <a:blip r:embed="rId2"/>
                <a:stretch>
                  <a:fillRect l="-741" t="-29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/>
          <p:cNvGrpSpPr/>
          <p:nvPr/>
        </p:nvGrpSpPr>
        <p:grpSpPr>
          <a:xfrm>
            <a:off x="583823" y="2564895"/>
            <a:ext cx="2571710" cy="1901122"/>
            <a:chOff x="4631399" y="3544227"/>
            <a:chExt cx="3948825" cy="2534693"/>
          </a:xfrm>
        </p:grpSpPr>
        <p:sp>
          <p:nvSpPr>
            <p:cNvPr id="47" name="Rectangle 46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5427975" y="4119817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6275379" y="4119817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7124015" y="4119817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7972651" y="4119817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5323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3" name="Line 18"/>
            <p:cNvSpPr>
              <a:spLocks noChangeShapeType="1"/>
            </p:cNvSpPr>
            <p:nvPr/>
          </p:nvSpPr>
          <p:spPr bwMode="auto">
            <a:xfrm flipH="1">
              <a:off x="6894023" y="4546598"/>
              <a:ext cx="0" cy="15209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4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5232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4913872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31"/>
            <p:cNvSpPr>
              <a:spLocks noChangeArrowheads="1"/>
            </p:cNvSpPr>
            <p:nvPr/>
          </p:nvSpPr>
          <p:spPr bwMode="auto">
            <a:xfrm>
              <a:off x="4913872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Line 41"/>
            <p:cNvSpPr>
              <a:spLocks noChangeShapeType="1"/>
            </p:cNvSpPr>
            <p:nvPr/>
          </p:nvSpPr>
          <p:spPr bwMode="auto">
            <a:xfrm flipV="1">
              <a:off x="5193063" y="5304814"/>
              <a:ext cx="338470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8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631399" y="4203888"/>
                  <a:ext cx="364121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600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altLang="en-US" sz="16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9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1399" y="4162853"/>
                  <a:ext cx="364121" cy="533451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3" y="3774643"/>
                  <a:ext cx="492939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6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𝑏𝑐</m:t>
                        </m:r>
                      </m:oMath>
                    </m:oMathPara>
                  </a14:m>
                  <a:endParaRPr lang="en-US" altLang="en-US" sz="16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3" y="3774642"/>
                  <a:ext cx="492939" cy="53345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2807" r="-35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5533883" y="4710047"/>
              <a:ext cx="298518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21"/>
            <p:cNvSpPr>
              <a:spLocks noChangeArrowheads="1"/>
            </p:cNvSpPr>
            <p:nvPr/>
          </p:nvSpPr>
          <p:spPr bwMode="auto">
            <a:xfrm>
              <a:off x="6377621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7226177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21"/>
            <p:cNvSpPr>
              <a:spLocks noChangeArrowheads="1"/>
            </p:cNvSpPr>
            <p:nvPr/>
          </p:nvSpPr>
          <p:spPr bwMode="auto">
            <a:xfrm>
              <a:off x="8068103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21"/>
            <p:cNvSpPr>
              <a:spLocks noChangeArrowheads="1"/>
            </p:cNvSpPr>
            <p:nvPr/>
          </p:nvSpPr>
          <p:spPr bwMode="auto">
            <a:xfrm>
              <a:off x="5529559" y="5502943"/>
              <a:ext cx="298518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21"/>
            <p:cNvSpPr>
              <a:spLocks noChangeArrowheads="1"/>
            </p:cNvSpPr>
            <p:nvPr/>
          </p:nvSpPr>
          <p:spPr bwMode="auto">
            <a:xfrm>
              <a:off x="6373296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21"/>
            <p:cNvSpPr>
              <a:spLocks noChangeArrowheads="1"/>
            </p:cNvSpPr>
            <p:nvPr/>
          </p:nvSpPr>
          <p:spPr bwMode="auto">
            <a:xfrm>
              <a:off x="8063779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5914717" y="3544227"/>
                  <a:ext cx="1901053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:r>
                    <a:rPr lang="en-US" altLang="en-US" sz="1600" b="1" dirty="0" smtClean="0">
                      <a:latin typeface="+mn-lt"/>
                      <a:cs typeface="Times New Roman" panose="02020603050405020304" pitchFamily="18" charset="0"/>
                    </a:rPr>
                    <a:t>K-Map of </a:t>
                  </a:r>
                  <a14:m>
                    <m:oMath xmlns:m="http://schemas.openxmlformats.org/officeDocument/2006/math">
                      <m:r>
                        <a:rPr lang="en-US" altLang="en-US" sz="1600" b="1" i="1" dirty="0" smtClean="0">
                          <a:latin typeface="Cambria Math"/>
                          <a:cs typeface="Times New Roman" panose="02020603050405020304" pitchFamily="18" charset="0"/>
                        </a:rPr>
                        <m:t>𝒇</m:t>
                      </m:r>
                    </m:oMath>
                  </a14:m>
                  <a:endParaRPr lang="en-US" altLang="en-US" sz="1600" b="1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4717" y="3544227"/>
                  <a:ext cx="1901053" cy="53345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0000" t="-6154" r="-7727" b="-2923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Group 81"/>
          <p:cNvGrpSpPr/>
          <p:nvPr/>
        </p:nvGrpSpPr>
        <p:grpSpPr>
          <a:xfrm>
            <a:off x="583823" y="4638748"/>
            <a:ext cx="2571710" cy="1901121"/>
            <a:chOff x="4631399" y="3544228"/>
            <a:chExt cx="3948825" cy="2534692"/>
          </a:xfrm>
        </p:grpSpPr>
        <p:sp>
          <p:nvSpPr>
            <p:cNvPr id="83" name="Rectangle 82"/>
            <p:cNvSpPr/>
            <p:nvPr/>
          </p:nvSpPr>
          <p:spPr>
            <a:xfrm>
              <a:off x="5193063" y="4544327"/>
              <a:ext cx="3387161" cy="153459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4" name="Rectangle 7"/>
            <p:cNvSpPr>
              <a:spLocks noChangeArrowheads="1"/>
            </p:cNvSpPr>
            <p:nvPr/>
          </p:nvSpPr>
          <p:spPr bwMode="auto">
            <a:xfrm>
              <a:off x="5427975" y="4119818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6275379" y="4119818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11"/>
            <p:cNvSpPr>
              <a:spLocks noChangeArrowheads="1"/>
            </p:cNvSpPr>
            <p:nvPr/>
          </p:nvSpPr>
          <p:spPr bwMode="auto">
            <a:xfrm>
              <a:off x="7124015" y="4119818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13"/>
            <p:cNvSpPr>
              <a:spLocks noChangeArrowheads="1"/>
            </p:cNvSpPr>
            <p:nvPr/>
          </p:nvSpPr>
          <p:spPr bwMode="auto">
            <a:xfrm>
              <a:off x="7972651" y="4119818"/>
              <a:ext cx="319980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88" name="Line 17"/>
            <p:cNvSpPr>
              <a:spLocks noChangeShapeType="1"/>
            </p:cNvSpPr>
            <p:nvPr/>
          </p:nvSpPr>
          <p:spPr bwMode="auto">
            <a:xfrm>
              <a:off x="6045387" y="4546598"/>
              <a:ext cx="0" cy="15323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89" name="Line 18"/>
            <p:cNvSpPr>
              <a:spLocks noChangeShapeType="1"/>
            </p:cNvSpPr>
            <p:nvPr/>
          </p:nvSpPr>
          <p:spPr bwMode="auto">
            <a:xfrm flipH="1">
              <a:off x="6894023" y="4546598"/>
              <a:ext cx="0" cy="15209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0" name="Line 19"/>
            <p:cNvSpPr>
              <a:spLocks noChangeShapeType="1"/>
            </p:cNvSpPr>
            <p:nvPr/>
          </p:nvSpPr>
          <p:spPr bwMode="auto">
            <a:xfrm>
              <a:off x="7729129" y="4544328"/>
              <a:ext cx="0" cy="152324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4913872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31"/>
            <p:cNvSpPr>
              <a:spLocks noChangeArrowheads="1"/>
            </p:cNvSpPr>
            <p:nvPr/>
          </p:nvSpPr>
          <p:spPr bwMode="auto">
            <a:xfrm>
              <a:off x="4913872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93" name="Line 41"/>
            <p:cNvSpPr>
              <a:spLocks noChangeShapeType="1"/>
            </p:cNvSpPr>
            <p:nvPr/>
          </p:nvSpPr>
          <p:spPr bwMode="auto">
            <a:xfrm flipV="1">
              <a:off x="5193063" y="5304814"/>
              <a:ext cx="338470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94" name="Line 108"/>
            <p:cNvSpPr>
              <a:spLocks noChangeShapeType="1"/>
            </p:cNvSpPr>
            <p:nvPr/>
          </p:nvSpPr>
          <p:spPr bwMode="auto">
            <a:xfrm>
              <a:off x="4690793" y="4168313"/>
              <a:ext cx="505960" cy="378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631399" y="4203889"/>
                  <a:ext cx="364121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600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altLang="en-US" sz="16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95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31399" y="4162853"/>
                  <a:ext cx="364121" cy="53345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1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852933" y="3774642"/>
                  <a:ext cx="492939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6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𝑏𝑐</m:t>
                        </m:r>
                      </m:oMath>
                    </m:oMathPara>
                  </a14:m>
                  <a:endParaRPr lang="en-US" altLang="en-US" sz="16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2933" y="3774642"/>
                  <a:ext cx="492939" cy="53345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2807" r="-35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Rectangle 21"/>
            <p:cNvSpPr>
              <a:spLocks noChangeArrowheads="1"/>
            </p:cNvSpPr>
            <p:nvPr/>
          </p:nvSpPr>
          <p:spPr bwMode="auto">
            <a:xfrm>
              <a:off x="5533883" y="4710047"/>
              <a:ext cx="298518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21"/>
            <p:cNvSpPr>
              <a:spLocks noChangeArrowheads="1"/>
            </p:cNvSpPr>
            <p:nvPr/>
          </p:nvSpPr>
          <p:spPr bwMode="auto">
            <a:xfrm>
              <a:off x="6377621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21"/>
            <p:cNvSpPr>
              <a:spLocks noChangeArrowheads="1"/>
            </p:cNvSpPr>
            <p:nvPr/>
          </p:nvSpPr>
          <p:spPr bwMode="auto">
            <a:xfrm>
              <a:off x="7226177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21"/>
            <p:cNvSpPr>
              <a:spLocks noChangeArrowheads="1"/>
            </p:cNvSpPr>
            <p:nvPr/>
          </p:nvSpPr>
          <p:spPr bwMode="auto">
            <a:xfrm>
              <a:off x="8068103" y="4710047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21"/>
            <p:cNvSpPr>
              <a:spLocks noChangeArrowheads="1"/>
            </p:cNvSpPr>
            <p:nvPr/>
          </p:nvSpPr>
          <p:spPr bwMode="auto">
            <a:xfrm>
              <a:off x="5529559" y="5502943"/>
              <a:ext cx="298518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21"/>
            <p:cNvSpPr>
              <a:spLocks noChangeArrowheads="1"/>
            </p:cNvSpPr>
            <p:nvPr/>
          </p:nvSpPr>
          <p:spPr bwMode="auto">
            <a:xfrm>
              <a:off x="6373296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0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21"/>
            <p:cNvSpPr>
              <a:spLocks noChangeArrowheads="1"/>
            </p:cNvSpPr>
            <p:nvPr/>
          </p:nvSpPr>
          <p:spPr bwMode="auto">
            <a:xfrm>
              <a:off x="7221853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21"/>
            <p:cNvSpPr>
              <a:spLocks noChangeArrowheads="1"/>
            </p:cNvSpPr>
            <p:nvPr/>
          </p:nvSpPr>
          <p:spPr bwMode="auto">
            <a:xfrm>
              <a:off x="8063779" y="5502943"/>
              <a:ext cx="159992" cy="32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600" dirty="0" smtClean="0">
                  <a:solidFill>
                    <a:srgbClr val="000000"/>
                  </a:solidFill>
                </a:rPr>
                <a:t>1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5914717" y="3544228"/>
                  <a:ext cx="1901053" cy="4513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:r>
                    <a:rPr lang="en-US" altLang="en-US" sz="1600" b="1" dirty="0" smtClean="0">
                      <a:latin typeface="+mn-lt"/>
                      <a:cs typeface="Times New Roman" panose="02020603050405020304" pitchFamily="18" charset="0"/>
                    </a:rPr>
                    <a:t>K-Map of</a:t>
                  </a:r>
                  <a:r>
                    <a:rPr lang="en-US" altLang="en-US" sz="1600" b="1" dirty="0" smtClean="0"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en-US" sz="1600" b="1" i="1" dirty="0" smtClean="0">
                          <a:latin typeface="Cambria Math"/>
                          <a:cs typeface="Times New Roman" panose="02020603050405020304" pitchFamily="18" charset="0"/>
                        </a:rPr>
                        <m:t>𝒈</m:t>
                      </m:r>
                    </m:oMath>
                  </a14:m>
                  <a:endParaRPr lang="en-US" altLang="en-US" sz="1600" b="1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14717" y="3544228"/>
                  <a:ext cx="1901053" cy="53345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0909" t="-7576" r="-6364" b="-2575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1612621" y="5455011"/>
            <a:ext cx="1417284" cy="990374"/>
            <a:chOff x="2207862" y="5455011"/>
            <a:chExt cx="1535391" cy="990374"/>
          </a:xfrm>
        </p:grpSpPr>
        <p:sp>
          <p:nvSpPr>
            <p:cNvPr id="76" name="Rounded Rectangle 75"/>
            <p:cNvSpPr/>
            <p:nvPr/>
          </p:nvSpPr>
          <p:spPr>
            <a:xfrm>
              <a:off x="2207862" y="5455011"/>
              <a:ext cx="959322" cy="42407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2813830" y="6021315"/>
              <a:ext cx="929423" cy="42407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02878" y="3371393"/>
            <a:ext cx="2304852" cy="1010564"/>
            <a:chOff x="1438973" y="3371393"/>
            <a:chExt cx="2496923" cy="1010564"/>
          </a:xfrm>
        </p:grpSpPr>
        <p:sp>
          <p:nvSpPr>
            <p:cNvPr id="80" name="Rounded Rectangle 79"/>
            <p:cNvSpPr/>
            <p:nvPr/>
          </p:nvSpPr>
          <p:spPr>
            <a:xfrm>
              <a:off x="2806600" y="3957887"/>
              <a:ext cx="929423" cy="42407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" name="Freeform 3"/>
            <p:cNvSpPr/>
            <p:nvPr/>
          </p:nvSpPr>
          <p:spPr>
            <a:xfrm>
              <a:off x="3432313" y="3372678"/>
              <a:ext cx="503583" cy="410818"/>
            </a:xfrm>
            <a:custGeom>
              <a:avLst/>
              <a:gdLst>
                <a:gd name="connsiteX0" fmla="*/ 503583 w 503583"/>
                <a:gd name="connsiteY0" fmla="*/ 0 h 410818"/>
                <a:gd name="connsiteX1" fmla="*/ 0 w 503583"/>
                <a:gd name="connsiteY1" fmla="*/ 0 h 410818"/>
                <a:gd name="connsiteX2" fmla="*/ 0 w 503583"/>
                <a:gd name="connsiteY2" fmla="*/ 410818 h 410818"/>
                <a:gd name="connsiteX3" fmla="*/ 496957 w 503583"/>
                <a:gd name="connsiteY3" fmla="*/ 410818 h 4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3583" h="410818">
                  <a:moveTo>
                    <a:pt x="503583" y="0"/>
                  </a:moveTo>
                  <a:lnTo>
                    <a:pt x="0" y="0"/>
                  </a:lnTo>
                  <a:lnTo>
                    <a:pt x="0" y="410818"/>
                  </a:lnTo>
                  <a:lnTo>
                    <a:pt x="496957" y="410818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7" name="Freeform 106"/>
            <p:cNvSpPr/>
            <p:nvPr/>
          </p:nvSpPr>
          <p:spPr>
            <a:xfrm flipH="1">
              <a:off x="1438973" y="3371393"/>
              <a:ext cx="503583" cy="410818"/>
            </a:xfrm>
            <a:custGeom>
              <a:avLst/>
              <a:gdLst>
                <a:gd name="connsiteX0" fmla="*/ 503583 w 503583"/>
                <a:gd name="connsiteY0" fmla="*/ 0 h 410818"/>
                <a:gd name="connsiteX1" fmla="*/ 0 w 503583"/>
                <a:gd name="connsiteY1" fmla="*/ 0 h 410818"/>
                <a:gd name="connsiteX2" fmla="*/ 0 w 503583"/>
                <a:gd name="connsiteY2" fmla="*/ 410818 h 410818"/>
                <a:gd name="connsiteX3" fmla="*/ 496957 w 503583"/>
                <a:gd name="connsiteY3" fmla="*/ 410818 h 4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3583" h="410818">
                  <a:moveTo>
                    <a:pt x="503583" y="0"/>
                  </a:moveTo>
                  <a:lnTo>
                    <a:pt x="0" y="0"/>
                  </a:lnTo>
                  <a:lnTo>
                    <a:pt x="0" y="410818"/>
                  </a:lnTo>
                  <a:lnTo>
                    <a:pt x="496957" y="410818"/>
                  </a:lnTo>
                </a:path>
              </a:pathLst>
            </a:cu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42608" y="3658620"/>
                <a:ext cx="15590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′</m:t>
                      </m:r>
                      <m:r>
                        <a:rPr 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i="1" dirty="0" smtClean="0">
                          <a:solidFill>
                            <a:srgbClr val="000099"/>
                          </a:solidFill>
                          <a:latin typeface="Cambria Math"/>
                        </a:rPr>
                        <m:t>′+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608" y="3658620"/>
                <a:ext cx="1559017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3242608" y="5732472"/>
                <a:ext cx="1518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𝑔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′</m:t>
                      </m:r>
                      <m:r>
                        <a:rPr lang="en-US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i="1" dirty="0" err="1" smtClean="0">
                          <a:latin typeface="Cambria Math"/>
                        </a:rPr>
                        <m:t>+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608" y="5732472"/>
                <a:ext cx="1518684" cy="369332"/>
              </a:xfrm>
              <a:prstGeom prst="rect">
                <a:avLst/>
              </a:prstGeom>
              <a:blipFill rotWithShape="1"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3868468" y="4408320"/>
                <a:ext cx="1135824" cy="75713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dirty="0" smtClean="0"/>
                  <a:t>Common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dirty="0" smtClean="0"/>
                  <a:t>Term =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𝑎𝑏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68" y="4408320"/>
                <a:ext cx="1135824" cy="757130"/>
              </a:xfrm>
              <a:prstGeom prst="rect">
                <a:avLst/>
              </a:prstGeom>
              <a:blipFill rotWithShape="1">
                <a:blip r:embed="rId11"/>
                <a:stretch>
                  <a:fillRect l="-3684" b="-781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Group 193"/>
          <p:cNvGrpSpPr/>
          <p:nvPr/>
        </p:nvGrpSpPr>
        <p:grpSpPr>
          <a:xfrm>
            <a:off x="5901391" y="4433113"/>
            <a:ext cx="2975996" cy="1926902"/>
            <a:chOff x="6393175" y="4327365"/>
            <a:chExt cx="3223997" cy="1926902"/>
          </a:xfrm>
        </p:grpSpPr>
        <p:sp>
          <p:nvSpPr>
            <p:cNvPr id="43" name="TextBox 42"/>
            <p:cNvSpPr txBox="1"/>
            <p:nvPr/>
          </p:nvSpPr>
          <p:spPr>
            <a:xfrm rot="16200000" flipH="1">
              <a:off x="8340437" y="4977533"/>
              <a:ext cx="1919963" cy="63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One circuit with</a:t>
              </a:r>
            </a:p>
            <a:p>
              <a:pPr algn="ctr"/>
              <a:r>
                <a:rPr lang="en-US" sz="1600" dirty="0" smtClean="0"/>
                <a:t>two Outputs</a:t>
              </a:r>
              <a:endParaRPr lang="en-US" sz="1600" dirty="0"/>
            </a:p>
          </p:txBody>
        </p:sp>
        <p:grpSp>
          <p:nvGrpSpPr>
            <p:cNvPr id="191" name="Group 190"/>
            <p:cNvGrpSpPr/>
            <p:nvPr/>
          </p:nvGrpSpPr>
          <p:grpSpPr>
            <a:xfrm>
              <a:off x="6393175" y="4327365"/>
              <a:ext cx="2467039" cy="1879558"/>
              <a:chOff x="6616977" y="4375505"/>
              <a:chExt cx="2467039" cy="1879558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7871791" y="5188226"/>
                <a:ext cx="271670" cy="430696"/>
              </a:xfrm>
              <a:custGeom>
                <a:avLst/>
                <a:gdLst>
                  <a:gd name="connsiteX0" fmla="*/ 258418 w 271670"/>
                  <a:gd name="connsiteY0" fmla="*/ 0 h 430696"/>
                  <a:gd name="connsiteX1" fmla="*/ 0 w 271670"/>
                  <a:gd name="connsiteY1" fmla="*/ 0 h 430696"/>
                  <a:gd name="connsiteX2" fmla="*/ 0 w 271670"/>
                  <a:gd name="connsiteY2" fmla="*/ 430696 h 430696"/>
                  <a:gd name="connsiteX3" fmla="*/ 271670 w 271670"/>
                  <a:gd name="connsiteY3" fmla="*/ 430696 h 43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670" h="430696">
                    <a:moveTo>
                      <a:pt x="258418" y="0"/>
                    </a:moveTo>
                    <a:lnTo>
                      <a:pt x="0" y="0"/>
                    </a:lnTo>
                    <a:lnTo>
                      <a:pt x="0" y="430696"/>
                    </a:lnTo>
                    <a:lnTo>
                      <a:pt x="271670" y="430696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185" name="Straight Connector 184"/>
              <p:cNvCxnSpPr/>
              <p:nvPr/>
            </p:nvCxnSpPr>
            <p:spPr>
              <a:xfrm>
                <a:off x="8467027" y="5727541"/>
                <a:ext cx="29359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TextBox 185"/>
                  <p:cNvSpPr txBox="1"/>
                  <p:nvPr/>
                </p:nvSpPr>
                <p:spPr>
                  <a:xfrm>
                    <a:off x="8711692" y="5502852"/>
                    <a:ext cx="372324" cy="3329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/>
                            </a:rPr>
                            <m:t>𝑔</m:t>
                          </m:r>
                        </m:oMath>
                      </m:oMathPara>
                    </a14:m>
                    <a:endParaRPr lang="en-US" sz="1600" baseline="-25000" dirty="0"/>
                  </a:p>
                </p:txBody>
              </p:sp>
            </mc:Choice>
            <mc:Fallback xmlns="">
              <p:sp>
                <p:nvSpPr>
                  <p:cNvPr id="186" name="TextBox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1692" y="5502852"/>
                    <a:ext cx="394210" cy="392993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9" name="Freeform 158"/>
              <p:cNvSpPr/>
              <p:nvPr/>
            </p:nvSpPr>
            <p:spPr>
              <a:xfrm flipV="1">
                <a:off x="7641065" y="4743458"/>
                <a:ext cx="506554" cy="181084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7" name="Flowchart: Delay 166"/>
              <p:cNvSpPr/>
              <p:nvPr/>
            </p:nvSpPr>
            <p:spPr>
              <a:xfrm>
                <a:off x="7160021" y="4512662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6992463" y="4617881"/>
                <a:ext cx="175142" cy="254767"/>
                <a:chOff x="6992463" y="4617881"/>
                <a:chExt cx="175142" cy="254767"/>
              </a:xfrm>
            </p:grpSpPr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6992463" y="4617881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6992463" y="4872648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4" name="Straight Connector 173"/>
              <p:cNvCxnSpPr/>
              <p:nvPr/>
            </p:nvCxnSpPr>
            <p:spPr>
              <a:xfrm>
                <a:off x="6992463" y="5248975"/>
                <a:ext cx="1751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/>
            </p:nvCxnSpPr>
            <p:spPr>
              <a:xfrm>
                <a:off x="6992463" y="5503742"/>
                <a:ext cx="1751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TextBox 168"/>
                  <p:cNvSpPr txBox="1"/>
                  <p:nvPr/>
                </p:nvSpPr>
                <p:spPr>
                  <a:xfrm>
                    <a:off x="6616977" y="4375505"/>
                    <a:ext cx="43102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/>
                            </a:rPr>
                            <m:t>𝑎</m:t>
                          </m:r>
                          <m:r>
                            <a:rPr lang="en-US" sz="1600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69" name="TextBox 1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6977" y="4375505"/>
                    <a:ext cx="463588" cy="462634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TextBox 169"/>
                  <p:cNvSpPr txBox="1"/>
                  <p:nvPr/>
                </p:nvSpPr>
                <p:spPr>
                  <a:xfrm>
                    <a:off x="6616977" y="4630273"/>
                    <a:ext cx="41018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/>
                            </a:rPr>
                            <m:t>𝑐</m:t>
                          </m:r>
                          <m:r>
                            <a:rPr lang="en-US" sz="1600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70" name="TextBox 1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16977" y="4630273"/>
                    <a:ext cx="439543" cy="400110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1" name="Flowchart: Delay 170"/>
              <p:cNvSpPr/>
              <p:nvPr/>
            </p:nvSpPr>
            <p:spPr>
              <a:xfrm>
                <a:off x="7160021" y="5143756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161" name="Straight Connector 160"/>
              <p:cNvCxnSpPr/>
              <p:nvPr/>
            </p:nvCxnSpPr>
            <p:spPr>
              <a:xfrm>
                <a:off x="8473436" y="5047623"/>
                <a:ext cx="29359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TextBox 161"/>
                  <p:cNvSpPr txBox="1"/>
                  <p:nvPr/>
                </p:nvSpPr>
                <p:spPr>
                  <a:xfrm>
                    <a:off x="8718102" y="4822934"/>
                    <a:ext cx="361140" cy="33291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dirty="0" smtClean="0">
                              <a:latin typeface="Cambria Math"/>
                            </a:rPr>
                            <m:t>𝑓</m:t>
                          </m:r>
                        </m:oMath>
                      </m:oMathPara>
                    </a14:m>
                    <a:endParaRPr lang="en-US" sz="1600" baseline="-25000" dirty="0"/>
                  </a:p>
                </p:txBody>
              </p:sp>
            </mc:Choice>
            <mc:Fallback xmlns="">
              <p:sp>
                <p:nvSpPr>
                  <p:cNvPr id="162" name="TextBox 1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18101" y="4822934"/>
                    <a:ext cx="394210" cy="392993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187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3" name="Moon 162"/>
              <p:cNvSpPr/>
              <p:nvPr/>
            </p:nvSpPr>
            <p:spPr>
              <a:xfrm flipH="1">
                <a:off x="8081971" y="4817854"/>
                <a:ext cx="496916" cy="47763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164" name="Group 163"/>
              <p:cNvGrpSpPr/>
              <p:nvPr/>
            </p:nvGrpSpPr>
            <p:grpSpPr>
              <a:xfrm>
                <a:off x="6616979" y="5019023"/>
                <a:ext cx="379132" cy="595093"/>
                <a:chOff x="2857245" y="922149"/>
                <a:chExt cx="446338" cy="67280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5" name="TextBox 164"/>
                    <p:cNvSpPr txBox="1"/>
                    <p:nvPr/>
                  </p:nvSpPr>
                  <p:spPr>
                    <a:xfrm>
                      <a:off x="2857245" y="922149"/>
                      <a:ext cx="446338" cy="38276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𝑎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5" name="TextBox 16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7245" y="922149"/>
                      <a:ext cx="475791" cy="452358"/>
                    </a:xfrm>
                    <a:prstGeom prst="rect">
                      <a:avLst/>
                    </a:prstGeom>
                    <a:blipFill rotWithShape="1"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6" name="TextBox 165"/>
                    <p:cNvSpPr txBox="1"/>
                    <p:nvPr/>
                  </p:nvSpPr>
                  <p:spPr>
                    <a:xfrm>
                      <a:off x="2857245" y="1212188"/>
                      <a:ext cx="441595" cy="38276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6" name="TextBox 16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7245" y="1212188"/>
                      <a:ext cx="469374" cy="452358"/>
                    </a:xfrm>
                    <a:prstGeom prst="rect">
                      <a:avLst/>
                    </a:prstGeom>
                    <a:blipFill rotWithShape="1"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76" name="Freeform 175"/>
              <p:cNvSpPr/>
              <p:nvPr/>
            </p:nvSpPr>
            <p:spPr>
              <a:xfrm>
                <a:off x="7672758" y="5829854"/>
                <a:ext cx="506554" cy="181084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7" name="Flowchart: Delay 176"/>
              <p:cNvSpPr/>
              <p:nvPr/>
            </p:nvSpPr>
            <p:spPr>
              <a:xfrm>
                <a:off x="7166647" y="5777433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6623600" y="5652700"/>
                <a:ext cx="431021" cy="595093"/>
                <a:chOff x="2857245" y="922149"/>
                <a:chExt cx="507426" cy="67280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9" name="TextBox 178"/>
                    <p:cNvSpPr txBox="1"/>
                    <p:nvPr/>
                  </p:nvSpPr>
                  <p:spPr>
                    <a:xfrm>
                      <a:off x="2857245" y="922149"/>
                      <a:ext cx="507426" cy="38276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𝑎</m:t>
                            </m:r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9" name="TextBox 17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7245" y="922149"/>
                      <a:ext cx="545765" cy="452357"/>
                    </a:xfrm>
                    <a:prstGeom prst="rect">
                      <a:avLst/>
                    </a:prstGeom>
                    <a:blipFill rotWithShape="1"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/>
                    <p:cNvSpPr txBox="1"/>
                    <p:nvPr/>
                  </p:nvSpPr>
                  <p:spPr>
                    <a:xfrm>
                      <a:off x="2857245" y="1212188"/>
                      <a:ext cx="423768" cy="38276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0" name="TextBox 17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7245" y="1212188"/>
                      <a:ext cx="449671" cy="452357"/>
                    </a:xfrm>
                    <a:prstGeom prst="rect">
                      <a:avLst/>
                    </a:prstGeom>
                    <a:blipFill rotWithShape="1"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1" name="Moon 180"/>
              <p:cNvSpPr/>
              <p:nvPr/>
            </p:nvSpPr>
            <p:spPr>
              <a:xfrm flipH="1">
                <a:off x="8085325" y="5486078"/>
                <a:ext cx="496916" cy="47763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6989123" y="5888388"/>
                <a:ext cx="175142" cy="254767"/>
                <a:chOff x="6992463" y="4617881"/>
                <a:chExt cx="175142" cy="254767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6992463" y="4617881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6992463" y="4872648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8" name="Straight Connector 187"/>
              <p:cNvCxnSpPr/>
              <p:nvPr/>
            </p:nvCxnSpPr>
            <p:spPr>
              <a:xfrm>
                <a:off x="7658217" y="5386449"/>
                <a:ext cx="213574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Group 195"/>
          <p:cNvGrpSpPr/>
          <p:nvPr/>
        </p:nvGrpSpPr>
        <p:grpSpPr>
          <a:xfrm>
            <a:off x="5902575" y="1527970"/>
            <a:ext cx="2974815" cy="2570842"/>
            <a:chOff x="6394456" y="1585576"/>
            <a:chExt cx="3222716" cy="2570842"/>
          </a:xfrm>
        </p:grpSpPr>
        <p:grpSp>
          <p:nvGrpSpPr>
            <p:cNvPr id="195" name="Group 194"/>
            <p:cNvGrpSpPr/>
            <p:nvPr/>
          </p:nvGrpSpPr>
          <p:grpSpPr>
            <a:xfrm>
              <a:off x="6394456" y="1585576"/>
              <a:ext cx="2473447" cy="2570842"/>
              <a:chOff x="6394456" y="1585576"/>
              <a:chExt cx="2473447" cy="2570842"/>
            </a:xfrm>
          </p:grpSpPr>
          <p:grpSp>
            <p:nvGrpSpPr>
              <p:cNvPr id="110" name="Group 109"/>
              <p:cNvGrpSpPr/>
              <p:nvPr/>
            </p:nvGrpSpPr>
            <p:grpSpPr>
              <a:xfrm>
                <a:off x="6394456" y="1585576"/>
                <a:ext cx="2462263" cy="1245881"/>
                <a:chOff x="702870" y="3114961"/>
                <a:chExt cx="2898731" cy="1408572"/>
              </a:xfrm>
            </p:grpSpPr>
            <p:sp>
              <p:nvSpPr>
                <p:cNvPr id="137" name="Freeform 136"/>
                <p:cNvSpPr/>
                <p:nvPr/>
              </p:nvSpPr>
              <p:spPr>
                <a:xfrm>
                  <a:off x="1938001" y="4042799"/>
                  <a:ext cx="596347" cy="204730"/>
                </a:xfrm>
                <a:custGeom>
                  <a:avLst/>
                  <a:gdLst>
                    <a:gd name="connsiteX0" fmla="*/ 0 w 596347"/>
                    <a:gd name="connsiteY0" fmla="*/ 344557 h 344557"/>
                    <a:gd name="connsiteX1" fmla="*/ 238539 w 596347"/>
                    <a:gd name="connsiteY1" fmla="*/ 344557 h 344557"/>
                    <a:gd name="connsiteX2" fmla="*/ 238539 w 596347"/>
                    <a:gd name="connsiteY2" fmla="*/ 0 h 344557"/>
                    <a:gd name="connsiteX3" fmla="*/ 596347 w 596347"/>
                    <a:gd name="connsiteY3" fmla="*/ 0 h 34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6347" h="344557">
                      <a:moveTo>
                        <a:pt x="0" y="344557"/>
                      </a:moveTo>
                      <a:lnTo>
                        <a:pt x="238539" y="344557"/>
                      </a:lnTo>
                      <a:lnTo>
                        <a:pt x="238539" y="0"/>
                      </a:lnTo>
                      <a:lnTo>
                        <a:pt x="596347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11" name="Freeform 110"/>
                <p:cNvSpPr/>
                <p:nvPr/>
              </p:nvSpPr>
              <p:spPr>
                <a:xfrm flipV="1">
                  <a:off x="1908490" y="3530962"/>
                  <a:ext cx="596347" cy="204730"/>
                </a:xfrm>
                <a:custGeom>
                  <a:avLst/>
                  <a:gdLst>
                    <a:gd name="connsiteX0" fmla="*/ 0 w 596347"/>
                    <a:gd name="connsiteY0" fmla="*/ 344557 h 344557"/>
                    <a:gd name="connsiteX1" fmla="*/ 238539 w 596347"/>
                    <a:gd name="connsiteY1" fmla="*/ 344557 h 344557"/>
                    <a:gd name="connsiteX2" fmla="*/ 238539 w 596347"/>
                    <a:gd name="connsiteY2" fmla="*/ 0 h 344557"/>
                    <a:gd name="connsiteX3" fmla="*/ 596347 w 596347"/>
                    <a:gd name="connsiteY3" fmla="*/ 0 h 34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6347" h="344557">
                      <a:moveTo>
                        <a:pt x="0" y="344557"/>
                      </a:moveTo>
                      <a:lnTo>
                        <a:pt x="238539" y="344557"/>
                      </a:lnTo>
                      <a:lnTo>
                        <a:pt x="238539" y="0"/>
                      </a:lnTo>
                      <a:lnTo>
                        <a:pt x="596347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13" name="Group 112"/>
                <p:cNvGrpSpPr/>
                <p:nvPr/>
              </p:nvGrpSpPr>
              <p:grpSpPr>
                <a:xfrm>
                  <a:off x="702870" y="3114961"/>
                  <a:ext cx="1224305" cy="1408572"/>
                  <a:chOff x="2857245" y="983502"/>
                  <a:chExt cx="1224305" cy="1408572"/>
                </a:xfrm>
              </p:grpSpPr>
              <p:sp>
                <p:nvSpPr>
                  <p:cNvPr id="127" name="Flowchart: Delay 126"/>
                  <p:cNvSpPr/>
                  <p:nvPr/>
                </p:nvSpPr>
                <p:spPr>
                  <a:xfrm>
                    <a:off x="3496550" y="1138569"/>
                    <a:ext cx="585000" cy="540000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3299291" y="1257528"/>
                    <a:ext cx="206188" cy="1001540"/>
                    <a:chOff x="2881338" y="1257528"/>
                    <a:chExt cx="687159" cy="1001540"/>
                  </a:xfrm>
                </p:grpSpPr>
                <p:cxnSp>
                  <p:nvCxnSpPr>
                    <p:cNvPr id="131" name="Straight Connector 130"/>
                    <p:cNvCxnSpPr/>
                    <p:nvPr/>
                  </p:nvCxnSpPr>
                  <p:spPr>
                    <a:xfrm>
                      <a:off x="2881338" y="1257528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Straight Connector 131"/>
                    <p:cNvCxnSpPr/>
                    <p:nvPr/>
                  </p:nvCxnSpPr>
                  <p:spPr>
                    <a:xfrm>
                      <a:off x="2881338" y="1545563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134"/>
                    <p:cNvCxnSpPr/>
                    <p:nvPr/>
                  </p:nvCxnSpPr>
                  <p:spPr>
                    <a:xfrm>
                      <a:off x="2881338" y="1971033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Straight Connector 135"/>
                    <p:cNvCxnSpPr/>
                    <p:nvPr/>
                  </p:nvCxnSpPr>
                  <p:spPr>
                    <a:xfrm>
                      <a:off x="2881338" y="2259068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9" name="TextBox 128"/>
                      <p:cNvSpPr txBox="1"/>
                      <p:nvPr/>
                    </p:nvSpPr>
                    <p:spPr>
                      <a:xfrm>
                        <a:off x="2857245" y="983502"/>
                        <a:ext cx="507426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9" name="TextBox 1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983502"/>
                        <a:ext cx="545765" cy="452358"/>
                      </a:xfrm>
                      <a:prstGeom prst="rect">
                        <a:avLst/>
                      </a:prstGeom>
                      <a:blipFill rotWithShape="1">
                        <a:blip r:embed="rId20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0" name="TextBox 129"/>
                      <p:cNvSpPr txBox="1"/>
                      <p:nvPr/>
                    </p:nvSpPr>
                    <p:spPr>
                      <a:xfrm>
                        <a:off x="2857245" y="1271538"/>
                        <a:ext cx="482891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0" name="TextBox 12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1271538"/>
                        <a:ext cx="517458" cy="452358"/>
                      </a:xfrm>
                      <a:prstGeom prst="rect">
                        <a:avLst/>
                      </a:prstGeom>
                      <a:blipFill rotWithShape="1">
                        <a:blip r:embed="rId2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4" name="Flowchart: Delay 133"/>
                  <p:cNvSpPr/>
                  <p:nvPr/>
                </p:nvSpPr>
                <p:spPr>
                  <a:xfrm>
                    <a:off x="3496550" y="1852074"/>
                    <a:ext cx="585000" cy="540000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cxnSp>
              <p:nvCxnSpPr>
                <p:cNvPr id="114" name="Straight Connector 113"/>
                <p:cNvCxnSpPr/>
                <p:nvPr/>
              </p:nvCxnSpPr>
              <p:spPr>
                <a:xfrm>
                  <a:off x="2888409" y="3874846"/>
                  <a:ext cx="3456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TextBox 114"/>
                    <p:cNvSpPr txBox="1"/>
                    <p:nvPr/>
                  </p:nvSpPr>
                  <p:spPr>
                    <a:xfrm>
                      <a:off x="3176444" y="3620817"/>
                      <a:ext cx="425157" cy="3763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dirty="0" smtClean="0">
                                <a:latin typeface="Cambria Math"/>
                              </a:rPr>
                              <m:t>𝑓</m:t>
                            </m:r>
                          </m:oMath>
                        </m:oMathPara>
                      </a14:m>
                      <a:endParaRPr lang="en-US" sz="1600" baseline="-25000" dirty="0"/>
                    </a:p>
                  </p:txBody>
                </p:sp>
              </mc:Choice>
              <mc:Fallback xmlns="">
                <p:sp>
                  <p:nvSpPr>
                    <p:cNvPr id="115" name="TextBox 1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76444" y="3620817"/>
                      <a:ext cx="448917" cy="513743"/>
                    </a:xfrm>
                    <a:prstGeom prst="rect">
                      <a:avLst/>
                    </a:prstGeom>
                    <a:blipFill rotWithShape="1">
                      <a:blip r:embed="rId22"/>
                      <a:stretch>
                        <a:fillRect l="-1613" b="-1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6" name="Moon 115"/>
                <p:cNvSpPr/>
                <p:nvPr/>
              </p:nvSpPr>
              <p:spPr>
                <a:xfrm flipH="1">
                  <a:off x="2427553" y="3615073"/>
                  <a:ext cx="585000" cy="540000"/>
                </a:xfrm>
                <a:prstGeom prst="moon">
                  <a:avLst>
                    <a:gd name="adj" fmla="val 86833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17" name="Group 116"/>
                <p:cNvGrpSpPr/>
                <p:nvPr/>
              </p:nvGrpSpPr>
              <p:grpSpPr>
                <a:xfrm>
                  <a:off x="702870" y="3842512"/>
                  <a:ext cx="446338" cy="672802"/>
                  <a:chOff x="2857245" y="922149"/>
                  <a:chExt cx="446338" cy="67280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1" name="TextBox 120"/>
                      <p:cNvSpPr txBox="1"/>
                      <p:nvPr/>
                    </p:nvSpPr>
                    <p:spPr>
                      <a:xfrm>
                        <a:off x="2857245" y="922149"/>
                        <a:ext cx="446338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1" name="TextBox 1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922149"/>
                        <a:ext cx="475791" cy="452358"/>
                      </a:xfrm>
                      <a:prstGeom prst="rect">
                        <a:avLst/>
                      </a:prstGeom>
                      <a:blipFill rotWithShape="1">
                        <a:blip r:embed="rId2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2" name="TextBox 121"/>
                      <p:cNvSpPr txBox="1"/>
                      <p:nvPr/>
                    </p:nvSpPr>
                    <p:spPr>
                      <a:xfrm>
                        <a:off x="2857245" y="1212188"/>
                        <a:ext cx="441594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𝑏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2" name="TextBox 12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1212188"/>
                        <a:ext cx="469374" cy="452358"/>
                      </a:xfrm>
                      <a:prstGeom prst="rect">
                        <a:avLst/>
                      </a:prstGeom>
                      <a:blipFill rotWithShape="1">
                        <a:blip r:embed="rId2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38" name="Group 137"/>
              <p:cNvGrpSpPr/>
              <p:nvPr/>
            </p:nvGrpSpPr>
            <p:grpSpPr>
              <a:xfrm>
                <a:off x="6394456" y="2910537"/>
                <a:ext cx="2473447" cy="1245881"/>
                <a:chOff x="702870" y="3114961"/>
                <a:chExt cx="2911896" cy="1408572"/>
              </a:xfrm>
            </p:grpSpPr>
            <p:sp>
              <p:nvSpPr>
                <p:cNvPr id="139" name="Freeform 138"/>
                <p:cNvSpPr/>
                <p:nvPr/>
              </p:nvSpPr>
              <p:spPr>
                <a:xfrm>
                  <a:off x="1938001" y="4042799"/>
                  <a:ext cx="596347" cy="204730"/>
                </a:xfrm>
                <a:custGeom>
                  <a:avLst/>
                  <a:gdLst>
                    <a:gd name="connsiteX0" fmla="*/ 0 w 596347"/>
                    <a:gd name="connsiteY0" fmla="*/ 344557 h 344557"/>
                    <a:gd name="connsiteX1" fmla="*/ 238539 w 596347"/>
                    <a:gd name="connsiteY1" fmla="*/ 344557 h 344557"/>
                    <a:gd name="connsiteX2" fmla="*/ 238539 w 596347"/>
                    <a:gd name="connsiteY2" fmla="*/ 0 h 344557"/>
                    <a:gd name="connsiteX3" fmla="*/ 596347 w 596347"/>
                    <a:gd name="connsiteY3" fmla="*/ 0 h 34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6347" h="344557">
                      <a:moveTo>
                        <a:pt x="0" y="344557"/>
                      </a:moveTo>
                      <a:lnTo>
                        <a:pt x="238539" y="344557"/>
                      </a:lnTo>
                      <a:lnTo>
                        <a:pt x="238539" y="0"/>
                      </a:lnTo>
                      <a:lnTo>
                        <a:pt x="596347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40" name="Freeform 139"/>
                <p:cNvSpPr/>
                <p:nvPr/>
              </p:nvSpPr>
              <p:spPr>
                <a:xfrm flipV="1">
                  <a:off x="1908490" y="3530962"/>
                  <a:ext cx="596347" cy="204730"/>
                </a:xfrm>
                <a:custGeom>
                  <a:avLst/>
                  <a:gdLst>
                    <a:gd name="connsiteX0" fmla="*/ 0 w 596347"/>
                    <a:gd name="connsiteY0" fmla="*/ 344557 h 344557"/>
                    <a:gd name="connsiteX1" fmla="*/ 238539 w 596347"/>
                    <a:gd name="connsiteY1" fmla="*/ 344557 h 344557"/>
                    <a:gd name="connsiteX2" fmla="*/ 238539 w 596347"/>
                    <a:gd name="connsiteY2" fmla="*/ 0 h 344557"/>
                    <a:gd name="connsiteX3" fmla="*/ 596347 w 596347"/>
                    <a:gd name="connsiteY3" fmla="*/ 0 h 34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6347" h="344557">
                      <a:moveTo>
                        <a:pt x="0" y="344557"/>
                      </a:moveTo>
                      <a:lnTo>
                        <a:pt x="238539" y="344557"/>
                      </a:lnTo>
                      <a:lnTo>
                        <a:pt x="238539" y="0"/>
                      </a:lnTo>
                      <a:lnTo>
                        <a:pt x="596347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41" name="Group 140"/>
                <p:cNvGrpSpPr/>
                <p:nvPr/>
              </p:nvGrpSpPr>
              <p:grpSpPr>
                <a:xfrm>
                  <a:off x="702870" y="3114961"/>
                  <a:ext cx="1224305" cy="1408572"/>
                  <a:chOff x="2857245" y="983502"/>
                  <a:chExt cx="1224305" cy="1408572"/>
                </a:xfrm>
              </p:grpSpPr>
              <p:sp>
                <p:nvSpPr>
                  <p:cNvPr id="148" name="Flowchart: Delay 147"/>
                  <p:cNvSpPr/>
                  <p:nvPr/>
                </p:nvSpPr>
                <p:spPr>
                  <a:xfrm>
                    <a:off x="3496550" y="1138569"/>
                    <a:ext cx="585000" cy="540000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grpSp>
                <p:nvGrpSpPr>
                  <p:cNvPr id="149" name="Group 148"/>
                  <p:cNvGrpSpPr/>
                  <p:nvPr/>
                </p:nvGrpSpPr>
                <p:grpSpPr>
                  <a:xfrm>
                    <a:off x="3299291" y="1257528"/>
                    <a:ext cx="206188" cy="1001540"/>
                    <a:chOff x="2881338" y="1257528"/>
                    <a:chExt cx="687159" cy="1001540"/>
                  </a:xfrm>
                </p:grpSpPr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881338" y="1257528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Straight Connector 153"/>
                    <p:cNvCxnSpPr/>
                    <p:nvPr/>
                  </p:nvCxnSpPr>
                  <p:spPr>
                    <a:xfrm>
                      <a:off x="2881338" y="1545563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Straight Connector 154"/>
                    <p:cNvCxnSpPr/>
                    <p:nvPr/>
                  </p:nvCxnSpPr>
                  <p:spPr>
                    <a:xfrm>
                      <a:off x="2881338" y="1971033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Straight Connector 155"/>
                    <p:cNvCxnSpPr/>
                    <p:nvPr/>
                  </p:nvCxnSpPr>
                  <p:spPr>
                    <a:xfrm>
                      <a:off x="2881338" y="2259068"/>
                      <a:ext cx="687159" cy="0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0" name="TextBox 149"/>
                      <p:cNvSpPr txBox="1"/>
                      <p:nvPr/>
                    </p:nvSpPr>
                    <p:spPr>
                      <a:xfrm>
                        <a:off x="2857245" y="983502"/>
                        <a:ext cx="507425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′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150" name="TextBox 149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983502"/>
                        <a:ext cx="545765" cy="523046"/>
                      </a:xfrm>
                      <a:prstGeom prst="rect">
                        <a:avLst/>
                      </a:prstGeom>
                      <a:blipFill rotWithShape="1">
                        <a:blip r:embed="rId2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1" name="TextBox 150"/>
                      <p:cNvSpPr txBox="1"/>
                      <p:nvPr/>
                    </p:nvSpPr>
                    <p:spPr>
                      <a:xfrm>
                        <a:off x="2857245" y="1271538"/>
                        <a:ext cx="423766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𝑐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151" name="TextBox 15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1271538"/>
                        <a:ext cx="449672" cy="452358"/>
                      </a:xfrm>
                      <a:prstGeom prst="rect">
                        <a:avLst/>
                      </a:prstGeom>
                      <a:blipFill rotWithShape="1">
                        <a:blip r:embed="rId2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2" name="Flowchart: Delay 151"/>
                  <p:cNvSpPr/>
                  <p:nvPr/>
                </p:nvSpPr>
                <p:spPr>
                  <a:xfrm>
                    <a:off x="3496550" y="1852074"/>
                    <a:ext cx="585000" cy="540000"/>
                  </a:xfrm>
                  <a:prstGeom prst="flowChartDelay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2888409" y="3874846"/>
                  <a:ext cx="3456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42"/>
                    <p:cNvSpPr txBox="1"/>
                    <p:nvPr/>
                  </p:nvSpPr>
                  <p:spPr>
                    <a:xfrm>
                      <a:off x="3176443" y="3620817"/>
                      <a:ext cx="438323" cy="3763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/>
                              </a:rPr>
                              <m:t>𝑔</m:t>
                            </m:r>
                          </m:oMath>
                        </m:oMathPara>
                      </a14:m>
                      <a:endParaRPr lang="en-US" sz="1600" baseline="-25000" dirty="0"/>
                    </a:p>
                  </p:txBody>
                </p:sp>
              </mc:Choice>
              <mc:Fallback xmlns="">
                <p:sp>
                  <p:nvSpPr>
                    <p:cNvPr id="143" name="TextBox 14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76444" y="3620817"/>
                      <a:ext cx="464089" cy="444311"/>
                    </a:xfrm>
                    <a:prstGeom prst="rect">
                      <a:avLst/>
                    </a:prstGeom>
                    <a:blipFill rotWithShape="1">
                      <a:blip r:embed="rId27"/>
                      <a:stretch>
                        <a:fillRect b="-923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4" name="Moon 143"/>
                <p:cNvSpPr/>
                <p:nvPr/>
              </p:nvSpPr>
              <p:spPr>
                <a:xfrm flipH="1">
                  <a:off x="2427553" y="3615073"/>
                  <a:ext cx="585000" cy="540000"/>
                </a:xfrm>
                <a:prstGeom prst="moon">
                  <a:avLst>
                    <a:gd name="adj" fmla="val 86833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grpSp>
              <p:nvGrpSpPr>
                <p:cNvPr id="145" name="Group 144"/>
                <p:cNvGrpSpPr/>
                <p:nvPr/>
              </p:nvGrpSpPr>
              <p:grpSpPr>
                <a:xfrm>
                  <a:off x="702870" y="3842512"/>
                  <a:ext cx="446337" cy="672802"/>
                  <a:chOff x="2857245" y="922149"/>
                  <a:chExt cx="446337" cy="67280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6" name="TextBox 145"/>
                      <p:cNvSpPr txBox="1"/>
                      <p:nvPr/>
                    </p:nvSpPr>
                    <p:spPr>
                      <a:xfrm>
                        <a:off x="2857245" y="922149"/>
                        <a:ext cx="446337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6" name="TextBox 14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922149"/>
                        <a:ext cx="475791" cy="452358"/>
                      </a:xfrm>
                      <a:prstGeom prst="rect">
                        <a:avLst/>
                      </a:prstGeom>
                      <a:blipFill rotWithShape="1">
                        <a:blip r:embed="rId2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7" name="TextBox 146"/>
                      <p:cNvSpPr txBox="1"/>
                      <p:nvPr/>
                    </p:nvSpPr>
                    <p:spPr>
                      <a:xfrm>
                        <a:off x="2857245" y="1212188"/>
                        <a:ext cx="441595" cy="38276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𝑏</m:t>
                              </m:r>
                            </m:oMath>
                          </m:oMathPara>
                        </a14:m>
                        <a:endParaRPr lang="en-US" sz="1600" dirty="0">
                          <a:solidFill>
                            <a:srgbClr val="FF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7" name="TextBox 14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7245" y="1212188"/>
                        <a:ext cx="469374" cy="452358"/>
                      </a:xfrm>
                      <a:prstGeom prst="rect">
                        <a:avLst/>
                      </a:prstGeom>
                      <a:blipFill rotWithShape="1">
                        <a:blip r:embed="rId2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193" name="TextBox 192"/>
            <p:cNvSpPr txBox="1"/>
            <p:nvPr/>
          </p:nvSpPr>
          <p:spPr>
            <a:xfrm rot="16200000" flipH="1">
              <a:off x="8466252" y="2581386"/>
              <a:ext cx="1668333" cy="63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/>
                <a:t>One circuit per function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779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8" grpId="0"/>
      <p:bldP spid="10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Multiple Outputs: 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3" y="951900"/>
                <a:ext cx="8720814" cy="224667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6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i="1" dirty="0" err="1">
                            <a:latin typeface="Cambria Math"/>
                          </a:rPr>
                          <m:t>𝑎</m:t>
                        </m:r>
                        <m:r>
                          <a:rPr lang="en-US" sz="1600" i="1" dirty="0" err="1">
                            <a:latin typeface="Cambria Math"/>
                          </a:rPr>
                          <m:t>,</m:t>
                        </m:r>
                        <m:r>
                          <a:rPr lang="en-US" sz="1600" i="1" dirty="0" err="1">
                            <a:latin typeface="Cambria Math"/>
                          </a:rPr>
                          <m:t>𝑏</m:t>
                        </m:r>
                        <m:r>
                          <a:rPr lang="en-US" sz="1600" i="1" dirty="0" err="1">
                            <a:latin typeface="Cambria Math"/>
                          </a:rPr>
                          <m:t>,</m:t>
                        </m:r>
                        <m:r>
                          <a:rPr lang="en-US" sz="1600" i="1" dirty="0" err="1">
                            <a:latin typeface="Cambria Math"/>
                          </a:rPr>
                          <m:t>𝑐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16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600" i="1" dirty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600" i="1" dirty="0">
                            <a:latin typeface="Cambria Math"/>
                          </a:rPr>
                          <m:t>(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3</m:t>
                        </m:r>
                        <m:r>
                          <a:rPr lang="en-US" sz="1600" i="1" dirty="0">
                            <a:latin typeface="Cambria Math"/>
                          </a:rPr>
                          <m:t>, 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5</m:t>
                        </m:r>
                        <m:r>
                          <a:rPr lang="en-US" sz="1600" i="1" dirty="0">
                            <a:latin typeface="Cambria Math"/>
                          </a:rPr>
                          <m:t>, 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7</m:t>
                        </m:r>
                        <m:r>
                          <a:rPr lang="en-US" sz="1600" i="1" dirty="0">
                            <a:latin typeface="Cambria Math"/>
                          </a:rPr>
                          <m:t>, 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10, 11, 14, 15</m:t>
                        </m:r>
                        <m:r>
                          <a:rPr lang="en-US" sz="1600" i="1" dirty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600" b="0" i="0" dirty="0" smtClean="0"/>
                  <a:t>,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16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i="1" dirty="0" err="1">
                            <a:latin typeface="Cambria Math"/>
                          </a:rPr>
                          <m:t>𝑎</m:t>
                        </m:r>
                        <m:r>
                          <a:rPr lang="en-US" sz="1600" i="1" dirty="0" err="1">
                            <a:latin typeface="Cambria Math"/>
                          </a:rPr>
                          <m:t>,</m:t>
                        </m:r>
                        <m:r>
                          <a:rPr lang="en-US" sz="1600" i="1" dirty="0" err="1">
                            <a:latin typeface="Cambria Math"/>
                          </a:rPr>
                          <m:t>𝑏</m:t>
                        </m:r>
                        <m:r>
                          <a:rPr lang="en-US" sz="1600" i="1" dirty="0" err="1">
                            <a:latin typeface="Cambria Math"/>
                          </a:rPr>
                          <m:t>,</m:t>
                        </m:r>
                        <m:r>
                          <a:rPr lang="en-US" sz="1600" i="1" dirty="0" err="1">
                            <a:latin typeface="Cambria Math"/>
                          </a:rPr>
                          <m:t>𝑐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, 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1600" i="1" dirty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600" i="1" dirty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600" i="1" dirty="0">
                            <a:latin typeface="Cambria Math"/>
                          </a:rPr>
                          <m:t>(1, 3, 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5</m:t>
                        </m:r>
                        <m:r>
                          <a:rPr lang="en-US" sz="1600" i="1" dirty="0">
                            <a:latin typeface="Cambria Math"/>
                          </a:rPr>
                          <m:t>, 7</m:t>
                        </m:r>
                        <m:r>
                          <a:rPr lang="en-US" sz="1600" b="0" i="1" dirty="0" smtClean="0">
                            <a:latin typeface="Cambria Math"/>
                          </a:rPr>
                          <m:t>, 10, 14</m:t>
                        </m:r>
                        <m:r>
                          <a:rPr lang="en-US" sz="1600" i="1" dirty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1600" i="0" dirty="0" smtClean="0"/>
              </a:p>
              <a:p>
                <a:pPr marL="0" indent="0">
                  <a:spcBef>
                    <a:spcPts val="1500"/>
                  </a:spcBef>
                  <a:buNone/>
                </a:pPr>
                <a:r>
                  <a:rPr lang="en-US" sz="1600" dirty="0" smtClean="0"/>
                  <a:t>Draw the K-map and write minimal SOP expressions of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16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sz="1600" dirty="0" smtClean="0"/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3584575" algn="l"/>
                  </a:tabLst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  <m:r>
                      <a:rPr lang="en-US" sz="1600" i="1" dirty="0" smtClean="0">
                        <a:latin typeface="Cambria Math"/>
                      </a:rPr>
                      <m:t>=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16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1600" i="1" dirty="0" err="1" smtClean="0">
                        <a:latin typeface="Cambria Math"/>
                      </a:rPr>
                      <m:t>+</m:t>
                    </m:r>
                    <m:r>
                      <a:rPr lang="en-US" sz="16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𝑎𝑐</m:t>
                    </m:r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i="1" dirty="0" smtClean="0">
                        <a:solidFill>
                          <a:srgbClr val="000099"/>
                        </a:solidFill>
                        <a:latin typeface="Cambria Math"/>
                      </a:rPr>
                      <m:t>𝑐𝑑</m:t>
                    </m:r>
                  </m:oMath>
                </a14:m>
                <a:r>
                  <a:rPr lang="en-US" sz="1600" dirty="0" smtClean="0"/>
                  <a:t>	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𝑔</m:t>
                    </m:r>
                    <m:r>
                      <a:rPr lang="en-US" sz="1600" i="1" dirty="0" smtClean="0">
                        <a:latin typeface="Cambria Math"/>
                      </a:rPr>
                      <m:t>=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16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sz="1600" i="1" dirty="0" err="1" smtClean="0">
                        <a:latin typeface="Cambria Math"/>
                      </a:rPr>
                      <m:t>+</m:t>
                    </m:r>
                    <m:r>
                      <a:rPr lang="en-US" sz="16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𝑎𝑐𝑑</m:t>
                    </m:r>
                    <m:r>
                      <a:rPr lang="en-US" sz="1600" i="1" dirty="0" smtClean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1600" dirty="0" smtClean="0"/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3584575" algn="l"/>
                  </a:tabLst>
                </a:pPr>
                <a:r>
                  <a:rPr lang="en-US" sz="1600" dirty="0" smtClean="0"/>
                  <a:t>Extract the common terms of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16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3" y="951900"/>
                <a:ext cx="8720814" cy="2246673"/>
              </a:xfrm>
              <a:blipFill rotWithShape="1">
                <a:blip r:embed="rId2"/>
                <a:stretch>
                  <a:fillRect l="-349" t="-1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109"/>
          <p:cNvGrpSpPr/>
          <p:nvPr/>
        </p:nvGrpSpPr>
        <p:grpSpPr>
          <a:xfrm>
            <a:off x="424296" y="3374532"/>
            <a:ext cx="2419307" cy="3050032"/>
            <a:chOff x="574868" y="3374532"/>
            <a:chExt cx="2620916" cy="3050032"/>
          </a:xfrm>
        </p:grpSpPr>
        <p:sp>
          <p:nvSpPr>
            <p:cNvPr id="90" name="Rectangle 21"/>
            <p:cNvSpPr>
              <a:spLocks noChangeArrowheads="1"/>
            </p:cNvSpPr>
            <p:nvPr/>
          </p:nvSpPr>
          <p:spPr bwMode="auto">
            <a:xfrm>
              <a:off x="1809930" y="4926782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2342345" y="4926782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84771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1231177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1759313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2288217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2817119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 flipH="1">
              <a:off x="2144876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1615973" y="4230842"/>
              <a:ext cx="1049374" cy="2193721"/>
              <a:chOff x="4203980" y="2816118"/>
              <a:chExt cx="1683742" cy="1687149"/>
            </a:xfrm>
          </p:grpSpPr>
          <p:sp>
            <p:nvSpPr>
              <p:cNvPr id="65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745108" y="434876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2" name="Line 108"/>
            <p:cNvSpPr>
              <a:spLocks noChangeShapeType="1"/>
            </p:cNvSpPr>
            <p:nvPr/>
          </p:nvSpPr>
          <p:spPr bwMode="auto">
            <a:xfrm>
              <a:off x="771736" y="3963272"/>
              <a:ext cx="315334" cy="2691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574868" y="3981471"/>
                  <a:ext cx="299998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400" b="0" i="1" dirty="0" smtClean="0">
                            <a:latin typeface="Cambria Math"/>
                          </a:rPr>
                          <m:t>𝑎𝑏</m:t>
                        </m:r>
                      </m:oMath>
                    </m:oMathPara>
                  </a14:m>
                  <a:endParaRPr lang="en-US" altLang="en-US" sz="1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4868" y="3950694"/>
                  <a:ext cx="29999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0000" r="-8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872787" y="3622431"/>
                  <a:ext cx="307220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4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𝑐𝑑</m:t>
                        </m:r>
                      </m:oMath>
                    </m:oMathPara>
                  </a14:m>
                  <a:endParaRPr lang="en-US" altLang="en-US" sz="1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2787" y="3622431"/>
                  <a:ext cx="30722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5490" r="-588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Line 41"/>
            <p:cNvSpPr>
              <a:spLocks noChangeShapeType="1"/>
            </p:cNvSpPr>
            <p:nvPr/>
          </p:nvSpPr>
          <p:spPr bwMode="auto">
            <a:xfrm flipV="1">
              <a:off x="1087343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084771" y="4772003"/>
              <a:ext cx="2111013" cy="1101707"/>
              <a:chOff x="3351656" y="3979853"/>
              <a:chExt cx="3029011" cy="1548216"/>
            </a:xfrm>
          </p:grpSpPr>
          <p:sp>
            <p:nvSpPr>
              <p:cNvPr id="63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64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745108" y="4896069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21"/>
            <p:cNvSpPr>
              <a:spLocks noChangeArrowheads="1"/>
            </p:cNvSpPr>
            <p:nvPr/>
          </p:nvSpPr>
          <p:spPr bwMode="auto">
            <a:xfrm>
              <a:off x="745108" y="5469970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45108" y="601973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1389304" y="3374532"/>
                  <a:ext cx="12298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 smtClean="0"/>
                    <a:t>K-Map of 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latin typeface="Cambria Math"/>
                        </a:rPr>
                        <m:t>𝒇</m:t>
                      </m:r>
                    </m:oMath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304" y="3374532"/>
                  <a:ext cx="149592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082" t="-6154" r="-1633" b="-2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21"/>
            <p:cNvSpPr>
              <a:spLocks noChangeArrowheads="1"/>
            </p:cNvSpPr>
            <p:nvPr/>
          </p:nvSpPr>
          <p:spPr bwMode="auto">
            <a:xfrm>
              <a:off x="2330894" y="4350712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2342345" y="6010279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sp>
          <p:nvSpPr>
            <p:cNvPr id="92" name="Rectangle 21"/>
            <p:cNvSpPr>
              <a:spLocks noChangeArrowheads="1"/>
            </p:cNvSpPr>
            <p:nvPr/>
          </p:nvSpPr>
          <p:spPr bwMode="auto">
            <a:xfrm>
              <a:off x="2342345" y="5450763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2874060" y="5451871"/>
              <a:ext cx="98986" cy="769442"/>
              <a:chOff x="6809676" y="5456281"/>
              <a:chExt cx="98986" cy="769442"/>
            </a:xfrm>
          </p:grpSpPr>
          <p:sp>
            <p:nvSpPr>
              <p:cNvPr id="96" name="Rectangle 21"/>
              <p:cNvSpPr>
                <a:spLocks noChangeArrowheads="1"/>
              </p:cNvSpPr>
              <p:nvPr/>
            </p:nvSpPr>
            <p:spPr bwMode="auto">
              <a:xfrm>
                <a:off x="6809676" y="6010279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  <p:sp>
            <p:nvSpPr>
              <p:cNvPr id="97" name="Rectangle 21"/>
              <p:cNvSpPr>
                <a:spLocks noChangeArrowheads="1"/>
              </p:cNvSpPr>
              <p:nvPr/>
            </p:nvSpPr>
            <p:spPr bwMode="auto">
              <a:xfrm>
                <a:off x="6809676" y="5456281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3083081" y="3371394"/>
            <a:ext cx="2419306" cy="3053171"/>
            <a:chOff x="3607377" y="3371393"/>
            <a:chExt cx="2620915" cy="3053171"/>
          </a:xfrm>
        </p:grpSpPr>
        <p:sp>
          <p:nvSpPr>
            <p:cNvPr id="41" name="Rectangle 40"/>
            <p:cNvSpPr/>
            <p:nvPr/>
          </p:nvSpPr>
          <p:spPr>
            <a:xfrm>
              <a:off x="4117280" y="4230842"/>
              <a:ext cx="2111012" cy="2193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4263686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9"/>
            <p:cNvSpPr>
              <a:spLocks noChangeArrowheads="1"/>
            </p:cNvSpPr>
            <p:nvPr/>
          </p:nvSpPr>
          <p:spPr bwMode="auto">
            <a:xfrm>
              <a:off x="4791822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5320725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5849627" y="388757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6" name="Line 18"/>
            <p:cNvSpPr>
              <a:spLocks noChangeShapeType="1"/>
            </p:cNvSpPr>
            <p:nvPr/>
          </p:nvSpPr>
          <p:spPr bwMode="auto">
            <a:xfrm flipH="1">
              <a:off x="5177385" y="4233794"/>
              <a:ext cx="0" cy="21907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4648481" y="4230842"/>
              <a:ext cx="1049374" cy="2193721"/>
              <a:chOff x="4203980" y="2816118"/>
              <a:chExt cx="1683742" cy="1687149"/>
            </a:xfrm>
          </p:grpSpPr>
          <p:sp>
            <p:nvSpPr>
              <p:cNvPr id="61" name="Line 17"/>
              <p:cNvSpPr>
                <a:spLocks noChangeShapeType="1"/>
              </p:cNvSpPr>
              <p:nvPr/>
            </p:nvSpPr>
            <p:spPr bwMode="auto">
              <a:xfrm>
                <a:off x="4203980" y="2818388"/>
                <a:ext cx="0" cy="16848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62" name="Line 19"/>
              <p:cNvSpPr>
                <a:spLocks noChangeShapeType="1"/>
              </p:cNvSpPr>
              <p:nvPr/>
            </p:nvSpPr>
            <p:spPr bwMode="auto">
              <a:xfrm>
                <a:off x="5887722" y="2816118"/>
                <a:ext cx="0" cy="168714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  <p:sp>
          <p:nvSpPr>
            <p:cNvPr id="48" name="Rectangle 21"/>
            <p:cNvSpPr>
              <a:spLocks noChangeArrowheads="1"/>
            </p:cNvSpPr>
            <p:nvPr/>
          </p:nvSpPr>
          <p:spPr bwMode="auto">
            <a:xfrm>
              <a:off x="3777617" y="434876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9" name="Line 108"/>
            <p:cNvSpPr>
              <a:spLocks noChangeShapeType="1"/>
            </p:cNvSpPr>
            <p:nvPr/>
          </p:nvSpPr>
          <p:spPr bwMode="auto">
            <a:xfrm>
              <a:off x="3804245" y="3963272"/>
              <a:ext cx="315334" cy="2691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Ctr="1">
              <a:spAutoFit/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3607377" y="3981471"/>
                  <a:ext cx="299998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 lIns="0" rIns="0" anchor="ctr" anchorCtr="0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US" sz="1400" b="0" i="1" dirty="0" smtClean="0">
                            <a:latin typeface="Cambria Math"/>
                          </a:rPr>
                          <m:t>𝑎𝑏</m:t>
                        </m:r>
                      </m:oMath>
                    </m:oMathPara>
                  </a14:m>
                  <a:endParaRPr lang="en-US" altLang="en-US" sz="14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0" name="Text 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7377" y="3950694"/>
                  <a:ext cx="299998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32653" r="-816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905296" y="3622431"/>
                  <a:ext cx="307220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 anchorCtr="1">
                  <a:spAutoFit/>
                </a:bodyPr>
                <a:lstStyle>
                  <a:lvl1pPr marL="285750" indent="-285750"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>
                    <a:spcBef>
                      <a:spcPct val="0"/>
                    </a:spcBef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marL="0" indent="0" algn="ctr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14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𝑐𝑑</m:t>
                        </m:r>
                      </m:oMath>
                    </m:oMathPara>
                  </a14:m>
                  <a:endParaRPr lang="en-US" altLang="en-US" sz="1400" dirty="0">
                    <a:latin typeface="+mn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 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05296" y="3622431"/>
                  <a:ext cx="30722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8000" r="-6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Line 41"/>
            <p:cNvSpPr>
              <a:spLocks noChangeShapeType="1"/>
            </p:cNvSpPr>
            <p:nvPr/>
          </p:nvSpPr>
          <p:spPr bwMode="auto">
            <a:xfrm flipV="1">
              <a:off x="4119852" y="5322857"/>
              <a:ext cx="210843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4117280" y="4772003"/>
              <a:ext cx="2111012" cy="1101707"/>
              <a:chOff x="3351656" y="3979853"/>
              <a:chExt cx="3029011" cy="1548216"/>
            </a:xfrm>
          </p:grpSpPr>
          <p:sp>
            <p:nvSpPr>
              <p:cNvPr id="59" name="Line 41"/>
              <p:cNvSpPr>
                <a:spLocks noChangeShapeType="1"/>
              </p:cNvSpPr>
              <p:nvPr/>
            </p:nvSpPr>
            <p:spPr bwMode="auto">
              <a:xfrm flipV="1">
                <a:off x="3355346" y="3979853"/>
                <a:ext cx="302532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60" name="Line 41"/>
              <p:cNvSpPr>
                <a:spLocks noChangeShapeType="1"/>
              </p:cNvSpPr>
              <p:nvPr/>
            </p:nvSpPr>
            <p:spPr bwMode="auto">
              <a:xfrm flipV="1">
                <a:off x="3351656" y="5528069"/>
                <a:ext cx="302901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400"/>
              </a:p>
            </p:txBody>
          </p:sp>
        </p:grpSp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3777617" y="4896069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01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21"/>
            <p:cNvSpPr>
              <a:spLocks noChangeArrowheads="1"/>
            </p:cNvSpPr>
            <p:nvPr/>
          </p:nvSpPr>
          <p:spPr bwMode="auto">
            <a:xfrm>
              <a:off x="3777617" y="5469970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11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21"/>
            <p:cNvSpPr>
              <a:spLocks noChangeArrowheads="1"/>
            </p:cNvSpPr>
            <p:nvPr/>
          </p:nvSpPr>
          <p:spPr bwMode="auto">
            <a:xfrm>
              <a:off x="3777617" y="6019738"/>
              <a:ext cx="19797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dirty="0" smtClean="0">
                  <a:solidFill>
                    <a:srgbClr val="000000"/>
                  </a:solidFill>
                </a:rPr>
                <a:t>10</a:t>
              </a:r>
              <a:endParaRPr lang="en-US" altLang="en-US" sz="1400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4444335" y="3371393"/>
                  <a:ext cx="125590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 smtClean="0"/>
                    <a:t>K-Map of </a:t>
                  </a:r>
                  <a14:m>
                    <m:oMath xmlns:m="http://schemas.openxmlformats.org/officeDocument/2006/math">
                      <m:r>
                        <a:rPr lang="en-US" sz="1600" b="1" i="1" dirty="0" smtClean="0">
                          <a:latin typeface="Cambria Math"/>
                        </a:rPr>
                        <m:t>𝒈</m:t>
                      </m:r>
                    </m:oMath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335" y="3371393"/>
                  <a:ext cx="1524776" cy="4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4000"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4849150" y="4926782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sp>
          <p:nvSpPr>
            <p:cNvPr id="87" name="Rectangle 21"/>
            <p:cNvSpPr>
              <a:spLocks noChangeArrowheads="1"/>
            </p:cNvSpPr>
            <p:nvPr/>
          </p:nvSpPr>
          <p:spPr bwMode="auto">
            <a:xfrm>
              <a:off x="5364187" y="4926782"/>
              <a:ext cx="9898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Tx/>
              </a:pPr>
              <a:r>
                <a:rPr lang="en-US" altLang="en-US" sz="1400" i="0" dirty="0" smtClean="0">
                  <a:latin typeface="+mn-lt"/>
                </a:rPr>
                <a:t>1</a:t>
              </a:r>
              <a:endParaRPr lang="en-US" altLang="en-US" sz="1400" dirty="0">
                <a:latin typeface="+mn-lt"/>
              </a:endParaRPr>
            </a:p>
          </p:txBody>
        </p:sp>
        <p:grpSp>
          <p:nvGrpSpPr>
            <p:cNvPr id="94" name="Group 93"/>
            <p:cNvGrpSpPr/>
            <p:nvPr/>
          </p:nvGrpSpPr>
          <p:grpSpPr>
            <a:xfrm>
              <a:off x="5895902" y="5456281"/>
              <a:ext cx="98986" cy="769442"/>
              <a:chOff x="6809676" y="5456281"/>
              <a:chExt cx="98986" cy="769442"/>
            </a:xfrm>
          </p:grpSpPr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6809676" y="6010279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  <p:sp>
            <p:nvSpPr>
              <p:cNvPr id="93" name="Rectangle 21"/>
              <p:cNvSpPr>
                <a:spLocks noChangeArrowheads="1"/>
              </p:cNvSpPr>
              <p:nvPr/>
            </p:nvSpPr>
            <p:spPr bwMode="auto">
              <a:xfrm>
                <a:off x="6809676" y="5456281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4845724" y="4350712"/>
              <a:ext cx="631401" cy="215444"/>
              <a:chOff x="2723704" y="6010279"/>
              <a:chExt cx="631401" cy="215444"/>
            </a:xfrm>
          </p:grpSpPr>
          <p:sp>
            <p:nvSpPr>
              <p:cNvPr id="100" name="Rectangle 21"/>
              <p:cNvSpPr>
                <a:spLocks noChangeArrowheads="1"/>
              </p:cNvSpPr>
              <p:nvPr/>
            </p:nvSpPr>
            <p:spPr bwMode="auto">
              <a:xfrm>
                <a:off x="2723704" y="6010279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  <p:sp>
            <p:nvSpPr>
              <p:cNvPr id="101" name="Rectangle 21"/>
              <p:cNvSpPr>
                <a:spLocks noChangeArrowheads="1"/>
              </p:cNvSpPr>
              <p:nvPr/>
            </p:nvSpPr>
            <p:spPr bwMode="auto">
              <a:xfrm>
                <a:off x="3256119" y="6010279"/>
                <a:ext cx="98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Tx/>
                </a:pPr>
                <a:r>
                  <a:rPr lang="en-US" altLang="en-US" sz="1400" i="0" dirty="0" smtClean="0">
                    <a:latin typeface="+mn-lt"/>
                  </a:rPr>
                  <a:t>1</a:t>
                </a:r>
                <a:endParaRPr lang="en-US" altLang="en-US" sz="1400" dirty="0">
                  <a:latin typeface="+mn-lt"/>
                </a:endParaRP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1448078" y="4287280"/>
            <a:ext cx="3974733" cy="2045760"/>
            <a:chOff x="1568751" y="4287280"/>
            <a:chExt cx="4305961" cy="2045760"/>
          </a:xfrm>
        </p:grpSpPr>
        <p:grpSp>
          <p:nvGrpSpPr>
            <p:cNvPr id="112" name="Group 111"/>
            <p:cNvGrpSpPr/>
            <p:nvPr/>
          </p:nvGrpSpPr>
          <p:grpSpPr>
            <a:xfrm>
              <a:off x="1568751" y="4320026"/>
              <a:ext cx="4305961" cy="2013014"/>
              <a:chOff x="1683965" y="4320026"/>
              <a:chExt cx="4305961" cy="2013014"/>
            </a:xfrm>
          </p:grpSpPr>
          <p:sp>
            <p:nvSpPr>
              <p:cNvPr id="102" name="Rounded Rectangle 101"/>
              <p:cNvSpPr/>
              <p:nvPr/>
            </p:nvSpPr>
            <p:spPr>
              <a:xfrm>
                <a:off x="1683965" y="4889053"/>
                <a:ext cx="894360" cy="345628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3" name="Rounded Rectangle 102"/>
              <p:cNvSpPr/>
              <p:nvPr/>
            </p:nvSpPr>
            <p:spPr>
              <a:xfrm>
                <a:off x="4577103" y="4320026"/>
                <a:ext cx="894360" cy="912642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5" name="Rounded Rectangle 104"/>
              <p:cNvSpPr/>
              <p:nvPr/>
            </p:nvSpPr>
            <p:spPr>
              <a:xfrm>
                <a:off x="2216836" y="5387652"/>
                <a:ext cx="904039" cy="945388"/>
              </a:xfrm>
              <a:prstGeom prst="roundRect">
                <a:avLst/>
              </a:prstGeom>
              <a:noFill/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6" name="Rounded Rectangle 105"/>
              <p:cNvSpPr/>
              <p:nvPr/>
            </p:nvSpPr>
            <p:spPr>
              <a:xfrm>
                <a:off x="5610668" y="5387638"/>
                <a:ext cx="379258" cy="945388"/>
              </a:xfrm>
              <a:prstGeom prst="roundRect">
                <a:avLst/>
              </a:prstGeom>
              <a:noFill/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107" name="Rounded Rectangle 106"/>
            <p:cNvSpPr/>
            <p:nvPr/>
          </p:nvSpPr>
          <p:spPr>
            <a:xfrm>
              <a:off x="2101622" y="4287280"/>
              <a:ext cx="361489" cy="2045746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5848217" y="3528544"/>
                <a:ext cx="2871487" cy="81253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dirty="0" smtClean="0"/>
                  <a:t>Common Terms</a:t>
                </a:r>
              </a:p>
              <a:p>
                <a:pPr algn="ctr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8000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008000"/>
                        </a:solidFill>
                        <a:latin typeface="Cambria Math"/>
                      </a:rPr>
                      <m:t>𝑎𝑐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17" y="3528544"/>
                <a:ext cx="2871487" cy="812530"/>
              </a:xfrm>
              <a:prstGeom prst="rect">
                <a:avLst/>
              </a:prstGeom>
              <a:blipFill rotWithShape="1">
                <a:blip r:embed="rId9"/>
                <a:stretch>
                  <a:fillRect b="-5839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848217" y="4891838"/>
                <a:ext cx="2871487" cy="117262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dirty="0" smtClean="0"/>
                  <a:t>Minimal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dirty="0" smtClean="0"/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+</m:t>
                      </m:r>
                      <m:r>
                        <a:rPr lang="en-US" i="1" dirty="0">
                          <a:solidFill>
                            <a:srgbClr val="000099"/>
                          </a:solidFill>
                          <a:latin typeface="Cambria Math"/>
                        </a:rPr>
                        <m:t>𝑐𝑑</m:t>
                      </m:r>
                    </m:oMath>
                  </m:oMathPara>
                </a14:m>
                <a:endParaRPr lang="en-US" b="0" i="1" dirty="0" smtClean="0">
                  <a:solidFill>
                    <a:schemeClr val="tx1"/>
                  </a:solidFill>
                  <a:latin typeface="Cambria Math"/>
                </a:endParaRPr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i="1" dirty="0" smtClean="0">
                          <a:solidFill>
                            <a:srgbClr val="00800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217" y="4891838"/>
                <a:ext cx="2871487" cy="117262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89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9" grpId="0" animBg="1"/>
      <p:bldP spid="1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Common Terms </a:t>
            </a:r>
            <a:r>
              <a:rPr lang="en-US" dirty="0" smtClean="0">
                <a:sym typeface="Wingdings" panose="05000000000000000000" pitchFamily="2" charset="2"/>
              </a:rPr>
              <a:t> </a:t>
            </a:r>
            <a:r>
              <a:rPr lang="en-US" dirty="0" smtClean="0"/>
              <a:t>Shared Gates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79247"/>
                <a:ext cx="8229600" cy="1670603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500"/>
                  </a:spcBef>
                  <a:buNone/>
                  <a:tabLst>
                    <a:tab pos="3584575" algn="l"/>
                  </a:tabLst>
                </a:pPr>
                <a:r>
                  <a:rPr lang="en-US" sz="1800" dirty="0" smtClean="0"/>
                  <a:t>Minimal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𝑏𝑑</m:t>
                    </m:r>
                    <m:r>
                      <a:rPr lang="en-US" sz="1800" i="1" dirty="0" err="1">
                        <a:latin typeface="Cambria Math"/>
                      </a:rPr>
                      <m:t>+</m:t>
                    </m:r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𝑎𝑐</m:t>
                    </m:r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𝑐𝑑</m:t>
                    </m:r>
                  </m:oMath>
                </a14:m>
                <a:r>
                  <a:rPr lang="en-US" sz="1800" dirty="0"/>
                  <a:t>	</a:t>
                </a:r>
                <a:r>
                  <a:rPr lang="en-US" sz="1800" dirty="0" smtClean="0"/>
                  <a:t>Minimal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𝑔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1800" i="1" dirty="0" err="1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  <m:r>
                      <a:rPr lang="en-US" sz="1800" i="1" dirty="0" err="1">
                        <a:latin typeface="Cambria Math"/>
                      </a:rPr>
                      <m:t>+</m:t>
                    </m:r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𝑎𝑐𝑑</m:t>
                    </m:r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=</m:t>
                    </m:r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𝑎𝑐</m:t>
                    </m:r>
                  </m:oMath>
                </a14:m>
                <a:r>
                  <a:rPr lang="en-US" sz="1800" dirty="0" smtClean="0"/>
                  <a:t>  (shared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18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sz="1800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Minimal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sz="1800" i="1" dirty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i="1" dirty="0">
                        <a:latin typeface="Cambria Math"/>
                      </a:rPr>
                      <m:t>𝑐𝑑</m:t>
                    </m:r>
                  </m:oMath>
                </a14:m>
                <a:r>
                  <a:rPr lang="en-US" sz="1800" dirty="0" smtClean="0"/>
                  <a:t>,		Minimal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𝑔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08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𝑑</m:t>
                    </m:r>
                    <m:r>
                      <a:rPr lang="en-US" sz="1800" i="1" dirty="0">
                        <a:solidFill>
                          <a:srgbClr val="008000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sz="18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79247"/>
                <a:ext cx="8229600" cy="1670603"/>
              </a:xfrm>
              <a:blipFill rotWithShape="1">
                <a:blip r:embed="rId2"/>
                <a:stretch>
                  <a:fillRect l="-593" t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 flipH="1">
            <a:off x="5529163" y="5646004"/>
            <a:ext cx="251954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 smtClean="0"/>
              <a:t>One Circuit</a:t>
            </a:r>
          </a:p>
          <a:p>
            <a:pPr algn="ctr">
              <a:lnSpc>
                <a:spcPct val="120000"/>
              </a:lnSpc>
            </a:pPr>
            <a:r>
              <a:rPr lang="en-US" sz="1600" dirty="0" smtClean="0"/>
              <a:t>Two Shared Gates</a:t>
            </a:r>
            <a:endParaRPr lang="en-US" sz="1600" dirty="0"/>
          </a:p>
        </p:txBody>
      </p:sp>
      <p:sp>
        <p:nvSpPr>
          <p:cNvPr id="159" name="Freeform 158"/>
          <p:cNvSpPr/>
          <p:nvPr/>
        </p:nvSpPr>
        <p:spPr>
          <a:xfrm>
            <a:off x="1910796" y="3697482"/>
            <a:ext cx="543607" cy="413743"/>
          </a:xfrm>
          <a:custGeom>
            <a:avLst/>
            <a:gdLst>
              <a:gd name="connsiteX0" fmla="*/ 0 w 596347"/>
              <a:gd name="connsiteY0" fmla="*/ 344557 h 344557"/>
              <a:gd name="connsiteX1" fmla="*/ 238539 w 596347"/>
              <a:gd name="connsiteY1" fmla="*/ 344557 h 344557"/>
              <a:gd name="connsiteX2" fmla="*/ 238539 w 596347"/>
              <a:gd name="connsiteY2" fmla="*/ 0 h 344557"/>
              <a:gd name="connsiteX3" fmla="*/ 596347 w 596347"/>
              <a:gd name="connsiteY3" fmla="*/ 0 h 344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47" h="344557">
                <a:moveTo>
                  <a:pt x="0" y="344557"/>
                </a:moveTo>
                <a:lnTo>
                  <a:pt x="238539" y="344557"/>
                </a:lnTo>
                <a:lnTo>
                  <a:pt x="238539" y="0"/>
                </a:lnTo>
                <a:lnTo>
                  <a:pt x="596347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9" name="Freeform 98"/>
          <p:cNvSpPr/>
          <p:nvPr/>
        </p:nvSpPr>
        <p:spPr>
          <a:xfrm flipV="1">
            <a:off x="1908861" y="2849442"/>
            <a:ext cx="543607" cy="425091"/>
          </a:xfrm>
          <a:custGeom>
            <a:avLst/>
            <a:gdLst>
              <a:gd name="connsiteX0" fmla="*/ 0 w 596347"/>
              <a:gd name="connsiteY0" fmla="*/ 344557 h 344557"/>
              <a:gd name="connsiteX1" fmla="*/ 238539 w 596347"/>
              <a:gd name="connsiteY1" fmla="*/ 344557 h 344557"/>
              <a:gd name="connsiteX2" fmla="*/ 238539 w 596347"/>
              <a:gd name="connsiteY2" fmla="*/ 0 h 344557"/>
              <a:gd name="connsiteX3" fmla="*/ 596347 w 596347"/>
              <a:gd name="connsiteY3" fmla="*/ 0 h 344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47" h="344557">
                <a:moveTo>
                  <a:pt x="0" y="344557"/>
                </a:moveTo>
                <a:lnTo>
                  <a:pt x="238539" y="344557"/>
                </a:lnTo>
                <a:lnTo>
                  <a:pt x="238539" y="0"/>
                </a:lnTo>
                <a:lnTo>
                  <a:pt x="596347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51" name="Group 150"/>
          <p:cNvGrpSpPr/>
          <p:nvPr/>
        </p:nvGrpSpPr>
        <p:grpSpPr>
          <a:xfrm>
            <a:off x="963550" y="2487058"/>
            <a:ext cx="959962" cy="614787"/>
            <a:chOff x="4124528" y="3009012"/>
            <a:chExt cx="1039959" cy="614787"/>
          </a:xfrm>
        </p:grpSpPr>
        <p:sp>
          <p:nvSpPr>
            <p:cNvPr id="100" name="Flowchart: Delay 99"/>
            <p:cNvSpPr/>
            <p:nvPr/>
          </p:nvSpPr>
          <p:spPr>
            <a:xfrm>
              <a:off x="4667572" y="3146169"/>
              <a:ext cx="496915" cy="47763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4500014" y="3251388"/>
              <a:ext cx="175142" cy="254767"/>
              <a:chOff x="6992463" y="4617881"/>
              <a:chExt cx="175142" cy="254767"/>
            </a:xfrm>
          </p:grpSpPr>
          <p:cxnSp>
            <p:nvCxnSpPr>
              <p:cNvPr id="147" name="Straight Connector 146"/>
              <p:cNvCxnSpPr/>
              <p:nvPr/>
            </p:nvCxnSpPr>
            <p:spPr>
              <a:xfrm>
                <a:off x="6992463" y="4617881"/>
                <a:ext cx="17514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6992463" y="4872648"/>
                <a:ext cx="17514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4124528" y="3009012"/>
                  <a:ext cx="33995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009012"/>
                  <a:ext cx="381963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4124528" y="3263780"/>
                  <a:ext cx="36252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263780"/>
                  <a:ext cx="412421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Group 103"/>
          <p:cNvGrpSpPr/>
          <p:nvPr/>
        </p:nvGrpSpPr>
        <p:grpSpPr>
          <a:xfrm>
            <a:off x="963550" y="3036359"/>
            <a:ext cx="959962" cy="788511"/>
            <a:chOff x="632475" y="3873117"/>
            <a:chExt cx="1039959" cy="788511"/>
          </a:xfrm>
        </p:grpSpPr>
        <p:grpSp>
          <p:nvGrpSpPr>
            <p:cNvPr id="136" name="Group 135"/>
            <p:cNvGrpSpPr/>
            <p:nvPr/>
          </p:nvGrpSpPr>
          <p:grpSpPr>
            <a:xfrm>
              <a:off x="632476" y="3873117"/>
              <a:ext cx="550627" cy="307777"/>
              <a:chOff x="632476" y="3889856"/>
              <a:chExt cx="550627" cy="307777"/>
            </a:xfrm>
          </p:grpSpPr>
          <p:cxnSp>
            <p:nvCxnSpPr>
              <p:cNvPr id="145" name="Straight Connector 144"/>
              <p:cNvCxnSpPr/>
              <p:nvPr/>
            </p:nvCxnSpPr>
            <p:spPr>
              <a:xfrm>
                <a:off x="1007961" y="4119808"/>
                <a:ext cx="1751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TextBox 145"/>
                  <p:cNvSpPr txBox="1"/>
                  <p:nvPr/>
                </p:nvSpPr>
                <p:spPr>
                  <a:xfrm>
                    <a:off x="632476" y="3889856"/>
                    <a:ext cx="40149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6" name="TextBox 1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76" y="3889856"/>
                    <a:ext cx="463588" cy="40011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7" name="Group 136"/>
            <p:cNvGrpSpPr/>
            <p:nvPr/>
          </p:nvGrpSpPr>
          <p:grpSpPr>
            <a:xfrm>
              <a:off x="632475" y="4049223"/>
              <a:ext cx="1039959" cy="612405"/>
              <a:chOff x="632475" y="4049223"/>
              <a:chExt cx="1039959" cy="612405"/>
            </a:xfrm>
          </p:grpSpPr>
          <p:grpSp>
            <p:nvGrpSpPr>
              <p:cNvPr id="138" name="Group 137"/>
              <p:cNvGrpSpPr/>
              <p:nvPr/>
            </p:nvGrpSpPr>
            <p:grpSpPr>
              <a:xfrm>
                <a:off x="632476" y="4113232"/>
                <a:ext cx="748890" cy="307777"/>
                <a:chOff x="632476" y="4134647"/>
                <a:chExt cx="748890" cy="307777"/>
              </a:xfrm>
            </p:grpSpPr>
            <p:cxnSp>
              <p:nvCxnSpPr>
                <p:cNvPr id="143" name="Straight Connector 142"/>
                <p:cNvCxnSpPr/>
                <p:nvPr/>
              </p:nvCxnSpPr>
              <p:spPr>
                <a:xfrm>
                  <a:off x="1007961" y="4361206"/>
                  <a:ext cx="373405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4" name="TextBox 143"/>
                    <p:cNvSpPr txBox="1"/>
                    <p:nvPr/>
                  </p:nvSpPr>
                  <p:spPr>
                    <a:xfrm>
                      <a:off x="632476" y="4134647"/>
                      <a:ext cx="35197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𝑏</m:t>
                            </m:r>
                          </m:oMath>
                        </m:oMathPara>
                      </a14:m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4" name="TextBox 14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476" y="4134647"/>
                      <a:ext cx="398699" cy="400111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39" name="Flowchart: Delay 138"/>
              <p:cNvSpPr/>
              <p:nvPr/>
            </p:nvSpPr>
            <p:spPr>
              <a:xfrm>
                <a:off x="1175519" y="4049223"/>
                <a:ext cx="496915" cy="581137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40" name="Group 139"/>
              <p:cNvGrpSpPr/>
              <p:nvPr/>
            </p:nvGrpSpPr>
            <p:grpSpPr>
              <a:xfrm>
                <a:off x="632475" y="4353851"/>
                <a:ext cx="550627" cy="307777"/>
                <a:chOff x="632476" y="3889856"/>
                <a:chExt cx="550627" cy="307777"/>
              </a:xfrm>
            </p:grpSpPr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007961" y="4119808"/>
                  <a:ext cx="175142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Box 141"/>
                    <p:cNvSpPr txBox="1"/>
                    <p:nvPr/>
                  </p:nvSpPr>
                  <p:spPr>
                    <a:xfrm>
                      <a:off x="632476" y="3889856"/>
                      <a:ext cx="36252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𝑑</m:t>
                            </m:r>
                          </m:oMath>
                        </m:oMathPara>
                      </a14:m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2" name="TextBox 1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476" y="3889856"/>
                      <a:ext cx="412421" cy="400110"/>
                    </a:xfrm>
                    <a:prstGeom prst="rect">
                      <a:avLst/>
                    </a:prstGeom>
                    <a:blipFill rotWithShape="1"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114" name="Group 113"/>
          <p:cNvGrpSpPr/>
          <p:nvPr/>
        </p:nvGrpSpPr>
        <p:grpSpPr>
          <a:xfrm>
            <a:off x="1923511" y="3189513"/>
            <a:ext cx="1504885" cy="592844"/>
            <a:chOff x="1806693" y="5048880"/>
            <a:chExt cx="1630292" cy="592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3109576" y="5144216"/>
                  <a:ext cx="327409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9576" y="5144216"/>
                  <a:ext cx="327409" cy="392993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9259" r="-5556" b="-16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Connector 115"/>
            <p:cNvCxnSpPr/>
            <p:nvPr/>
          </p:nvCxnSpPr>
          <p:spPr>
            <a:xfrm>
              <a:off x="1806693" y="5345302"/>
              <a:ext cx="132111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Moon 116"/>
            <p:cNvSpPr/>
            <p:nvPr/>
          </p:nvSpPr>
          <p:spPr>
            <a:xfrm flipH="1">
              <a:off x="2321389" y="5048880"/>
              <a:ext cx="626369" cy="592844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962685" y="3763204"/>
            <a:ext cx="959962" cy="614787"/>
            <a:chOff x="4124528" y="3009012"/>
            <a:chExt cx="1039959" cy="614787"/>
          </a:xfrm>
        </p:grpSpPr>
        <p:sp>
          <p:nvSpPr>
            <p:cNvPr id="153" name="Flowchart: Delay 152"/>
            <p:cNvSpPr/>
            <p:nvPr/>
          </p:nvSpPr>
          <p:spPr>
            <a:xfrm>
              <a:off x="4667572" y="3146169"/>
              <a:ext cx="496915" cy="47763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008000"/>
                </a:solidFill>
              </a:endParaRPr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4500014" y="3251388"/>
              <a:ext cx="175142" cy="254767"/>
              <a:chOff x="6992463" y="4617881"/>
              <a:chExt cx="175142" cy="254767"/>
            </a:xfrm>
          </p:grpSpPr>
          <p:cxnSp>
            <p:nvCxnSpPr>
              <p:cNvPr id="157" name="Straight Connector 156"/>
              <p:cNvCxnSpPr/>
              <p:nvPr/>
            </p:nvCxnSpPr>
            <p:spPr>
              <a:xfrm>
                <a:off x="6992463" y="4617881"/>
                <a:ext cx="175142" cy="0"/>
              </a:xfrm>
              <a:prstGeom prst="line">
                <a:avLst/>
              </a:prstGeom>
              <a:ln w="254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/>
              <p:cNvCxnSpPr/>
              <p:nvPr/>
            </p:nvCxnSpPr>
            <p:spPr>
              <a:xfrm>
                <a:off x="6992463" y="4872648"/>
                <a:ext cx="175142" cy="0"/>
              </a:xfrm>
              <a:prstGeom prst="line">
                <a:avLst/>
              </a:prstGeom>
              <a:ln w="254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/>
                <p:cNvSpPr txBox="1"/>
                <p:nvPr/>
              </p:nvSpPr>
              <p:spPr>
                <a:xfrm>
                  <a:off x="4124528" y="3009012"/>
                  <a:ext cx="3558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sz="1400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009012"/>
                  <a:ext cx="404149" cy="400110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4124528" y="3263780"/>
                  <a:ext cx="33995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sz="1400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263780"/>
                  <a:ext cx="381963" cy="400110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7" name="Freeform 166"/>
          <p:cNvSpPr/>
          <p:nvPr/>
        </p:nvSpPr>
        <p:spPr>
          <a:xfrm flipV="1">
            <a:off x="1917298" y="4879471"/>
            <a:ext cx="543607" cy="230332"/>
          </a:xfrm>
          <a:custGeom>
            <a:avLst/>
            <a:gdLst>
              <a:gd name="connsiteX0" fmla="*/ 0 w 596347"/>
              <a:gd name="connsiteY0" fmla="*/ 344557 h 344557"/>
              <a:gd name="connsiteX1" fmla="*/ 238539 w 596347"/>
              <a:gd name="connsiteY1" fmla="*/ 344557 h 344557"/>
              <a:gd name="connsiteX2" fmla="*/ 238539 w 596347"/>
              <a:gd name="connsiteY2" fmla="*/ 0 h 344557"/>
              <a:gd name="connsiteX3" fmla="*/ 596347 w 596347"/>
              <a:gd name="connsiteY3" fmla="*/ 0 h 344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47" h="344557">
                <a:moveTo>
                  <a:pt x="0" y="344557"/>
                </a:moveTo>
                <a:lnTo>
                  <a:pt x="238539" y="344557"/>
                </a:lnTo>
                <a:lnTo>
                  <a:pt x="238539" y="0"/>
                </a:lnTo>
                <a:lnTo>
                  <a:pt x="596347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8" name="Freeform 97"/>
          <p:cNvSpPr/>
          <p:nvPr/>
        </p:nvSpPr>
        <p:spPr>
          <a:xfrm>
            <a:off x="1927342" y="5414044"/>
            <a:ext cx="543607" cy="200638"/>
          </a:xfrm>
          <a:custGeom>
            <a:avLst/>
            <a:gdLst>
              <a:gd name="connsiteX0" fmla="*/ 0 w 596347"/>
              <a:gd name="connsiteY0" fmla="*/ 344557 h 344557"/>
              <a:gd name="connsiteX1" fmla="*/ 238539 w 596347"/>
              <a:gd name="connsiteY1" fmla="*/ 344557 h 344557"/>
              <a:gd name="connsiteX2" fmla="*/ 238539 w 596347"/>
              <a:gd name="connsiteY2" fmla="*/ 0 h 344557"/>
              <a:gd name="connsiteX3" fmla="*/ 596347 w 596347"/>
              <a:gd name="connsiteY3" fmla="*/ 0 h 344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47" h="344557">
                <a:moveTo>
                  <a:pt x="0" y="344557"/>
                </a:moveTo>
                <a:lnTo>
                  <a:pt x="238539" y="344557"/>
                </a:lnTo>
                <a:lnTo>
                  <a:pt x="238539" y="0"/>
                </a:lnTo>
                <a:lnTo>
                  <a:pt x="596347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10" name="Group 109"/>
          <p:cNvGrpSpPr/>
          <p:nvPr/>
        </p:nvGrpSpPr>
        <p:grpSpPr>
          <a:xfrm>
            <a:off x="967381" y="5148008"/>
            <a:ext cx="959962" cy="788511"/>
            <a:chOff x="632475" y="3873117"/>
            <a:chExt cx="1039959" cy="788511"/>
          </a:xfrm>
        </p:grpSpPr>
        <p:grpSp>
          <p:nvGrpSpPr>
            <p:cNvPr id="121" name="Group 120"/>
            <p:cNvGrpSpPr/>
            <p:nvPr/>
          </p:nvGrpSpPr>
          <p:grpSpPr>
            <a:xfrm>
              <a:off x="632476" y="3873117"/>
              <a:ext cx="550627" cy="307777"/>
              <a:chOff x="632476" y="3889856"/>
              <a:chExt cx="550627" cy="307777"/>
            </a:xfrm>
          </p:grpSpPr>
          <p:cxnSp>
            <p:nvCxnSpPr>
              <p:cNvPr id="130" name="Straight Connector 129"/>
              <p:cNvCxnSpPr/>
              <p:nvPr/>
            </p:nvCxnSpPr>
            <p:spPr>
              <a:xfrm>
                <a:off x="1007961" y="4119808"/>
                <a:ext cx="175142" cy="0"/>
              </a:xfrm>
              <a:prstGeom prst="line">
                <a:avLst/>
              </a:prstGeom>
              <a:ln w="25400">
                <a:solidFill>
                  <a:srgbClr val="0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/>
                  <p:cNvSpPr txBox="1"/>
                  <p:nvPr/>
                </p:nvSpPr>
                <p:spPr>
                  <a:xfrm>
                    <a:off x="632476" y="3889856"/>
                    <a:ext cx="35586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8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TextBox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76" y="3889856"/>
                    <a:ext cx="404150" cy="400110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2" name="Group 121"/>
            <p:cNvGrpSpPr/>
            <p:nvPr/>
          </p:nvGrpSpPr>
          <p:grpSpPr>
            <a:xfrm>
              <a:off x="632475" y="4049223"/>
              <a:ext cx="1039959" cy="612405"/>
              <a:chOff x="632475" y="4049223"/>
              <a:chExt cx="1039959" cy="612405"/>
            </a:xfrm>
          </p:grpSpPr>
          <p:grpSp>
            <p:nvGrpSpPr>
              <p:cNvPr id="123" name="Group 122"/>
              <p:cNvGrpSpPr/>
              <p:nvPr/>
            </p:nvGrpSpPr>
            <p:grpSpPr>
              <a:xfrm>
                <a:off x="632476" y="4113232"/>
                <a:ext cx="748890" cy="307777"/>
                <a:chOff x="632476" y="4134647"/>
                <a:chExt cx="748890" cy="307777"/>
              </a:xfrm>
            </p:grpSpPr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1007961" y="4361206"/>
                  <a:ext cx="373405" cy="0"/>
                </a:xfrm>
                <a:prstGeom prst="line">
                  <a:avLst/>
                </a:prstGeom>
                <a:ln w="25400">
                  <a:solidFill>
                    <a:srgbClr val="008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/>
                    <p:cNvSpPr txBox="1"/>
                    <p:nvPr/>
                  </p:nvSpPr>
                  <p:spPr>
                    <a:xfrm>
                      <a:off x="632476" y="4134647"/>
                      <a:ext cx="339954" cy="3077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𝑐</m:t>
                            </m:r>
                          </m:oMath>
                        </m:oMathPara>
                      </a14:m>
                      <a:endParaRPr lang="en-US" sz="1400" dirty="0">
                        <a:solidFill>
                          <a:srgbClr val="008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9" name="TextBox 1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476" y="4134647"/>
                      <a:ext cx="381964" cy="400110"/>
                    </a:xfrm>
                    <a:prstGeom prst="rect">
                      <a:avLst/>
                    </a:prstGeom>
                    <a:blipFill rotWithShape="1">
                      <a:blip r:embed="rId2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4" name="Flowchart: Delay 123"/>
              <p:cNvSpPr/>
              <p:nvPr/>
            </p:nvSpPr>
            <p:spPr>
              <a:xfrm>
                <a:off x="1175519" y="4049223"/>
                <a:ext cx="496915" cy="581137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25" name="Group 124"/>
              <p:cNvGrpSpPr/>
              <p:nvPr/>
            </p:nvGrpSpPr>
            <p:grpSpPr>
              <a:xfrm>
                <a:off x="632475" y="4353851"/>
                <a:ext cx="550627" cy="307777"/>
                <a:chOff x="632476" y="3889856"/>
                <a:chExt cx="550627" cy="307777"/>
              </a:xfrm>
            </p:grpSpPr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1007961" y="4119808"/>
                  <a:ext cx="175142" cy="0"/>
                </a:xfrm>
                <a:prstGeom prst="line">
                  <a:avLst/>
                </a:prstGeom>
                <a:ln w="25400">
                  <a:solidFill>
                    <a:srgbClr val="008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TextBox 126"/>
                    <p:cNvSpPr txBox="1"/>
                    <p:nvPr/>
                  </p:nvSpPr>
                  <p:spPr>
                    <a:xfrm>
                      <a:off x="632476" y="3889856"/>
                      <a:ext cx="406709" cy="30777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𝑑</m:t>
                            </m:r>
                            <m:r>
                              <a:rPr lang="en-US" sz="1400" b="0" i="1" dirty="0" smtClean="0">
                                <a:solidFill>
                                  <a:srgbClr val="008000"/>
                                </a:solidFill>
                                <a:latin typeface="Cambria Math"/>
                              </a:rPr>
                              <m:t>′</m:t>
                            </m:r>
                          </m:oMath>
                        </m:oMathPara>
                      </a14:m>
                      <a:endParaRPr lang="en-US" sz="1400" dirty="0">
                        <a:solidFill>
                          <a:srgbClr val="008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7" name="TextBox 1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476" y="3889856"/>
                      <a:ext cx="470000" cy="400110"/>
                    </a:xfrm>
                    <a:prstGeom prst="rect">
                      <a:avLst/>
                    </a:prstGeom>
                    <a:blipFill rotWithShape="1">
                      <a:blip r:embed="rId2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113" name="Group 112"/>
          <p:cNvGrpSpPr/>
          <p:nvPr/>
        </p:nvGrpSpPr>
        <p:grpSpPr>
          <a:xfrm>
            <a:off x="2403965" y="5000732"/>
            <a:ext cx="1029781" cy="492918"/>
            <a:chOff x="2321389" y="5267479"/>
            <a:chExt cx="1115596" cy="5928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/>
                <p:cNvSpPr txBox="1"/>
                <p:nvPr/>
              </p:nvSpPr>
              <p:spPr>
                <a:xfrm>
                  <a:off x="3109576" y="5326173"/>
                  <a:ext cx="327409" cy="3642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118" name="TextBox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9576" y="5326173"/>
                  <a:ext cx="327409" cy="392993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r="-5660" b="-314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Straight Connector 118"/>
            <p:cNvCxnSpPr/>
            <p:nvPr/>
          </p:nvCxnSpPr>
          <p:spPr>
            <a:xfrm>
              <a:off x="2809731" y="5563901"/>
              <a:ext cx="318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Moon 119"/>
            <p:cNvSpPr/>
            <p:nvPr/>
          </p:nvSpPr>
          <p:spPr>
            <a:xfrm flipH="1">
              <a:off x="2321389" y="5267479"/>
              <a:ext cx="539526" cy="592844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957337" y="4493273"/>
            <a:ext cx="959962" cy="614787"/>
            <a:chOff x="4124528" y="3009012"/>
            <a:chExt cx="1039959" cy="614787"/>
          </a:xfrm>
        </p:grpSpPr>
        <p:sp>
          <p:nvSpPr>
            <p:cNvPr id="161" name="Flowchart: Delay 160"/>
            <p:cNvSpPr/>
            <p:nvPr/>
          </p:nvSpPr>
          <p:spPr>
            <a:xfrm>
              <a:off x="4667572" y="3146169"/>
              <a:ext cx="496915" cy="47763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4500014" y="3251388"/>
              <a:ext cx="175142" cy="254767"/>
              <a:chOff x="6992463" y="4617881"/>
              <a:chExt cx="175142" cy="254767"/>
            </a:xfrm>
          </p:grpSpPr>
          <p:cxnSp>
            <p:nvCxnSpPr>
              <p:cNvPr id="165" name="Straight Connector 164"/>
              <p:cNvCxnSpPr/>
              <p:nvPr/>
            </p:nvCxnSpPr>
            <p:spPr>
              <a:xfrm>
                <a:off x="6992463" y="4617881"/>
                <a:ext cx="1751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6992463" y="4872648"/>
                <a:ext cx="175142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4124528" y="3009012"/>
                  <a:ext cx="4014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TextBox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009012"/>
                  <a:ext cx="463588" cy="400110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/>
                <p:cNvSpPr txBox="1"/>
                <p:nvPr/>
              </p:nvSpPr>
              <p:spPr>
                <a:xfrm>
                  <a:off x="4124528" y="3263780"/>
                  <a:ext cx="36252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TextBox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528" y="3263780"/>
                  <a:ext cx="412421" cy="400110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0" name="TextBox 169"/>
          <p:cNvSpPr txBox="1"/>
          <p:nvPr/>
        </p:nvSpPr>
        <p:spPr>
          <a:xfrm flipH="1">
            <a:off x="935770" y="6089202"/>
            <a:ext cx="2519540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 smtClean="0"/>
              <a:t>NO Shared Gates</a:t>
            </a:r>
            <a:endParaRPr lang="en-US" sz="16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5263284" y="2790728"/>
            <a:ext cx="3190542" cy="2589531"/>
            <a:chOff x="4261716" y="2295347"/>
            <a:chExt cx="3456420" cy="2589531"/>
          </a:xfrm>
        </p:grpSpPr>
        <p:cxnSp>
          <p:nvCxnSpPr>
            <p:cNvPr id="212" name="Straight Connector 211"/>
            <p:cNvCxnSpPr/>
            <p:nvPr/>
          </p:nvCxnSpPr>
          <p:spPr>
            <a:xfrm>
              <a:off x="6288450" y="4523030"/>
              <a:ext cx="318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Freeform 210"/>
            <p:cNvSpPr/>
            <p:nvPr/>
          </p:nvSpPr>
          <p:spPr>
            <a:xfrm flipV="1">
              <a:off x="5453269" y="3547347"/>
              <a:ext cx="1170168" cy="692919"/>
            </a:xfrm>
            <a:custGeom>
              <a:avLst/>
              <a:gdLst>
                <a:gd name="connsiteX0" fmla="*/ 0 w 1093304"/>
                <a:gd name="connsiteY0" fmla="*/ 742121 h 742121"/>
                <a:gd name="connsiteX1" fmla="*/ 0 w 1093304"/>
                <a:gd name="connsiteY1" fmla="*/ 556591 h 742121"/>
                <a:gd name="connsiteX2" fmla="*/ 894521 w 1093304"/>
                <a:gd name="connsiteY2" fmla="*/ 0 h 742121"/>
                <a:gd name="connsiteX3" fmla="*/ 1093304 w 1093304"/>
                <a:gd name="connsiteY3" fmla="*/ 0 h 742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304" h="742121">
                  <a:moveTo>
                    <a:pt x="0" y="742121"/>
                  </a:moveTo>
                  <a:lnTo>
                    <a:pt x="0" y="556591"/>
                  </a:lnTo>
                  <a:lnTo>
                    <a:pt x="894521" y="0"/>
                  </a:lnTo>
                  <a:lnTo>
                    <a:pt x="1093304" y="0"/>
                  </a:lnTo>
                </a:path>
              </a:pathLst>
            </a:custGeom>
            <a:noFill/>
            <a:ln>
              <a:solidFill>
                <a:srgbClr val="FF0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4633416" y="3146997"/>
              <a:ext cx="1147630" cy="99928"/>
            </a:xfrm>
            <a:custGeom>
              <a:avLst/>
              <a:gdLst>
                <a:gd name="connsiteX0" fmla="*/ 1184744 w 1184744"/>
                <a:gd name="connsiteY0" fmla="*/ 341907 h 341907"/>
                <a:gd name="connsiteX1" fmla="*/ 1017767 w 1184744"/>
                <a:gd name="connsiteY1" fmla="*/ 341907 h 341907"/>
                <a:gd name="connsiteX2" fmla="*/ 1017767 w 1184744"/>
                <a:gd name="connsiteY2" fmla="*/ 0 h 341907"/>
                <a:gd name="connsiteX3" fmla="*/ 0 w 1184744"/>
                <a:gd name="connsiteY3" fmla="*/ 0 h 34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4744" h="341907">
                  <a:moveTo>
                    <a:pt x="1184744" y="341907"/>
                  </a:moveTo>
                  <a:lnTo>
                    <a:pt x="1017767" y="341907"/>
                  </a:lnTo>
                  <a:lnTo>
                    <a:pt x="1017767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5453270" y="3619338"/>
              <a:ext cx="1093304" cy="760506"/>
            </a:xfrm>
            <a:custGeom>
              <a:avLst/>
              <a:gdLst>
                <a:gd name="connsiteX0" fmla="*/ 0 w 1093304"/>
                <a:gd name="connsiteY0" fmla="*/ 742121 h 742121"/>
                <a:gd name="connsiteX1" fmla="*/ 0 w 1093304"/>
                <a:gd name="connsiteY1" fmla="*/ 556591 h 742121"/>
                <a:gd name="connsiteX2" fmla="*/ 894521 w 1093304"/>
                <a:gd name="connsiteY2" fmla="*/ 0 h 742121"/>
                <a:gd name="connsiteX3" fmla="*/ 1093304 w 1093304"/>
                <a:gd name="connsiteY3" fmla="*/ 0 h 742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304" h="742121">
                  <a:moveTo>
                    <a:pt x="0" y="742121"/>
                  </a:moveTo>
                  <a:lnTo>
                    <a:pt x="0" y="556591"/>
                  </a:lnTo>
                  <a:lnTo>
                    <a:pt x="894521" y="0"/>
                  </a:lnTo>
                  <a:lnTo>
                    <a:pt x="1093304" y="0"/>
                  </a:lnTo>
                </a:path>
              </a:pathLst>
            </a:custGeom>
            <a:noFill/>
            <a:ln>
              <a:solidFill>
                <a:srgbClr val="008000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09" name="Straight Connector 208"/>
            <p:cNvCxnSpPr/>
            <p:nvPr/>
          </p:nvCxnSpPr>
          <p:spPr>
            <a:xfrm>
              <a:off x="5310252" y="3547353"/>
              <a:ext cx="479371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>
            <a:xfrm>
              <a:off x="5301675" y="4387261"/>
              <a:ext cx="479371" cy="0"/>
            </a:xfrm>
            <a:prstGeom prst="line">
              <a:avLst/>
            </a:prstGeom>
            <a:ln w="25400">
              <a:solidFill>
                <a:srgbClr val="0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5247861" y="2671320"/>
              <a:ext cx="1308036" cy="496968"/>
            </a:xfrm>
            <a:custGeom>
              <a:avLst/>
              <a:gdLst>
                <a:gd name="connsiteX0" fmla="*/ 1184744 w 1184744"/>
                <a:gd name="connsiteY0" fmla="*/ 341907 h 341907"/>
                <a:gd name="connsiteX1" fmla="*/ 1017767 w 1184744"/>
                <a:gd name="connsiteY1" fmla="*/ 341907 h 341907"/>
                <a:gd name="connsiteX2" fmla="*/ 1017767 w 1184744"/>
                <a:gd name="connsiteY2" fmla="*/ 0 h 341907"/>
                <a:gd name="connsiteX3" fmla="*/ 0 w 1184744"/>
                <a:gd name="connsiteY3" fmla="*/ 0 h 34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4744" h="341907">
                  <a:moveTo>
                    <a:pt x="1184744" y="341907"/>
                  </a:moveTo>
                  <a:lnTo>
                    <a:pt x="1017767" y="341907"/>
                  </a:lnTo>
                  <a:lnTo>
                    <a:pt x="1017767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7390727" y="3185706"/>
                  <a:ext cx="327409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727" y="3185706"/>
                  <a:ext cx="327409" cy="392993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 l="-9434" r="-7547" b="-16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/>
            <p:cNvCxnSpPr/>
            <p:nvPr/>
          </p:nvCxnSpPr>
          <p:spPr>
            <a:xfrm>
              <a:off x="6047533" y="3386792"/>
              <a:ext cx="132496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Moon 86"/>
            <p:cNvSpPr/>
            <p:nvPr/>
          </p:nvSpPr>
          <p:spPr>
            <a:xfrm flipH="1">
              <a:off x="6487326" y="3090370"/>
              <a:ext cx="626369" cy="592844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32" name="Group 131"/>
            <p:cNvGrpSpPr/>
            <p:nvPr/>
          </p:nvGrpSpPr>
          <p:grpSpPr>
            <a:xfrm>
              <a:off x="4261716" y="3177371"/>
              <a:ext cx="1039959" cy="614787"/>
              <a:chOff x="4124528" y="3009012"/>
              <a:chExt cx="1039959" cy="614787"/>
            </a:xfrm>
          </p:grpSpPr>
          <p:sp>
            <p:nvSpPr>
              <p:cNvPr id="133" name="Flowchart: Delay 132"/>
              <p:cNvSpPr/>
              <p:nvPr/>
            </p:nvSpPr>
            <p:spPr>
              <a:xfrm>
                <a:off x="4667572" y="3146169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34" name="Group 133"/>
              <p:cNvGrpSpPr/>
              <p:nvPr/>
            </p:nvGrpSpPr>
            <p:grpSpPr>
              <a:xfrm>
                <a:off x="4500014" y="3251388"/>
                <a:ext cx="175142" cy="254767"/>
                <a:chOff x="6992463" y="4617881"/>
                <a:chExt cx="175142" cy="254767"/>
              </a:xfrm>
            </p:grpSpPr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6992463" y="4617881"/>
                  <a:ext cx="175142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/>
                <p:cNvCxnSpPr/>
                <p:nvPr/>
              </p:nvCxnSpPr>
              <p:spPr>
                <a:xfrm>
                  <a:off x="6992463" y="4872648"/>
                  <a:ext cx="175142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4124528" y="3009012"/>
                    <a:ext cx="40149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5" name="TextBox 1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009012"/>
                    <a:ext cx="463588" cy="400110"/>
                  </a:xfrm>
                  <a:prstGeom prst="rect">
                    <a:avLst/>
                  </a:prstGeom>
                  <a:blipFill rotWithShape="1"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/>
                  <p:cNvSpPr txBox="1"/>
                  <p:nvPr/>
                </p:nvSpPr>
                <p:spPr>
                  <a:xfrm>
                    <a:off x="4124528" y="3263780"/>
                    <a:ext cx="36252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9" name="TextBox 1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263780"/>
                    <a:ext cx="412421" cy="400110"/>
                  </a:xfrm>
                  <a:prstGeom prst="rect">
                    <a:avLst/>
                  </a:prstGeom>
                  <a:blipFill rotWithShape="1"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5" name="Group 174"/>
            <p:cNvGrpSpPr/>
            <p:nvPr/>
          </p:nvGrpSpPr>
          <p:grpSpPr>
            <a:xfrm>
              <a:off x="4261716" y="4017524"/>
              <a:ext cx="1039959" cy="614787"/>
              <a:chOff x="4124528" y="3009012"/>
              <a:chExt cx="1039959" cy="614787"/>
            </a:xfrm>
          </p:grpSpPr>
          <p:sp>
            <p:nvSpPr>
              <p:cNvPr id="176" name="Flowchart: Delay 175"/>
              <p:cNvSpPr/>
              <p:nvPr/>
            </p:nvSpPr>
            <p:spPr>
              <a:xfrm>
                <a:off x="4667572" y="3146169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rgbClr val="008000"/>
                  </a:solidFill>
                </a:endParaRPr>
              </a:p>
            </p:txBody>
          </p:sp>
          <p:grpSp>
            <p:nvGrpSpPr>
              <p:cNvPr id="177" name="Group 176"/>
              <p:cNvGrpSpPr/>
              <p:nvPr/>
            </p:nvGrpSpPr>
            <p:grpSpPr>
              <a:xfrm>
                <a:off x="4500014" y="3251388"/>
                <a:ext cx="175142" cy="254767"/>
                <a:chOff x="6992463" y="4617881"/>
                <a:chExt cx="175142" cy="254767"/>
              </a:xfrm>
            </p:grpSpPr>
            <p:cxnSp>
              <p:nvCxnSpPr>
                <p:cNvPr id="180" name="Straight Connector 179"/>
                <p:cNvCxnSpPr/>
                <p:nvPr/>
              </p:nvCxnSpPr>
              <p:spPr>
                <a:xfrm>
                  <a:off x="6992463" y="4617881"/>
                  <a:ext cx="175142" cy="0"/>
                </a:xfrm>
                <a:prstGeom prst="line">
                  <a:avLst/>
                </a:prstGeom>
                <a:ln w="25400">
                  <a:solidFill>
                    <a:srgbClr val="008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/>
              </p:nvCxnSpPr>
              <p:spPr>
                <a:xfrm>
                  <a:off x="6992463" y="4872648"/>
                  <a:ext cx="175142" cy="0"/>
                </a:xfrm>
                <a:prstGeom prst="line">
                  <a:avLst/>
                </a:prstGeom>
                <a:ln w="25400">
                  <a:solidFill>
                    <a:srgbClr val="008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" name="TextBox 177"/>
                  <p:cNvSpPr txBox="1"/>
                  <p:nvPr/>
                </p:nvSpPr>
                <p:spPr>
                  <a:xfrm>
                    <a:off x="4124528" y="3009012"/>
                    <a:ext cx="35586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8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8" name="TextBox 1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009012"/>
                    <a:ext cx="404149" cy="400110"/>
                  </a:xfrm>
                  <a:prstGeom prst="rect">
                    <a:avLst/>
                  </a:prstGeom>
                  <a:blipFill rotWithShape="1"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TextBox 178"/>
                  <p:cNvSpPr txBox="1"/>
                  <p:nvPr/>
                </p:nvSpPr>
                <p:spPr>
                  <a:xfrm>
                    <a:off x="4124528" y="3263780"/>
                    <a:ext cx="3399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solidFill>
                                <a:srgbClr val="008000"/>
                              </a:solidFill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sz="1400" dirty="0">
                      <a:solidFill>
                        <a:srgbClr val="008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9" name="TextBox 1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263780"/>
                    <a:ext cx="381963" cy="400110"/>
                  </a:xfrm>
                  <a:prstGeom prst="rect">
                    <a:avLst/>
                  </a:prstGeom>
                  <a:blipFill rotWithShape="1"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3" name="Flowchart: Delay 182"/>
            <p:cNvSpPr/>
            <p:nvPr/>
          </p:nvSpPr>
          <p:spPr>
            <a:xfrm>
              <a:off x="5781046" y="3157846"/>
              <a:ext cx="496915" cy="47763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/>
                <p:cNvSpPr txBox="1"/>
                <p:nvPr/>
              </p:nvSpPr>
              <p:spPr>
                <a:xfrm>
                  <a:off x="4264749" y="2910537"/>
                  <a:ext cx="3519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TextBox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4749" y="2910537"/>
                  <a:ext cx="398699" cy="400110"/>
                </a:xfrm>
                <a:prstGeom prst="rect">
                  <a:avLst/>
                </a:prstGeom>
                <a:blipFill rotWithShape="1"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0" name="Flowchart: Delay 189"/>
            <p:cNvSpPr/>
            <p:nvPr/>
          </p:nvSpPr>
          <p:spPr>
            <a:xfrm>
              <a:off x="5781046" y="4284215"/>
              <a:ext cx="496915" cy="47763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/>
                <p:cNvSpPr txBox="1"/>
                <p:nvPr/>
              </p:nvSpPr>
              <p:spPr>
                <a:xfrm>
                  <a:off x="4264749" y="4577101"/>
                  <a:ext cx="40670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sz="1400" b="0" i="1" smtClean="0">
                            <a:solidFill>
                              <a:srgbClr val="008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TextBox 1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4749" y="4577101"/>
                  <a:ext cx="470000" cy="400110"/>
                </a:xfrm>
                <a:prstGeom prst="rect">
                  <a:avLst/>
                </a:prstGeom>
                <a:blipFill rotWithShape="1"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4" name="Group 193"/>
            <p:cNvGrpSpPr/>
            <p:nvPr/>
          </p:nvGrpSpPr>
          <p:grpSpPr>
            <a:xfrm>
              <a:off x="4261716" y="2295347"/>
              <a:ext cx="1039959" cy="614787"/>
              <a:chOff x="4124528" y="3009012"/>
              <a:chExt cx="1039959" cy="614787"/>
            </a:xfrm>
          </p:grpSpPr>
          <p:sp>
            <p:nvSpPr>
              <p:cNvPr id="195" name="Flowchart: Delay 194"/>
              <p:cNvSpPr/>
              <p:nvPr/>
            </p:nvSpPr>
            <p:spPr>
              <a:xfrm>
                <a:off x="4667572" y="3146169"/>
                <a:ext cx="496915" cy="47763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grpSp>
            <p:nvGrpSpPr>
              <p:cNvPr id="196" name="Group 195"/>
              <p:cNvGrpSpPr/>
              <p:nvPr/>
            </p:nvGrpSpPr>
            <p:grpSpPr>
              <a:xfrm>
                <a:off x="4500014" y="3251388"/>
                <a:ext cx="175142" cy="254767"/>
                <a:chOff x="6992463" y="4617881"/>
                <a:chExt cx="175142" cy="254767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>
                  <a:off x="6992463" y="4617881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/>
              </p:nvCxnSpPr>
              <p:spPr>
                <a:xfrm>
                  <a:off x="6992463" y="4872648"/>
                  <a:ext cx="17514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TextBox 196"/>
                  <p:cNvSpPr txBox="1"/>
                  <p:nvPr/>
                </p:nvSpPr>
                <p:spPr>
                  <a:xfrm>
                    <a:off x="4124528" y="3009012"/>
                    <a:ext cx="33995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7" name="TextBox 1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009012"/>
                    <a:ext cx="381963" cy="400110"/>
                  </a:xfrm>
                  <a:prstGeom prst="rect">
                    <a:avLst/>
                  </a:prstGeom>
                  <a:blipFill rotWithShape="1"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TextBox 197"/>
                  <p:cNvSpPr txBox="1"/>
                  <p:nvPr/>
                </p:nvSpPr>
                <p:spPr>
                  <a:xfrm>
                    <a:off x="4124528" y="3263780"/>
                    <a:ext cx="36252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8" name="TextBox 1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4528" y="3263780"/>
                    <a:ext cx="412421" cy="400110"/>
                  </a:xfrm>
                  <a:prstGeom prst="rect">
                    <a:avLst/>
                  </a:prstGeom>
                  <a:blipFill rotWithShape="1"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/>
                <p:cNvSpPr txBox="1"/>
                <p:nvPr/>
              </p:nvSpPr>
              <p:spPr>
                <a:xfrm>
                  <a:off x="7390727" y="4163788"/>
                  <a:ext cx="327409" cy="438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sz="1400" baseline="-25000" dirty="0"/>
                </a:p>
              </p:txBody>
            </p:sp>
          </mc:Choice>
          <mc:Fallback xmlns="">
            <p:sp>
              <p:nvSpPr>
                <p:cNvPr id="204" name="TextBox 2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727" y="4163788"/>
                  <a:ext cx="327409" cy="438397"/>
                </a:xfrm>
                <a:prstGeom prst="rect">
                  <a:avLst/>
                </a:prstGeom>
                <a:blipFill rotWithShape="1">
                  <a:blip r:embed="rId39"/>
                  <a:stretch>
                    <a:fillRect r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5" name="Straight Connector 204"/>
            <p:cNvCxnSpPr/>
            <p:nvPr/>
          </p:nvCxnSpPr>
          <p:spPr>
            <a:xfrm>
              <a:off x="7044239" y="4385110"/>
              <a:ext cx="318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Moon 205"/>
            <p:cNvSpPr/>
            <p:nvPr/>
          </p:nvSpPr>
          <p:spPr>
            <a:xfrm flipH="1">
              <a:off x="6555897" y="4138651"/>
              <a:ext cx="539526" cy="492918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08" name="Freeform 207"/>
            <p:cNvSpPr/>
            <p:nvPr/>
          </p:nvSpPr>
          <p:spPr>
            <a:xfrm flipV="1">
              <a:off x="4633417" y="4678435"/>
              <a:ext cx="1147630" cy="121247"/>
            </a:xfrm>
            <a:custGeom>
              <a:avLst/>
              <a:gdLst>
                <a:gd name="connsiteX0" fmla="*/ 1184744 w 1184744"/>
                <a:gd name="connsiteY0" fmla="*/ 341907 h 341907"/>
                <a:gd name="connsiteX1" fmla="*/ 1017767 w 1184744"/>
                <a:gd name="connsiteY1" fmla="*/ 341907 h 341907"/>
                <a:gd name="connsiteX2" fmla="*/ 1017767 w 1184744"/>
                <a:gd name="connsiteY2" fmla="*/ 0 h 341907"/>
                <a:gd name="connsiteX3" fmla="*/ 0 w 1184744"/>
                <a:gd name="connsiteY3" fmla="*/ 0 h 34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4744" h="341907">
                  <a:moveTo>
                    <a:pt x="1184744" y="341907"/>
                  </a:moveTo>
                  <a:lnTo>
                    <a:pt x="1017767" y="341907"/>
                  </a:lnTo>
                  <a:lnTo>
                    <a:pt x="1017767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00295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5088</Words>
  <Application>Microsoft Office PowerPoint</Application>
  <PresentationFormat>On-screen Show (4:3)</PresentationFormat>
  <Paragraphs>1396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Karnaugh Maps</vt:lpstr>
      <vt:lpstr>Presentation Outline</vt:lpstr>
      <vt:lpstr>Boolean Function Minimization</vt:lpstr>
      <vt:lpstr>Example: Sum of Minterms</vt:lpstr>
      <vt:lpstr>Algebraic Manipulation</vt:lpstr>
      <vt:lpstr>Drawback of Algebraic Manipulation</vt:lpstr>
      <vt:lpstr>Karnaugh Map</vt:lpstr>
      <vt:lpstr>Next . . .</vt:lpstr>
      <vt:lpstr>Two-Variable Karnaugh Map</vt:lpstr>
      <vt:lpstr>From a Truth Table to Karnaugh Map</vt:lpstr>
      <vt:lpstr>K-Map Function Minimization</vt:lpstr>
      <vt:lpstr>Three-Variable Karnaugh Map</vt:lpstr>
      <vt:lpstr>Simplifying a Three-Variable Function</vt:lpstr>
      <vt:lpstr>Simplifying a Three-Variable Function (2)</vt:lpstr>
      <vt:lpstr>Combining Squares on a 3-Variable K-Map</vt:lpstr>
      <vt:lpstr>Example of Combining Squares</vt:lpstr>
      <vt:lpstr>Minimal Sum-of-Products Expression</vt:lpstr>
      <vt:lpstr>Four-Variable Karnaugh Map</vt:lpstr>
      <vt:lpstr>Combining Squares on a 4-Variable K-Map</vt:lpstr>
      <vt:lpstr>Combining Eight Squares</vt:lpstr>
      <vt:lpstr>Combining Four Squares</vt:lpstr>
      <vt:lpstr>Combining Two Squares</vt:lpstr>
      <vt:lpstr>Simplifying a 4-Variable Function</vt:lpstr>
      <vt:lpstr>Next . . .</vt:lpstr>
      <vt:lpstr>Prime Implicants</vt:lpstr>
      <vt:lpstr>Example of Prime Implicants</vt:lpstr>
      <vt:lpstr>Simplification Procedure Using the K-Map</vt:lpstr>
      <vt:lpstr>Obtaining All Minimal SOP Expressions</vt:lpstr>
      <vt:lpstr>Product-of-Sums (POS) Simplification</vt:lpstr>
      <vt:lpstr>Product-of-Sums Simplification Procedure</vt:lpstr>
      <vt:lpstr>Next . . .</vt:lpstr>
      <vt:lpstr>Don't Cares</vt:lpstr>
      <vt:lpstr>Example of a Function with Don't Cares</vt:lpstr>
      <vt:lpstr>Minimizing Functions with Don't Cares</vt:lpstr>
      <vt:lpstr>Simplification Procedure with Don't Cares</vt:lpstr>
      <vt:lpstr>Minimizing Functions with Don't Cares (2)</vt:lpstr>
      <vt:lpstr>Minimal Product-of-Sums with Don't Cares</vt:lpstr>
      <vt:lpstr>Next . . .</vt:lpstr>
      <vt:lpstr>Five-Variable Karnaugh Map</vt:lpstr>
      <vt:lpstr>Example of a Five-Variable K-Map</vt:lpstr>
      <vt:lpstr>Five-Variable K-Map with Don't Cares</vt:lpstr>
      <vt:lpstr>Six-Variable Karnaugh Map</vt:lpstr>
      <vt:lpstr>Example of a Six-Variable K-Map</vt:lpstr>
      <vt:lpstr>Next . . .</vt:lpstr>
      <vt:lpstr>Multiple Outputs</vt:lpstr>
      <vt:lpstr>Multiple Outputs: Example 1</vt:lpstr>
      <vt:lpstr>Multiple Outputs: Example 2</vt:lpstr>
      <vt:lpstr>Common Terms  Shared Gates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37</cp:revision>
  <dcterms:created xsi:type="dcterms:W3CDTF">2022-08-28T11:36:31Z</dcterms:created>
  <dcterms:modified xsi:type="dcterms:W3CDTF">2022-09-11T12:43:14Z</dcterms:modified>
</cp:coreProperties>
</file>